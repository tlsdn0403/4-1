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94" autoAdjust="0"/>
  </p:normalViewPr>
  <p:slideViewPr>
    <p:cSldViewPr snapToGrid="0" snapToObjects="1">
      <p:cViewPr>
        <p:scale>
          <a:sx n="108" d="100"/>
          <a:sy n="108" d="100"/>
        </p:scale>
        <p:origin x="108" y="3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5767431" cy="3394472"/>
          </a:xfrm>
        </p:spPr>
        <p:txBody>
          <a:bodyPr/>
          <a:lstStyle>
            <a:lvl1pPr>
              <a:defRPr sz="1900" baseline="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2026-00-00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Ch11: AI와 철학적 성찰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송경모/2026-05-20/한국공학대학교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1. 지능의 고대 및 근대적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인간은 전통적으로 자신을 ‘이성적 동물(Animal Rationale)’로 정의해 왔으며, 이는 고대 그리스 아리스토텔레스(Aristotle, BC 384-322)의 ’누스(Nous)’ 개념에서 시작됨.</a:t>
            </a:r>
          </a:p>
          <a:p>
            <a:pPr lvl="0"/>
            <a:r>
              <a:t>아리스토텔레스에게 이성이란 단순히 계산하는 능력이 아니라 본질을 통찰하고 목적을 이해하며 선을 추구하는 능력임.</a:t>
            </a:r>
          </a:p>
          <a:p>
            <a:pPr lvl="0"/>
            <a:r>
              <a:t>근대 르네 데카르트(René Descartes, 1596-1650)는 “나는 생각한다, 고로 존재한다”를 통해 사고를 인간의 본질로 규정하며 동물을 자동기계(Automata)로 간주함.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AI_Img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2. 칸트의 지성과 이성 구분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임마누엘 칸트(Immanuel Kant, 1724-1804)는 오성(Understanding)과 이성(Reason)을 정교하게 분석하며 인간 인지의 복잡성을 설명함.</a:t>
            </a:r>
          </a:p>
          <a:p>
            <a:pPr lvl="0"/>
            <a:r>
              <a:t>오성은 감각 자료를 범주를 통해 정리하는 능력인 반면, 이성은 이를 넘어 통합적 원리를 추구하고 도덕적 판단을 내리는 자율적 능력임.</a:t>
            </a:r>
          </a:p>
          <a:p>
            <a:pPr lvl="0"/>
            <a:r>
              <a:t>이성의 능력은 단순한 규칙 적용을 넘어선 주체적 판단을 포함한다는 점에서 기계적 연산과 구별됨.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AI_Img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3. 튜링 테스트와 행동주의 지능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앨런 튜링(Alan Turing, 1912-1954)은 지능을 내적 본질이 아닌 외적인 계산(Computation)과 행동 모방으로 판단하자는 ’튜링 테스트(Turing Test)’를 제안함.</a:t>
            </a:r>
          </a:p>
          <a:p>
            <a:pPr lvl="1"/>
            <a:r>
              <a:t>기계가 인간과 대화할 때, 사람이 그것이 기계인지 인간인지 구별하지 못할 정도로 지능적인 행동을 보이는지 판별하는 테스트</a:t>
            </a:r>
          </a:p>
          <a:p>
            <a:pPr lvl="0"/>
            <a:r>
              <a:t>1950년 논문에서 그는 “기계가 생각할 수 있는가?”라는 질문을 “기계가 지능적 행동을 모방할 수 있는가?”로 대체함.</a:t>
            </a:r>
          </a:p>
          <a:p>
            <a:pPr lvl="0"/>
            <a:r>
              <a:t>이는 지능을 기능적인 관점에서 평가하려는 시도로, 인공지능 평가의 중요한 시금석이 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AI_Img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4. 튜링 테스트의 역설과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2014년 레딩 대학교(University of Reading) 대회에서 챗봇이 심판진 33%를 속이며 통과했다고 보도되었으나, 대규모 언어 모델(LLM) 등장 이후 의미가 퇴색됨.</a:t>
            </a:r>
          </a:p>
          <a:p>
            <a:pPr lvl="0"/>
            <a:r>
              <a:t>2024년 조지아 대학교 연구에서 ChatGPT의 답변이 인간보다 월등히 뛰어나 오히려 기계임이 들통나는 ‘역설적 실패’ 상황이 발생함.</a:t>
            </a:r>
          </a:p>
          <a:p>
            <a:pPr lvl="0"/>
            <a:r>
              <a:t>현대 인공지능은 텍스트 생성 능력에서 이미 인간을 넘어섰기 때문에, 단순 대화 구별 방식은 더 이상 지능의 척도가 되지 못함.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7" name="AI_Img_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5. 인공지능 명명과 마음의 사회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존 매카시(John McCarthy, 1927-2011)는 1956년 ’인공지능(Artificial Intelligence)’이라는 용어를 처음 사용하며 지능을 세계를 모델링하는 계산 능력으로 정의함.</a:t>
            </a:r>
          </a:p>
          <a:p>
            <a:pPr lvl="0"/>
            <a:r>
              <a:t>마빈 민스키(Marvin Minsky, 1927-2016)는 『마음의 사회(The Society of Mind)』에서 마음을 수많은 단순한 에이전트(Agent)들의 집합으로 설명함.</a:t>
            </a:r>
          </a:p>
          <a:p>
            <a:pPr lvl="0"/>
            <a:r>
              <a:t>민스키는 지능이 복잡한 계산 과정에서 나타나는 창발적(Emergent) 결과일 수 있다는 이론적 기반을 제공함.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AI_Img_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6. 계산과 사고의 본질적 차이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존 호간(John Haugeland, 1945-2010)은 AI를 “형식 기호 조작(Formal Symbol Manipulation)”으로 규정하며 이것이 진정한 사고인지 의문을 제기함.</a:t>
            </a:r>
          </a:p>
          <a:p>
            <a:pPr lvl="0"/>
            <a:r>
              <a:t>휴버트 드레이퍼스(Hubert Dreyfus, 1929-2017)는 지능이 명시적 규칙을 넘어서는 암묵적 이해와 세계-내-존재(Being-in-the-world)에 근거한다고 주장함.</a:t>
            </a:r>
          </a:p>
          <a:p>
            <a:pPr lvl="0"/>
            <a:r>
              <a:t>대니얼 데닛(Daniel Dennett, 1942-2024)은 시스템이 지능적으로 행동한다면 기능적으로 지능이라 인정해야 한다는 ’의도적 태도(Intentional Stance)’를 제안함.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AI_Img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7. 기능주의 심리학과 인과적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기능주의(Functionalism)는 마음의 상태를 물리적 구현이 아닌 그것이 수행하는 인과적 역할(Causal Role)로 정의함.</a:t>
            </a:r>
          </a:p>
          <a:p>
            <a:pPr lvl="0"/>
            <a:r>
              <a:t>힐러리 퍼트남(Hilary Putnam, 1926-2016)은 고통을 특정 신경 상태가 아니라 손상을 감지하고 회피 행동을 유발하는 기능적 역할로 설명함.</a:t>
            </a:r>
          </a:p>
          <a:p>
            <a:pPr lvl="0"/>
            <a:r>
              <a:t>제리 포더(Jerry Fodor, 1935-2017)는 ’사고 언어 가설(Language of Thought Hypothesis)’을 통해 마음을 내적 표상을 조작하는 컴퓨터로 보았음.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AI_Img_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8. 통계적 패턴과 의미 이해의 간극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스튜어트 러셀(Stuart Russell, 1962-) 등은 인공신경망이 생물학적 뉴런의 단순화된 모방이며 인간과 동일한 내적 과정을 거치지 않는다고 지적함.</a:t>
            </a:r>
          </a:p>
          <a:p>
            <a:pPr lvl="0"/>
            <a:r>
              <a:t>스타니슬라스 드앤(Stanislas Dehaene, 1965-)은 인간 뇌의 학습이 단순 통계 매칭을 넘어 능동적 가설 형성과 의식적 경험을 수반한다고 설명함.</a:t>
            </a:r>
          </a:p>
          <a:p>
            <a:pPr lvl="0"/>
            <a:r>
              <a:t>LLM의 역전파(Backpropagation)와 인간 뇌의 학습 메커니즘은 표면적 유사성에도 불구하고 근본적으로 다름.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7" name="AI_Img_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9. 감각질과 주관적 경험의 부재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네드 블록(Ned Block, 1942-)은 ’중국 국민 사고실험(China Brain)’을 통해 기능적 동일성이 내적 경험의 동일성을 보장하지 않음을 논증함.</a:t>
            </a:r>
          </a:p>
          <a:p>
            <a:pPr lvl="0"/>
            <a:r>
              <a:t>토마스 네이글(Thomas Nagel, 1937-)은 박쥐가 되는 것이 ’어떤 느낌인지(What it is like)’라는 주관적 경험의 환원 불가능성을 강조함.</a:t>
            </a:r>
          </a:p>
          <a:p>
            <a:pPr lvl="0"/>
            <a:r>
              <a:t>AI가 아무리 인간처럼 행동해도 실제로는 어떠한 주관적 느낌이나 감각질(Qualia)을 갖지 않는 ’철학적 좀비’일 수 있음.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7" name="AI_Img_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10. 상식과 추상적 추론의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게리 마커스(Gary Marcus, 1970-)는 현재 딥러닝 시스템이 진정한 이해 없이 통계적 패턴 매칭만 수행한다고 비판함.</a:t>
            </a:r>
          </a:p>
          <a:p>
            <a:pPr lvl="0"/>
            <a:r>
              <a:t>멜라니 미첼(Melanie Mitchell, 1964-)은 AI가 세계에 대한 인과적 모델이나 직관적 물리학, 심리학적 이해(Common Sense)를 갖지 못한다고 지적함.</a:t>
            </a:r>
          </a:p>
          <a:p>
            <a:pPr lvl="0"/>
            <a:r>
              <a:t>LLM은 단어의 통계적 관계는 학습하지만, 그 단어들이 실제 세계의 무엇을 지시하는지에 대한 깊은 이해는 결여됨.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AI_Img_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11. 존 설의 중국어 방 논증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1891" y="1210541"/>
            <a:ext cx="2738761" cy="340941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dirty="0"/>
              <a:t>존 설(John Searle, 1932-)은 ’</a:t>
            </a:r>
            <a:r>
              <a:rPr dirty="0" err="1"/>
              <a:t>중국어</a:t>
            </a:r>
            <a:r>
              <a:rPr dirty="0"/>
              <a:t> 방 </a:t>
            </a:r>
            <a:r>
              <a:rPr dirty="0" err="1"/>
              <a:t>논증</a:t>
            </a:r>
            <a:r>
              <a:rPr dirty="0"/>
              <a:t>(Chinese Room Argument)’을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기호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(Syntax)이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이해</a:t>
            </a:r>
            <a:r>
              <a:rPr dirty="0"/>
              <a:t>(Semantics)를 </a:t>
            </a:r>
            <a:r>
              <a:rPr dirty="0" err="1"/>
              <a:t>보장하지</a:t>
            </a:r>
            <a:r>
              <a:rPr dirty="0"/>
              <a:t> </a:t>
            </a:r>
            <a:r>
              <a:rPr dirty="0" err="1"/>
              <a:t>않음을</a:t>
            </a:r>
            <a:r>
              <a:rPr dirty="0"/>
              <a:t> </a:t>
            </a:r>
            <a:r>
              <a:rPr lang="en-US" dirty="0" err="1"/>
              <a:t>보임</a:t>
            </a:r>
            <a:r>
              <a:rPr dirty="0"/>
              <a:t>.</a:t>
            </a:r>
          </a:p>
          <a:p>
            <a:pPr lvl="0"/>
            <a:r>
              <a:rPr dirty="0"/>
              <a:t>방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규칙책에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완벽한</a:t>
            </a:r>
            <a:r>
              <a:rPr dirty="0"/>
              <a:t> </a:t>
            </a:r>
            <a:r>
              <a:rPr dirty="0" err="1"/>
              <a:t>중국어</a:t>
            </a:r>
            <a:r>
              <a:rPr dirty="0"/>
              <a:t> </a:t>
            </a:r>
            <a:r>
              <a:rPr dirty="0" err="1"/>
              <a:t>답변을</a:t>
            </a:r>
            <a:r>
              <a:rPr dirty="0"/>
              <a:t> </a:t>
            </a:r>
            <a:r>
              <a:rPr dirty="0" err="1"/>
              <a:t>내놓더라도</a:t>
            </a:r>
            <a:r>
              <a:rPr dirty="0"/>
              <a:t>, </a:t>
            </a:r>
            <a:r>
              <a:rPr dirty="0" err="1"/>
              <a:t>그는</a:t>
            </a:r>
            <a:r>
              <a:rPr dirty="0"/>
              <a:t> </a:t>
            </a:r>
            <a:r>
              <a:rPr dirty="0" err="1"/>
              <a:t>중국어의</a:t>
            </a:r>
            <a:r>
              <a:rPr dirty="0"/>
              <a:t> </a:t>
            </a:r>
            <a:r>
              <a:rPr dirty="0" err="1"/>
              <a:t>의미를</a:t>
            </a:r>
            <a:r>
              <a:rPr dirty="0"/>
              <a:t> </a:t>
            </a:r>
            <a:r>
              <a:rPr dirty="0" err="1"/>
              <a:t>전혀</a:t>
            </a:r>
            <a:r>
              <a:rPr dirty="0"/>
              <a:t> </a:t>
            </a:r>
            <a:r>
              <a:rPr dirty="0" err="1"/>
              <a:t>모르는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컴퓨터도</a:t>
            </a:r>
            <a:r>
              <a:rPr dirty="0"/>
              <a:t> </a:t>
            </a:r>
            <a:r>
              <a:rPr dirty="0" err="1"/>
              <a:t>마찬가지임</a:t>
            </a:r>
            <a:r>
              <a:rPr dirty="0"/>
              <a:t>.</a:t>
            </a:r>
          </a:p>
          <a:p>
            <a:pPr lvl="0"/>
            <a:r>
              <a:rPr dirty="0"/>
              <a:t>이 </a:t>
            </a:r>
            <a:r>
              <a:rPr dirty="0" err="1"/>
              <a:t>사고실험은</a:t>
            </a:r>
            <a:r>
              <a:rPr dirty="0"/>
              <a:t> </a:t>
            </a:r>
            <a:r>
              <a:rPr dirty="0" err="1"/>
              <a:t>적절한</a:t>
            </a:r>
            <a:r>
              <a:rPr dirty="0"/>
              <a:t> </a:t>
            </a:r>
            <a:r>
              <a:rPr dirty="0" err="1"/>
              <a:t>입출력</a:t>
            </a:r>
            <a:r>
              <a:rPr dirty="0"/>
              <a:t> </a:t>
            </a:r>
            <a:r>
              <a:rPr dirty="0" err="1"/>
              <a:t>생성만으로는</a:t>
            </a:r>
            <a:r>
              <a:rPr dirty="0"/>
              <a:t> </a:t>
            </a:r>
            <a:r>
              <a:rPr dirty="0" err="1"/>
              <a:t>인공지능이</a:t>
            </a:r>
            <a:r>
              <a:rPr dirty="0"/>
              <a:t> ’</a:t>
            </a:r>
            <a:r>
              <a:rPr dirty="0" err="1"/>
              <a:t>강한</a:t>
            </a:r>
            <a:r>
              <a:rPr dirty="0"/>
              <a:t> AI(Strong AI)’가 될 수 </a:t>
            </a:r>
            <a:r>
              <a:rPr dirty="0" err="1"/>
              <a:t>없음을</a:t>
            </a:r>
            <a:r>
              <a:rPr dirty="0"/>
              <a:t> </a:t>
            </a:r>
            <a:r>
              <a:rPr dirty="0" err="1"/>
              <a:t>지적함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err="1"/>
              <a:t>송경모</a:t>
            </a:r>
            <a:r>
              <a:rPr lang="ko-KR" altLang="en-US" dirty="0"/>
              <a:t> </a:t>
            </a:r>
            <a:r>
              <a:rPr lang="en-US" altLang="ko-KR" dirty="0"/>
              <a:t>/ AI </a:t>
            </a:r>
            <a:r>
              <a:rPr lang="ko-KR" altLang="en-US" dirty="0"/>
              <a:t>시대의 경쟁력과 지식 융합 </a:t>
            </a:r>
            <a:r>
              <a:rPr lang="en-US" altLang="ko-KR" dirty="0"/>
              <a:t>/ </a:t>
            </a:r>
            <a:r>
              <a:rPr lang="ko-KR" altLang="en-US" dirty="0"/>
              <a:t>한국공학대학교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DEA591-5D78-DA02-3528-31F5F500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911" y="54887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53741384">
            <a:extLst>
              <a:ext uri="{FF2B5EF4-FFF2-40B4-BE49-F238E27FC236}">
                <a16:creationId xmlns:a16="http://schemas.microsoft.com/office/drawing/2014/main" id="{117E0BA1-2D9E-5335-8F7C-6E48AA600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012" y="1556369"/>
            <a:ext cx="5794097" cy="257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12. 중국어 방에 대한 다양한 반론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전체 시스템은 이해한다는 ‘시스템 답변’, 로봇 몸체로 세계와 상호작용하면 가능하다는 ‘로봇 답변’ 등의 반론이 존재함.</a:t>
            </a:r>
          </a:p>
          <a:p>
            <a:pPr lvl="0"/>
            <a:r>
              <a:t>뇌의 신경 과정을 완전히 복제하면 의식이 생긴다는 ’뇌 시뮬레이터 답변’에 대해 설은 시뮬레이션이 실제 비행이 아니듯 의식도 아니라고 반박함.</a:t>
            </a:r>
          </a:p>
          <a:p>
            <a:pPr lvl="0"/>
            <a:r>
              <a:t>타인의 마음도 행동으로만 추론하듯 AI도 이해한다고 봐야 한다는 ‘다른 마음 답변’ 등의 논쟁이 지속됨.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AI_Img_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13. 체화된 인지와 신체적 주체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모리스 메를로퐁티(Maurice Merleau-Ponty, 1908-1961)는 신체가 단순한 물리 대상이 아닌 세계 경험의 주체임을 강조함.</a:t>
            </a:r>
          </a:p>
          <a:p>
            <a:pPr lvl="0"/>
            <a:r>
              <a:t>조지 레이코프(George Lakoff, 1941-)와 마크 존슨(Mark Johnson, 1949-)은 인간의 추상적 개념이 신체 경험과 은유(Metaphor)에 근거한다고 주장함.</a:t>
            </a:r>
          </a:p>
          <a:p>
            <a:pPr lvl="0"/>
            <a:r>
              <a:t>체화된 인지(Embodied Cognition) 이론에 따르면 인지는 뇌, 몸, 환경의 동적 커플링(Coupling)에서 발생하는 능동적 세계 참여(Enaction)임.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7" name="AI_Img_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14. 확장된 마음과 외부 도구의 결합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앤디 클라크(Andy Clark, 1957-)와 데이비드 차머스(David Chalmers, 1966-)는 마음이 두개골 밖 도구와 환경으로 확장된다는 ’확장된 마음(Extended Mind)’을 주장함.</a:t>
            </a:r>
          </a:p>
          <a:p>
            <a:pPr lvl="0"/>
            <a:r>
              <a:t>알츠하이머 환자 오토의 메모장은 단순 도구가 아니라 그의 기억 시스템 일부이며, 스마트폰이나 구글도 마음의 확장된 부분이 될 수 있음.</a:t>
            </a:r>
          </a:p>
          <a:p>
            <a:pPr lvl="0"/>
            <a:r>
              <a:t>루시 서치먼(Lucy Suchman, 1951-)은 AI가 상황적 행동(Situated Action)을 이해하지 못하고 정해진 계획만 수행한다고 비판함.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7" name="AI_Img_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15. 의식의 어려운 문제와 감각질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데이비드 차머스는 기능 설명을 넘어서 ’경험이 어떤 느낌인지’를 설명하는 것을 ’의식의 어려운 문제(Hard Problem of Consciousness)’로 규정함.</a:t>
            </a:r>
          </a:p>
          <a:p>
            <a:pPr lvl="0"/>
            <a:r>
              <a:t>프랭크 잭슨(Frank Jackson, 1943-)은 ‘메리의 방(Mary’s Room)’ 실험을 통해 물리적 정보가 주관적 경험을 온전히 설명하지 못함을 보여줌.</a:t>
            </a:r>
          </a:p>
          <a:p>
            <a:pPr lvl="0"/>
            <a:r>
              <a:t>감각질(Qualia)은 빨간색을 보거나 커피 향을 맡는 등 사람 경험의 질적 특성으의서 특정의 물리적 정보로 환원될 수 없음.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AI_Img_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16. 현대 의식 이론: IIT와 GWT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줄리오 토노니(Giulio Tononi, 1960-)의 통합정보이론(IIT)은 의식을 통합된 정보의 양(Phi)으로 정의하며 AI의 의식 가능성을 열어둠.</a:t>
            </a:r>
          </a:p>
          <a:p>
            <a:pPr lvl="0"/>
            <a:r>
              <a:t>버나드 바스(Bernard Baars, 1946-) 등의 전역작업공간이론(GWT)은 의식을 뇌 모듈 간 정보의 전역적 방송(Broadcasting)으로 설명함.</a:t>
            </a:r>
          </a:p>
          <a:p>
            <a:pPr lvl="0"/>
            <a:r>
              <a:t>크리스토프 코흐(Christof Koch, 1956-)는 의식의 신경 상관물을 찾는 것과 의식 자체를 설명하는 것은 다른 문제임을 지적함.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7" name="AI_Img_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17. 철학적 좀비와 윤리적 고려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’철학적 좀비(Philosophical Zombie)’는 기능적으로 인간과 같으나 내적 경험이 없는 존재로, AI가 이와 같을 수 있음을 암시함.</a:t>
            </a:r>
          </a:p>
          <a:p>
            <a:pPr lvl="0"/>
            <a:r>
              <a:t>수잔 슈나이더(Susan Schneider, 1968-)는 AI가 의식을 가질 경우 ’끄는 행위’가 살인이 될 수 있다는 윤리적 함의를 탐구함.</a:t>
            </a:r>
          </a:p>
          <a:p>
            <a:pPr lvl="0"/>
            <a:r>
              <a:t>안토니오 다마지오(António Damásio, 1944-)는 감정이 생존 압박과 신체 상태 표상에 필수적이므로 AI는 진정한 감정을 가질 수 없다고 봄.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AI_Img_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19. 감정의 생존 가치와 의사결정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마사 누스바움(Martha Nussbaum, 1947-)은 감정이 단순 반응이 아니라 가치에 대한 인지적 평가(Judgment)를 포함한다고 주장함.</a:t>
            </a:r>
          </a:p>
          <a:p>
            <a:pPr lvl="0"/>
            <a:r>
              <a:t>피터 싱어(Peter Singer, 1946-)는 도덕적 고려의 기준을 ’고통을 느낄 수 있는 능력’으로 보았으며, AI의 고통 경험 여부가 중요 쟁점이 됨.</a:t>
            </a:r>
          </a:p>
          <a:p>
            <a:pPr lvl="0"/>
            <a:r>
              <a:t>AI가 고통의 감각질을 가지는지 검증할 수 없다는 점은 인공지능 윤리의 형이상학적 난제로 남음.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7" name="AI_Img_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20. 마거릿 보든의 창의성 세 가지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마거릿 보든(Margaret Boden, 1936-)은 창의성을 조합적(Combinational), 탐색적(Exploratory), 변형적(Transformational) 세 가지로 구분함.</a:t>
            </a:r>
          </a:p>
          <a:p>
            <a:pPr lvl="0"/>
            <a:r>
              <a:t>AI는 기존 아이디어 결합이나 개념 공간 탐색에는 능숙하지만, 개념 공간 자체를 바꾸는 변형적 창의성에는 한계를 보임.</a:t>
            </a:r>
          </a:p>
          <a:p>
            <a:pPr lvl="0"/>
            <a:r>
              <a:t>미하이 칙센트미하이(Mihaly Csikszentmihalyi, 1934-2021)는 창의성을 개인과 영역, 현장의 사회문화적 상호작용 결과로 정의함.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7" name="AI_Img_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21. AI 창의성의 메커니즘과 변주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현대 AI는 알파고(AlphaGo)의 37수나 GPT-4의 시 작성 등 놀라운 성과를 내지만, 기본적으로는 패턴 학습과 변주(Variation)에 기반함.</a:t>
            </a:r>
          </a:p>
          <a:p>
            <a:pPr lvl="0"/>
            <a:r>
              <a:t>더글러스 호프스태터(Douglas Hofstadter, 1945-)는 AI 창의성이 학습한 스타일의 정교한 변주를 생성하는 것이라고 분석함.</a:t>
            </a:r>
          </a:p>
          <a:p>
            <a:pPr lvl="0"/>
            <a:r>
              <a:t>사이먼 콜튼(Simon Colton, 1972-) 등은 AI 시스템이 독자적인 예술적 결정을 내리는 ’계산적 창의성’의 가능성을 옹호함.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7" name="AI_Img_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22. 인간 창의성의 4대 특수성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의도와 의미: 인간 창작은 비판과 메시지 등 의도에 기반하지만 AI는 형식만을 조작함.</a:t>
            </a:r>
          </a:p>
          <a:p>
            <a:pPr lvl="0"/>
            <a:r>
              <a:t>경험과 감정: 반 고흐(Vincent van Gogh, 1853-1890)처럼 삶의 고뇌가 작품에 담기나 AI는 느끼지 못함.</a:t>
            </a:r>
          </a:p>
          <a:p>
            <a:pPr lvl="0"/>
            <a:r>
              <a:t>문화적 맥락: 마르셀 뒤샹(Marcel Duchamp, 1887-1968)처럼 전통에 도전하고 예술 정의를 묻는 메타적 행위가 AI에겐 어려움.</a:t>
            </a:r>
          </a:p>
          <a:p>
            <a:pPr lvl="0"/>
            <a:r>
              <a:t>제약과 극복: 인간은 의도적으로 제약을 설정하고 이를 춤추듯 극복하지만 AI는 제약의 본질을 이해하지 못함.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pic>
        <p:nvPicPr>
          <p:cNvPr id="7" name="AI_Img_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23. AI 증강과 인간 공생의 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조셉 리클라이더(J.C.R. Licklider, 1915-1990)는 인간의 인지 약점을 컴퓨터가 보완하는 ’인간-컴퓨터 공생(Symbiosis)’을 제안함.</a:t>
            </a:r>
          </a:p>
          <a:p>
            <a:pPr lvl="0"/>
            <a:r>
              <a:t>더글러스 엥겔바트(Douglas Engelbart, 1925-2013)는 마우스 등을 발명하며 도구가 지능을 확장한다는 증강(Augmentation) 비전을 실현함.</a:t>
            </a:r>
          </a:p>
          <a:p>
            <a:pPr lvl="0"/>
            <a:r>
              <a:t>AI는 인간을 대체하는 위협이 아니라 자신을 이해하는 거울이자 능력을 확장하는 도구로 보아야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pic>
        <p:nvPicPr>
          <p:cNvPr id="7" name="AI_Img_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24. AI가 실패하는 인간 지능의 특성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6262382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상식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: “</a:t>
            </a:r>
            <a:r>
              <a:rPr dirty="0" err="1"/>
              <a:t>물병을</a:t>
            </a:r>
            <a:r>
              <a:rPr dirty="0"/>
              <a:t> </a:t>
            </a:r>
            <a:r>
              <a:rPr dirty="0" err="1"/>
              <a:t>냉동실에</a:t>
            </a:r>
            <a:r>
              <a:rPr dirty="0"/>
              <a:t> </a:t>
            </a:r>
            <a:r>
              <a:rPr dirty="0" err="1"/>
              <a:t>넣으면</a:t>
            </a:r>
            <a:r>
              <a:rPr dirty="0"/>
              <a:t> </a:t>
            </a:r>
            <a:r>
              <a:rPr dirty="0" err="1"/>
              <a:t>깨진다”는</a:t>
            </a:r>
            <a:r>
              <a:rPr dirty="0"/>
              <a:t> </a:t>
            </a:r>
            <a:r>
              <a:rPr dirty="0" err="1"/>
              <a:t>간단한</a:t>
            </a:r>
            <a:r>
              <a:rPr dirty="0"/>
              <a:t> </a:t>
            </a:r>
            <a:r>
              <a:rPr dirty="0" err="1"/>
              <a:t>인과</a:t>
            </a:r>
            <a:r>
              <a:rPr dirty="0"/>
              <a:t> </a:t>
            </a:r>
            <a:r>
              <a:rPr dirty="0" err="1"/>
              <a:t>추론도</a:t>
            </a:r>
            <a:r>
              <a:rPr dirty="0"/>
              <a:t>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어려워하며</a:t>
            </a:r>
            <a:r>
              <a:rPr dirty="0"/>
              <a:t>,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직관적</a:t>
            </a:r>
            <a:r>
              <a:rPr dirty="0"/>
              <a:t> </a:t>
            </a:r>
            <a:r>
              <a:rPr dirty="0" err="1"/>
              <a:t>이론</a:t>
            </a:r>
            <a:r>
              <a:rPr dirty="0"/>
              <a:t>(Intuitive Theories) </a:t>
            </a:r>
            <a:r>
              <a:rPr dirty="0" err="1"/>
              <a:t>수준에</a:t>
            </a:r>
            <a:r>
              <a:rPr dirty="0"/>
              <a:t> 못 </a:t>
            </a:r>
            <a:r>
              <a:rPr dirty="0" err="1"/>
              <a:t>미침</a:t>
            </a:r>
            <a:r>
              <a:rPr dirty="0"/>
              <a:t>.</a:t>
            </a:r>
          </a:p>
          <a:p>
            <a:pPr lvl="0"/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이해</a:t>
            </a:r>
            <a:r>
              <a:rPr dirty="0"/>
              <a:t>: </a:t>
            </a:r>
            <a:r>
              <a:rPr dirty="0" err="1"/>
              <a:t>금융기관인지</a:t>
            </a:r>
            <a:r>
              <a:rPr dirty="0"/>
              <a:t> </a:t>
            </a:r>
            <a:r>
              <a:rPr dirty="0" err="1"/>
              <a:t>강둑인지</a:t>
            </a:r>
            <a:r>
              <a:rPr dirty="0"/>
              <a:t> </a:t>
            </a:r>
            <a:r>
              <a:rPr dirty="0" err="1"/>
              <a:t>구분하는</a:t>
            </a:r>
            <a:r>
              <a:rPr dirty="0"/>
              <a:t> </a:t>
            </a:r>
            <a:r>
              <a:rPr dirty="0" err="1"/>
              <a:t>언어의</a:t>
            </a:r>
            <a:r>
              <a:rPr dirty="0"/>
              <a:t> </a:t>
            </a:r>
            <a:r>
              <a:rPr dirty="0" err="1"/>
              <a:t>의미는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세계</a:t>
            </a:r>
            <a:r>
              <a:rPr dirty="0"/>
              <a:t> </a:t>
            </a:r>
            <a:r>
              <a:rPr dirty="0" err="1"/>
              <a:t>지식과</a:t>
            </a:r>
            <a:r>
              <a:rPr dirty="0"/>
              <a:t> </a:t>
            </a:r>
            <a:r>
              <a:rPr dirty="0" err="1"/>
              <a:t>통합된</a:t>
            </a:r>
            <a:r>
              <a:rPr dirty="0"/>
              <a:t> </a:t>
            </a:r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안에서만</a:t>
            </a:r>
            <a:r>
              <a:rPr dirty="0"/>
              <a:t> </a:t>
            </a:r>
            <a:r>
              <a:rPr dirty="0" err="1"/>
              <a:t>온전히</a:t>
            </a:r>
            <a:r>
              <a:rPr dirty="0"/>
              <a:t> </a:t>
            </a:r>
            <a:r>
              <a:rPr dirty="0" err="1"/>
              <a:t>파악됨</a:t>
            </a:r>
            <a:r>
              <a:rPr dirty="0"/>
              <a:t>.</a:t>
            </a:r>
          </a:p>
          <a:p>
            <a:pPr lvl="0"/>
            <a:r>
              <a:rPr dirty="0" err="1"/>
              <a:t>윤리적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: </a:t>
            </a:r>
            <a:r>
              <a:rPr dirty="0" err="1"/>
              <a:t>트롤리</a:t>
            </a:r>
            <a:r>
              <a:rPr dirty="0"/>
              <a:t> </a:t>
            </a:r>
            <a:r>
              <a:rPr dirty="0" err="1"/>
              <a:t>딜레마</a:t>
            </a:r>
            <a:r>
              <a:rPr dirty="0"/>
              <a:t> 등 </a:t>
            </a:r>
            <a:r>
              <a:rPr dirty="0" err="1"/>
              <a:t>도덕</a:t>
            </a:r>
            <a:r>
              <a:rPr dirty="0"/>
              <a:t> </a:t>
            </a:r>
            <a:r>
              <a:rPr dirty="0" err="1"/>
              <a:t>문제에서</a:t>
            </a:r>
            <a:r>
              <a:rPr dirty="0"/>
              <a:t>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일관성이</a:t>
            </a:r>
            <a:r>
              <a:rPr dirty="0"/>
              <a:t> </a:t>
            </a:r>
            <a:r>
              <a:rPr dirty="0" err="1"/>
              <a:t>없으며</a:t>
            </a:r>
            <a:r>
              <a:rPr dirty="0"/>
              <a:t> </a:t>
            </a:r>
            <a:r>
              <a:rPr dirty="0" err="1"/>
              <a:t>공감과</a:t>
            </a:r>
            <a:r>
              <a:rPr dirty="0"/>
              <a:t> </a:t>
            </a:r>
            <a:r>
              <a:rPr dirty="0" err="1"/>
              <a:t>문화적</a:t>
            </a:r>
            <a:r>
              <a:rPr dirty="0"/>
              <a:t> </a:t>
            </a:r>
            <a:r>
              <a:rPr dirty="0" err="1"/>
              <a:t>가치</a:t>
            </a:r>
            <a:r>
              <a:rPr dirty="0"/>
              <a:t> </a:t>
            </a:r>
            <a:r>
              <a:rPr dirty="0" err="1"/>
              <a:t>기반의</a:t>
            </a:r>
            <a:r>
              <a:rPr dirty="0"/>
              <a:t> </a:t>
            </a:r>
            <a:r>
              <a:rPr dirty="0" err="1"/>
              <a:t>직관이</a:t>
            </a:r>
            <a:r>
              <a:rPr dirty="0"/>
              <a:t> </a:t>
            </a:r>
            <a:r>
              <a:rPr dirty="0" err="1"/>
              <a:t>부족함</a:t>
            </a:r>
            <a:r>
              <a:rPr dirty="0"/>
              <a:t>.</a:t>
            </a:r>
          </a:p>
          <a:p>
            <a:pPr lvl="0"/>
            <a:r>
              <a:rPr dirty="0" err="1"/>
              <a:t>창발적</a:t>
            </a:r>
            <a:r>
              <a:rPr dirty="0"/>
              <a:t> </a:t>
            </a:r>
            <a:r>
              <a:rPr dirty="0" err="1"/>
              <a:t>이해</a:t>
            </a:r>
            <a:r>
              <a:rPr dirty="0"/>
              <a:t>: </a:t>
            </a:r>
            <a:r>
              <a:rPr dirty="0" err="1"/>
              <a:t>어린아이가</a:t>
            </a:r>
            <a:r>
              <a:rPr dirty="0"/>
              <a:t> </a:t>
            </a:r>
            <a:r>
              <a:rPr dirty="0" err="1"/>
              <a:t>개를</a:t>
            </a:r>
            <a:r>
              <a:rPr dirty="0"/>
              <a:t> 몇 번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개념을</a:t>
            </a:r>
            <a:r>
              <a:rPr dirty="0"/>
              <a:t> </a:t>
            </a:r>
            <a:r>
              <a:rPr dirty="0" err="1"/>
              <a:t>잡는</a:t>
            </a:r>
            <a:r>
              <a:rPr dirty="0"/>
              <a:t> ’</a:t>
            </a:r>
            <a:r>
              <a:rPr dirty="0" err="1"/>
              <a:t>퓨샷</a:t>
            </a:r>
            <a:r>
              <a:rPr dirty="0"/>
              <a:t> </a:t>
            </a:r>
            <a:r>
              <a:rPr dirty="0" err="1"/>
              <a:t>러닝</a:t>
            </a:r>
            <a:r>
              <a:rPr dirty="0"/>
              <a:t>(Few-shot Learning)’과 </a:t>
            </a:r>
            <a:r>
              <a:rPr dirty="0" err="1"/>
              <a:t>달리</a:t>
            </a:r>
            <a:r>
              <a:rPr dirty="0"/>
              <a:t>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수만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예시가</a:t>
            </a:r>
            <a:r>
              <a:rPr dirty="0"/>
              <a:t> </a:t>
            </a:r>
            <a:r>
              <a:rPr dirty="0" err="1"/>
              <a:t>필요함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pic>
        <p:nvPicPr>
          <p:cNvPr id="7" name="AI_Img_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25. 뇌 썩음 현상과 디지털 치매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인터넷과 AI 의존이 깊은 독서와 집중력을 방해하는 ’뇌 썩음(Brain Rot)’을 초래한다는 경고.</a:t>
            </a:r>
          </a:p>
          <a:p>
            <a:pPr lvl="0"/>
            <a:r>
              <a:t>디지털 기술 과의존이 기억력과 인지 능력을 저하시키는 ’디지털 치매’를 유발한다는 주장.</a:t>
            </a:r>
          </a:p>
          <a:p>
            <a:pPr lvl="0"/>
            <a:r>
              <a:t>AI가 모든 것을 대신해 주면 인간의 뇌는 사용되지 않아 점차 퇴화할 위험이 있음.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  <p:pic>
        <p:nvPicPr>
          <p:cNvPr id="7" name="AI_Img_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26. 뇌 건강을 위한 AI 극복 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비판적 활용: AI 결과를 시작점으로 삼되 무비판적 수용을 지양하고 스스로의 사고를 유지해야 함.</a:t>
            </a:r>
          </a:p>
          <a:p>
            <a:pPr lvl="0"/>
            <a:r>
              <a:t>오프라인 학습: 일주일에 최소 하루나 한 시간은 AI 없는 환경에서 몸과 마음을 동원한 학습 시간을 할애해야 함.</a:t>
            </a:r>
          </a:p>
          <a:p>
            <a:pPr lvl="0"/>
            <a:r>
              <a:t>신체적 경험과 대화: 자연 경험, 악기 연주 등 감각 활동과 셰리 터클(Sherry Turkle, 1948-)이 강조한 진정한 대화가 사고를 발달시킴.</a:t>
            </a:r>
          </a:p>
          <a:p>
            <a:pPr lvl="0"/>
            <a:r>
              <a:t>메타인지 훈련: 자신의 사고 과정을 성찰하고 조절하는 능력을 길러야 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7" name="AI_Img_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27. 관조하는 삶과 여가의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6096000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소크라테스</a:t>
            </a:r>
            <a:r>
              <a:rPr dirty="0"/>
              <a:t>(Socrates, BC 470-399)는 “</a:t>
            </a:r>
            <a:r>
              <a:rPr dirty="0" err="1"/>
              <a:t>성찰하지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삶은</a:t>
            </a:r>
            <a:r>
              <a:rPr dirty="0"/>
              <a:t> 살 </a:t>
            </a:r>
            <a:r>
              <a:rPr dirty="0" err="1"/>
              <a:t>가치가</a:t>
            </a:r>
            <a:r>
              <a:rPr dirty="0"/>
              <a:t> </a:t>
            </a:r>
            <a:r>
              <a:rPr dirty="0" err="1"/>
              <a:t>없다”며</a:t>
            </a:r>
            <a:r>
              <a:rPr dirty="0"/>
              <a:t> </a:t>
            </a:r>
            <a:r>
              <a:rPr dirty="0" err="1"/>
              <a:t>여가</a:t>
            </a:r>
            <a:r>
              <a:rPr dirty="0"/>
              <a:t>(</a:t>
            </a:r>
            <a:r>
              <a:rPr dirty="0" err="1"/>
              <a:t>Scholē</a:t>
            </a:r>
            <a:r>
              <a:rPr dirty="0"/>
              <a:t>)를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자아</a:t>
            </a:r>
            <a:r>
              <a:rPr dirty="0"/>
              <a:t> </a:t>
            </a:r>
            <a:r>
              <a:rPr dirty="0" err="1"/>
              <a:t>성찰을</a:t>
            </a:r>
            <a:r>
              <a:rPr dirty="0"/>
              <a:t> </a:t>
            </a:r>
            <a:r>
              <a:rPr dirty="0" err="1"/>
              <a:t>중시함</a:t>
            </a:r>
            <a:r>
              <a:rPr dirty="0"/>
              <a:t>.</a:t>
            </a:r>
          </a:p>
          <a:p>
            <a:pPr lvl="0"/>
            <a:r>
              <a:rPr dirty="0" err="1"/>
              <a:t>토마스</a:t>
            </a:r>
            <a:r>
              <a:rPr dirty="0"/>
              <a:t> </a:t>
            </a:r>
            <a:r>
              <a:rPr dirty="0" err="1"/>
              <a:t>아퀴나스</a:t>
            </a:r>
            <a:r>
              <a:rPr dirty="0"/>
              <a:t>(Thomas Aquinas, 1225-1274)는 ’</a:t>
            </a:r>
            <a:r>
              <a:rPr dirty="0" err="1"/>
              <a:t>관조적</a:t>
            </a:r>
            <a:r>
              <a:rPr dirty="0"/>
              <a:t> 삶(Vita </a:t>
            </a:r>
            <a:r>
              <a:rPr dirty="0" err="1"/>
              <a:t>Contemplativa</a:t>
            </a:r>
            <a:r>
              <a:rPr dirty="0"/>
              <a:t>)’을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목적으로</a:t>
            </a:r>
            <a:r>
              <a:rPr dirty="0"/>
              <a:t> </a:t>
            </a:r>
            <a:r>
              <a:rPr dirty="0" err="1"/>
              <a:t>보았음</a:t>
            </a:r>
            <a:r>
              <a:rPr dirty="0"/>
              <a:t>.</a:t>
            </a:r>
          </a:p>
          <a:p>
            <a:pPr lvl="0"/>
            <a:r>
              <a:rPr dirty="0" err="1"/>
              <a:t>버트란드</a:t>
            </a:r>
            <a:r>
              <a:rPr dirty="0"/>
              <a:t> </a:t>
            </a:r>
            <a:r>
              <a:rPr dirty="0" err="1"/>
              <a:t>러셀</a:t>
            </a:r>
            <a:r>
              <a:rPr dirty="0"/>
              <a:t>(Bertrand Russell, 1872-1970)은 </a:t>
            </a:r>
            <a:r>
              <a:rPr dirty="0" err="1"/>
              <a:t>여가를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게으름이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문화</a:t>
            </a:r>
            <a:r>
              <a:rPr dirty="0"/>
              <a:t> </a:t>
            </a:r>
            <a:r>
              <a:rPr dirty="0" err="1"/>
              <a:t>향유와</a:t>
            </a:r>
            <a:r>
              <a:rPr dirty="0"/>
              <a:t> </a:t>
            </a:r>
            <a:r>
              <a:rPr dirty="0" err="1"/>
              <a:t>자기</a:t>
            </a:r>
            <a:r>
              <a:rPr dirty="0"/>
              <a:t> </a:t>
            </a:r>
            <a:r>
              <a:rPr dirty="0" err="1"/>
              <a:t>계발의</a:t>
            </a:r>
            <a:r>
              <a:rPr dirty="0"/>
              <a:t> </a:t>
            </a:r>
            <a:r>
              <a:rPr dirty="0" err="1"/>
              <a:t>시간으로</a:t>
            </a:r>
            <a:r>
              <a:rPr dirty="0"/>
              <a:t> </a:t>
            </a:r>
            <a:r>
              <a:rPr dirty="0" err="1"/>
              <a:t>정의함</a:t>
            </a:r>
            <a:r>
              <a:rPr dirty="0"/>
              <a:t>.</a:t>
            </a:r>
          </a:p>
          <a:p>
            <a:pPr lvl="0"/>
            <a:r>
              <a:rPr dirty="0"/>
              <a:t>존 </a:t>
            </a:r>
            <a:r>
              <a:rPr dirty="0" err="1"/>
              <a:t>메이너드</a:t>
            </a:r>
            <a:r>
              <a:rPr dirty="0"/>
              <a:t> </a:t>
            </a:r>
            <a:r>
              <a:rPr dirty="0" err="1"/>
              <a:t>케인스</a:t>
            </a:r>
            <a:r>
              <a:rPr dirty="0"/>
              <a:t>(John Maynard Keynes, 1883-1946)는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발전이</a:t>
            </a:r>
            <a:r>
              <a:rPr dirty="0"/>
              <a:t> </a:t>
            </a:r>
            <a:r>
              <a:rPr dirty="0" err="1"/>
              <a:t>주당</a:t>
            </a:r>
            <a:r>
              <a:rPr dirty="0"/>
              <a:t> 15시간 </a:t>
            </a:r>
            <a:r>
              <a:rPr dirty="0" err="1"/>
              <a:t>노동</a:t>
            </a:r>
            <a:r>
              <a:rPr dirty="0"/>
              <a:t> </a:t>
            </a:r>
            <a:r>
              <a:rPr dirty="0" err="1"/>
              <a:t>시대를</a:t>
            </a:r>
            <a:r>
              <a:rPr dirty="0"/>
              <a:t> </a:t>
            </a:r>
            <a:r>
              <a:rPr dirty="0" err="1"/>
              <a:t>열어</a:t>
            </a:r>
            <a:r>
              <a:rPr dirty="0"/>
              <a:t> </a:t>
            </a:r>
            <a:r>
              <a:rPr dirty="0" err="1"/>
              <a:t>여가</a:t>
            </a:r>
            <a:r>
              <a:rPr dirty="0"/>
              <a:t> </a:t>
            </a:r>
            <a:r>
              <a:rPr dirty="0" err="1"/>
              <a:t>활용의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가져올</a:t>
            </a:r>
            <a:r>
              <a:rPr dirty="0"/>
              <a:t> </a:t>
            </a:r>
            <a:r>
              <a:rPr dirty="0" err="1"/>
              <a:t>것이라</a:t>
            </a:r>
            <a:r>
              <a:rPr dirty="0"/>
              <a:t> </a:t>
            </a:r>
            <a:r>
              <a:rPr dirty="0" err="1"/>
              <a:t>예측함</a:t>
            </a:r>
            <a:r>
              <a:rPr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  <p:pic>
        <p:nvPicPr>
          <p:cNvPr id="7" name="AI_Img_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28. 지능의 민주화와 정보 과부하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생성형 AI는 소수 전문가의 영역을 대중에게 개방하는 ’지능의 민주화’를 가능케 했으나 승자독식 현상은 여전함.</a:t>
            </a:r>
          </a:p>
          <a:p>
            <a:pPr lvl="0"/>
            <a:r>
              <a:t>할 배리언(Hal Varian, 1947-)은 정보가 넘쳐나면 오히려 주의력은 빈약해지는 ‘주의력의 빈곤’ 현상을 지적함.</a:t>
            </a:r>
          </a:p>
          <a:p>
            <a:pPr lvl="0"/>
            <a:r>
              <a:t>일라이 파리저(Eli Pariser, 1980-)는 알고리즘이 개인을 동질적 정보 속에 가두는 ’필터 버블(Filter Bubble)’의 위험성을 경고함.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  <p:pic>
        <p:nvPicPr>
          <p:cNvPr id="7" name="AI_Img_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0" y="1030000"/>
            <a:ext cx="2340000" cy="334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29. AI 시대 대학생의 생존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6178492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특이</a:t>
            </a:r>
            <a:r>
              <a:rPr dirty="0"/>
              <a:t> </a:t>
            </a:r>
            <a:r>
              <a:rPr dirty="0" err="1"/>
              <a:t>분야</a:t>
            </a:r>
            <a:r>
              <a:rPr dirty="0"/>
              <a:t> </a:t>
            </a:r>
            <a:r>
              <a:rPr dirty="0" err="1"/>
              <a:t>개척</a:t>
            </a:r>
            <a:r>
              <a:rPr dirty="0"/>
              <a:t>: </a:t>
            </a:r>
            <a:r>
              <a:rPr dirty="0" err="1"/>
              <a:t>남들이</a:t>
            </a:r>
            <a:r>
              <a:rPr dirty="0"/>
              <a:t> 안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자신만의</a:t>
            </a:r>
            <a:r>
              <a:rPr dirty="0"/>
              <a:t> </a:t>
            </a:r>
            <a:r>
              <a:rPr dirty="0" err="1"/>
              <a:t>독특한</a:t>
            </a:r>
            <a:r>
              <a:rPr dirty="0"/>
              <a:t> </a:t>
            </a:r>
            <a:r>
              <a:rPr dirty="0" err="1"/>
              <a:t>전문</a:t>
            </a:r>
            <a:r>
              <a:rPr dirty="0"/>
              <a:t> </a:t>
            </a:r>
            <a:r>
              <a:rPr dirty="0" err="1"/>
              <a:t>분야</a:t>
            </a:r>
            <a:r>
              <a:rPr dirty="0"/>
              <a:t>(</a:t>
            </a:r>
            <a:r>
              <a:rPr dirty="0" err="1"/>
              <a:t>덕후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)를 10년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지속하여</a:t>
            </a:r>
            <a:r>
              <a:rPr dirty="0"/>
              <a:t> </a:t>
            </a:r>
            <a:r>
              <a:rPr dirty="0" err="1"/>
              <a:t>AI의</a:t>
            </a:r>
            <a:r>
              <a:rPr dirty="0"/>
              <a:t> </a:t>
            </a:r>
            <a:r>
              <a:rPr dirty="0" err="1"/>
              <a:t>피상성을</a:t>
            </a:r>
            <a:r>
              <a:rPr dirty="0"/>
              <a:t> </a:t>
            </a:r>
            <a:r>
              <a:rPr dirty="0" err="1"/>
              <a:t>넘어서야</a:t>
            </a:r>
            <a:r>
              <a:rPr dirty="0"/>
              <a:t> 함.</a:t>
            </a:r>
          </a:p>
          <a:p>
            <a:pPr lvl="0"/>
            <a:r>
              <a:rPr dirty="0" err="1"/>
              <a:t>평생</a:t>
            </a:r>
            <a:r>
              <a:rPr dirty="0"/>
              <a:t> </a:t>
            </a:r>
            <a:r>
              <a:rPr dirty="0" err="1"/>
              <a:t>학습</a:t>
            </a:r>
            <a:r>
              <a:rPr lang="en-US" dirty="0"/>
              <a:t> </a:t>
            </a:r>
            <a:r>
              <a:rPr dirty="0" err="1"/>
              <a:t>목표</a:t>
            </a:r>
            <a:r>
              <a:rPr dirty="0"/>
              <a:t>: </a:t>
            </a:r>
            <a:r>
              <a:rPr dirty="0" err="1"/>
              <a:t>피터</a:t>
            </a:r>
            <a:r>
              <a:rPr dirty="0"/>
              <a:t> </a:t>
            </a:r>
            <a:r>
              <a:rPr dirty="0" err="1"/>
              <a:t>드러커</a:t>
            </a:r>
            <a:r>
              <a:rPr dirty="0"/>
              <a:t>(Peter F. Drucker, 1909-2005)의 </a:t>
            </a:r>
            <a:r>
              <a:rPr dirty="0" err="1"/>
              <a:t>평생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정신을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  <a:p>
            <a:pPr lvl="1"/>
            <a:r>
              <a:rPr dirty="0"/>
              <a:t>’</a:t>
            </a:r>
            <a:r>
              <a:rPr dirty="0" err="1"/>
              <a:t>학습하는</a:t>
            </a:r>
            <a:r>
              <a:rPr dirty="0"/>
              <a:t> </a:t>
            </a:r>
            <a:r>
              <a:rPr dirty="0" err="1"/>
              <a:t>법’을</a:t>
            </a:r>
            <a:r>
              <a:rPr dirty="0"/>
              <a:t> </a:t>
            </a:r>
            <a:r>
              <a:rPr dirty="0" err="1"/>
              <a:t>익히고</a:t>
            </a:r>
            <a:r>
              <a:rPr dirty="0"/>
              <a:t>, </a:t>
            </a:r>
            <a:r>
              <a:rPr dirty="0" err="1"/>
              <a:t>평생</a:t>
            </a:r>
            <a:r>
              <a:rPr dirty="0"/>
              <a:t> </a:t>
            </a:r>
            <a:r>
              <a:rPr dirty="0" err="1"/>
              <a:t>가져갈</a:t>
            </a:r>
            <a:r>
              <a:rPr dirty="0"/>
              <a:t> </a:t>
            </a:r>
            <a:r>
              <a:rPr dirty="0" err="1"/>
              <a:t>나만의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습관이나</a:t>
            </a:r>
            <a:r>
              <a:rPr dirty="0"/>
              <a:t> </a:t>
            </a:r>
            <a:r>
              <a:rPr dirty="0" err="1"/>
              <a:t>루틴을</a:t>
            </a:r>
            <a:r>
              <a:rPr dirty="0"/>
              <a:t> </a:t>
            </a:r>
            <a:r>
              <a:rPr dirty="0" err="1"/>
              <a:t>형성</a:t>
            </a:r>
            <a:r>
              <a:rPr dirty="0"/>
              <a:t>, </a:t>
            </a:r>
            <a:r>
              <a:rPr dirty="0" err="1"/>
              <a:t>정착</a:t>
            </a:r>
            <a:r>
              <a:rPr dirty="0"/>
              <a:t> </a:t>
            </a:r>
            <a:r>
              <a:rPr dirty="0" err="1"/>
              <a:t>시킴</a:t>
            </a:r>
            <a:endParaRPr dirty="0"/>
          </a:p>
          <a:p>
            <a:pPr lvl="0"/>
            <a:r>
              <a:rPr dirty="0" err="1"/>
              <a:t>노동자로</a:t>
            </a:r>
            <a:r>
              <a:rPr dirty="0"/>
              <a:t> </a:t>
            </a:r>
            <a:r>
              <a:rPr dirty="0" err="1"/>
              <a:t>남지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 </a:t>
            </a:r>
            <a:r>
              <a:rPr dirty="0" err="1"/>
              <a:t>자본가로</a:t>
            </a:r>
            <a:r>
              <a:rPr dirty="0"/>
              <a:t> </a:t>
            </a:r>
            <a:r>
              <a:rPr dirty="0" err="1"/>
              <a:t>성장하려는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및 </a:t>
            </a:r>
            <a:r>
              <a:rPr dirty="0" err="1"/>
              <a:t>평생</a:t>
            </a:r>
            <a:r>
              <a:rPr dirty="0"/>
              <a:t> </a:t>
            </a:r>
            <a:r>
              <a:rPr dirty="0" err="1"/>
              <a:t>실행</a:t>
            </a:r>
            <a:endParaRPr dirty="0"/>
          </a:p>
          <a:p>
            <a:pPr marL="685800" lvl="1" indent="-342900">
              <a:buAutoNum type="arabicParenR"/>
            </a:pPr>
            <a:r>
              <a:rPr b="1" dirty="0" err="1">
                <a:solidFill>
                  <a:srgbClr val="C00000"/>
                </a:solidFill>
              </a:rPr>
              <a:t>지식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자본</a:t>
            </a:r>
            <a:endParaRPr dirty="0">
              <a:solidFill>
                <a:srgbClr val="C00000"/>
              </a:solidFill>
            </a:endParaRPr>
          </a:p>
          <a:p>
            <a:pPr marL="685800" lvl="1" indent="-342900">
              <a:buAutoNum type="arabicParenR" startAt="2"/>
            </a:pPr>
            <a:r>
              <a:rPr b="1" dirty="0" err="1">
                <a:solidFill>
                  <a:srgbClr val="C00000"/>
                </a:solidFill>
              </a:rPr>
              <a:t>금융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자본</a:t>
            </a:r>
            <a:endParaRPr dirty="0">
              <a:solidFill>
                <a:srgbClr val="C00000"/>
              </a:solidFill>
            </a:endParaRPr>
          </a:p>
          <a:p>
            <a:pPr marL="685800" lvl="1" indent="-342900">
              <a:buAutoNum type="arabicParenR" startAt="3"/>
            </a:pPr>
            <a:r>
              <a:rPr b="1" dirty="0" err="1">
                <a:solidFill>
                  <a:srgbClr val="C00000"/>
                </a:solidFill>
              </a:rPr>
              <a:t>사회적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자본</a:t>
            </a:r>
            <a:r>
              <a:rPr b="1" dirty="0">
                <a:solidFill>
                  <a:srgbClr val="C00000"/>
                </a:solidFill>
              </a:rPr>
              <a:t>(</a:t>
            </a:r>
            <a:r>
              <a:rPr b="1" dirty="0" err="1">
                <a:solidFill>
                  <a:srgbClr val="C00000"/>
                </a:solidFill>
              </a:rPr>
              <a:t>인적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네트워크</a:t>
            </a:r>
            <a:r>
              <a:rPr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2026-05-20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692B6F0-C737-A310-D409-00E57010C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944887"/>
            <a:ext cx="24003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2566</Words>
  <Application>Microsoft Office PowerPoint</Application>
  <PresentationFormat>화면 슬라이드 쇼(16:9)</PresentationFormat>
  <Paragraphs>207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Ch11: AI와 철학적 성찰</vt:lpstr>
      <vt:lpstr>1. 지능의 고대 및 근대적 정의</vt:lpstr>
      <vt:lpstr>2. 칸트의 지성과 이성 구분</vt:lpstr>
      <vt:lpstr>3. 튜링 테스트와 행동주의 지능</vt:lpstr>
      <vt:lpstr>4. 튜링 테스트의 역설과 한계</vt:lpstr>
      <vt:lpstr>5. 인공지능 명명과 마음의 사회</vt:lpstr>
      <vt:lpstr>6. 계산과 사고의 본질적 차이</vt:lpstr>
      <vt:lpstr>7. 기능주의 심리학과 인과적 역할</vt:lpstr>
      <vt:lpstr>8. 통계적 패턴과 의미 이해의 간극</vt:lpstr>
      <vt:lpstr>9. 감각질과 주관적 경험의 부재</vt:lpstr>
      <vt:lpstr>10. 상식과 추상적 추론의 한계</vt:lpstr>
      <vt:lpstr>11. 존 설의 중국어 방 논증</vt:lpstr>
      <vt:lpstr>12. 중국어 방에 대한 다양한 반론</vt:lpstr>
      <vt:lpstr>13. 체화된 인지와 신체적 주체</vt:lpstr>
      <vt:lpstr>14. 확장된 마음과 외부 도구의 결합</vt:lpstr>
      <vt:lpstr>15. 의식의 어려운 문제와 감각질</vt:lpstr>
      <vt:lpstr>16. 현대 의식 이론: IIT와 GWT</vt:lpstr>
      <vt:lpstr>17. 철학적 좀비와 윤리적 고려</vt:lpstr>
      <vt:lpstr>19. 감정의 생존 가치와 의사결정</vt:lpstr>
      <vt:lpstr>20. 마거릿 보든의 창의성 세 가지</vt:lpstr>
      <vt:lpstr>21. AI 창의성의 메커니즘과 변주</vt:lpstr>
      <vt:lpstr>22. 인간 창의성의 4대 특수성</vt:lpstr>
      <vt:lpstr>23. AI 증강과 인간 공생의 비전</vt:lpstr>
      <vt:lpstr>24. AI가 실패하는 인간 지능의 특성</vt:lpstr>
      <vt:lpstr>25. 뇌 썩음 현상과 디지털 치매</vt:lpstr>
      <vt:lpstr>26. 뇌 건강을 위한 AI 극복 방안</vt:lpstr>
      <vt:lpstr>27. 관조하는 삶과 여가의 가치</vt:lpstr>
      <vt:lpstr>28. 지능의 민주화와 정보 과부하</vt:lpstr>
      <vt:lpstr>29. AI 시대 대학생의 생존 전략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30</TotalTime>
  <Words>89</Words>
  <Application>Microsoft Office PowerPoint</Application>
  <PresentationFormat>화면 슬라이드 쇼(16:9)</PresentationFormat>
  <Paragraphs>25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Ch11: AI와 철학적 성찰</dc:title>
  <dc:creator>송경모/2026-05-20/한국공학대학교</dc:creator>
  <cp:keywords/>
  <cp:lastModifiedBy>Kyung Mo Song</cp:lastModifiedBy>
  <cp:revision>5</cp:revision>
  <dcterms:created xsi:type="dcterms:W3CDTF">2026-05-17T10:15:11Z</dcterms:created>
  <dcterms:modified xsi:type="dcterms:W3CDTF">2026-05-19T04:35:29Z</dcterms:modified>
  <cp:category>Free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2026-05-20</vt:lpwstr>
  </property>
  <property fmtid="{D5CDD505-2E9C-101B-9397-08002B2CF9AE}" pid="3" name="organization">
    <vt:lpwstr>한국공학대학교</vt:lpwstr>
  </property>
  <property fmtid="{D5CDD505-2E9C-101B-9397-08002B2CF9AE}" pid="4" name="pptxname">
    <vt:lpwstr>20260520_a송경모_tCh11강의_o한국공학대학교_fPres_v00</vt:lpwstr>
  </property>
  <property fmtid="{D5CDD505-2E9C-101B-9397-08002B2CF9AE}" pid="5" name="tags">
    <vt:lpwstr/>
  </property>
  <property fmtid="{D5CDD505-2E9C-101B-9397-08002B2CF9AE}" pid="6" name="version">
    <vt:lpwstr>0</vt:lpwstr>
  </property>
</Properties>
</file>