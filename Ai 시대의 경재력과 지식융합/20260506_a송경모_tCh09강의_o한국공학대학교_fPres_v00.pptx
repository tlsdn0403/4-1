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7" r:id="rId5"/>
    <p:sldId id="259" r:id="rId6"/>
    <p:sldId id="288" r:id="rId7"/>
    <p:sldId id="261" r:id="rId8"/>
    <p:sldId id="289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5" r:id="rId31"/>
    <p:sldId id="286" r:id="rId3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84" d="100"/>
          <a:sy n="84" d="100"/>
        </p:scale>
        <p:origin x="90" y="6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5767431" cy="3394472"/>
          </a:xfrm>
        </p:spPr>
        <p:txBody>
          <a:bodyPr/>
          <a:lstStyle>
            <a:lvl1pPr>
              <a:defRPr sz="1900" baseline="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342900" rtl="0" eaLnBrk="1" latinLnBrk="0" hangingPunct="1">
        <a:spcBef>
          <a:spcPct val="0"/>
        </a:spcBef>
        <a:buNone/>
        <a:defRPr sz="33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wawoo.com/newsletter/2025_09_23/250923_k_ai.pdf" TargetMode="External"/><Relationship Id="rId2" Type="http://schemas.openxmlformats.org/officeDocument/2006/relationships/hyperlink" Target="https://www.youtube.com/shorts/W4niQH0SHfw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shorts/Fg2rLxjMTfU" TargetMode="External"/><Relationship Id="rId4" Type="http://schemas.openxmlformats.org/officeDocument/2006/relationships/hyperlink" Target="https://www.youtube.com/watch?v=dSleJ4dQ5Hs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Ch09: AI시대의 법과 제도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송경모/2026-05-06/한국공학대학교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0. 고대, 중세에는 저작권 개념이 없었다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dirty="0"/>
              <a:t>Why?</a:t>
            </a:r>
          </a:p>
          <a:p>
            <a:pPr lvl="1"/>
            <a:r>
              <a:rPr dirty="0"/>
              <a:t>1회성 </a:t>
            </a:r>
            <a:r>
              <a:rPr dirty="0" err="1"/>
              <a:t>공연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필사본에</a:t>
            </a:r>
            <a:r>
              <a:rPr dirty="0"/>
              <a:t> </a:t>
            </a:r>
            <a:r>
              <a:rPr dirty="0" err="1"/>
              <a:t>의존하던</a:t>
            </a:r>
            <a:r>
              <a:rPr dirty="0"/>
              <a:t> </a:t>
            </a:r>
            <a:r>
              <a:rPr dirty="0" err="1"/>
              <a:t>시대</a:t>
            </a:r>
            <a:endParaRPr dirty="0"/>
          </a:p>
          <a:p>
            <a:pPr lvl="1"/>
            <a:r>
              <a:rPr dirty="0" err="1"/>
              <a:t>창작자는</a:t>
            </a:r>
            <a:r>
              <a:rPr dirty="0"/>
              <a:t> </a:t>
            </a:r>
            <a:r>
              <a:rPr dirty="0" err="1"/>
              <a:t>그것만으로</a:t>
            </a:r>
            <a:r>
              <a:rPr dirty="0"/>
              <a:t> </a:t>
            </a:r>
            <a:r>
              <a:rPr dirty="0" err="1"/>
              <a:t>경제적</a:t>
            </a:r>
            <a:r>
              <a:rPr dirty="0"/>
              <a:t> </a:t>
            </a:r>
            <a:r>
              <a:rPr dirty="0" err="1"/>
              <a:t>댓대를</a:t>
            </a:r>
            <a:r>
              <a:rPr dirty="0"/>
              <a:t> </a:t>
            </a:r>
            <a:r>
              <a:rPr dirty="0" err="1"/>
              <a:t>받을</a:t>
            </a:r>
            <a:r>
              <a:rPr dirty="0"/>
              <a:t> 수 </a:t>
            </a:r>
            <a:r>
              <a:rPr dirty="0" err="1"/>
              <a:t>있었음</a:t>
            </a:r>
            <a:r>
              <a:rPr dirty="0"/>
              <a:t>.</a:t>
            </a:r>
          </a:p>
          <a:p>
            <a:pPr lvl="1"/>
            <a:r>
              <a:rPr dirty="0" err="1"/>
              <a:t>많은</a:t>
            </a:r>
            <a:r>
              <a:rPr dirty="0"/>
              <a:t> </a:t>
            </a:r>
            <a:r>
              <a:rPr dirty="0" err="1"/>
              <a:t>스토리가</a:t>
            </a:r>
            <a:r>
              <a:rPr dirty="0"/>
              <a:t> </a:t>
            </a:r>
            <a:r>
              <a:rPr dirty="0" err="1"/>
              <a:t>구전</a:t>
            </a:r>
            <a:r>
              <a:rPr dirty="0"/>
              <a:t>, </a:t>
            </a:r>
            <a:r>
              <a:rPr dirty="0" err="1"/>
              <a:t>필사</a:t>
            </a:r>
            <a:r>
              <a:rPr dirty="0"/>
              <a:t> </a:t>
            </a:r>
            <a:r>
              <a:rPr dirty="0" err="1"/>
              <a:t>과정에서</a:t>
            </a:r>
            <a:r>
              <a:rPr dirty="0"/>
              <a:t> </a:t>
            </a:r>
            <a:r>
              <a:rPr dirty="0" err="1"/>
              <a:t>공동체</a:t>
            </a:r>
            <a:r>
              <a:rPr dirty="0"/>
              <a:t> </a:t>
            </a:r>
            <a:r>
              <a:rPr dirty="0" err="1"/>
              <a:t>구성원들이</a:t>
            </a:r>
            <a:r>
              <a:rPr dirty="0"/>
              <a:t> </a:t>
            </a:r>
            <a:r>
              <a:rPr dirty="0" err="1"/>
              <a:t>첨삭</a:t>
            </a:r>
            <a:r>
              <a:rPr dirty="0"/>
              <a:t> </a:t>
            </a:r>
            <a:r>
              <a:rPr dirty="0" err="1"/>
              <a:t>반복</a:t>
            </a:r>
            <a:r>
              <a:rPr dirty="0"/>
              <a:t>, </a:t>
            </a:r>
            <a:r>
              <a:rPr dirty="0" err="1"/>
              <a:t>저자가</a:t>
            </a:r>
            <a:r>
              <a:rPr dirty="0"/>
              <a:t> </a:t>
            </a:r>
            <a:r>
              <a:rPr dirty="0" err="1"/>
              <a:t>불분명</a:t>
            </a:r>
            <a:r>
              <a:rPr dirty="0"/>
              <a:t>(예: “</a:t>
            </a:r>
            <a:r>
              <a:rPr dirty="0" err="1"/>
              <a:t>아더왕의</a:t>
            </a:r>
            <a:r>
              <a:rPr dirty="0"/>
              <a:t> </a:t>
            </a:r>
            <a:r>
              <a:rPr dirty="0" err="1"/>
              <a:t>전설</a:t>
            </a:r>
            <a:r>
              <a:rPr dirty="0"/>
              <a:t>”)</a:t>
            </a:r>
          </a:p>
          <a:p>
            <a:pPr lvl="0"/>
            <a:r>
              <a:rPr dirty="0"/>
              <a:t>16세기 </a:t>
            </a:r>
            <a:r>
              <a:rPr dirty="0" err="1"/>
              <a:t>이후</a:t>
            </a:r>
            <a:r>
              <a:rPr dirty="0"/>
              <a:t> </a:t>
            </a:r>
            <a:r>
              <a:rPr dirty="0" err="1"/>
              <a:t>인쇄술</a:t>
            </a:r>
            <a:r>
              <a:rPr dirty="0"/>
              <a:t> </a:t>
            </a:r>
            <a:r>
              <a:rPr dirty="0" err="1"/>
              <a:t>발전으로</a:t>
            </a:r>
            <a:r>
              <a:rPr dirty="0"/>
              <a:t> </a:t>
            </a:r>
            <a:r>
              <a:rPr dirty="0" err="1"/>
              <a:t>대량</a:t>
            </a:r>
            <a:r>
              <a:rPr dirty="0"/>
              <a:t> </a:t>
            </a:r>
            <a:r>
              <a:rPr dirty="0" err="1"/>
              <a:t>복제</a:t>
            </a:r>
            <a:r>
              <a:rPr dirty="0"/>
              <a:t> </a:t>
            </a:r>
            <a:r>
              <a:rPr dirty="0" err="1"/>
              <a:t>시대</a:t>
            </a:r>
            <a:r>
              <a:rPr dirty="0"/>
              <a:t> </a:t>
            </a:r>
            <a:r>
              <a:rPr dirty="0" err="1"/>
              <a:t>열림</a:t>
            </a:r>
            <a:endParaRPr dirty="0"/>
          </a:p>
          <a:p>
            <a:pPr lvl="1"/>
            <a:r>
              <a:rPr dirty="0" err="1"/>
              <a:t>유사</a:t>
            </a:r>
            <a:r>
              <a:rPr dirty="0"/>
              <a:t> </a:t>
            </a:r>
            <a:r>
              <a:rPr dirty="0" err="1"/>
              <a:t>서적의</a:t>
            </a:r>
            <a:r>
              <a:rPr dirty="0"/>
              <a:t> </a:t>
            </a:r>
            <a:r>
              <a:rPr dirty="0" err="1"/>
              <a:t>범람으로</a:t>
            </a:r>
            <a:r>
              <a:rPr dirty="0"/>
              <a:t> </a:t>
            </a:r>
            <a:r>
              <a:rPr dirty="0" err="1"/>
              <a:t>개인에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경제적</a:t>
            </a:r>
            <a:r>
              <a:rPr dirty="0"/>
              <a:t> </a:t>
            </a:r>
            <a:r>
              <a:rPr dirty="0" err="1"/>
              <a:t>댓가</a:t>
            </a:r>
            <a:r>
              <a:rPr dirty="0"/>
              <a:t> </a:t>
            </a:r>
            <a:r>
              <a:rPr dirty="0" err="1"/>
              <a:t>감소</a:t>
            </a:r>
            <a:endParaRPr dirty="0"/>
          </a:p>
          <a:p>
            <a:pPr lvl="1"/>
            <a:r>
              <a:rPr dirty="0" err="1"/>
              <a:t>영국에서</a:t>
            </a:r>
            <a:r>
              <a:rPr dirty="0"/>
              <a:t> </a:t>
            </a:r>
            <a:r>
              <a:rPr dirty="0" err="1"/>
              <a:t>출판업자간</a:t>
            </a:r>
            <a:r>
              <a:rPr dirty="0"/>
              <a:t> </a:t>
            </a:r>
            <a:r>
              <a:rPr dirty="0" err="1"/>
              <a:t>자율협약을</a:t>
            </a:r>
            <a:r>
              <a:rPr dirty="0"/>
              <a:t> </a:t>
            </a:r>
            <a:r>
              <a:rPr dirty="0" err="1"/>
              <a:t>거쳐</a:t>
            </a:r>
            <a:r>
              <a:rPr dirty="0"/>
              <a:t>, </a:t>
            </a:r>
            <a:r>
              <a:rPr dirty="0" err="1"/>
              <a:t>정부로부터</a:t>
            </a:r>
            <a:r>
              <a:rPr dirty="0"/>
              <a:t> </a:t>
            </a:r>
            <a:r>
              <a:rPr dirty="0" err="1"/>
              <a:t>저작권을</a:t>
            </a:r>
            <a:r>
              <a:rPr dirty="0"/>
              <a:t> </a:t>
            </a:r>
            <a:r>
              <a:rPr dirty="0" err="1"/>
              <a:t>인정</a:t>
            </a:r>
            <a:r>
              <a:rPr dirty="0"/>
              <a:t> </a:t>
            </a:r>
            <a:r>
              <a:rPr dirty="0" err="1"/>
              <a:t>받은</a:t>
            </a:r>
            <a:r>
              <a:rPr dirty="0"/>
              <a:t> </a:t>
            </a:r>
            <a:r>
              <a:rPr dirty="0" err="1"/>
              <a:t>출판물</a:t>
            </a:r>
            <a:r>
              <a:rPr dirty="0"/>
              <a:t> </a:t>
            </a:r>
            <a:r>
              <a:rPr dirty="0" err="1"/>
              <a:t>외에는</a:t>
            </a:r>
            <a:r>
              <a:rPr dirty="0"/>
              <a:t> </a:t>
            </a:r>
            <a:r>
              <a:rPr dirty="0" err="1"/>
              <a:t>불법으로</a:t>
            </a:r>
            <a:r>
              <a:rPr dirty="0"/>
              <a:t> </a:t>
            </a:r>
            <a:r>
              <a:rPr dirty="0" err="1"/>
              <a:t>간주</a:t>
            </a:r>
            <a:endParaRPr lang="en-US" dirty="0"/>
          </a:p>
          <a:p>
            <a:r>
              <a:rPr lang="ko-KR" altLang="en-US" b="1" dirty="0"/>
              <a:t>베른 협약</a:t>
            </a:r>
            <a:endParaRPr lang="en-US" altLang="ko-KR" b="1" dirty="0"/>
          </a:p>
          <a:p>
            <a:pPr lvl="1"/>
            <a:r>
              <a:rPr lang="en-US" altLang="ko-KR" dirty="0"/>
              <a:t>1886</a:t>
            </a:r>
            <a:r>
              <a:rPr lang="ko-KR" altLang="en-US" dirty="0"/>
              <a:t>년 스위스 베른에서 체결된 </a:t>
            </a:r>
            <a:r>
              <a:rPr lang="ko-KR" altLang="en-US" b="1" dirty="0"/>
              <a:t>저작권 보호에 관한 최초의 다자간 국제 조약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Minnesinger | shades of thought">
            <a:extLst>
              <a:ext uri="{FF2B5EF4-FFF2-40B4-BE49-F238E27FC236}">
                <a16:creationId xmlns:a16="http://schemas.microsoft.com/office/drawing/2014/main" id="{51620B2B-E2C7-C048-05CC-ADD9B1C8E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200151"/>
            <a:ext cx="190500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A1F3157-63C4-4617-6C75-A96CE8F42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519" y="2701529"/>
            <a:ext cx="1519281" cy="20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1. 전통적 저작권과 AI의 도전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저작권법은 역사적으로 ’인간 창작자’와 그의 정신적 투입에 대한 보상을 전제로 발전해 왔음.</a:t>
            </a:r>
          </a:p>
          <a:p>
            <a:pPr lvl="0"/>
            <a:r>
              <a:t>윌리엄 블랙스톤은 재산권을 개인 노동에 대한 정당한 보상으로 정의했으나, AI는 기존 저작물을 무단 학습하며 이 전제를 위협함.</a:t>
            </a:r>
          </a:p>
          <a:p>
            <a:pPr lvl="0"/>
            <a:r>
              <a:t>제시카 리트먼은 창작을 ’문화적 소재의 재조합’으로 보았으며, AI의 생성 과정도 이 관점에서 창작 행위로 볼 여지가 있음.</a:t>
            </a:r>
          </a:p>
          <a:p>
            <a:pPr lvl="0"/>
            <a:r>
              <a:t>AI 학습에 저작물을 사용하는 것이 ’공정이용’에 해당하는지에 대해 현재 격렬한 논쟁이 진행 중임.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B2718C1-5A76-84DC-0713-42228A200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1365767"/>
            <a:ext cx="16002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1AF011-3504-1AA7-BDE7-B6CF3CBB7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</a:t>
            </a:r>
            <a:r>
              <a:rPr lang="en-US" altLang="ko-KR" dirty="0" err="1"/>
              <a:t>전자도서관</a:t>
            </a:r>
            <a:r>
              <a:rPr lang="en-US" altLang="ko-KR" dirty="0"/>
              <a:t> </a:t>
            </a:r>
            <a:r>
              <a:rPr lang="en-US" altLang="ko-KR" dirty="0" err="1"/>
              <a:t>프로젝트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84C298-D890-3B37-A991-208CE209F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구글 도서관 프로젝트 사건</a:t>
            </a:r>
          </a:p>
          <a:p>
            <a:r>
              <a:rPr lang="ko-KR" altLang="en-US" b="1" dirty="0"/>
              <a:t>사건 개요</a:t>
            </a:r>
            <a:r>
              <a:rPr lang="en-US" altLang="ko-KR" dirty="0"/>
              <a:t>: </a:t>
            </a:r>
            <a:r>
              <a:rPr lang="ko-KR" altLang="en-US" dirty="0"/>
              <a:t>구글이 전 세계 도서관의 책을 무단으로 스캔해 </a:t>
            </a:r>
            <a:r>
              <a:rPr lang="ko-KR" altLang="en-US" dirty="0" err="1"/>
              <a:t>디지털화한</a:t>
            </a:r>
            <a:r>
              <a:rPr lang="ko-KR" altLang="en-US" dirty="0"/>
              <a:t> 사건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쟁점</a:t>
            </a:r>
            <a:r>
              <a:rPr lang="en-US" altLang="ko-KR" dirty="0"/>
              <a:t>: </a:t>
            </a:r>
            <a:r>
              <a:rPr lang="ko-KR" altLang="en-US" dirty="0"/>
              <a:t>미국의 작가 조합이 저작권자의 허락 없는 무단 복제라며 소송을 제기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결과</a:t>
            </a:r>
            <a:r>
              <a:rPr lang="en-US" altLang="ko-KR" dirty="0"/>
              <a:t>: </a:t>
            </a:r>
            <a:r>
              <a:rPr lang="ko-KR" altLang="en-US" dirty="0"/>
              <a:t>미 법원은 구글의 도서 스캔 및 검색 제공 행위가 저작물의 가치를 훼손하지 않는 </a:t>
            </a:r>
            <a:r>
              <a:rPr lang="en-US" altLang="ko-KR" b="1" dirty="0"/>
              <a:t>'</a:t>
            </a:r>
            <a:r>
              <a:rPr lang="ko-KR" altLang="en-US" b="1" dirty="0"/>
              <a:t>공정 이용</a:t>
            </a:r>
            <a:r>
              <a:rPr lang="en-US" altLang="ko-KR" b="1" dirty="0"/>
              <a:t>(Fair Use)’</a:t>
            </a:r>
            <a:r>
              <a:rPr lang="en-US" altLang="ko-KR" b="1" dirty="0" err="1"/>
              <a:t>이라고</a:t>
            </a:r>
            <a:r>
              <a:rPr lang="en-US" altLang="ko-KR" b="1" dirty="0"/>
              <a:t> </a:t>
            </a:r>
            <a:r>
              <a:rPr lang="en-US" altLang="ko-KR" b="1" dirty="0" err="1"/>
              <a:t>판결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8A97C7-4AC0-0286-03BF-D098C718E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A6D5D8-3C83-8F50-02C1-33528FACA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9D6DBB-BC2E-41BA-837E-47AE1273D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34590C0-7827-104A-38AA-6B8B911C6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752163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501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1-1. </a:t>
            </a:r>
            <a:r>
              <a:rPr dirty="0" err="1"/>
              <a:t>Anthrophic</a:t>
            </a:r>
            <a:r>
              <a:rPr dirty="0"/>
              <a:t> 의 </a:t>
            </a:r>
            <a:r>
              <a:rPr dirty="0" err="1"/>
              <a:t>도서</a:t>
            </a:r>
            <a:r>
              <a:rPr dirty="0"/>
              <a:t> </a:t>
            </a:r>
            <a:r>
              <a:rPr dirty="0" err="1"/>
              <a:t>스캔</a:t>
            </a:r>
            <a:r>
              <a:rPr dirty="0"/>
              <a:t> </a:t>
            </a:r>
            <a:r>
              <a:rPr dirty="0" err="1"/>
              <a:t>공장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200151"/>
            <a:ext cx="4457699" cy="3567112"/>
          </a:xfrm>
        </p:spPr>
        <p:txBody>
          <a:bodyPr>
            <a:normAutofit lnSpcReduction="10000"/>
          </a:bodyPr>
          <a:lstStyle/>
          <a:p>
            <a:pPr lvl="0"/>
            <a:r>
              <a:rPr dirty="0" err="1"/>
              <a:t>앤스로픽</a:t>
            </a:r>
            <a:r>
              <a:rPr dirty="0"/>
              <a:t>, AI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학습시키려</a:t>
            </a:r>
            <a:r>
              <a:rPr dirty="0"/>
              <a:t> 책 </a:t>
            </a:r>
            <a:r>
              <a:rPr dirty="0" err="1"/>
              <a:t>수백만권</a:t>
            </a:r>
            <a:r>
              <a:rPr dirty="0"/>
              <a:t> </a:t>
            </a:r>
            <a:r>
              <a:rPr dirty="0" err="1"/>
              <a:t>잘라서</a:t>
            </a:r>
            <a:r>
              <a:rPr dirty="0"/>
              <a:t> </a:t>
            </a:r>
            <a:r>
              <a:rPr dirty="0" err="1"/>
              <a:t>스캔</a:t>
            </a:r>
            <a:endParaRPr dirty="0"/>
          </a:p>
          <a:p>
            <a:pPr lvl="0"/>
            <a:r>
              <a:rPr dirty="0"/>
              <a:t>미 </a:t>
            </a:r>
            <a:r>
              <a:rPr dirty="0" err="1"/>
              <a:t>샌프란시스코</a:t>
            </a:r>
            <a:r>
              <a:rPr dirty="0"/>
              <a:t> </a:t>
            </a:r>
            <a:r>
              <a:rPr dirty="0" err="1"/>
              <a:t>연방법원은</a:t>
            </a:r>
            <a:r>
              <a:rPr dirty="0"/>
              <a:t> </a:t>
            </a:r>
            <a:r>
              <a:rPr dirty="0" err="1"/>
              <a:t>앤스로픽이</a:t>
            </a:r>
            <a:r>
              <a:rPr dirty="0"/>
              <a:t> </a:t>
            </a:r>
            <a:r>
              <a:rPr dirty="0" err="1"/>
              <a:t>구매한</a:t>
            </a:r>
            <a:r>
              <a:rPr dirty="0"/>
              <a:t> </a:t>
            </a:r>
            <a:r>
              <a:rPr dirty="0" err="1"/>
              <a:t>책을</a:t>
            </a:r>
            <a:r>
              <a:rPr dirty="0"/>
              <a:t> AI </a:t>
            </a:r>
            <a:r>
              <a:rPr dirty="0" err="1"/>
              <a:t>학습에</a:t>
            </a:r>
            <a:r>
              <a:rPr dirty="0"/>
              <a:t> </a:t>
            </a:r>
            <a:r>
              <a:rPr dirty="0" err="1"/>
              <a:t>사용한</a:t>
            </a:r>
            <a:r>
              <a:rPr dirty="0"/>
              <a:t> </a:t>
            </a:r>
            <a:r>
              <a:rPr dirty="0" err="1"/>
              <a:t>것은</a:t>
            </a:r>
            <a:r>
              <a:rPr dirty="0"/>
              <a:t> ‘</a:t>
            </a:r>
            <a:r>
              <a:rPr dirty="0" err="1"/>
              <a:t>공정</a:t>
            </a:r>
            <a:r>
              <a:rPr dirty="0"/>
              <a:t> </a:t>
            </a:r>
            <a:r>
              <a:rPr dirty="0" err="1"/>
              <a:t>이용’에</a:t>
            </a:r>
            <a:r>
              <a:rPr dirty="0"/>
              <a:t> </a:t>
            </a:r>
            <a:r>
              <a:rPr dirty="0" err="1"/>
              <a:t>속한다고</a:t>
            </a:r>
            <a:r>
              <a:rPr dirty="0"/>
              <a:t> </a:t>
            </a:r>
            <a:r>
              <a:rPr dirty="0" err="1"/>
              <a:t>판결</a:t>
            </a:r>
            <a:endParaRPr dirty="0"/>
          </a:p>
          <a:p>
            <a:pPr lvl="1"/>
            <a:r>
              <a:rPr dirty="0" err="1"/>
              <a:t>책을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베끼기</a:t>
            </a:r>
            <a:r>
              <a:rPr dirty="0"/>
              <a:t> </a:t>
            </a:r>
            <a:r>
              <a:rPr dirty="0" err="1"/>
              <a:t>위해서가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AI </a:t>
            </a:r>
            <a:r>
              <a:rPr dirty="0" err="1"/>
              <a:t>모델을</a:t>
            </a:r>
            <a:r>
              <a:rPr dirty="0"/>
              <a:t> </a:t>
            </a:r>
            <a:r>
              <a:rPr dirty="0" err="1"/>
              <a:t>새로</a:t>
            </a:r>
            <a:r>
              <a:rPr dirty="0"/>
              <a:t> </a:t>
            </a:r>
            <a:r>
              <a:rPr dirty="0" err="1"/>
              <a:t>창조하기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목적이기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 </a:t>
            </a:r>
            <a:r>
              <a:rPr dirty="0" err="1"/>
              <a:t>저작권</a:t>
            </a:r>
            <a:r>
              <a:rPr dirty="0"/>
              <a:t> </a:t>
            </a:r>
            <a:r>
              <a:rPr dirty="0" err="1"/>
              <a:t>위반이</a:t>
            </a:r>
            <a:r>
              <a:rPr dirty="0"/>
              <a:t> </a:t>
            </a:r>
            <a:r>
              <a:rPr dirty="0" err="1"/>
              <a:t>아니라고</a:t>
            </a:r>
            <a:r>
              <a:rPr dirty="0"/>
              <a:t> 본 것</a:t>
            </a:r>
          </a:p>
          <a:p>
            <a:pPr lvl="0"/>
            <a:r>
              <a:rPr dirty="0" err="1"/>
              <a:t>반면</a:t>
            </a:r>
            <a:r>
              <a:rPr dirty="0"/>
              <a:t>, </a:t>
            </a:r>
            <a:r>
              <a:rPr dirty="0" err="1"/>
              <a:t>책을</a:t>
            </a:r>
            <a:r>
              <a:rPr dirty="0"/>
              <a:t> PDF </a:t>
            </a:r>
            <a:r>
              <a:rPr dirty="0" err="1"/>
              <a:t>형태로</a:t>
            </a:r>
            <a:r>
              <a:rPr dirty="0"/>
              <a:t> </a:t>
            </a:r>
            <a:r>
              <a:rPr dirty="0" err="1"/>
              <a:t>모아</a:t>
            </a:r>
            <a:r>
              <a:rPr dirty="0"/>
              <a:t> </a:t>
            </a:r>
            <a:r>
              <a:rPr dirty="0" err="1"/>
              <a:t>놓은</a:t>
            </a:r>
            <a:r>
              <a:rPr dirty="0"/>
              <a:t> </a:t>
            </a:r>
            <a:r>
              <a:rPr dirty="0" err="1"/>
              <a:t>불법</a:t>
            </a:r>
            <a:r>
              <a:rPr dirty="0"/>
              <a:t> </a:t>
            </a:r>
            <a:r>
              <a:rPr dirty="0" err="1"/>
              <a:t>온라인</a:t>
            </a:r>
            <a:r>
              <a:rPr dirty="0"/>
              <a:t> </a:t>
            </a:r>
            <a:r>
              <a:rPr dirty="0" err="1"/>
              <a:t>사이트에서도</a:t>
            </a:r>
            <a:r>
              <a:rPr dirty="0"/>
              <a:t> </a:t>
            </a:r>
            <a:r>
              <a:rPr dirty="0" err="1"/>
              <a:t>텍스트를</a:t>
            </a:r>
            <a:r>
              <a:rPr dirty="0"/>
              <a:t> </a:t>
            </a:r>
            <a:r>
              <a:rPr dirty="0" err="1"/>
              <a:t>확보해</a:t>
            </a:r>
            <a:r>
              <a:rPr dirty="0"/>
              <a:t> </a:t>
            </a:r>
            <a:r>
              <a:rPr dirty="0" err="1"/>
              <a:t>AI에</a:t>
            </a:r>
            <a:r>
              <a:rPr dirty="0"/>
              <a:t> </a:t>
            </a:r>
            <a:r>
              <a:rPr dirty="0" err="1"/>
              <a:t>학습한</a:t>
            </a:r>
            <a:r>
              <a:rPr dirty="0"/>
              <a:t> </a:t>
            </a:r>
            <a:r>
              <a:rPr dirty="0" err="1"/>
              <a:t>것은</a:t>
            </a:r>
            <a:r>
              <a:rPr dirty="0"/>
              <a:t> </a:t>
            </a:r>
            <a:r>
              <a:rPr dirty="0" err="1"/>
              <a:t>저작권</a:t>
            </a:r>
            <a:r>
              <a:rPr dirty="0"/>
              <a:t> </a:t>
            </a:r>
            <a:r>
              <a:rPr dirty="0" err="1"/>
              <a:t>침해</a:t>
            </a:r>
            <a:r>
              <a:rPr dirty="0"/>
              <a:t> </a:t>
            </a:r>
            <a:r>
              <a:rPr dirty="0" err="1"/>
              <a:t>소지가</a:t>
            </a:r>
            <a:r>
              <a:rPr dirty="0"/>
              <a:t> </a:t>
            </a:r>
            <a:r>
              <a:rPr dirty="0" err="1"/>
              <a:t>있다고</a:t>
            </a:r>
            <a:r>
              <a:rPr dirty="0"/>
              <a:t> </a:t>
            </a:r>
            <a:r>
              <a:rPr dirty="0" err="1"/>
              <a:t>판단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pic>
        <p:nvPicPr>
          <p:cNvPr id="2050" name="Picture 2" descr="Anthropic 'destructively' scanned millions of books to build Claude - The  Washington Post">
            <a:extLst>
              <a:ext uri="{FF2B5EF4-FFF2-40B4-BE49-F238E27FC236}">
                <a16:creationId xmlns:a16="http://schemas.microsoft.com/office/drawing/2014/main" id="{778811C2-4286-0C72-24CA-6CF8FD4C9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360" y="1571506"/>
            <a:ext cx="3864610" cy="2675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65C0C-C603-6E75-531E-047F9217B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마르셀</a:t>
            </a:r>
            <a:r>
              <a:rPr lang="ko-KR" altLang="en-US" dirty="0"/>
              <a:t> </a:t>
            </a:r>
            <a:r>
              <a:rPr lang="ko-KR" altLang="en-US" dirty="0" err="1"/>
              <a:t>뒤샹과</a:t>
            </a:r>
            <a:r>
              <a:rPr lang="ko-KR" altLang="en-US" dirty="0"/>
              <a:t> 백남준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69A1E5-FAD8-435B-5B34-4D7703DFF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200151"/>
            <a:ext cx="2468880" cy="594359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dirty="0"/>
              <a:t>샘</a:t>
            </a:r>
            <a:r>
              <a:rPr lang="en-US" altLang="ko-KR" dirty="0"/>
              <a:t>(1917)</a:t>
            </a:r>
          </a:p>
          <a:p>
            <a:r>
              <a:rPr lang="en-US" altLang="ko-KR" dirty="0"/>
              <a:t>20세기 </a:t>
            </a:r>
            <a:r>
              <a:rPr lang="en-US" altLang="ko-KR" dirty="0" err="1"/>
              <a:t>산업사회</a:t>
            </a:r>
            <a:r>
              <a:rPr lang="en-US" altLang="ko-KR" dirty="0"/>
              <a:t> </a:t>
            </a:r>
            <a:r>
              <a:rPr lang="en-US" altLang="ko-KR" dirty="0" err="1"/>
              <a:t>산물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E7B7D3-B025-F016-46D5-4101A9CB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7FF02A-75B6-E92C-A79D-6EF5C8014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850AC8-61CF-02B0-0F81-F237FD2EF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C350D22-105C-537E-5A98-D54DF6157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49" y="2161626"/>
            <a:ext cx="3398541" cy="2374730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D6A2B6A-DA12-59C7-D490-34E8EE47F454}"/>
              </a:ext>
            </a:extLst>
          </p:cNvPr>
          <p:cNvSpPr txBox="1">
            <a:spLocks/>
          </p:cNvSpPr>
          <p:nvPr/>
        </p:nvSpPr>
        <p:spPr>
          <a:xfrm>
            <a:off x="4983480" y="1200151"/>
            <a:ext cx="2895599" cy="8572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/>
              <a:t>TV부처</a:t>
            </a:r>
            <a:r>
              <a:rPr lang="en-US" altLang="ko-KR" dirty="0"/>
              <a:t>(1917)</a:t>
            </a:r>
          </a:p>
          <a:p>
            <a:pPr lvl="1"/>
            <a:r>
              <a:rPr lang="en-US" altLang="ko-KR" dirty="0"/>
              <a:t>20세기 </a:t>
            </a:r>
            <a:r>
              <a:rPr lang="en-US" altLang="ko-KR" dirty="0" err="1"/>
              <a:t>전자미디어</a:t>
            </a:r>
            <a:r>
              <a:rPr lang="en-US" altLang="ko-KR" dirty="0"/>
              <a:t>  </a:t>
            </a:r>
            <a:r>
              <a:rPr lang="en-US" altLang="ko-KR" dirty="0" err="1"/>
              <a:t>사회</a:t>
            </a:r>
            <a:r>
              <a:rPr lang="en-US" altLang="ko-KR" dirty="0"/>
              <a:t> </a:t>
            </a:r>
            <a:r>
              <a:rPr lang="en-US" altLang="ko-KR" dirty="0" err="1"/>
              <a:t>산물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A89EADC-DD66-C8E2-24FE-DEFF84FF9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214562"/>
            <a:ext cx="3489035" cy="232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337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1-3. AI 생성물은 과연 작품(a work of art)인가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200151"/>
            <a:ext cx="3913464" cy="1039710"/>
          </a:xfrm>
        </p:spPr>
        <p:txBody>
          <a:bodyPr/>
          <a:lstStyle/>
          <a:p>
            <a:pPr lvl="0"/>
            <a:r>
              <a:rPr dirty="0" err="1"/>
              <a:t>개인의</a:t>
            </a:r>
            <a:r>
              <a:rPr dirty="0"/>
              <a:t> </a:t>
            </a:r>
            <a:r>
              <a:rPr dirty="0" err="1"/>
              <a:t>창작이</a:t>
            </a:r>
            <a:r>
              <a:rPr dirty="0"/>
              <a:t> </a:t>
            </a:r>
            <a:r>
              <a:rPr dirty="0" err="1"/>
              <a:t>아니다</a:t>
            </a:r>
            <a:r>
              <a:rPr dirty="0"/>
              <a:t>.</a:t>
            </a:r>
            <a:endParaRPr lang="en-US" dirty="0"/>
          </a:p>
          <a:p>
            <a:pPr lvl="1"/>
            <a:r>
              <a:rPr lang="en-US" dirty="0" err="1"/>
              <a:t>제임스</a:t>
            </a:r>
            <a:r>
              <a:rPr lang="en-US" dirty="0"/>
              <a:t> </a:t>
            </a:r>
            <a:r>
              <a:rPr lang="en-US" dirty="0" err="1"/>
              <a:t>앨런이</a:t>
            </a:r>
            <a:r>
              <a:rPr lang="en-US" dirty="0"/>
              <a:t> </a:t>
            </a:r>
            <a:r>
              <a:rPr lang="en-US" dirty="0" err="1"/>
              <a:t>midjourney로</a:t>
            </a:r>
            <a:r>
              <a:rPr lang="en-US" dirty="0"/>
              <a:t>  </a:t>
            </a:r>
            <a:r>
              <a:rPr lang="en-US" dirty="0" err="1"/>
              <a:t>생성한</a:t>
            </a:r>
            <a:r>
              <a:rPr lang="en-US" dirty="0"/>
              <a:t> </a:t>
            </a:r>
            <a:r>
              <a:rPr lang="en-US" dirty="0" err="1"/>
              <a:t>작품의</a:t>
            </a:r>
            <a:r>
              <a:rPr lang="en-US" dirty="0"/>
              <a:t> </a:t>
            </a:r>
            <a:r>
              <a:rPr lang="en-US" dirty="0" err="1"/>
              <a:t>미술대회</a:t>
            </a:r>
            <a:r>
              <a:rPr lang="en-US" dirty="0"/>
              <a:t> </a:t>
            </a:r>
            <a:r>
              <a:rPr lang="en-US" dirty="0" err="1"/>
              <a:t>수상</a:t>
            </a:r>
            <a:endParaRPr lang="en-US" dirty="0"/>
          </a:p>
          <a:p>
            <a:pPr lvl="1"/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BBC7D20-BD5F-B07E-6514-6E95FC585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890" y="1596330"/>
            <a:ext cx="4302244" cy="28656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00192E-2376-E8B1-B788-1643731F106A}"/>
              </a:ext>
            </a:extLst>
          </p:cNvPr>
          <p:cNvSpPr txBox="1"/>
          <p:nvPr/>
        </p:nvSpPr>
        <p:spPr>
          <a:xfrm>
            <a:off x="5380723" y="1155000"/>
            <a:ext cx="320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스페이스 오페라극장</a:t>
            </a:r>
            <a:r>
              <a:rPr lang="en-US" altLang="ko-KR" dirty="0"/>
              <a:t>(2022)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B94669-8A2E-CB88-0709-62FF92B7E443}"/>
              </a:ext>
            </a:extLst>
          </p:cNvPr>
          <p:cNvSpPr txBox="1"/>
          <p:nvPr/>
        </p:nvSpPr>
        <p:spPr>
          <a:xfrm>
            <a:off x="359674" y="2382800"/>
            <a:ext cx="3829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참고</a:t>
            </a:r>
            <a:r>
              <a:rPr lang="en-US" altLang="ko-KR" sz="1400" dirty="0"/>
              <a:t>) </a:t>
            </a:r>
            <a:r>
              <a:rPr lang="ko-KR" altLang="en-US" sz="1400" dirty="0"/>
              <a:t>가수 조영남의 화투 그림 논란</a:t>
            </a:r>
            <a:r>
              <a:rPr lang="en-US" altLang="ko-KR" sz="1400" dirty="0"/>
              <a:t>(2016)</a:t>
            </a:r>
            <a:endParaRPr lang="ko-KR" altLang="en-US" sz="1400" dirty="0"/>
          </a:p>
          <a:p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C178AF2-6159-DEC6-C2B9-826438DE1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6" y="2728648"/>
            <a:ext cx="2419350" cy="1885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1B72F1-2960-E8C9-8306-86378E453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언어의 본질과 </a:t>
            </a:r>
            <a:r>
              <a:rPr lang="en-US" altLang="ko-KR" dirty="0"/>
              <a:t>LLM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1FF44A-C3BC-C702-17E5-F91CA6DF0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 </a:t>
            </a:r>
            <a:r>
              <a:rPr lang="en-US" altLang="ko-KR" dirty="0"/>
              <a:t>(neutral) mirror view</a:t>
            </a:r>
          </a:p>
          <a:p>
            <a:pPr lvl="1"/>
            <a:r>
              <a:rPr lang="ko-KR" altLang="en-US" dirty="0"/>
              <a:t>단어가 가리키는 실체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나무</a:t>
            </a:r>
            <a:r>
              <a:rPr lang="en-US" altLang="ko-KR" dirty="0"/>
              <a:t>) </a:t>
            </a:r>
            <a:r>
              <a:rPr lang="ko-KR" altLang="en-US" dirty="0"/>
              <a:t>또는 문장이 지칭하는 별도의 의미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성경의 한 구절</a:t>
            </a:r>
            <a:r>
              <a:rPr lang="en-US" altLang="ko-KR" dirty="0"/>
              <a:t>)</a:t>
            </a:r>
            <a:r>
              <a:rPr lang="ko-KR" altLang="en-US" dirty="0"/>
              <a:t>가 존재함 </a:t>
            </a:r>
          </a:p>
          <a:p>
            <a:r>
              <a:rPr lang="en-US" altLang="ko-KR" dirty="0"/>
              <a:t>(non-neutral) </a:t>
            </a:r>
            <a:r>
              <a:rPr lang="ko-KR" altLang="en-US" dirty="0"/>
              <a:t>구조주의 언어학 </a:t>
            </a:r>
            <a:r>
              <a:rPr lang="en-US" altLang="ko-KR" dirty="0"/>
              <a:t>structuralist linguistics: </a:t>
            </a:r>
          </a:p>
          <a:p>
            <a:pPr lvl="1"/>
            <a:r>
              <a:rPr lang="ko-KR" altLang="en-US" dirty="0"/>
              <a:t>단어에 대응하는 실체가 있고 그것이 의미를 생성하는 것이 아니라</a:t>
            </a:r>
            <a:r>
              <a:rPr lang="en-US" altLang="ko-KR" dirty="0"/>
              <a:t>, </a:t>
            </a:r>
            <a:r>
              <a:rPr lang="ko-KR" altLang="en-US" dirty="0"/>
              <a:t>단어들 사이의 차이와 관계만이 </a:t>
            </a:r>
            <a:r>
              <a:rPr lang="ko-KR" altLang="en-US" dirty="0" err="1"/>
              <a:t>존는하고</a:t>
            </a:r>
            <a:r>
              <a:rPr lang="ko-KR" altLang="en-US" dirty="0"/>
              <a:t> 그것이 의미를 생성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문장을 작성한 주체</a:t>
            </a:r>
            <a:r>
              <a:rPr lang="en-US" altLang="ko-KR" dirty="0"/>
              <a:t>(</a:t>
            </a:r>
            <a:r>
              <a:rPr lang="ko-KR" altLang="en-US" dirty="0"/>
              <a:t>저자</a:t>
            </a:r>
            <a:r>
              <a:rPr lang="en-US" altLang="ko-KR" dirty="0"/>
              <a:t>)</a:t>
            </a:r>
            <a:r>
              <a:rPr lang="ko-KR" altLang="en-US" dirty="0"/>
              <a:t>가 의미를 만드는 것이 아니라</a:t>
            </a:r>
            <a:r>
              <a:rPr lang="en-US" altLang="ko-KR" dirty="0"/>
              <a:t>, </a:t>
            </a:r>
            <a:r>
              <a:rPr lang="ko-KR" altLang="en-US" dirty="0"/>
              <a:t>독자가 의미를 생성함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LLM </a:t>
            </a:r>
            <a:r>
              <a:rPr lang="ko-KR" altLang="en-US" dirty="0"/>
              <a:t>과 구조주의 언어관</a:t>
            </a:r>
          </a:p>
          <a:p>
            <a:pPr lvl="1"/>
            <a:r>
              <a:rPr lang="ko-KR" altLang="en-US" dirty="0"/>
              <a:t>이 기계는 </a:t>
            </a:r>
            <a:r>
              <a:rPr lang="en-US" altLang="ko-KR" dirty="0"/>
              <a:t>word</a:t>
            </a:r>
            <a:r>
              <a:rPr lang="ko-KR" altLang="en-US" dirty="0"/>
              <a:t>가 가리키는 대상 현실을 인지하지 못함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제공되는 </a:t>
            </a:r>
            <a:r>
              <a:rPr lang="en-US" altLang="ko-KR" dirty="0"/>
              <a:t>sentence </a:t>
            </a:r>
            <a:r>
              <a:rPr lang="ko-KR" altLang="en-US" dirty="0"/>
              <a:t>자체는 무의미하며</a:t>
            </a:r>
            <a:r>
              <a:rPr lang="en-US" altLang="ko-KR" dirty="0"/>
              <a:t>, </a:t>
            </a:r>
            <a:r>
              <a:rPr lang="ko-KR" altLang="en-US" dirty="0"/>
              <a:t>오직 독자만이 거기에서 의미를 생성</a:t>
            </a:r>
          </a:p>
          <a:p>
            <a:r>
              <a:rPr lang="en-US" altLang="ko-KR" dirty="0"/>
              <a:t>LLM</a:t>
            </a:r>
            <a:r>
              <a:rPr lang="ko-KR" altLang="en-US" dirty="0"/>
              <a:t>은</a:t>
            </a:r>
            <a:r>
              <a:rPr lang="en-US" altLang="ko-KR" dirty="0"/>
              <a:t>, 16~20</a:t>
            </a:r>
            <a:r>
              <a:rPr lang="ko-KR" altLang="en-US" dirty="0"/>
              <a:t>세기의 문화적 현상이었던</a:t>
            </a:r>
            <a:r>
              <a:rPr lang="en-US" altLang="ko-KR" dirty="0"/>
              <a:t>, </a:t>
            </a:r>
            <a:r>
              <a:rPr lang="ko-KR" altLang="en-US" dirty="0"/>
              <a:t>책임 있는</a:t>
            </a:r>
            <a:r>
              <a:rPr lang="en-US" altLang="ko-KR" dirty="0"/>
              <a:t>(accountable) </a:t>
            </a:r>
            <a:r>
              <a:rPr lang="ko-KR" altLang="en-US" dirty="0"/>
              <a:t>저자</a:t>
            </a:r>
            <a:r>
              <a:rPr lang="en-US" altLang="ko-KR" dirty="0"/>
              <a:t>(author)</a:t>
            </a:r>
            <a:r>
              <a:rPr lang="ko-KR" altLang="en-US" dirty="0"/>
              <a:t>를 소멸시키고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5985F4-F4CF-4F2D-3ACD-9F3316D94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8F2799-9578-99AE-180E-C0E4ABEF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824D81-5654-26F4-727A-9E424466C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F80777-984A-6ED2-8454-8B2D62635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453" y="634604"/>
            <a:ext cx="1847850" cy="24669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CE222B-4100-6C46-D403-431ACB3D1076}"/>
              </a:ext>
            </a:extLst>
          </p:cNvPr>
          <p:cNvSpPr txBox="1"/>
          <p:nvPr/>
        </p:nvSpPr>
        <p:spPr>
          <a:xfrm>
            <a:off x="6203585" y="1683425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나무</a:t>
            </a:r>
          </a:p>
        </p:txBody>
      </p:sp>
      <p:sp>
        <p:nvSpPr>
          <p:cNvPr id="10" name="화살표: 왼쪽/오른쪽 9">
            <a:extLst>
              <a:ext uri="{FF2B5EF4-FFF2-40B4-BE49-F238E27FC236}">
                <a16:creationId xmlns:a16="http://schemas.microsoft.com/office/drawing/2014/main" id="{33CE571B-871E-B81A-BD71-8703AD0D2DEF}"/>
              </a:ext>
            </a:extLst>
          </p:cNvPr>
          <p:cNvSpPr/>
          <p:nvPr/>
        </p:nvSpPr>
        <p:spPr>
          <a:xfrm>
            <a:off x="6902815" y="1778466"/>
            <a:ext cx="218638" cy="117446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4F1FE3C-7E03-C3C9-DEC8-1C41299F4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44" y="3043238"/>
            <a:ext cx="265747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61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2. AI 생성물 저작권의 각국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5868099" cy="3394472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dirty="0" err="1"/>
              <a:t>미국</a:t>
            </a:r>
            <a:r>
              <a:rPr dirty="0"/>
              <a:t> </a:t>
            </a:r>
            <a:r>
              <a:rPr dirty="0" err="1"/>
              <a:t>저작권청</a:t>
            </a:r>
            <a:r>
              <a:rPr dirty="0"/>
              <a:t> ‘Thaler v. Perlmutter’ </a:t>
            </a:r>
            <a:r>
              <a:rPr dirty="0" err="1"/>
              <a:t>사건</a:t>
            </a:r>
            <a:endParaRPr lang="en-US" dirty="0"/>
          </a:p>
          <a:p>
            <a:pPr lvl="1"/>
            <a:r>
              <a:rPr lang="ko-KR" altLang="en-US" dirty="0"/>
              <a:t>컴퓨터 과학자인 스티븐 </a:t>
            </a:r>
            <a:r>
              <a:rPr lang="ko-KR" altLang="en-US" dirty="0" err="1"/>
              <a:t>탈러</a:t>
            </a:r>
            <a:r>
              <a:rPr lang="en-US" altLang="ko-KR" dirty="0"/>
              <a:t>(Stephen Thaler)</a:t>
            </a:r>
            <a:r>
              <a:rPr lang="ko-KR" altLang="en-US" dirty="0"/>
              <a:t>가 자신이 개발한 </a:t>
            </a:r>
            <a:r>
              <a:rPr lang="en-US" altLang="ko-KR" dirty="0"/>
              <a:t>AI </a:t>
            </a:r>
            <a:r>
              <a:rPr lang="ko-KR" altLang="en-US" dirty="0"/>
              <a:t>시스템이 생성한 이미지 작품 *‘</a:t>
            </a:r>
            <a:r>
              <a:rPr lang="en-US" altLang="ko-KR" dirty="0"/>
              <a:t>A Recent Entrance to Paradise’*</a:t>
            </a:r>
            <a:r>
              <a:rPr lang="ko-KR" altLang="en-US" dirty="0"/>
              <a:t>의 저작권 등록을 미국 저작권청</a:t>
            </a:r>
            <a:r>
              <a:rPr lang="en-US" altLang="ko-KR" dirty="0"/>
              <a:t>(USCO)</a:t>
            </a:r>
            <a:r>
              <a:rPr lang="ko-KR" altLang="en-US" dirty="0"/>
              <a:t>에 신청</a:t>
            </a:r>
            <a:endParaRPr lang="en-US" altLang="ko-KR" dirty="0"/>
          </a:p>
          <a:p>
            <a:pPr lvl="1"/>
            <a:r>
              <a:rPr lang="en-US" dirty="0" err="1"/>
              <a:t>거부당함</a:t>
            </a:r>
            <a:r>
              <a:rPr lang="en-US" dirty="0"/>
              <a:t>.</a:t>
            </a:r>
            <a:endParaRPr dirty="0"/>
          </a:p>
          <a:p>
            <a:pPr lvl="0"/>
            <a:r>
              <a:rPr dirty="0" err="1"/>
              <a:t>한국</a:t>
            </a:r>
            <a:r>
              <a:rPr dirty="0"/>
              <a:t> </a:t>
            </a:r>
            <a:r>
              <a:rPr dirty="0" err="1"/>
              <a:t>저작권법은</a:t>
            </a:r>
            <a:r>
              <a:rPr dirty="0"/>
              <a:t> </a:t>
            </a:r>
            <a:r>
              <a:rPr dirty="0" err="1"/>
              <a:t>저작물을</a:t>
            </a:r>
            <a:r>
              <a:rPr dirty="0"/>
              <a:t> ’</a:t>
            </a:r>
            <a:r>
              <a:rPr dirty="0" err="1"/>
              <a:t>인간의</a:t>
            </a:r>
            <a:r>
              <a:rPr dirty="0"/>
              <a:t> </a:t>
            </a:r>
            <a:r>
              <a:rPr dirty="0" err="1"/>
              <a:t>사상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감정을</a:t>
            </a:r>
            <a:r>
              <a:rPr dirty="0"/>
              <a:t> </a:t>
            </a:r>
            <a:r>
              <a:rPr dirty="0" err="1"/>
              <a:t>표현한</a:t>
            </a:r>
            <a:r>
              <a:rPr dirty="0"/>
              <a:t> </a:t>
            </a:r>
            <a:r>
              <a:rPr dirty="0" err="1"/>
              <a:t>창작물’로</a:t>
            </a:r>
            <a:r>
              <a:rPr dirty="0"/>
              <a:t> </a:t>
            </a:r>
            <a:r>
              <a:rPr dirty="0" err="1"/>
              <a:t>정의하여</a:t>
            </a:r>
            <a:r>
              <a:rPr dirty="0"/>
              <a:t> AI </a:t>
            </a:r>
            <a:r>
              <a:rPr dirty="0" err="1"/>
              <a:t>생성물을</a:t>
            </a:r>
            <a:r>
              <a:rPr dirty="0"/>
              <a:t> </a:t>
            </a:r>
            <a:r>
              <a:rPr dirty="0" err="1"/>
              <a:t>원칙적으로</a:t>
            </a:r>
            <a:r>
              <a:rPr dirty="0"/>
              <a:t> </a:t>
            </a:r>
            <a:r>
              <a:rPr dirty="0" err="1"/>
              <a:t>제외함</a:t>
            </a:r>
            <a:r>
              <a:rPr dirty="0"/>
              <a:t>.</a:t>
            </a:r>
          </a:p>
          <a:p>
            <a:pPr lvl="0"/>
            <a:r>
              <a:rPr dirty="0" err="1"/>
              <a:t>다만</a:t>
            </a:r>
            <a:r>
              <a:rPr dirty="0"/>
              <a:t> </a:t>
            </a:r>
            <a:r>
              <a:rPr dirty="0" err="1"/>
              <a:t>AI를</a:t>
            </a:r>
            <a:r>
              <a:rPr dirty="0"/>
              <a:t> </a:t>
            </a:r>
            <a:r>
              <a:rPr dirty="0" err="1"/>
              <a:t>도구로</a:t>
            </a:r>
            <a:r>
              <a:rPr dirty="0"/>
              <a:t> </a:t>
            </a:r>
            <a:r>
              <a:rPr dirty="0" err="1"/>
              <a:t>사용하며</a:t>
            </a:r>
            <a:r>
              <a:rPr dirty="0"/>
              <a:t> </a:t>
            </a:r>
            <a:r>
              <a:rPr dirty="0" err="1"/>
              <a:t>인간의</a:t>
            </a:r>
            <a:r>
              <a:rPr dirty="0"/>
              <a:t> </a:t>
            </a:r>
            <a:r>
              <a:rPr dirty="0" err="1"/>
              <a:t>실질적</a:t>
            </a:r>
            <a:r>
              <a:rPr dirty="0"/>
              <a:t> </a:t>
            </a:r>
            <a:r>
              <a:rPr dirty="0" err="1"/>
              <a:t>창작</a:t>
            </a:r>
            <a:r>
              <a:rPr dirty="0"/>
              <a:t> </a:t>
            </a:r>
            <a:r>
              <a:rPr dirty="0" err="1"/>
              <a:t>기여가</a:t>
            </a:r>
            <a:r>
              <a:rPr dirty="0"/>
              <a:t> </a:t>
            </a:r>
            <a:r>
              <a:rPr dirty="0" err="1"/>
              <a:t>개입된</a:t>
            </a:r>
            <a:r>
              <a:rPr dirty="0"/>
              <a:t> </a:t>
            </a:r>
            <a:r>
              <a:rPr dirty="0" err="1"/>
              <a:t>경우에</a:t>
            </a:r>
            <a:r>
              <a:rPr dirty="0"/>
              <a:t> </a:t>
            </a:r>
            <a:r>
              <a:rPr dirty="0" err="1"/>
              <a:t>한해</a:t>
            </a:r>
            <a:r>
              <a:rPr dirty="0"/>
              <a:t> </a:t>
            </a:r>
            <a:r>
              <a:rPr dirty="0" err="1"/>
              <a:t>보호</a:t>
            </a:r>
            <a:r>
              <a:rPr dirty="0"/>
              <a:t> </a:t>
            </a:r>
            <a:r>
              <a:rPr dirty="0" err="1"/>
              <a:t>가능성을</a:t>
            </a:r>
            <a:r>
              <a:rPr dirty="0"/>
              <a:t> </a:t>
            </a:r>
            <a:r>
              <a:rPr dirty="0" err="1"/>
              <a:t>열어두고</a:t>
            </a:r>
            <a:r>
              <a:rPr dirty="0"/>
              <a:t> </a:t>
            </a:r>
            <a:r>
              <a:rPr dirty="0" err="1"/>
              <a:t>있음</a:t>
            </a:r>
            <a:r>
              <a:rPr dirty="0"/>
              <a:t>.</a:t>
            </a:r>
          </a:p>
          <a:p>
            <a:pPr lvl="0"/>
            <a:r>
              <a:rPr dirty="0" err="1"/>
              <a:t>문화체육관광부는</a:t>
            </a:r>
            <a:r>
              <a:rPr dirty="0"/>
              <a:t> AI </a:t>
            </a:r>
            <a:r>
              <a:rPr dirty="0" err="1"/>
              <a:t>학습용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사용에</a:t>
            </a:r>
            <a:r>
              <a:rPr dirty="0"/>
              <a:t> </a:t>
            </a:r>
            <a:r>
              <a:rPr dirty="0" err="1"/>
              <a:t>대해</a:t>
            </a:r>
            <a:r>
              <a:rPr dirty="0"/>
              <a:t> </a:t>
            </a:r>
            <a:r>
              <a:rPr dirty="0" err="1"/>
              <a:t>현행법상</a:t>
            </a:r>
            <a:r>
              <a:rPr dirty="0"/>
              <a:t> ‘</a:t>
            </a:r>
            <a:r>
              <a:rPr dirty="0" err="1"/>
              <a:t>일시적</a:t>
            </a:r>
            <a:r>
              <a:rPr dirty="0"/>
              <a:t> </a:t>
            </a:r>
            <a:r>
              <a:rPr dirty="0" err="1"/>
              <a:t>복제</a:t>
            </a:r>
            <a:r>
              <a:rPr dirty="0"/>
              <a:t>’ </a:t>
            </a:r>
            <a:r>
              <a:rPr dirty="0" err="1"/>
              <a:t>면책</a:t>
            </a:r>
            <a:r>
              <a:rPr dirty="0"/>
              <a:t> </a:t>
            </a:r>
            <a:r>
              <a:rPr dirty="0" err="1"/>
              <a:t>조항을</a:t>
            </a:r>
            <a:r>
              <a:rPr dirty="0"/>
              <a:t> </a:t>
            </a:r>
            <a:r>
              <a:rPr dirty="0" err="1"/>
              <a:t>적극</a:t>
            </a:r>
            <a:r>
              <a:rPr dirty="0"/>
              <a:t> </a:t>
            </a:r>
            <a:r>
              <a:rPr dirty="0" err="1"/>
              <a:t>해석하는</a:t>
            </a:r>
            <a:r>
              <a:rPr dirty="0"/>
              <a:t> </a:t>
            </a:r>
            <a:r>
              <a:rPr dirty="0" err="1"/>
              <a:t>방향을</a:t>
            </a:r>
            <a:r>
              <a:rPr dirty="0"/>
              <a:t> </a:t>
            </a:r>
            <a:r>
              <a:rPr dirty="0" err="1"/>
              <a:t>제시함</a:t>
            </a:r>
            <a:r>
              <a:rPr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2BE846C-D2FF-4219-6BB6-9CA6C4857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516" y="1535359"/>
            <a:ext cx="2482967" cy="24829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3. EU AI 법과 저작권 준수 의무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유럽연합은 2024년 발효된 AI법(EU AI Act)을 통해 생성형 AI 제공자에게 학습 데이터의 저작권 준수 의무를 부과함.</a:t>
            </a:r>
          </a:p>
          <a:p>
            <a:pPr lvl="0"/>
            <a:r>
              <a:t>AI 모델 개발자는 학습에 사용된 저작권 보호 콘텐츠의 요약 정보를 의무적으로 공개해야 함.</a:t>
            </a:r>
          </a:p>
          <a:p>
            <a:pPr lvl="0"/>
            <a:r>
              <a:t>2019년 EU 저작권 지침은 텍스트 및 데이터 마이닝 예외를 두되, 권리자의 명시적 거부(opt-out)를 존중하도록 규정함.</a:t>
            </a:r>
          </a:p>
          <a:p>
            <a:pPr lvl="0"/>
            <a:r>
              <a:t>이는 기술 혁신을 허용하면서도 원저작자의 권리를 보호하려는 제도적 장치임.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CD01842-BDD3-FB7C-AD62-465386F53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759" y="2057399"/>
            <a:ext cx="2671761" cy="15087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4. AI 작곡 및 생성 음악의 쟁점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사용자가 구체적인 악상, 가사, 편곡 지시를 통해 창작적으로 개입한 경우 AI 음악도 2차적 저작물로 보호받을 가능성이 있음.</a:t>
            </a:r>
          </a:p>
          <a:p>
            <a:pPr lvl="0"/>
            <a:r>
              <a:t>단순히 “발라드 곡 만들어줘”와 같은 일반적인 프롬프트만으로는 저작권 인정이 어려움.</a:t>
            </a:r>
          </a:p>
          <a:p>
            <a:pPr lvl="0"/>
            <a:r>
              <a:t>AI 생성 음악을 상업적으로 이용할 경우, 학습 데이터에 포함된 기존 저작물과의 유사성으로 인해 침해 소송을 당할 위험이 있음.</a:t>
            </a:r>
          </a:p>
          <a:p>
            <a:pPr lvl="0"/>
            <a:r>
              <a:t>한국과 미국 모두 AI 생성 음악 자체의 저작권 보호에는 보수적이나 개입 정도에 따른 차등을 둠.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36191A7-36FD-8286-A245-108001128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783080"/>
            <a:ext cx="266700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5. AI 생성 이미지의 저작권 보호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자동으로</a:t>
            </a:r>
            <a:r>
              <a:rPr dirty="0"/>
              <a:t> </a:t>
            </a:r>
            <a:r>
              <a:rPr dirty="0" err="1"/>
              <a:t>생성한</a:t>
            </a:r>
            <a:r>
              <a:rPr dirty="0"/>
              <a:t> </a:t>
            </a:r>
            <a:r>
              <a:rPr dirty="0" err="1"/>
              <a:t>이미지는</a:t>
            </a:r>
            <a:r>
              <a:rPr dirty="0"/>
              <a:t> </a:t>
            </a:r>
            <a:r>
              <a:rPr dirty="0" err="1"/>
              <a:t>저작물로</a:t>
            </a:r>
            <a:r>
              <a:rPr dirty="0"/>
              <a:t> </a:t>
            </a:r>
            <a:r>
              <a:rPr dirty="0" err="1"/>
              <a:t>인정되지</a:t>
            </a:r>
            <a:r>
              <a:rPr dirty="0"/>
              <a:t> </a:t>
            </a:r>
            <a:r>
              <a:rPr dirty="0" err="1"/>
              <a:t>않으나</a:t>
            </a:r>
            <a:r>
              <a:rPr dirty="0"/>
              <a:t>, </a:t>
            </a:r>
            <a:r>
              <a:rPr dirty="0" err="1"/>
              <a:t>사용자의</a:t>
            </a:r>
            <a:r>
              <a:rPr dirty="0"/>
              <a:t> </a:t>
            </a:r>
            <a:r>
              <a:rPr dirty="0" err="1"/>
              <a:t>후속</a:t>
            </a:r>
            <a:r>
              <a:rPr dirty="0"/>
              <a:t> </a:t>
            </a:r>
            <a:r>
              <a:rPr dirty="0" err="1"/>
              <a:t>편집이나</a:t>
            </a:r>
            <a:r>
              <a:rPr dirty="0"/>
              <a:t> </a:t>
            </a:r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</a:t>
            </a:r>
            <a:r>
              <a:rPr dirty="0" err="1"/>
              <a:t>과정이</a:t>
            </a:r>
            <a:r>
              <a:rPr dirty="0"/>
              <a:t> </a:t>
            </a:r>
            <a:r>
              <a:rPr dirty="0" err="1"/>
              <a:t>개입되면</a:t>
            </a:r>
            <a:r>
              <a:rPr dirty="0"/>
              <a:t> </a:t>
            </a:r>
            <a:r>
              <a:rPr dirty="0" err="1"/>
              <a:t>보호받을</a:t>
            </a:r>
            <a:r>
              <a:rPr dirty="0"/>
              <a:t> 수 </a:t>
            </a:r>
            <a:r>
              <a:rPr dirty="0" err="1"/>
              <a:t>있음</a:t>
            </a:r>
            <a:r>
              <a:rPr dirty="0"/>
              <a:t>.</a:t>
            </a:r>
          </a:p>
          <a:p>
            <a:pPr lvl="0"/>
            <a:r>
              <a:rPr dirty="0" err="1"/>
              <a:t>미국</a:t>
            </a:r>
            <a:r>
              <a:rPr lang="en-US" dirty="0"/>
              <a:t> AI </a:t>
            </a:r>
            <a:r>
              <a:rPr lang="en-US" dirty="0" err="1"/>
              <a:t>생성</a:t>
            </a:r>
            <a:r>
              <a:rPr lang="en-US" dirty="0"/>
              <a:t> </a:t>
            </a:r>
            <a:r>
              <a:rPr lang="en-US" dirty="0" err="1"/>
              <a:t>만화책</a:t>
            </a:r>
            <a:r>
              <a:rPr dirty="0"/>
              <a:t> ‘Zarya of the Dawn’ </a:t>
            </a:r>
            <a:r>
              <a:rPr dirty="0" err="1"/>
              <a:t>사건에서</a:t>
            </a:r>
            <a:r>
              <a:rPr dirty="0"/>
              <a:t> </a:t>
            </a:r>
            <a:r>
              <a:rPr dirty="0" err="1"/>
              <a:t>법원은</a:t>
            </a:r>
            <a:r>
              <a:rPr dirty="0"/>
              <a:t> Midjourney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자체는</a:t>
            </a:r>
            <a:r>
              <a:rPr dirty="0"/>
              <a:t> </a:t>
            </a:r>
            <a:r>
              <a:rPr dirty="0" err="1"/>
              <a:t>거부했으나</a:t>
            </a:r>
            <a:r>
              <a:rPr dirty="0"/>
              <a:t>, </a:t>
            </a:r>
            <a:r>
              <a:rPr dirty="0" err="1"/>
              <a:t>이미지의</a:t>
            </a:r>
            <a:r>
              <a:rPr dirty="0"/>
              <a:t> </a:t>
            </a:r>
            <a:r>
              <a:rPr dirty="0" err="1"/>
              <a:t>선택과</a:t>
            </a:r>
            <a:r>
              <a:rPr dirty="0"/>
              <a:t> </a:t>
            </a:r>
            <a:r>
              <a:rPr dirty="0" err="1"/>
              <a:t>배열</a:t>
            </a:r>
            <a:r>
              <a:rPr dirty="0"/>
              <a:t> 등 </a:t>
            </a:r>
            <a:r>
              <a:rPr dirty="0" err="1"/>
              <a:t>인간의</a:t>
            </a:r>
            <a:r>
              <a:rPr dirty="0"/>
              <a:t> </a:t>
            </a:r>
            <a:r>
              <a:rPr dirty="0" err="1"/>
              <a:t>기여는</a:t>
            </a:r>
            <a:r>
              <a:rPr dirty="0"/>
              <a:t> </a:t>
            </a:r>
            <a:r>
              <a:rPr dirty="0" err="1"/>
              <a:t>인정함</a:t>
            </a:r>
            <a:r>
              <a:rPr dirty="0"/>
              <a:t>.</a:t>
            </a:r>
          </a:p>
          <a:p>
            <a:pPr lvl="0"/>
            <a:r>
              <a:rPr dirty="0" err="1"/>
              <a:t>사용자가</a:t>
            </a:r>
            <a:r>
              <a:rPr dirty="0"/>
              <a:t> </a:t>
            </a:r>
            <a:r>
              <a:rPr dirty="0" err="1"/>
              <a:t>프롬프트를</a:t>
            </a:r>
            <a:r>
              <a:rPr dirty="0"/>
              <a:t> </a:t>
            </a:r>
            <a:r>
              <a:rPr dirty="0" err="1"/>
              <a:t>정교하게</a:t>
            </a:r>
            <a:r>
              <a:rPr dirty="0"/>
              <a:t> </a:t>
            </a:r>
            <a:r>
              <a:rPr dirty="0" err="1"/>
              <a:t>작성하고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수정하는</a:t>
            </a:r>
            <a:r>
              <a:rPr dirty="0"/>
              <a:t> </a:t>
            </a:r>
            <a:r>
              <a:rPr dirty="0" err="1"/>
              <a:t>과정이</a:t>
            </a:r>
            <a:r>
              <a:rPr dirty="0"/>
              <a:t> </a:t>
            </a:r>
            <a:r>
              <a:rPr dirty="0" err="1"/>
              <a:t>법적으로</a:t>
            </a:r>
            <a:r>
              <a:rPr dirty="0"/>
              <a:t> ’</a:t>
            </a:r>
            <a:r>
              <a:rPr dirty="0" err="1"/>
              <a:t>창작적</a:t>
            </a:r>
            <a:r>
              <a:rPr dirty="0"/>
              <a:t> </a:t>
            </a:r>
            <a:r>
              <a:rPr dirty="0" err="1"/>
              <a:t>기여’로</a:t>
            </a:r>
            <a:r>
              <a:rPr dirty="0"/>
              <a:t> </a:t>
            </a:r>
            <a:r>
              <a:rPr dirty="0" err="1"/>
              <a:t>평가받느냐가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관건임</a:t>
            </a:r>
            <a:r>
              <a:rPr dirty="0"/>
              <a:t>.</a:t>
            </a:r>
          </a:p>
          <a:p>
            <a:pPr lvl="0"/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대부분의</a:t>
            </a:r>
            <a:r>
              <a:rPr dirty="0"/>
              <a:t> </a:t>
            </a:r>
            <a:r>
              <a:rPr dirty="0" err="1"/>
              <a:t>국가에서</a:t>
            </a:r>
            <a:r>
              <a:rPr dirty="0"/>
              <a:t> AI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이미지에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완전한</a:t>
            </a:r>
            <a:r>
              <a:rPr dirty="0"/>
              <a:t> </a:t>
            </a:r>
            <a:r>
              <a:rPr dirty="0" err="1"/>
              <a:t>저작권</a:t>
            </a:r>
            <a:r>
              <a:rPr dirty="0"/>
              <a:t> </a:t>
            </a:r>
            <a:r>
              <a:rPr dirty="0" err="1"/>
              <a:t>인정은</a:t>
            </a:r>
            <a:r>
              <a:rPr dirty="0"/>
              <a:t> </a:t>
            </a:r>
            <a:r>
              <a:rPr dirty="0" err="1"/>
              <a:t>유보적인</a:t>
            </a:r>
            <a:r>
              <a:rPr dirty="0"/>
              <a:t> </a:t>
            </a:r>
            <a:r>
              <a:rPr dirty="0" err="1"/>
              <a:t>상태임</a:t>
            </a:r>
            <a:r>
              <a:rPr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2028EE6-7E5D-3453-50DA-A72FE2E9D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025" y="1585912"/>
            <a:ext cx="1885950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6. 영상 저작권 침해와 공정이용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dirty="0" err="1"/>
              <a:t>유튜브</a:t>
            </a:r>
            <a:r>
              <a:rPr dirty="0"/>
              <a:t> </a:t>
            </a:r>
            <a:r>
              <a:rPr dirty="0" err="1"/>
              <a:t>영상</a:t>
            </a:r>
            <a:r>
              <a:rPr dirty="0"/>
              <a:t> </a:t>
            </a:r>
            <a:r>
              <a:rPr dirty="0" err="1"/>
              <a:t>컷을</a:t>
            </a:r>
            <a:r>
              <a:rPr dirty="0"/>
              <a:t> </a:t>
            </a:r>
            <a:r>
              <a:rPr dirty="0" err="1"/>
              <a:t>AI로</a:t>
            </a:r>
            <a:r>
              <a:rPr dirty="0"/>
              <a:t> </a:t>
            </a:r>
            <a:r>
              <a:rPr dirty="0" err="1"/>
              <a:t>재가공하여</a:t>
            </a:r>
            <a:r>
              <a:rPr dirty="0"/>
              <a:t> </a:t>
            </a:r>
            <a:r>
              <a:rPr dirty="0" err="1"/>
              <a:t>사용하는</a:t>
            </a:r>
            <a:r>
              <a:rPr dirty="0"/>
              <a:t> </a:t>
            </a:r>
            <a:r>
              <a:rPr dirty="0" err="1"/>
              <a:t>것은</a:t>
            </a:r>
            <a:r>
              <a:rPr dirty="0"/>
              <a:t> </a:t>
            </a:r>
            <a:r>
              <a:rPr dirty="0" err="1"/>
              <a:t>명백한</a:t>
            </a:r>
            <a:r>
              <a:rPr dirty="0"/>
              <a:t> </a:t>
            </a:r>
            <a:r>
              <a:rPr dirty="0" err="1"/>
              <a:t>저작권</a:t>
            </a:r>
            <a:r>
              <a:rPr dirty="0"/>
              <a:t> </a:t>
            </a:r>
            <a:r>
              <a:rPr dirty="0" err="1"/>
              <a:t>침해에</a:t>
            </a:r>
            <a:r>
              <a:rPr dirty="0"/>
              <a:t> </a:t>
            </a:r>
            <a:r>
              <a:rPr dirty="0" err="1"/>
              <a:t>해당하며</a:t>
            </a:r>
            <a:r>
              <a:rPr dirty="0"/>
              <a:t>, </a:t>
            </a:r>
            <a:r>
              <a:rPr dirty="0" err="1"/>
              <a:t>한국법상</a:t>
            </a:r>
            <a:r>
              <a:rPr dirty="0"/>
              <a:t> 5년 </a:t>
            </a:r>
            <a:r>
              <a:rPr dirty="0" err="1"/>
              <a:t>이하</a:t>
            </a:r>
            <a:r>
              <a:rPr dirty="0"/>
              <a:t> </a:t>
            </a:r>
            <a:r>
              <a:rPr dirty="0" err="1"/>
              <a:t>징역</a:t>
            </a:r>
            <a:r>
              <a:rPr dirty="0"/>
              <a:t> 등 </a:t>
            </a:r>
            <a:r>
              <a:rPr dirty="0" err="1"/>
              <a:t>처벌</a:t>
            </a:r>
            <a:r>
              <a:rPr dirty="0"/>
              <a:t> </a:t>
            </a:r>
            <a:r>
              <a:rPr dirty="0" err="1"/>
              <a:t>대상임</a:t>
            </a:r>
            <a:r>
              <a:rPr dirty="0"/>
              <a:t>.</a:t>
            </a:r>
          </a:p>
          <a:p>
            <a:pPr lvl="0"/>
            <a:r>
              <a:rPr dirty="0" err="1"/>
              <a:t>비영리</a:t>
            </a:r>
            <a:r>
              <a:rPr dirty="0"/>
              <a:t> </a:t>
            </a:r>
            <a:r>
              <a:rPr dirty="0" err="1"/>
              <a:t>목적</a:t>
            </a:r>
            <a:r>
              <a:rPr dirty="0"/>
              <a:t>, </a:t>
            </a:r>
            <a:r>
              <a:rPr dirty="0" err="1"/>
              <a:t>인용</a:t>
            </a:r>
            <a:r>
              <a:rPr dirty="0"/>
              <a:t>, </a:t>
            </a:r>
            <a:r>
              <a:rPr dirty="0" err="1"/>
              <a:t>시사</a:t>
            </a:r>
            <a:r>
              <a:rPr dirty="0"/>
              <a:t> </a:t>
            </a:r>
            <a:r>
              <a:rPr dirty="0" err="1"/>
              <a:t>보도</a:t>
            </a:r>
            <a:r>
              <a:rPr dirty="0"/>
              <a:t> 등 </a:t>
            </a:r>
            <a:r>
              <a:rPr dirty="0" err="1"/>
              <a:t>제한적인</a:t>
            </a:r>
            <a:r>
              <a:rPr dirty="0"/>
              <a:t> </a:t>
            </a:r>
            <a:r>
              <a:rPr dirty="0" err="1"/>
              <a:t>경우에만</a:t>
            </a:r>
            <a:r>
              <a:rPr dirty="0"/>
              <a:t> </a:t>
            </a:r>
            <a:r>
              <a:rPr dirty="0" err="1"/>
              <a:t>예외적으로</a:t>
            </a:r>
            <a:r>
              <a:rPr dirty="0"/>
              <a:t> </a:t>
            </a:r>
            <a:r>
              <a:rPr dirty="0" err="1"/>
              <a:t>공정이용이</a:t>
            </a:r>
            <a:r>
              <a:rPr dirty="0"/>
              <a:t> </a:t>
            </a:r>
            <a:r>
              <a:rPr dirty="0" err="1"/>
              <a:t>인정됨</a:t>
            </a:r>
            <a:r>
              <a:rPr dirty="0"/>
              <a:t>.</a:t>
            </a:r>
          </a:p>
          <a:p>
            <a:pPr lvl="0"/>
            <a:r>
              <a:rPr dirty="0" err="1"/>
              <a:t>미국의</a:t>
            </a:r>
            <a:r>
              <a:rPr dirty="0"/>
              <a:t> </a:t>
            </a:r>
            <a:r>
              <a:rPr dirty="0" err="1"/>
              <a:t>공정이용</a:t>
            </a:r>
            <a:r>
              <a:rPr dirty="0"/>
              <a:t> </a:t>
            </a:r>
            <a:r>
              <a:rPr dirty="0" err="1"/>
              <a:t>판단은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 </a:t>
            </a:r>
            <a:r>
              <a:rPr dirty="0" err="1"/>
              <a:t>목적</a:t>
            </a:r>
            <a:r>
              <a:rPr dirty="0"/>
              <a:t>, </a:t>
            </a:r>
            <a:r>
              <a:rPr dirty="0" err="1"/>
              <a:t>저작물</a:t>
            </a:r>
            <a:r>
              <a:rPr dirty="0"/>
              <a:t> </a:t>
            </a:r>
            <a:r>
              <a:rPr dirty="0" err="1"/>
              <a:t>성질</a:t>
            </a:r>
            <a:r>
              <a:rPr dirty="0"/>
              <a:t>, </a:t>
            </a:r>
            <a:r>
              <a:rPr dirty="0" err="1"/>
              <a:t>사용량</a:t>
            </a:r>
            <a:r>
              <a:rPr dirty="0"/>
              <a:t>,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영향</a:t>
            </a:r>
            <a:r>
              <a:rPr dirty="0"/>
              <a:t> 등 4가지 </a:t>
            </a:r>
            <a:r>
              <a:rPr dirty="0" err="1"/>
              <a:t>요소를</a:t>
            </a:r>
            <a:r>
              <a:rPr dirty="0"/>
              <a:t> </a:t>
            </a:r>
            <a:r>
              <a:rPr dirty="0" err="1"/>
              <a:t>종합적으로</a:t>
            </a:r>
            <a:r>
              <a:rPr dirty="0"/>
              <a:t> </a:t>
            </a:r>
            <a:r>
              <a:rPr dirty="0" err="1"/>
              <a:t>고려함</a:t>
            </a:r>
            <a:r>
              <a:rPr dirty="0"/>
              <a:t>.</a:t>
            </a:r>
          </a:p>
          <a:p>
            <a:pPr lvl="0"/>
            <a:r>
              <a:rPr dirty="0" err="1"/>
              <a:t>단순히</a:t>
            </a:r>
            <a:r>
              <a:rPr dirty="0"/>
              <a:t> </a:t>
            </a:r>
            <a:r>
              <a:rPr dirty="0" err="1"/>
              <a:t>AI를</a:t>
            </a:r>
            <a:r>
              <a:rPr dirty="0"/>
              <a:t> </a:t>
            </a:r>
            <a:r>
              <a:rPr dirty="0" err="1"/>
              <a:t>사용했다는</a:t>
            </a:r>
            <a:r>
              <a:rPr dirty="0"/>
              <a:t> </a:t>
            </a:r>
            <a:r>
              <a:rPr dirty="0" err="1"/>
              <a:t>사실만으로는</a:t>
            </a:r>
            <a:r>
              <a:rPr dirty="0"/>
              <a:t> </a:t>
            </a:r>
            <a:r>
              <a:rPr dirty="0" err="1"/>
              <a:t>원저작물</a:t>
            </a:r>
            <a:r>
              <a:rPr dirty="0"/>
              <a:t> </a:t>
            </a:r>
            <a:r>
              <a:rPr dirty="0" err="1"/>
              <a:t>무단</a:t>
            </a:r>
            <a:r>
              <a:rPr dirty="0"/>
              <a:t> </a:t>
            </a:r>
            <a:r>
              <a:rPr dirty="0" err="1"/>
              <a:t>사용에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책임을</a:t>
            </a:r>
            <a:r>
              <a:rPr dirty="0"/>
              <a:t> </a:t>
            </a:r>
            <a:r>
              <a:rPr dirty="0" err="1"/>
              <a:t>면할</a:t>
            </a:r>
            <a:r>
              <a:rPr dirty="0"/>
              <a:t> 수 </a:t>
            </a:r>
            <a:r>
              <a:rPr dirty="0" err="1"/>
              <a:t>없음</a:t>
            </a:r>
            <a:r>
              <a:rPr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pic>
        <p:nvPicPr>
          <p:cNvPr id="3074" name="Picture 2" descr="영상] &quot;유튜브 도둑질당했어요&quot;…AI로 뚝딱 표절, 처벌은 | 연합뉴스">
            <a:extLst>
              <a:ext uri="{FF2B5EF4-FFF2-40B4-BE49-F238E27FC236}">
                <a16:creationId xmlns:a16="http://schemas.microsoft.com/office/drawing/2014/main" id="{C6BB5DD1-5A72-D62A-3C90-556E9E886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2000250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7. 저작권과 저작인접권의 차이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200151"/>
            <a:ext cx="4229100" cy="3394472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dirty="0" err="1"/>
              <a:t>저작권은</a:t>
            </a:r>
            <a:r>
              <a:rPr dirty="0"/>
              <a:t> </a:t>
            </a:r>
            <a:r>
              <a:rPr dirty="0" err="1"/>
              <a:t>인간의</a:t>
            </a:r>
            <a:r>
              <a:rPr dirty="0"/>
              <a:t> </a:t>
            </a:r>
            <a:r>
              <a:rPr dirty="0" err="1"/>
              <a:t>창작적</a:t>
            </a:r>
            <a:r>
              <a:rPr dirty="0"/>
              <a:t> </a:t>
            </a:r>
            <a:r>
              <a:rPr dirty="0" err="1"/>
              <a:t>표현을</a:t>
            </a:r>
            <a:r>
              <a:rPr dirty="0"/>
              <a:t> </a:t>
            </a:r>
            <a:r>
              <a:rPr dirty="0" err="1"/>
              <a:t>보호하며</a:t>
            </a:r>
            <a:r>
              <a:rPr dirty="0"/>
              <a:t>, </a:t>
            </a:r>
            <a:r>
              <a:rPr dirty="0" err="1"/>
              <a:t>저작인접권은</a:t>
            </a:r>
            <a:r>
              <a:rPr dirty="0"/>
              <a:t> </a:t>
            </a:r>
            <a:r>
              <a:rPr dirty="0" err="1"/>
              <a:t>음반</a:t>
            </a:r>
            <a:r>
              <a:rPr dirty="0"/>
              <a:t> </a:t>
            </a:r>
            <a:r>
              <a:rPr dirty="0" err="1"/>
              <a:t>제작자나</a:t>
            </a:r>
            <a:r>
              <a:rPr dirty="0"/>
              <a:t> </a:t>
            </a:r>
            <a:r>
              <a:rPr dirty="0" err="1"/>
              <a:t>방송사업자</a:t>
            </a:r>
            <a:r>
              <a:rPr dirty="0"/>
              <a:t> 등 </a:t>
            </a:r>
            <a:r>
              <a:rPr dirty="0" err="1"/>
              <a:t>유통</a:t>
            </a:r>
            <a:r>
              <a:rPr dirty="0"/>
              <a:t> </a:t>
            </a:r>
            <a:r>
              <a:rPr dirty="0" err="1"/>
              <a:t>주체의</a:t>
            </a:r>
            <a:r>
              <a:rPr dirty="0"/>
              <a:t> </a:t>
            </a:r>
            <a:r>
              <a:rPr dirty="0" err="1"/>
              <a:t>기여를</a:t>
            </a:r>
            <a:r>
              <a:rPr dirty="0"/>
              <a:t> </a:t>
            </a:r>
            <a:r>
              <a:rPr dirty="0" err="1"/>
              <a:t>보호함</a:t>
            </a:r>
            <a:r>
              <a:rPr dirty="0"/>
              <a:t>.</a:t>
            </a:r>
            <a:endParaRPr lang="en-US" dirty="0"/>
          </a:p>
          <a:p>
            <a:pPr lvl="1"/>
            <a:r>
              <a:rPr lang="en-US" dirty="0"/>
              <a:t>(</a:t>
            </a:r>
            <a:r>
              <a:rPr lang="en-US" dirty="0" err="1"/>
              <a:t>판권</a:t>
            </a:r>
            <a:r>
              <a:rPr lang="en-US" dirty="0"/>
              <a:t> , </a:t>
            </a:r>
            <a:r>
              <a:rPr lang="ko-KR" altLang="en-US" dirty="0"/>
              <a:t>복제</a:t>
            </a:r>
            <a:r>
              <a:rPr lang="en-US" altLang="ko-KR" dirty="0"/>
              <a:t>, </a:t>
            </a:r>
            <a:r>
              <a:rPr lang="ko-KR" altLang="en-US" dirty="0"/>
              <a:t>배포</a:t>
            </a:r>
            <a:r>
              <a:rPr lang="en-US" altLang="ko-KR" dirty="0"/>
              <a:t>, </a:t>
            </a:r>
            <a:r>
              <a:rPr lang="ko-KR" altLang="en-US" dirty="0"/>
              <a:t>방송</a:t>
            </a:r>
            <a:r>
              <a:rPr lang="en-US" altLang="ko-KR" dirty="0"/>
              <a:t>, </a:t>
            </a:r>
            <a:r>
              <a:rPr lang="ko-KR" altLang="en-US" dirty="0"/>
              <a:t>공연 등</a:t>
            </a:r>
            <a:r>
              <a:rPr lang="en-US" altLang="ko-KR" dirty="0"/>
              <a:t>)</a:t>
            </a:r>
            <a:endParaRPr dirty="0"/>
          </a:p>
          <a:p>
            <a:pPr lvl="0"/>
            <a:r>
              <a:rPr dirty="0"/>
              <a:t>AI </a:t>
            </a:r>
            <a:r>
              <a:rPr dirty="0" err="1"/>
              <a:t>음원의</a:t>
            </a:r>
            <a:r>
              <a:rPr dirty="0"/>
              <a:t> </a:t>
            </a:r>
            <a:r>
              <a:rPr dirty="0" err="1"/>
              <a:t>경우</a:t>
            </a:r>
            <a:r>
              <a:rPr dirty="0"/>
              <a:t> </a:t>
            </a:r>
            <a:r>
              <a:rPr dirty="0" err="1"/>
              <a:t>작사·작곡에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저작권</a:t>
            </a:r>
            <a:r>
              <a:rPr dirty="0"/>
              <a:t> </a:t>
            </a:r>
            <a:r>
              <a:rPr dirty="0" err="1"/>
              <a:t>인정은</a:t>
            </a:r>
            <a:r>
              <a:rPr dirty="0"/>
              <a:t> </a:t>
            </a:r>
            <a:r>
              <a:rPr dirty="0" err="1"/>
              <a:t>제한적이지만</a:t>
            </a:r>
            <a:r>
              <a:rPr dirty="0"/>
              <a:t>, </a:t>
            </a:r>
            <a:r>
              <a:rPr dirty="0" err="1"/>
              <a:t>음반</a:t>
            </a:r>
            <a:r>
              <a:rPr dirty="0"/>
              <a:t> </a:t>
            </a:r>
            <a:r>
              <a:rPr dirty="0" err="1"/>
              <a:t>제작자로서의</a:t>
            </a:r>
            <a:r>
              <a:rPr dirty="0"/>
              <a:t> </a:t>
            </a:r>
            <a:r>
              <a:rPr dirty="0" err="1"/>
              <a:t>저작인접권은</a:t>
            </a:r>
            <a:r>
              <a:rPr dirty="0"/>
              <a:t> </a:t>
            </a:r>
            <a:r>
              <a:rPr dirty="0" err="1"/>
              <a:t>인정될</a:t>
            </a:r>
            <a:r>
              <a:rPr dirty="0"/>
              <a:t> 수 </a:t>
            </a:r>
            <a:r>
              <a:rPr dirty="0" err="1"/>
              <a:t>있음</a:t>
            </a:r>
            <a:r>
              <a:rPr dirty="0"/>
              <a:t>.</a:t>
            </a:r>
          </a:p>
          <a:p>
            <a:pPr lvl="0"/>
            <a:r>
              <a:rPr dirty="0" err="1"/>
              <a:t>따라서</a:t>
            </a:r>
            <a:r>
              <a:rPr dirty="0"/>
              <a:t> AI </a:t>
            </a:r>
            <a:r>
              <a:rPr dirty="0" err="1"/>
              <a:t>음원을</a:t>
            </a:r>
            <a:r>
              <a:rPr dirty="0"/>
              <a:t> </a:t>
            </a:r>
            <a:r>
              <a:rPr dirty="0" err="1"/>
              <a:t>발매하여</a:t>
            </a:r>
            <a:r>
              <a:rPr dirty="0"/>
              <a:t> </a:t>
            </a:r>
            <a:r>
              <a:rPr dirty="0" err="1"/>
              <a:t>유통</a:t>
            </a:r>
            <a:r>
              <a:rPr dirty="0"/>
              <a:t> </a:t>
            </a:r>
            <a:r>
              <a:rPr dirty="0" err="1"/>
              <a:t>수익을</a:t>
            </a:r>
            <a:r>
              <a:rPr dirty="0"/>
              <a:t> </a:t>
            </a:r>
            <a:r>
              <a:rPr dirty="0" err="1"/>
              <a:t>얻는</a:t>
            </a:r>
            <a:r>
              <a:rPr dirty="0"/>
              <a:t> </a:t>
            </a:r>
            <a:r>
              <a:rPr dirty="0" err="1"/>
              <a:t>행위</a:t>
            </a:r>
            <a:r>
              <a:rPr dirty="0"/>
              <a:t> </a:t>
            </a:r>
            <a:r>
              <a:rPr dirty="0" err="1"/>
              <a:t>자체가</a:t>
            </a:r>
            <a:r>
              <a:rPr dirty="0"/>
              <a:t> </a:t>
            </a:r>
            <a:r>
              <a:rPr dirty="0" err="1"/>
              <a:t>곧바로</a:t>
            </a:r>
            <a:r>
              <a:rPr dirty="0"/>
              <a:t> </a:t>
            </a:r>
            <a:r>
              <a:rPr dirty="0" err="1"/>
              <a:t>불법이</a:t>
            </a:r>
            <a:r>
              <a:rPr dirty="0"/>
              <a:t> </a:t>
            </a:r>
            <a:r>
              <a:rPr dirty="0" err="1"/>
              <a:t>되는</a:t>
            </a:r>
            <a:r>
              <a:rPr dirty="0"/>
              <a:t> </a:t>
            </a:r>
            <a:r>
              <a:rPr dirty="0" err="1"/>
              <a:t>것은</a:t>
            </a:r>
            <a:r>
              <a:rPr dirty="0"/>
              <a:t> </a:t>
            </a:r>
            <a:r>
              <a:rPr dirty="0" err="1"/>
              <a:t>아님</a:t>
            </a:r>
            <a:r>
              <a:rPr dirty="0"/>
              <a:t>.</a:t>
            </a:r>
          </a:p>
          <a:p>
            <a:pPr lvl="0"/>
            <a:r>
              <a:rPr dirty="0" err="1"/>
              <a:t>하지만</a:t>
            </a:r>
            <a:r>
              <a:rPr dirty="0"/>
              <a:t> </a:t>
            </a:r>
            <a:r>
              <a:rPr dirty="0" err="1"/>
              <a:t>이는</a:t>
            </a:r>
            <a:r>
              <a:rPr dirty="0"/>
              <a:t> </a:t>
            </a:r>
            <a:r>
              <a:rPr dirty="0" err="1"/>
              <a:t>권리</a:t>
            </a:r>
            <a:r>
              <a:rPr dirty="0"/>
              <a:t> </a:t>
            </a:r>
            <a:r>
              <a:rPr dirty="0" err="1"/>
              <a:t>구조와</a:t>
            </a:r>
            <a:r>
              <a:rPr dirty="0"/>
              <a:t> </a:t>
            </a:r>
            <a:r>
              <a:rPr dirty="0" err="1"/>
              <a:t>책임이</a:t>
            </a:r>
            <a:r>
              <a:rPr dirty="0"/>
              <a:t> </a:t>
            </a:r>
            <a:r>
              <a:rPr dirty="0" err="1"/>
              <a:t>다를</a:t>
            </a:r>
            <a:r>
              <a:rPr dirty="0"/>
              <a:t> </a:t>
            </a:r>
            <a:r>
              <a:rPr dirty="0" err="1"/>
              <a:t>뿐이며</a:t>
            </a:r>
            <a:r>
              <a:rPr dirty="0"/>
              <a:t>,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저작권</a:t>
            </a:r>
            <a:r>
              <a:rPr dirty="0"/>
              <a:t> </a:t>
            </a:r>
            <a:r>
              <a:rPr dirty="0" err="1"/>
              <a:t>침해</a:t>
            </a:r>
            <a:r>
              <a:rPr dirty="0"/>
              <a:t> </a:t>
            </a:r>
            <a:r>
              <a:rPr dirty="0" err="1"/>
              <a:t>위험은</a:t>
            </a:r>
            <a:r>
              <a:rPr dirty="0"/>
              <a:t> </a:t>
            </a:r>
            <a:r>
              <a:rPr dirty="0" err="1"/>
              <a:t>여전히</a:t>
            </a:r>
            <a:r>
              <a:rPr dirty="0"/>
              <a:t> </a:t>
            </a:r>
            <a:r>
              <a:rPr dirty="0" err="1"/>
              <a:t>상존함을</a:t>
            </a:r>
            <a:r>
              <a:rPr dirty="0"/>
              <a:t> </a:t>
            </a:r>
            <a:r>
              <a:rPr dirty="0" err="1"/>
              <a:t>이해해야</a:t>
            </a:r>
            <a:r>
              <a:rPr dirty="0"/>
              <a:t> 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3F7E1CF-134F-9B80-A146-C4DA2B3D0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1564363"/>
            <a:ext cx="4229100" cy="26660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8. AI 창작 보호와 혁신의 균형점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AI 지식재산권 논쟁은 결국 창작자 권리 보호와 기술 혁신 촉진 사이의 균형 문제로 귀결됨.</a:t>
            </a:r>
          </a:p>
          <a:p>
            <a:pPr lvl="0"/>
            <a:r>
              <a:t>마크 렘리는 엄격한 보호가 기술 발전을 저해할 수 있지만, 무제한적 사용은 창작 생태계를 파괴할 수 있다고 경고함.</a:t>
            </a:r>
          </a:p>
          <a:p>
            <a:pPr lvl="0"/>
            <a:r>
              <a:t>해결 방안으로 AI 학습을 위한 새 공정이용 카테고리 신설, 저작권자의 거부권(opt-out) 보장 등이 논의됨.</a:t>
            </a:r>
          </a:p>
          <a:p>
            <a:pPr lvl="0"/>
            <a:r>
              <a:t>AI 생성물에 대한 특별(sui generis) 보호 체계 도입이나 라이선스 시장 활성화도 대안으로 제시됨.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924AB44-E39E-12AE-1153-BA453D973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249" y="1731527"/>
            <a:ext cx="2856751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9. 전통적 사생활 개념의 한계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사생활권은 1890년 워런과 브랜다이스에 의해 “혼자 있을 권리”로 처음 이론화되었음.</a:t>
            </a:r>
          </a:p>
          <a:p>
            <a:pPr lvl="0"/>
            <a:r>
              <a:t>전통적 보호법은 개인정보의 수집·이용에 대한 ’동의’를 중심으로 발전해 왔으나 AI 시대에는 한계에 직면함.</a:t>
            </a:r>
          </a:p>
          <a:p>
            <a:pPr lvl="0"/>
            <a:r>
              <a:t>AI는 대규모 데이터 간 패턴을 분석해 개인이 동의하지 않은 정보나 추론된 새로운 정보까지 생성해낼 수 있음.</a:t>
            </a:r>
          </a:p>
          <a:p>
            <a:pPr lvl="0"/>
            <a:r>
              <a:t>개인은 자신에 대해 어떤 정보가 추론되고 생성되는지조차 알 수 없는 블랙박스 상황에 처하게 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C429075-AEF9-FA2B-EDE1-2C8FC0773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1436370"/>
            <a:ext cx="259080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10. AI 기반 개인정보 침해 사례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dirty="0" err="1"/>
              <a:t>케임브리지</a:t>
            </a:r>
            <a:r>
              <a:rPr dirty="0"/>
              <a:t> </a:t>
            </a:r>
            <a:r>
              <a:rPr dirty="0" err="1"/>
              <a:t>애널리티카</a:t>
            </a:r>
            <a:r>
              <a:rPr dirty="0"/>
              <a:t> </a:t>
            </a:r>
            <a:r>
              <a:rPr dirty="0" err="1"/>
              <a:t>사건</a:t>
            </a:r>
            <a:r>
              <a:rPr dirty="0"/>
              <a:t>(2018)은 </a:t>
            </a:r>
            <a:r>
              <a:rPr dirty="0" err="1"/>
              <a:t>페이스북</a:t>
            </a:r>
            <a:r>
              <a:rPr dirty="0"/>
              <a:t>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정보를</a:t>
            </a:r>
            <a:r>
              <a:rPr dirty="0"/>
              <a:t> </a:t>
            </a:r>
            <a:r>
              <a:rPr dirty="0" err="1"/>
              <a:t>무단</a:t>
            </a:r>
            <a:r>
              <a:rPr dirty="0"/>
              <a:t> </a:t>
            </a:r>
            <a:r>
              <a:rPr dirty="0" err="1"/>
              <a:t>수집하여</a:t>
            </a:r>
            <a:r>
              <a:rPr dirty="0"/>
              <a:t> </a:t>
            </a:r>
            <a:r>
              <a:rPr dirty="0" err="1"/>
              <a:t>AI로</a:t>
            </a:r>
            <a:r>
              <a:rPr dirty="0"/>
              <a:t> </a:t>
            </a:r>
            <a:r>
              <a:rPr dirty="0" err="1"/>
              <a:t>정치</a:t>
            </a:r>
            <a:r>
              <a:rPr dirty="0"/>
              <a:t> </a:t>
            </a:r>
            <a:r>
              <a:rPr dirty="0" err="1"/>
              <a:t>성향을</a:t>
            </a:r>
            <a:r>
              <a:rPr dirty="0"/>
              <a:t> </a:t>
            </a:r>
            <a:r>
              <a:rPr dirty="0" err="1"/>
              <a:t>프로파일링한</a:t>
            </a:r>
            <a:r>
              <a:rPr dirty="0"/>
              <a:t> </a:t>
            </a:r>
            <a:r>
              <a:rPr dirty="0" err="1"/>
              <a:t>대표적</a:t>
            </a:r>
            <a:r>
              <a:rPr dirty="0"/>
              <a:t> </a:t>
            </a:r>
            <a:r>
              <a:rPr dirty="0" err="1"/>
              <a:t>사례임</a:t>
            </a:r>
            <a:r>
              <a:rPr dirty="0"/>
              <a:t>.</a:t>
            </a:r>
          </a:p>
          <a:p>
            <a:pPr lvl="0"/>
            <a:r>
              <a:rPr dirty="0" err="1"/>
              <a:t>클리어뷰</a:t>
            </a:r>
            <a:r>
              <a:rPr dirty="0"/>
              <a:t> </a:t>
            </a:r>
            <a:r>
              <a:rPr dirty="0" err="1"/>
              <a:t>AI는</a:t>
            </a:r>
            <a:r>
              <a:rPr dirty="0"/>
              <a:t> </a:t>
            </a:r>
            <a:r>
              <a:rPr dirty="0" err="1"/>
              <a:t>수십억</a:t>
            </a:r>
            <a:r>
              <a:rPr dirty="0"/>
              <a:t> </a:t>
            </a:r>
            <a:r>
              <a:rPr dirty="0" err="1"/>
              <a:t>장의</a:t>
            </a:r>
            <a:r>
              <a:rPr dirty="0"/>
              <a:t> </a:t>
            </a:r>
            <a:r>
              <a:rPr dirty="0" err="1"/>
              <a:t>얼굴</a:t>
            </a:r>
            <a:r>
              <a:rPr dirty="0"/>
              <a:t> </a:t>
            </a:r>
            <a:r>
              <a:rPr dirty="0" err="1"/>
              <a:t>사진을</a:t>
            </a:r>
            <a:r>
              <a:rPr dirty="0"/>
              <a:t> </a:t>
            </a:r>
            <a:r>
              <a:rPr dirty="0" err="1"/>
              <a:t>무단</a:t>
            </a:r>
            <a:r>
              <a:rPr dirty="0"/>
              <a:t> </a:t>
            </a:r>
            <a:r>
              <a:rPr dirty="0" err="1"/>
              <a:t>수집해</a:t>
            </a:r>
            <a:r>
              <a:rPr dirty="0"/>
              <a:t> </a:t>
            </a:r>
            <a:r>
              <a:rPr dirty="0" err="1"/>
              <a:t>데이터베이스를</a:t>
            </a:r>
            <a:r>
              <a:rPr dirty="0"/>
              <a:t> </a:t>
            </a:r>
            <a:r>
              <a:rPr dirty="0" err="1"/>
              <a:t>구축함으로써</a:t>
            </a:r>
            <a:r>
              <a:rPr dirty="0"/>
              <a:t> </a:t>
            </a:r>
            <a:r>
              <a:rPr dirty="0" err="1"/>
              <a:t>대규모</a:t>
            </a:r>
            <a:r>
              <a:rPr dirty="0"/>
              <a:t> </a:t>
            </a:r>
            <a:r>
              <a:rPr dirty="0" err="1"/>
              <a:t>사생활</a:t>
            </a:r>
            <a:r>
              <a:rPr dirty="0"/>
              <a:t> </a:t>
            </a:r>
            <a:r>
              <a:rPr dirty="0" err="1"/>
              <a:t>침해</a:t>
            </a:r>
            <a:r>
              <a:rPr dirty="0"/>
              <a:t> </a:t>
            </a:r>
            <a:r>
              <a:rPr dirty="0" err="1"/>
              <a:t>논란을</a:t>
            </a:r>
            <a:r>
              <a:rPr dirty="0"/>
              <a:t> </a:t>
            </a:r>
            <a:r>
              <a:rPr dirty="0" err="1"/>
              <a:t>일으킴</a:t>
            </a:r>
            <a:r>
              <a:rPr dirty="0"/>
              <a:t>.</a:t>
            </a:r>
          </a:p>
          <a:p>
            <a:pPr lvl="0"/>
            <a:r>
              <a:rPr dirty="0" err="1"/>
              <a:t>한국의</a:t>
            </a:r>
            <a:r>
              <a:rPr dirty="0"/>
              <a:t> </a:t>
            </a:r>
            <a:r>
              <a:rPr dirty="0" err="1"/>
              <a:t>이루다</a:t>
            </a:r>
            <a:r>
              <a:rPr dirty="0"/>
              <a:t> </a:t>
            </a:r>
            <a:r>
              <a:rPr dirty="0" err="1"/>
              <a:t>챗봇</a:t>
            </a:r>
            <a:r>
              <a:rPr dirty="0"/>
              <a:t> </a:t>
            </a:r>
            <a:r>
              <a:rPr dirty="0" err="1"/>
              <a:t>사건</a:t>
            </a:r>
            <a:r>
              <a:rPr dirty="0"/>
              <a:t>(2021)은 </a:t>
            </a:r>
            <a:r>
              <a:rPr dirty="0" err="1"/>
              <a:t>카카오톡</a:t>
            </a:r>
            <a:r>
              <a:rPr dirty="0"/>
              <a:t> </a:t>
            </a:r>
            <a:r>
              <a:rPr dirty="0" err="1"/>
              <a:t>대화</a:t>
            </a:r>
            <a:r>
              <a:rPr dirty="0"/>
              <a:t> </a:t>
            </a:r>
            <a:r>
              <a:rPr dirty="0" err="1"/>
              <a:t>내용의</a:t>
            </a:r>
            <a:r>
              <a:rPr dirty="0"/>
              <a:t> </a:t>
            </a:r>
            <a:r>
              <a:rPr dirty="0" err="1"/>
              <a:t>무단</a:t>
            </a:r>
            <a:r>
              <a:rPr dirty="0"/>
              <a:t> </a:t>
            </a:r>
            <a:r>
              <a:rPr dirty="0" err="1"/>
              <a:t>학습과</a:t>
            </a:r>
            <a:r>
              <a:rPr dirty="0"/>
              <a:t> </a:t>
            </a:r>
            <a:r>
              <a:rPr dirty="0" err="1"/>
              <a:t>혐오</a:t>
            </a:r>
            <a:r>
              <a:rPr dirty="0"/>
              <a:t> </a:t>
            </a:r>
            <a:r>
              <a:rPr dirty="0" err="1"/>
              <a:t>표현으로</a:t>
            </a:r>
            <a:r>
              <a:rPr dirty="0"/>
              <a:t> </a:t>
            </a:r>
            <a:r>
              <a:rPr dirty="0" err="1"/>
              <a:t>명확한</a:t>
            </a:r>
            <a:r>
              <a:rPr dirty="0"/>
              <a:t> </a:t>
            </a:r>
            <a:r>
              <a:rPr dirty="0" err="1"/>
              <a:t>동의</a:t>
            </a:r>
            <a:r>
              <a:rPr dirty="0"/>
              <a:t> </a:t>
            </a:r>
            <a:r>
              <a:rPr dirty="0" err="1"/>
              <a:t>절차의</a:t>
            </a:r>
            <a:r>
              <a:rPr dirty="0"/>
              <a:t> </a:t>
            </a:r>
            <a:r>
              <a:rPr dirty="0" err="1"/>
              <a:t>중요성을</a:t>
            </a:r>
            <a:r>
              <a:rPr dirty="0"/>
              <a:t> </a:t>
            </a:r>
            <a:r>
              <a:rPr dirty="0" err="1"/>
              <a:t>상기시킴</a:t>
            </a:r>
            <a:r>
              <a:rPr dirty="0"/>
              <a:t>.</a:t>
            </a:r>
          </a:p>
          <a:p>
            <a:pPr lvl="0"/>
            <a:r>
              <a:rPr dirty="0" err="1"/>
              <a:t>이러한</a:t>
            </a:r>
            <a:r>
              <a:rPr dirty="0"/>
              <a:t> </a:t>
            </a:r>
            <a:r>
              <a:rPr dirty="0" err="1"/>
              <a:t>사례들은</a:t>
            </a:r>
            <a:r>
              <a:rPr dirty="0"/>
              <a:t> AI </a:t>
            </a:r>
            <a:r>
              <a:rPr dirty="0" err="1"/>
              <a:t>개발</a:t>
            </a:r>
            <a:r>
              <a:rPr dirty="0"/>
              <a:t> 시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수집의</a:t>
            </a:r>
            <a:r>
              <a:rPr dirty="0"/>
              <a:t> </a:t>
            </a:r>
            <a:r>
              <a:rPr dirty="0" err="1"/>
              <a:t>투명성과</a:t>
            </a:r>
            <a:r>
              <a:rPr dirty="0"/>
              <a:t> </a:t>
            </a:r>
            <a:r>
              <a:rPr dirty="0" err="1"/>
              <a:t>정보주체의</a:t>
            </a:r>
            <a:r>
              <a:rPr dirty="0"/>
              <a:t> </a:t>
            </a:r>
            <a:r>
              <a:rPr dirty="0" err="1"/>
              <a:t>권리</a:t>
            </a:r>
            <a:r>
              <a:rPr dirty="0"/>
              <a:t> </a:t>
            </a:r>
            <a:r>
              <a:rPr dirty="0" err="1"/>
              <a:t>보장이</a:t>
            </a:r>
            <a:r>
              <a:rPr dirty="0"/>
              <a:t> </a:t>
            </a:r>
            <a:r>
              <a:rPr dirty="0" err="1"/>
              <a:t>필수적임을</a:t>
            </a:r>
            <a:r>
              <a:rPr dirty="0"/>
              <a:t> </a:t>
            </a:r>
            <a:r>
              <a:rPr dirty="0" err="1"/>
              <a:t>보여줌</a:t>
            </a:r>
            <a:r>
              <a:rPr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B2FA656-A380-FFFA-F0F4-4E368F1D8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475" y="1616392"/>
            <a:ext cx="2676525" cy="17049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11. 설계에 의한 프라이버시 원칙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200151"/>
            <a:ext cx="5012616" cy="3394472"/>
          </a:xfrm>
        </p:spPr>
        <p:txBody>
          <a:bodyPr>
            <a:normAutofit lnSpcReduction="10000"/>
          </a:bodyPr>
          <a:lstStyle/>
          <a:p>
            <a:pPr lvl="0"/>
            <a:r>
              <a:rPr dirty="0"/>
              <a:t> ’Privacy by </a:t>
            </a:r>
            <a:r>
              <a:rPr dirty="0" err="1"/>
              <a:t>Design’은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단계부터</a:t>
            </a:r>
            <a:r>
              <a:rPr dirty="0"/>
              <a:t> </a:t>
            </a:r>
            <a:r>
              <a:rPr dirty="0" err="1"/>
              <a:t>개인정보</a:t>
            </a:r>
            <a:r>
              <a:rPr dirty="0"/>
              <a:t> </a:t>
            </a:r>
            <a:r>
              <a:rPr dirty="0" err="1"/>
              <a:t>보호를</a:t>
            </a:r>
            <a:r>
              <a:rPr dirty="0"/>
              <a:t> </a:t>
            </a:r>
            <a:r>
              <a:rPr dirty="0" err="1"/>
              <a:t>내재화하자는</a:t>
            </a:r>
            <a:r>
              <a:rPr dirty="0"/>
              <a:t> </a:t>
            </a:r>
            <a:r>
              <a:rPr dirty="0" err="1"/>
              <a:t>원칙임</a:t>
            </a:r>
            <a:r>
              <a:rPr dirty="0"/>
              <a:t>.</a:t>
            </a:r>
          </a:p>
          <a:p>
            <a:pPr lvl="0"/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원칙으로는</a:t>
            </a:r>
            <a:r>
              <a:rPr dirty="0"/>
              <a:t> </a:t>
            </a:r>
            <a:r>
              <a:rPr dirty="0" err="1"/>
              <a:t>사후</a:t>
            </a:r>
            <a:r>
              <a:rPr dirty="0"/>
              <a:t> </a:t>
            </a:r>
            <a:r>
              <a:rPr dirty="0" err="1"/>
              <a:t>대응이</a:t>
            </a:r>
            <a:r>
              <a:rPr dirty="0"/>
              <a:t> </a:t>
            </a:r>
            <a:r>
              <a:rPr dirty="0" err="1"/>
              <a:t>아닌</a:t>
            </a:r>
            <a:r>
              <a:rPr dirty="0"/>
              <a:t> </a:t>
            </a:r>
            <a:r>
              <a:rPr dirty="0" err="1"/>
              <a:t>사전</a:t>
            </a:r>
            <a:r>
              <a:rPr dirty="0"/>
              <a:t> </a:t>
            </a:r>
            <a:r>
              <a:rPr dirty="0" err="1"/>
              <a:t>예방</a:t>
            </a:r>
            <a:r>
              <a:rPr dirty="0"/>
              <a:t>,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설정으로서의</a:t>
            </a:r>
            <a:r>
              <a:rPr dirty="0"/>
              <a:t> </a:t>
            </a:r>
            <a:r>
              <a:rPr dirty="0" err="1"/>
              <a:t>프라이버시</a:t>
            </a:r>
            <a:r>
              <a:rPr dirty="0"/>
              <a:t>, </a:t>
            </a:r>
            <a:r>
              <a:rPr dirty="0" err="1"/>
              <a:t>가시성과</a:t>
            </a:r>
            <a:r>
              <a:rPr dirty="0"/>
              <a:t> </a:t>
            </a:r>
            <a:r>
              <a:rPr dirty="0" err="1"/>
              <a:t>투명성</a:t>
            </a:r>
            <a:r>
              <a:rPr dirty="0"/>
              <a:t> </a:t>
            </a:r>
            <a:r>
              <a:rPr dirty="0" err="1"/>
              <a:t>등이</a:t>
            </a:r>
            <a:r>
              <a:rPr dirty="0"/>
              <a:t> </a:t>
            </a:r>
            <a:r>
              <a:rPr dirty="0" err="1"/>
              <a:t>포함됨</a:t>
            </a:r>
            <a:r>
              <a:rPr dirty="0"/>
              <a:t>.</a:t>
            </a:r>
          </a:p>
          <a:p>
            <a:pPr lvl="0"/>
            <a:r>
              <a:rPr dirty="0" err="1"/>
              <a:t>개인정보</a:t>
            </a:r>
            <a:r>
              <a:rPr dirty="0"/>
              <a:t> </a:t>
            </a:r>
            <a:r>
              <a:rPr dirty="0" err="1"/>
              <a:t>보호를</a:t>
            </a:r>
            <a:r>
              <a:rPr dirty="0"/>
              <a:t> </a:t>
            </a:r>
            <a:r>
              <a:rPr dirty="0" err="1"/>
              <a:t>사후적</a:t>
            </a:r>
            <a:r>
              <a:rPr dirty="0"/>
              <a:t> </a:t>
            </a:r>
            <a:r>
              <a:rPr dirty="0" err="1"/>
              <a:t>규제가</a:t>
            </a:r>
            <a:r>
              <a:rPr dirty="0"/>
              <a:t> </a:t>
            </a:r>
            <a:r>
              <a:rPr dirty="0" err="1"/>
              <a:t>아닌</a:t>
            </a:r>
            <a:r>
              <a:rPr dirty="0"/>
              <a:t> </a:t>
            </a:r>
            <a:r>
              <a:rPr dirty="0" err="1"/>
              <a:t>시스템의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기능으로</a:t>
            </a:r>
            <a:r>
              <a:rPr dirty="0"/>
              <a:t> </a:t>
            </a:r>
            <a:r>
              <a:rPr dirty="0" err="1"/>
              <a:t>내장하여</a:t>
            </a:r>
            <a:r>
              <a:rPr dirty="0"/>
              <a:t> 전 </a:t>
            </a:r>
            <a:r>
              <a:rPr dirty="0" err="1"/>
              <a:t>생애주기에</a:t>
            </a:r>
            <a:r>
              <a:rPr dirty="0"/>
              <a:t> </a:t>
            </a:r>
            <a:r>
              <a:rPr dirty="0" err="1"/>
              <a:t>걸쳐</a:t>
            </a:r>
            <a:r>
              <a:rPr dirty="0"/>
              <a:t> </a:t>
            </a:r>
            <a:r>
              <a:rPr dirty="0" err="1"/>
              <a:t>보안을</a:t>
            </a:r>
            <a:r>
              <a:rPr dirty="0"/>
              <a:t> </a:t>
            </a:r>
            <a:r>
              <a:rPr dirty="0" err="1"/>
              <a:t>유지함</a:t>
            </a:r>
            <a:r>
              <a:rPr dirty="0"/>
              <a:t>.</a:t>
            </a:r>
          </a:p>
          <a:p>
            <a:pPr lvl="0"/>
            <a:r>
              <a:rPr dirty="0" err="1"/>
              <a:t>이는</a:t>
            </a:r>
            <a:r>
              <a:rPr dirty="0"/>
              <a:t>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중심의</a:t>
            </a:r>
            <a:r>
              <a:rPr dirty="0"/>
              <a:t> </a:t>
            </a:r>
            <a:r>
              <a:rPr dirty="0" err="1"/>
              <a:t>설계를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기술과</a:t>
            </a:r>
            <a:r>
              <a:rPr dirty="0"/>
              <a:t> </a:t>
            </a:r>
            <a:r>
              <a:rPr dirty="0" err="1"/>
              <a:t>프라이버시가</a:t>
            </a:r>
            <a:r>
              <a:rPr dirty="0"/>
              <a:t> </a:t>
            </a:r>
            <a:r>
              <a:rPr dirty="0" err="1"/>
              <a:t>제로섬이</a:t>
            </a:r>
            <a:r>
              <a:rPr dirty="0"/>
              <a:t> </a:t>
            </a:r>
            <a:r>
              <a:rPr dirty="0" err="1"/>
              <a:t>아닌</a:t>
            </a:r>
            <a:r>
              <a:rPr dirty="0"/>
              <a:t> </a:t>
            </a:r>
            <a:r>
              <a:rPr dirty="0" err="1"/>
              <a:t>상생</a:t>
            </a:r>
            <a:r>
              <a:rPr dirty="0"/>
              <a:t> </a:t>
            </a:r>
            <a:r>
              <a:rPr dirty="0" err="1"/>
              <a:t>관계가</a:t>
            </a:r>
            <a:r>
              <a:rPr dirty="0"/>
              <a:t> </a:t>
            </a:r>
            <a:r>
              <a:rPr dirty="0" err="1"/>
              <a:t>되도록</a:t>
            </a:r>
            <a:r>
              <a:rPr dirty="0"/>
              <a:t> 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C8008C0-1731-7F6F-FFA6-8A1179087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816" y="971313"/>
            <a:ext cx="3674184" cy="36233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12. GDPR 및 각국의 정보 보호법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dirty="0" err="1"/>
              <a:t>유럽</a:t>
            </a:r>
            <a:r>
              <a:rPr dirty="0"/>
              <a:t> </a:t>
            </a:r>
            <a:r>
              <a:rPr dirty="0" err="1"/>
              <a:t>GDPR은</a:t>
            </a:r>
            <a:r>
              <a:rPr dirty="0"/>
              <a:t> ‘</a:t>
            </a:r>
            <a:r>
              <a:rPr dirty="0" err="1"/>
              <a:t>설계에</a:t>
            </a:r>
            <a:r>
              <a:rPr dirty="0"/>
              <a:t> </a:t>
            </a:r>
            <a:r>
              <a:rPr dirty="0" err="1"/>
              <a:t>의한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보호</a:t>
            </a:r>
            <a:r>
              <a:rPr dirty="0"/>
              <a:t>’ </a:t>
            </a:r>
            <a:r>
              <a:rPr dirty="0" err="1"/>
              <a:t>원칙을</a:t>
            </a:r>
            <a:r>
              <a:rPr dirty="0"/>
              <a:t> </a:t>
            </a:r>
            <a:r>
              <a:rPr dirty="0" err="1"/>
              <a:t>명시하고</a:t>
            </a:r>
            <a:r>
              <a:rPr dirty="0"/>
              <a:t> </a:t>
            </a:r>
            <a:r>
              <a:rPr dirty="0" err="1"/>
              <a:t>자동화된</a:t>
            </a:r>
            <a:r>
              <a:rPr dirty="0"/>
              <a:t> </a:t>
            </a:r>
            <a:r>
              <a:rPr dirty="0" err="1"/>
              <a:t>의사결정에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정보주체의</a:t>
            </a:r>
            <a:r>
              <a:rPr dirty="0"/>
              <a:t> </a:t>
            </a:r>
            <a:r>
              <a:rPr dirty="0" err="1"/>
              <a:t>거부권을</a:t>
            </a:r>
            <a:r>
              <a:rPr dirty="0"/>
              <a:t> </a:t>
            </a:r>
            <a:r>
              <a:rPr dirty="0" err="1"/>
              <a:t>부여함</a:t>
            </a:r>
            <a:r>
              <a:rPr dirty="0"/>
              <a:t>.</a:t>
            </a:r>
          </a:p>
          <a:p>
            <a:pPr lvl="0"/>
            <a:r>
              <a:rPr dirty="0" err="1"/>
              <a:t>한국은</a:t>
            </a:r>
            <a:r>
              <a:rPr dirty="0"/>
              <a:t> 2023년 </a:t>
            </a:r>
            <a:r>
              <a:rPr dirty="0" err="1"/>
              <a:t>개정법을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AI </a:t>
            </a:r>
            <a:r>
              <a:rPr dirty="0" err="1"/>
              <a:t>자동화</a:t>
            </a:r>
            <a:r>
              <a:rPr dirty="0"/>
              <a:t> </a:t>
            </a:r>
            <a:r>
              <a:rPr dirty="0" err="1"/>
              <a:t>결정에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설명요구권과</a:t>
            </a:r>
            <a:r>
              <a:rPr dirty="0"/>
              <a:t> </a:t>
            </a:r>
            <a:r>
              <a:rPr dirty="0" err="1"/>
              <a:t>거부권을</a:t>
            </a:r>
            <a:r>
              <a:rPr dirty="0"/>
              <a:t> </a:t>
            </a:r>
            <a:r>
              <a:rPr dirty="0" err="1"/>
              <a:t>도입하고</a:t>
            </a:r>
            <a:r>
              <a:rPr dirty="0"/>
              <a:t> </a:t>
            </a:r>
            <a:r>
              <a:rPr dirty="0" err="1"/>
              <a:t>자율점검표를</a:t>
            </a:r>
            <a:r>
              <a:rPr dirty="0"/>
              <a:t> </a:t>
            </a:r>
            <a:r>
              <a:rPr dirty="0" err="1"/>
              <a:t>발표함</a:t>
            </a:r>
            <a:r>
              <a:rPr dirty="0"/>
              <a:t>.</a:t>
            </a:r>
          </a:p>
          <a:p>
            <a:pPr lvl="0"/>
            <a:r>
              <a:rPr dirty="0" err="1"/>
              <a:t>미국</a:t>
            </a:r>
            <a:r>
              <a:rPr dirty="0"/>
              <a:t> </a:t>
            </a:r>
            <a:r>
              <a:rPr dirty="0" err="1"/>
              <a:t>캘리포니아주의</a:t>
            </a:r>
            <a:r>
              <a:rPr dirty="0"/>
              <a:t> </a:t>
            </a:r>
            <a:r>
              <a:rPr dirty="0" err="1"/>
              <a:t>CCPA와</a:t>
            </a:r>
            <a:r>
              <a:rPr dirty="0"/>
              <a:t> </a:t>
            </a:r>
            <a:r>
              <a:rPr dirty="0" err="1"/>
              <a:t>CPRA는</a:t>
            </a:r>
            <a:r>
              <a:rPr dirty="0"/>
              <a:t> </a:t>
            </a:r>
            <a:r>
              <a:rPr dirty="0" err="1"/>
              <a:t>프로파일링</a:t>
            </a:r>
            <a:r>
              <a:rPr dirty="0"/>
              <a:t> 및 </a:t>
            </a:r>
            <a:r>
              <a:rPr dirty="0" err="1"/>
              <a:t>자동화된</a:t>
            </a:r>
            <a:r>
              <a:rPr dirty="0"/>
              <a:t> </a:t>
            </a:r>
            <a:r>
              <a:rPr dirty="0" err="1"/>
              <a:t>의사결정에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소비자</a:t>
            </a:r>
            <a:r>
              <a:rPr dirty="0"/>
              <a:t> </a:t>
            </a:r>
            <a:r>
              <a:rPr dirty="0" err="1"/>
              <a:t>거부권</a:t>
            </a:r>
            <a:r>
              <a:rPr dirty="0"/>
              <a:t>(opt-out)을 </a:t>
            </a:r>
            <a:r>
              <a:rPr dirty="0" err="1"/>
              <a:t>보장함</a:t>
            </a:r>
            <a:r>
              <a:rPr dirty="0"/>
              <a:t>.</a:t>
            </a:r>
          </a:p>
          <a:p>
            <a:pPr lvl="0"/>
            <a:r>
              <a:rPr dirty="0" err="1"/>
              <a:t>각국은</a:t>
            </a:r>
            <a:r>
              <a:rPr dirty="0"/>
              <a:t> AI </a:t>
            </a:r>
            <a:r>
              <a:rPr dirty="0" err="1"/>
              <a:t>기술의</a:t>
            </a:r>
            <a:r>
              <a:rPr dirty="0"/>
              <a:t> </a:t>
            </a:r>
            <a:r>
              <a:rPr dirty="0" err="1"/>
              <a:t>특성을</a:t>
            </a:r>
            <a:r>
              <a:rPr dirty="0"/>
              <a:t> </a:t>
            </a:r>
            <a:r>
              <a:rPr dirty="0" err="1"/>
              <a:t>반영하여</a:t>
            </a:r>
            <a:r>
              <a:rPr dirty="0"/>
              <a:t> </a:t>
            </a:r>
            <a:r>
              <a:rPr dirty="0" err="1"/>
              <a:t>전통적</a:t>
            </a:r>
            <a:r>
              <a:rPr dirty="0"/>
              <a:t> </a:t>
            </a:r>
            <a:r>
              <a:rPr dirty="0" err="1"/>
              <a:t>개인정보</a:t>
            </a:r>
            <a:r>
              <a:rPr dirty="0"/>
              <a:t> </a:t>
            </a:r>
            <a:r>
              <a:rPr dirty="0" err="1"/>
              <a:t>보호법의</a:t>
            </a:r>
            <a:r>
              <a:rPr dirty="0"/>
              <a:t> </a:t>
            </a:r>
            <a:r>
              <a:rPr dirty="0" err="1"/>
              <a:t>범위를</a:t>
            </a:r>
            <a:r>
              <a:rPr dirty="0"/>
              <a:t> </a:t>
            </a:r>
            <a:r>
              <a:rPr dirty="0" err="1"/>
              <a:t>확장하고</a:t>
            </a:r>
            <a:r>
              <a:rPr dirty="0"/>
              <a:t> </a:t>
            </a:r>
            <a:r>
              <a:rPr dirty="0" err="1"/>
              <a:t>구체화하는</a:t>
            </a:r>
            <a:r>
              <a:rPr dirty="0"/>
              <a:t> </a:t>
            </a:r>
            <a:r>
              <a:rPr dirty="0" err="1"/>
              <a:t>추세임</a:t>
            </a:r>
            <a:r>
              <a:rPr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7EFAAD5-DF20-698E-D7F9-9325B1B9B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631" y="1880235"/>
            <a:ext cx="2762250" cy="16573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13. 고위험 AI의 정의와 주요 사례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0"/>
            <a:ext cx="5951989" cy="3567113"/>
          </a:xfrm>
        </p:spPr>
        <p:txBody>
          <a:bodyPr>
            <a:normAutofit/>
          </a:bodyPr>
          <a:lstStyle/>
          <a:p>
            <a:pPr lvl="0"/>
            <a:r>
              <a:rPr dirty="0" err="1"/>
              <a:t>고위험</a:t>
            </a:r>
            <a:r>
              <a:rPr dirty="0"/>
              <a:t> </a:t>
            </a:r>
            <a:r>
              <a:rPr dirty="0" err="1"/>
              <a:t>AI는</a:t>
            </a:r>
            <a:r>
              <a:rPr dirty="0"/>
              <a:t> </a:t>
            </a:r>
            <a:r>
              <a:rPr dirty="0" err="1"/>
              <a:t>오작동</a:t>
            </a:r>
            <a:r>
              <a:rPr dirty="0"/>
              <a:t> 시 </a:t>
            </a:r>
            <a:r>
              <a:rPr dirty="0" err="1"/>
              <a:t>인간의</a:t>
            </a:r>
            <a:r>
              <a:rPr dirty="0"/>
              <a:t> </a:t>
            </a:r>
            <a:r>
              <a:rPr dirty="0" err="1"/>
              <a:t>생명</a:t>
            </a:r>
            <a:r>
              <a:rPr dirty="0"/>
              <a:t>, </a:t>
            </a:r>
            <a:r>
              <a:rPr dirty="0" err="1"/>
              <a:t>건강</a:t>
            </a:r>
            <a:r>
              <a:rPr dirty="0"/>
              <a:t>, </a:t>
            </a:r>
            <a:r>
              <a:rPr dirty="0" err="1"/>
              <a:t>안전</a:t>
            </a:r>
            <a:r>
              <a:rPr dirty="0"/>
              <a:t>, </a:t>
            </a:r>
            <a:r>
              <a:rPr dirty="0" err="1"/>
              <a:t>기본권에</a:t>
            </a:r>
            <a:r>
              <a:rPr dirty="0"/>
              <a:t> </a:t>
            </a:r>
            <a:r>
              <a:rPr dirty="0" err="1"/>
              <a:t>중대한</a:t>
            </a:r>
            <a:r>
              <a:rPr dirty="0"/>
              <a:t> </a:t>
            </a:r>
            <a:r>
              <a:rPr dirty="0" err="1"/>
              <a:t>영향을</a:t>
            </a:r>
            <a:r>
              <a:rPr dirty="0"/>
              <a:t> </a:t>
            </a:r>
            <a:r>
              <a:rPr dirty="0" err="1"/>
              <a:t>미치는</a:t>
            </a:r>
            <a:r>
              <a:rPr dirty="0"/>
              <a:t> </a:t>
            </a:r>
            <a:r>
              <a:rPr dirty="0" err="1"/>
              <a:t>의료</a:t>
            </a:r>
            <a:r>
              <a:rPr dirty="0"/>
              <a:t>, </a:t>
            </a:r>
            <a:r>
              <a:rPr dirty="0" err="1"/>
              <a:t>자율주행</a:t>
            </a:r>
            <a:r>
              <a:rPr dirty="0"/>
              <a:t>, </a:t>
            </a:r>
            <a:r>
              <a:rPr dirty="0" err="1"/>
              <a:t>채용</a:t>
            </a:r>
            <a:r>
              <a:rPr dirty="0"/>
              <a:t> AI </a:t>
            </a:r>
            <a:r>
              <a:rPr dirty="0" err="1"/>
              <a:t>등을</a:t>
            </a:r>
            <a:r>
              <a:rPr dirty="0"/>
              <a:t> </a:t>
            </a:r>
            <a:r>
              <a:rPr dirty="0" err="1"/>
              <a:t>의미함</a:t>
            </a:r>
            <a:r>
              <a:rPr dirty="0"/>
              <a:t>.</a:t>
            </a:r>
          </a:p>
          <a:p>
            <a:pPr lvl="0"/>
            <a:r>
              <a:rPr dirty="0"/>
              <a:t>2018년 </a:t>
            </a:r>
            <a:r>
              <a:rPr dirty="0" err="1"/>
              <a:t>우버</a:t>
            </a:r>
            <a:r>
              <a:rPr dirty="0"/>
              <a:t> </a:t>
            </a:r>
            <a:r>
              <a:rPr dirty="0" err="1"/>
              <a:t>자율주행차</a:t>
            </a:r>
            <a:r>
              <a:rPr dirty="0"/>
              <a:t> </a:t>
            </a:r>
            <a:r>
              <a:rPr dirty="0" err="1"/>
              <a:t>사고는</a:t>
            </a:r>
            <a:r>
              <a:rPr dirty="0"/>
              <a:t> </a:t>
            </a:r>
            <a:r>
              <a:rPr dirty="0" err="1"/>
              <a:t>객체</a:t>
            </a:r>
            <a:r>
              <a:rPr dirty="0"/>
              <a:t> </a:t>
            </a:r>
            <a:r>
              <a:rPr dirty="0" err="1"/>
              <a:t>인식</a:t>
            </a:r>
            <a:r>
              <a:rPr dirty="0"/>
              <a:t> </a:t>
            </a:r>
            <a:r>
              <a:rPr dirty="0" err="1"/>
              <a:t>성능의</a:t>
            </a:r>
            <a:r>
              <a:rPr dirty="0"/>
              <a:t> </a:t>
            </a:r>
            <a:r>
              <a:rPr dirty="0" err="1"/>
              <a:t>한계와</a:t>
            </a:r>
            <a:r>
              <a:rPr dirty="0"/>
              <a:t> </a:t>
            </a:r>
            <a:r>
              <a:rPr dirty="0" err="1"/>
              <a:t>인간</a:t>
            </a:r>
            <a:r>
              <a:rPr dirty="0"/>
              <a:t> </a:t>
            </a:r>
            <a:r>
              <a:rPr dirty="0" err="1"/>
              <a:t>감독</a:t>
            </a:r>
            <a:r>
              <a:rPr dirty="0"/>
              <a:t> </a:t>
            </a:r>
            <a:r>
              <a:rPr dirty="0" err="1"/>
              <a:t>부재가</a:t>
            </a:r>
            <a:r>
              <a:rPr dirty="0"/>
              <a:t> </a:t>
            </a:r>
            <a:r>
              <a:rPr dirty="0" err="1"/>
              <a:t>겹쳐</a:t>
            </a:r>
            <a:r>
              <a:rPr dirty="0"/>
              <a:t> </a:t>
            </a:r>
            <a:r>
              <a:rPr dirty="0" err="1"/>
              <a:t>발생한</a:t>
            </a:r>
            <a:r>
              <a:rPr dirty="0"/>
              <a:t> </a:t>
            </a:r>
            <a:r>
              <a:rPr dirty="0" err="1"/>
              <a:t>최초의</a:t>
            </a:r>
            <a:r>
              <a:rPr dirty="0"/>
              <a:t> </a:t>
            </a:r>
            <a:r>
              <a:rPr dirty="0" err="1"/>
              <a:t>보행자</a:t>
            </a:r>
            <a:r>
              <a:rPr dirty="0"/>
              <a:t> </a:t>
            </a:r>
            <a:r>
              <a:rPr dirty="0" err="1"/>
              <a:t>사망</a:t>
            </a:r>
            <a:r>
              <a:rPr dirty="0"/>
              <a:t> </a:t>
            </a:r>
            <a:r>
              <a:rPr dirty="0" err="1"/>
              <a:t>사례임</a:t>
            </a:r>
            <a:r>
              <a:rPr dirty="0"/>
              <a:t>.</a:t>
            </a:r>
          </a:p>
          <a:p>
            <a:pPr lvl="0"/>
            <a:r>
              <a:rPr dirty="0"/>
              <a:t>IBM </a:t>
            </a:r>
            <a:r>
              <a:rPr dirty="0" err="1"/>
              <a:t>왓슨</a:t>
            </a:r>
            <a:r>
              <a:rPr dirty="0"/>
              <a:t> 포 </a:t>
            </a:r>
            <a:r>
              <a:rPr dirty="0" err="1"/>
              <a:t>온콜로지는</a:t>
            </a:r>
            <a:r>
              <a:rPr dirty="0"/>
              <a:t> </a:t>
            </a:r>
            <a:r>
              <a:rPr dirty="0" err="1"/>
              <a:t>가상</a:t>
            </a:r>
            <a:r>
              <a:rPr dirty="0"/>
              <a:t> </a:t>
            </a:r>
            <a:r>
              <a:rPr dirty="0" err="1"/>
              <a:t>합성</a:t>
            </a:r>
            <a:r>
              <a:rPr dirty="0"/>
              <a:t> </a:t>
            </a:r>
            <a:r>
              <a:rPr dirty="0" err="1"/>
              <a:t>사례</a:t>
            </a:r>
            <a:r>
              <a:rPr dirty="0"/>
              <a:t> </a:t>
            </a:r>
            <a:r>
              <a:rPr dirty="0" err="1"/>
              <a:t>학습의</a:t>
            </a:r>
            <a:r>
              <a:rPr dirty="0"/>
              <a:t> </a:t>
            </a:r>
            <a:r>
              <a:rPr dirty="0" err="1"/>
              <a:t>한계로</a:t>
            </a:r>
            <a:r>
              <a:rPr dirty="0"/>
              <a:t> </a:t>
            </a:r>
            <a:r>
              <a:rPr dirty="0" err="1"/>
              <a:t>인해</a:t>
            </a:r>
            <a:r>
              <a:rPr dirty="0"/>
              <a:t> 암 </a:t>
            </a:r>
            <a:r>
              <a:rPr dirty="0" err="1"/>
              <a:t>환자에게</a:t>
            </a:r>
            <a:r>
              <a:rPr dirty="0"/>
              <a:t> </a:t>
            </a:r>
            <a:r>
              <a:rPr dirty="0" err="1"/>
              <a:t>위험한</a:t>
            </a:r>
            <a:r>
              <a:rPr dirty="0"/>
              <a:t> </a:t>
            </a:r>
            <a:r>
              <a:rPr dirty="0" err="1"/>
              <a:t>치료법을</a:t>
            </a:r>
            <a:r>
              <a:rPr dirty="0"/>
              <a:t> </a:t>
            </a:r>
            <a:r>
              <a:rPr dirty="0" err="1"/>
              <a:t>권고하여</a:t>
            </a:r>
            <a:r>
              <a:rPr dirty="0"/>
              <a:t> </a:t>
            </a:r>
            <a:r>
              <a:rPr dirty="0" err="1"/>
              <a:t>논란이</a:t>
            </a:r>
            <a:r>
              <a:rPr dirty="0"/>
              <a:t> 됨.</a:t>
            </a:r>
          </a:p>
          <a:p>
            <a:pPr lvl="0"/>
            <a:r>
              <a:rPr dirty="0" err="1"/>
              <a:t>고위험</a:t>
            </a:r>
            <a:r>
              <a:rPr dirty="0"/>
              <a:t> </a:t>
            </a:r>
            <a:r>
              <a:rPr dirty="0" err="1"/>
              <a:t>영역의</a:t>
            </a:r>
            <a:r>
              <a:rPr dirty="0"/>
              <a:t> </a:t>
            </a:r>
            <a:r>
              <a:rPr dirty="0" err="1"/>
              <a:t>오류는</a:t>
            </a:r>
            <a:r>
              <a:rPr dirty="0"/>
              <a:t> </a:t>
            </a:r>
            <a:r>
              <a:rPr dirty="0" err="1"/>
              <a:t>돌이킬</a:t>
            </a:r>
            <a:r>
              <a:rPr dirty="0"/>
              <a:t> 수 </a:t>
            </a:r>
            <a:r>
              <a:rPr dirty="0" err="1"/>
              <a:t>없는</a:t>
            </a:r>
            <a:r>
              <a:rPr dirty="0"/>
              <a:t> </a:t>
            </a:r>
            <a:r>
              <a:rPr dirty="0" err="1"/>
              <a:t>피해를</a:t>
            </a:r>
            <a:r>
              <a:rPr dirty="0"/>
              <a:t> </a:t>
            </a:r>
            <a:r>
              <a:rPr dirty="0" err="1"/>
              <a:t>주므로</a:t>
            </a:r>
            <a:r>
              <a:rPr dirty="0"/>
              <a:t> </a:t>
            </a:r>
            <a:r>
              <a:rPr dirty="0" err="1"/>
              <a:t>통계적</a:t>
            </a:r>
            <a:r>
              <a:rPr dirty="0"/>
              <a:t> </a:t>
            </a:r>
            <a:r>
              <a:rPr dirty="0" err="1"/>
              <a:t>정확도뿐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안전성</a:t>
            </a:r>
            <a:r>
              <a:rPr dirty="0"/>
              <a:t> </a:t>
            </a:r>
            <a:r>
              <a:rPr dirty="0" err="1"/>
              <a:t>보장이</a:t>
            </a:r>
            <a:r>
              <a:rPr dirty="0"/>
              <a:t> </a:t>
            </a:r>
            <a:r>
              <a:rPr dirty="0" err="1"/>
              <a:t>필수적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AE942A-5A58-8815-0F13-04AD73F08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50" y="1972627"/>
            <a:ext cx="2647950" cy="17240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14. 자율주행 및 의료 AI 사고 사례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우버 사고 당시 AI는 보행자를 감지했으나 사물 분류를 반복적으로 실패하여 제동 조치를 취하지 못함.</a:t>
            </a:r>
          </a:p>
          <a:p>
            <a:pPr lvl="0"/>
            <a:r>
              <a:t>왓슨은 실제 임상 상황의 복잡성을 제대로 학습하지 못해 의학적 금기 처방을 권고하는 등 검증의 필요성을 일깨움.</a:t>
            </a:r>
          </a:p>
          <a:p>
            <a:pPr lvl="0"/>
            <a:r>
              <a:t>이러한 사례들은 AI의 임상시험과 안전 테스트가 단순 소프트웨어 검증 이상의 엄격함을 갖춰야 함을 시사함.</a:t>
            </a:r>
          </a:p>
          <a:p>
            <a:pPr lvl="0"/>
            <a:r>
              <a:t>고위험 AI 제공자는 위험 관리 시스템 구축과 기술 문서 작성 등 엄격한 의무를 지게 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21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7BD31B5-C76D-6BBC-5179-7985074B6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630" y="1851660"/>
            <a:ext cx="2919369" cy="205835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15. AI 알고리즘의 편향성 사례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아마존 채용 도구는 과거 남성 위주의 이력서를 학습하여 “여성” 관련 단어가 포함된 지원자를 체계적으로 차별함.</a:t>
            </a:r>
          </a:p>
          <a:p>
            <a:pPr lvl="0"/>
            <a:r>
              <a:t>미국 형사사법 위험평가 시스템 COMPAS는 흑인을 재범 고위험군으로 오분류할 확률이 백인의 두 배에 달해 인종 편향 논란이 됨.</a:t>
            </a:r>
          </a:p>
          <a:p>
            <a:pPr lvl="0"/>
            <a:r>
              <a:t>편향된 학습 데이터는 AI의 공정성을 근본적으로 훼손하며 구조적 사회 불평등을 기술적으로 재생산할 위험이 큼.</a:t>
            </a:r>
          </a:p>
          <a:p>
            <a:pPr lvl="0"/>
            <a:r>
              <a:t>엔지니어들이 편향을 수정하려 해도 새로운 형태의 차별이 발견되는 등 기술적 해결이 쉽지 않음을 보여줌.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22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555B25F-C915-AFDB-8E2A-5507D94C1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525" y="1863090"/>
            <a:ext cx="2657475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16. 알고리즘 오류와 행정적 피해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dirty="0" err="1"/>
              <a:t>나이트</a:t>
            </a:r>
            <a:r>
              <a:rPr dirty="0"/>
              <a:t> </a:t>
            </a:r>
            <a:r>
              <a:rPr dirty="0" err="1"/>
              <a:t>캐피털은</a:t>
            </a:r>
            <a:r>
              <a:rPr dirty="0"/>
              <a:t> </a:t>
            </a:r>
            <a:r>
              <a:rPr dirty="0" err="1"/>
              <a:t>알고리즘</a:t>
            </a:r>
            <a:r>
              <a:rPr dirty="0"/>
              <a:t> </a:t>
            </a:r>
            <a:r>
              <a:rPr dirty="0" err="1"/>
              <a:t>트레이딩</a:t>
            </a:r>
            <a:r>
              <a:rPr dirty="0"/>
              <a:t> </a:t>
            </a:r>
            <a:r>
              <a:rPr dirty="0" err="1"/>
              <a:t>오류로</a:t>
            </a:r>
            <a:r>
              <a:rPr dirty="0"/>
              <a:t> 45분 </a:t>
            </a:r>
            <a:r>
              <a:rPr dirty="0" err="1"/>
              <a:t>만에</a:t>
            </a:r>
            <a:r>
              <a:rPr dirty="0"/>
              <a:t> 5천억 </a:t>
            </a:r>
            <a:r>
              <a:rPr dirty="0" err="1"/>
              <a:t>원의</a:t>
            </a:r>
            <a:r>
              <a:rPr dirty="0"/>
              <a:t> </a:t>
            </a:r>
            <a:r>
              <a:rPr dirty="0" err="1"/>
              <a:t>손실을</a:t>
            </a:r>
            <a:r>
              <a:rPr dirty="0"/>
              <a:t> </a:t>
            </a:r>
            <a:r>
              <a:rPr dirty="0" err="1"/>
              <a:t>입고</a:t>
            </a:r>
            <a:r>
              <a:rPr dirty="0"/>
              <a:t> </a:t>
            </a:r>
            <a:r>
              <a:rPr dirty="0" err="1"/>
              <a:t>결국</a:t>
            </a:r>
            <a:r>
              <a:rPr dirty="0"/>
              <a:t> </a:t>
            </a:r>
            <a:r>
              <a:rPr dirty="0" err="1"/>
              <a:t>경쟁사에</a:t>
            </a:r>
            <a:r>
              <a:rPr dirty="0"/>
              <a:t> </a:t>
            </a:r>
            <a:r>
              <a:rPr dirty="0" err="1"/>
              <a:t>인수됨</a:t>
            </a:r>
            <a:r>
              <a:rPr dirty="0"/>
              <a:t>.</a:t>
            </a:r>
          </a:p>
          <a:p>
            <a:pPr lvl="0"/>
            <a:r>
              <a:rPr dirty="0" err="1"/>
              <a:t>네덜란드</a:t>
            </a:r>
            <a:r>
              <a:rPr dirty="0"/>
              <a:t> </a:t>
            </a:r>
            <a:r>
              <a:rPr dirty="0" err="1"/>
              <a:t>아동수당</a:t>
            </a:r>
            <a:r>
              <a:rPr dirty="0"/>
              <a:t> </a:t>
            </a:r>
            <a:r>
              <a:rPr dirty="0" err="1"/>
              <a:t>사기</a:t>
            </a:r>
            <a:r>
              <a:rPr dirty="0"/>
              <a:t> </a:t>
            </a:r>
            <a:r>
              <a:rPr dirty="0" err="1"/>
              <a:t>탐지</a:t>
            </a:r>
            <a:r>
              <a:rPr dirty="0"/>
              <a:t> </a:t>
            </a:r>
            <a:r>
              <a:rPr dirty="0" err="1"/>
              <a:t>시스템은</a:t>
            </a:r>
            <a:r>
              <a:rPr dirty="0"/>
              <a:t> </a:t>
            </a:r>
            <a:r>
              <a:rPr dirty="0" err="1"/>
              <a:t>이중국적자를</a:t>
            </a:r>
            <a:r>
              <a:rPr dirty="0"/>
              <a:t> </a:t>
            </a:r>
            <a:r>
              <a:rPr dirty="0" err="1"/>
              <a:t>사기범으로</a:t>
            </a:r>
            <a:r>
              <a:rPr dirty="0"/>
              <a:t> </a:t>
            </a:r>
            <a:r>
              <a:rPr dirty="0" err="1"/>
              <a:t>오분류하여</a:t>
            </a:r>
            <a:r>
              <a:rPr dirty="0"/>
              <a:t> </a:t>
            </a:r>
            <a:r>
              <a:rPr dirty="0" err="1"/>
              <a:t>수만</a:t>
            </a:r>
            <a:r>
              <a:rPr dirty="0"/>
              <a:t> </a:t>
            </a:r>
            <a:r>
              <a:rPr dirty="0" err="1"/>
              <a:t>가족에게</a:t>
            </a:r>
            <a:r>
              <a:rPr dirty="0"/>
              <a:t> </a:t>
            </a:r>
            <a:r>
              <a:rPr dirty="0" err="1"/>
              <a:t>재정적</a:t>
            </a:r>
            <a:r>
              <a:rPr dirty="0"/>
              <a:t> </a:t>
            </a:r>
            <a:r>
              <a:rPr dirty="0" err="1"/>
              <a:t>파탄과</a:t>
            </a:r>
            <a:r>
              <a:rPr dirty="0"/>
              <a:t> </a:t>
            </a:r>
            <a:r>
              <a:rPr dirty="0" err="1"/>
              <a:t>가정</a:t>
            </a:r>
            <a:r>
              <a:rPr dirty="0"/>
              <a:t> </a:t>
            </a:r>
            <a:r>
              <a:rPr dirty="0" err="1"/>
              <a:t>붕괴를</a:t>
            </a:r>
            <a:r>
              <a:rPr dirty="0"/>
              <a:t> </a:t>
            </a:r>
            <a:r>
              <a:rPr dirty="0" err="1"/>
              <a:t>초래함</a:t>
            </a:r>
            <a:r>
              <a:rPr dirty="0"/>
              <a:t>.</a:t>
            </a:r>
          </a:p>
          <a:p>
            <a:pPr lvl="1"/>
            <a:r>
              <a:rPr dirty="0" err="1"/>
              <a:t>특히</a:t>
            </a:r>
            <a:r>
              <a:rPr dirty="0"/>
              <a:t> </a:t>
            </a:r>
            <a:r>
              <a:rPr dirty="0" err="1"/>
              <a:t>네덜란드</a:t>
            </a:r>
            <a:r>
              <a:rPr dirty="0"/>
              <a:t> </a:t>
            </a:r>
            <a:r>
              <a:rPr dirty="0" err="1"/>
              <a:t>사건은</a:t>
            </a:r>
            <a:r>
              <a:rPr dirty="0"/>
              <a:t> </a:t>
            </a:r>
            <a:r>
              <a:rPr dirty="0" err="1"/>
              <a:t>블랙박스</a:t>
            </a:r>
            <a:r>
              <a:rPr dirty="0"/>
              <a:t> </a:t>
            </a:r>
            <a:r>
              <a:rPr dirty="0" err="1"/>
              <a:t>형태의</a:t>
            </a:r>
            <a:r>
              <a:rPr dirty="0"/>
              <a:t> </a:t>
            </a:r>
            <a:r>
              <a:rPr dirty="0" err="1"/>
              <a:t>운영으로</a:t>
            </a:r>
            <a:r>
              <a:rPr dirty="0"/>
              <a:t> </a:t>
            </a:r>
            <a:r>
              <a:rPr dirty="0" err="1"/>
              <a:t>피해자가</a:t>
            </a:r>
            <a:r>
              <a:rPr dirty="0"/>
              <a:t> </a:t>
            </a:r>
            <a:r>
              <a:rPr dirty="0" err="1"/>
              <a:t>이유도</a:t>
            </a:r>
            <a:r>
              <a:rPr dirty="0"/>
              <a:t> </a:t>
            </a:r>
            <a:r>
              <a:rPr dirty="0" err="1"/>
              <a:t>모른</a:t>
            </a:r>
            <a:r>
              <a:rPr dirty="0"/>
              <a:t> 채 </a:t>
            </a:r>
            <a:r>
              <a:rPr dirty="0" err="1"/>
              <a:t>처벌받는</a:t>
            </a:r>
            <a:r>
              <a:rPr dirty="0"/>
              <a:t> </a:t>
            </a:r>
            <a:r>
              <a:rPr dirty="0" err="1"/>
              <a:t>투명성</a:t>
            </a:r>
            <a:r>
              <a:rPr dirty="0"/>
              <a:t> </a:t>
            </a:r>
            <a:r>
              <a:rPr dirty="0" err="1"/>
              <a:t>부재의</a:t>
            </a:r>
            <a:r>
              <a:rPr dirty="0"/>
              <a:t> </a:t>
            </a:r>
            <a:r>
              <a:rPr dirty="0" err="1"/>
              <a:t>위험을</a:t>
            </a:r>
            <a:r>
              <a:rPr dirty="0"/>
              <a:t> </a:t>
            </a:r>
            <a:r>
              <a:rPr dirty="0" err="1"/>
              <a:t>보여줌</a:t>
            </a:r>
            <a:r>
              <a:rPr dirty="0"/>
              <a:t>.</a:t>
            </a:r>
          </a:p>
          <a:p>
            <a:pPr lvl="0"/>
            <a:r>
              <a:rPr dirty="0" err="1"/>
              <a:t>이는</a:t>
            </a:r>
            <a:r>
              <a:rPr dirty="0"/>
              <a:t> AI </a:t>
            </a:r>
            <a:r>
              <a:rPr dirty="0" err="1"/>
              <a:t>시스템의</a:t>
            </a:r>
            <a:r>
              <a:rPr dirty="0"/>
              <a:t> </a:t>
            </a:r>
            <a:r>
              <a:rPr dirty="0" err="1"/>
              <a:t>투명성과</a:t>
            </a:r>
            <a:r>
              <a:rPr dirty="0"/>
              <a:t> </a:t>
            </a:r>
            <a:r>
              <a:rPr dirty="0" err="1"/>
              <a:t>인간</a:t>
            </a:r>
            <a:r>
              <a:rPr dirty="0"/>
              <a:t> </a:t>
            </a:r>
            <a:r>
              <a:rPr dirty="0" err="1"/>
              <a:t>감독</a:t>
            </a:r>
            <a:r>
              <a:rPr dirty="0"/>
              <a:t> </a:t>
            </a:r>
            <a:r>
              <a:rPr dirty="0" err="1"/>
              <a:t>강화</a:t>
            </a:r>
            <a:r>
              <a:rPr dirty="0"/>
              <a:t>, </a:t>
            </a:r>
            <a:r>
              <a:rPr dirty="0" err="1"/>
              <a:t>피해</a:t>
            </a:r>
            <a:r>
              <a:rPr dirty="0"/>
              <a:t> </a:t>
            </a:r>
            <a:r>
              <a:rPr dirty="0" err="1"/>
              <a:t>구제</a:t>
            </a:r>
            <a:r>
              <a:rPr dirty="0"/>
              <a:t> </a:t>
            </a:r>
            <a:r>
              <a:rPr dirty="0" err="1"/>
              <a:t>체계</a:t>
            </a:r>
            <a:r>
              <a:rPr dirty="0"/>
              <a:t> </a:t>
            </a:r>
            <a:r>
              <a:rPr dirty="0" err="1"/>
              <a:t>마련이</a:t>
            </a:r>
            <a:r>
              <a:rPr dirty="0"/>
              <a:t> </a:t>
            </a:r>
            <a:r>
              <a:rPr dirty="0" err="1"/>
              <a:t>행정</a:t>
            </a:r>
            <a:r>
              <a:rPr dirty="0"/>
              <a:t> </a:t>
            </a:r>
            <a:r>
              <a:rPr dirty="0" err="1"/>
              <a:t>영역에서</a:t>
            </a:r>
            <a:r>
              <a:rPr dirty="0"/>
              <a:t> </a:t>
            </a:r>
            <a:r>
              <a:rPr dirty="0" err="1"/>
              <a:t>필수적임을</a:t>
            </a:r>
            <a:r>
              <a:rPr dirty="0"/>
              <a:t> </a:t>
            </a:r>
            <a:r>
              <a:rPr dirty="0" err="1"/>
              <a:t>시사함</a:t>
            </a:r>
            <a:r>
              <a:rPr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23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DFCE0E9-69C3-815D-6374-E21A4E953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51660"/>
            <a:ext cx="2743200" cy="20459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17. EU 및 각국의 고위험 AI 규제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063754"/>
            <a:ext cx="5767431" cy="3394472"/>
          </a:xfrm>
        </p:spPr>
        <p:txBody>
          <a:bodyPr>
            <a:normAutofit lnSpcReduction="10000"/>
          </a:bodyPr>
          <a:lstStyle/>
          <a:p>
            <a:pPr lvl="0"/>
            <a:r>
              <a:rPr dirty="0"/>
              <a:t>EU </a:t>
            </a:r>
            <a:r>
              <a:rPr dirty="0" err="1"/>
              <a:t>AI법은</a:t>
            </a:r>
            <a:r>
              <a:rPr dirty="0"/>
              <a:t> </a:t>
            </a:r>
            <a:r>
              <a:rPr dirty="0" err="1"/>
              <a:t>위험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접근법을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생체인식</a:t>
            </a:r>
            <a:r>
              <a:rPr dirty="0"/>
              <a:t>, </a:t>
            </a:r>
            <a:r>
              <a:rPr dirty="0" err="1"/>
              <a:t>교육</a:t>
            </a:r>
            <a:r>
              <a:rPr dirty="0"/>
              <a:t>, </a:t>
            </a:r>
            <a:r>
              <a:rPr dirty="0" err="1"/>
              <a:t>고용</a:t>
            </a:r>
            <a:r>
              <a:rPr dirty="0"/>
              <a:t> </a:t>
            </a:r>
            <a:r>
              <a:rPr dirty="0" err="1"/>
              <a:t>등을</a:t>
            </a:r>
            <a:r>
              <a:rPr dirty="0"/>
              <a:t> </a:t>
            </a:r>
            <a:r>
              <a:rPr dirty="0" err="1"/>
              <a:t>고위험군으로</a:t>
            </a:r>
            <a:r>
              <a:rPr dirty="0"/>
              <a:t> </a:t>
            </a:r>
            <a:r>
              <a:rPr dirty="0" err="1"/>
              <a:t>분류하고</a:t>
            </a:r>
            <a:r>
              <a:rPr dirty="0"/>
              <a:t> </a:t>
            </a:r>
            <a:r>
              <a:rPr dirty="0" err="1"/>
              <a:t>엄격한</a:t>
            </a:r>
            <a:r>
              <a:rPr dirty="0"/>
              <a:t> </a:t>
            </a:r>
            <a:r>
              <a:rPr dirty="0" err="1"/>
              <a:t>투명성</a:t>
            </a:r>
            <a:r>
              <a:rPr dirty="0"/>
              <a:t> </a:t>
            </a:r>
            <a:r>
              <a:rPr dirty="0" err="1"/>
              <a:t>의무를</a:t>
            </a:r>
            <a:r>
              <a:rPr dirty="0"/>
              <a:t> </a:t>
            </a:r>
            <a:r>
              <a:rPr dirty="0" err="1"/>
              <a:t>부과함</a:t>
            </a:r>
            <a:r>
              <a:rPr dirty="0"/>
              <a:t>.</a:t>
            </a:r>
          </a:p>
          <a:p>
            <a:pPr lvl="0"/>
            <a:r>
              <a:rPr dirty="0" err="1"/>
              <a:t>한국은</a:t>
            </a:r>
            <a:r>
              <a:rPr dirty="0"/>
              <a:t> 2023년 ’</a:t>
            </a:r>
            <a:r>
              <a:rPr dirty="0" err="1"/>
              <a:t>인공지능</a:t>
            </a:r>
            <a:r>
              <a:rPr dirty="0"/>
              <a:t> </a:t>
            </a:r>
            <a:r>
              <a:rPr dirty="0" err="1"/>
              <a:t>영향평가’를</a:t>
            </a:r>
            <a:r>
              <a:rPr dirty="0"/>
              <a:t> </a:t>
            </a:r>
            <a:r>
              <a:rPr dirty="0" err="1"/>
              <a:t>도입하여</a:t>
            </a:r>
            <a:r>
              <a:rPr dirty="0"/>
              <a:t> </a:t>
            </a:r>
            <a:r>
              <a:rPr dirty="0" err="1"/>
              <a:t>공공기관의</a:t>
            </a:r>
            <a:r>
              <a:rPr dirty="0"/>
              <a:t> AI </a:t>
            </a:r>
            <a:r>
              <a:rPr dirty="0" err="1"/>
              <a:t>활용</a:t>
            </a:r>
            <a:r>
              <a:rPr dirty="0"/>
              <a:t> 시 </a:t>
            </a:r>
            <a:r>
              <a:rPr dirty="0" err="1"/>
              <a:t>국민</a:t>
            </a:r>
            <a:r>
              <a:rPr dirty="0"/>
              <a:t> </a:t>
            </a:r>
            <a:r>
              <a:rPr dirty="0" err="1"/>
              <a:t>권리에</a:t>
            </a:r>
            <a:r>
              <a:rPr dirty="0"/>
              <a:t> </a:t>
            </a:r>
            <a:r>
              <a:rPr dirty="0" err="1"/>
              <a:t>미치는</a:t>
            </a:r>
            <a:r>
              <a:rPr dirty="0"/>
              <a:t> </a:t>
            </a:r>
            <a:r>
              <a:rPr dirty="0" err="1"/>
              <a:t>영향을</a:t>
            </a:r>
            <a:r>
              <a:rPr dirty="0"/>
              <a:t> </a:t>
            </a:r>
            <a:r>
              <a:rPr dirty="0" err="1"/>
              <a:t>사전에</a:t>
            </a:r>
            <a:r>
              <a:rPr dirty="0"/>
              <a:t> </a:t>
            </a:r>
            <a:r>
              <a:rPr dirty="0" err="1"/>
              <a:t>평가함</a:t>
            </a:r>
            <a:r>
              <a:rPr dirty="0"/>
              <a:t>.</a:t>
            </a:r>
          </a:p>
          <a:p>
            <a:pPr lvl="0"/>
            <a:r>
              <a:rPr dirty="0" err="1"/>
              <a:t>미국</a:t>
            </a:r>
            <a:r>
              <a:rPr dirty="0"/>
              <a:t> </a:t>
            </a:r>
            <a:r>
              <a:rPr dirty="0" err="1"/>
              <a:t>바이든</a:t>
            </a:r>
            <a:r>
              <a:rPr dirty="0"/>
              <a:t> </a:t>
            </a:r>
            <a:r>
              <a:rPr dirty="0" err="1"/>
              <a:t>행정부는</a:t>
            </a:r>
            <a:r>
              <a:rPr dirty="0"/>
              <a:t> 2023년 </a:t>
            </a:r>
            <a:r>
              <a:rPr dirty="0" err="1"/>
              <a:t>행정명령을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고위험</a:t>
            </a:r>
            <a:r>
              <a:rPr dirty="0"/>
              <a:t> AI </a:t>
            </a:r>
            <a:r>
              <a:rPr dirty="0" err="1"/>
              <a:t>안전</a:t>
            </a:r>
            <a:r>
              <a:rPr dirty="0"/>
              <a:t> </a:t>
            </a:r>
            <a:r>
              <a:rPr dirty="0" err="1"/>
              <a:t>테스트와</a:t>
            </a:r>
            <a:r>
              <a:rPr dirty="0"/>
              <a:t> </a:t>
            </a:r>
            <a:r>
              <a:rPr dirty="0" err="1"/>
              <a:t>연방정부</a:t>
            </a:r>
            <a:r>
              <a:rPr dirty="0"/>
              <a:t> </a:t>
            </a:r>
            <a:r>
              <a:rPr dirty="0" err="1"/>
              <a:t>보고</a:t>
            </a:r>
            <a:r>
              <a:rPr dirty="0"/>
              <a:t> </a:t>
            </a:r>
            <a:r>
              <a:rPr dirty="0" err="1"/>
              <a:t>의무를</a:t>
            </a:r>
            <a:r>
              <a:rPr dirty="0"/>
              <a:t> </a:t>
            </a:r>
            <a:r>
              <a:rPr dirty="0" err="1"/>
              <a:t>신설함</a:t>
            </a:r>
            <a:r>
              <a:rPr dirty="0"/>
              <a:t>.</a:t>
            </a:r>
          </a:p>
          <a:p>
            <a:pPr lvl="0"/>
            <a:r>
              <a:rPr dirty="0" err="1"/>
              <a:t>특히</a:t>
            </a:r>
            <a:r>
              <a:rPr dirty="0"/>
              <a:t> </a:t>
            </a:r>
            <a:r>
              <a:rPr dirty="0" err="1"/>
              <a:t>이중용도</a:t>
            </a:r>
            <a:r>
              <a:rPr dirty="0"/>
              <a:t>(dual-use)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모델에</a:t>
            </a:r>
            <a:r>
              <a:rPr dirty="0"/>
              <a:t> </a:t>
            </a:r>
            <a:r>
              <a:rPr dirty="0" err="1"/>
              <a:t>대해서는</a:t>
            </a:r>
            <a:r>
              <a:rPr dirty="0"/>
              <a:t> </a:t>
            </a:r>
            <a:r>
              <a:rPr dirty="0" err="1"/>
              <a:t>국가</a:t>
            </a:r>
            <a:r>
              <a:rPr dirty="0"/>
              <a:t> </a:t>
            </a:r>
            <a:r>
              <a:rPr dirty="0" err="1"/>
              <a:t>표준</a:t>
            </a:r>
            <a:r>
              <a:rPr dirty="0"/>
              <a:t> </a:t>
            </a: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연구소</a:t>
            </a:r>
            <a:r>
              <a:rPr dirty="0"/>
              <a:t>(NIST)를 </a:t>
            </a:r>
            <a:r>
              <a:rPr dirty="0" err="1"/>
              <a:t>통한</a:t>
            </a:r>
            <a:r>
              <a:rPr dirty="0"/>
              <a:t> </a:t>
            </a:r>
            <a:r>
              <a:rPr dirty="0" err="1"/>
              <a:t>안전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 </a:t>
            </a:r>
            <a:r>
              <a:rPr dirty="0" err="1"/>
              <a:t>개발을</a:t>
            </a:r>
            <a:r>
              <a:rPr dirty="0"/>
              <a:t> </a:t>
            </a:r>
            <a:r>
              <a:rPr dirty="0" err="1"/>
              <a:t>추진</a:t>
            </a:r>
            <a:r>
              <a:rPr dirty="0"/>
              <a:t> </a:t>
            </a:r>
            <a:r>
              <a:rPr dirty="0" err="1"/>
              <a:t>중임</a:t>
            </a:r>
            <a:r>
              <a:rPr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24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462BCAE-F7D9-99BD-92E7-A1D3EBDA4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025" y="1956127"/>
            <a:ext cx="2847975" cy="16097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18. AI 안전성 확보를 위한 기술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고위험 AI의 안전성을 위해 강건성(robustness) 테스트와 적대적 예제에 대한 방어 기술이 활용됨.</a:t>
            </a:r>
          </a:p>
          <a:p>
            <a:pPr lvl="0"/>
            <a:r>
              <a:t>불확실성 정량화와 시스템 오류 시 안전하게 정지하는 폴백(fallback) 메커니즘 설계가 권장됨.</a:t>
            </a:r>
          </a:p>
          <a:p>
            <a:pPr lvl="0"/>
            <a:r>
              <a:t>설명가능 AI(XAI)를 통해 의사결정 근거를 투명하게 제시하여 인간 전문가의 최종 판단을 돕는 설계가 필수적임.</a:t>
            </a:r>
          </a:p>
          <a:p>
            <a:pPr lvl="0"/>
            <a:r>
              <a:t>인간이 의사결정 과정에 개입하는 “Human-in-the-loop” 시스템은 특히 의료와 사법 분야에서 중요함.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25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0710F5C-D482-85EE-58E4-D47B99E80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1769745"/>
            <a:ext cx="2524125" cy="18097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19. 전통적 책임 귀속과 책임 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전통 법체계는 행위와 고의·과실, 인과관계를 요구하나 자율적으로 학습·변화하는 AI에는 이를 적용하기 어려움.</a:t>
            </a:r>
          </a:p>
          <a:p>
            <a:pPr lvl="0"/>
            <a:r>
              <a:t>루치아노 플로리디는 피해 발생 시 누구도 명확히 책임을 지지 않는 ‘책임 격차(responsibility gap)’ 문제를 제기함.</a:t>
            </a:r>
          </a:p>
          <a:p>
            <a:pPr lvl="0"/>
            <a:r>
              <a:t>개발자는 학습에 의한 변화를, 운영자는 제조사 지시 준수를 주장하며 서로 책임을 회피할 가능성이 있음.</a:t>
            </a:r>
          </a:p>
          <a:p>
            <a:pPr lvl="0"/>
            <a:r>
              <a:t>이는 기술적 자율성이 높아질수록 인간의 법적 책임 소재가 모호해지는 구조적 한계를 드러냄.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26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9596001-6CF1-2D2B-BFDB-ED484B67E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1977033"/>
            <a:ext cx="2438400" cy="18764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20. AI 시대의 새로운 책임 모델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로렌스 레식은 “Code is Law”를 주장하며 기술 설계자(아키텍처)의 규범적 기능과 책임을 강조함.</a:t>
            </a:r>
          </a:p>
          <a:p>
            <a:pPr lvl="0"/>
            <a:r>
              <a:t>잭 발킨은 시스템 전 생애주기에 걸쳐 다층적 책임 구조를 설계하는 ‘알고리즘 책임’ 개념을 제안함.</a:t>
            </a:r>
          </a:p>
          <a:p>
            <a:pPr lvl="0"/>
            <a:r>
              <a:t>AI 책임 체계의 핵심은 개발자, 운영자, 플랫폼, 국가의 역할을 명확히 획정하고 조화시키는 것임.</a:t>
            </a:r>
          </a:p>
          <a:p>
            <a:pPr lvl="0"/>
            <a:r>
              <a:t>이를 통해 기술적 불투명성 속에서도 피해 구제와 책임 소재를 명확히 하는 사회적 대응 체계 구축이 가능함.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27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B3A9815-88EE-AABC-79BB-2DF4CEA40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592" y="1479232"/>
            <a:ext cx="1743075" cy="26193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21. AI </a:t>
            </a:r>
            <a:r>
              <a:rPr dirty="0" err="1"/>
              <a:t>책임</a:t>
            </a:r>
            <a:r>
              <a:rPr dirty="0"/>
              <a:t> </a:t>
            </a:r>
            <a:r>
              <a:rPr dirty="0" err="1"/>
              <a:t>관련</a:t>
            </a:r>
            <a:r>
              <a:rPr dirty="0"/>
              <a:t> </a:t>
            </a:r>
            <a:r>
              <a:rPr dirty="0" err="1"/>
              <a:t>법제</a:t>
            </a:r>
            <a:r>
              <a:rPr dirty="0"/>
              <a:t> </a:t>
            </a:r>
            <a:r>
              <a:rPr dirty="0" err="1"/>
              <a:t>현황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015681" cy="3394472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dirty="0" err="1"/>
              <a:t>EU는</a:t>
            </a:r>
            <a:r>
              <a:rPr dirty="0"/>
              <a:t> 2022년 ’AI </a:t>
            </a:r>
            <a:r>
              <a:rPr dirty="0" err="1"/>
              <a:t>책임</a:t>
            </a:r>
            <a:r>
              <a:rPr dirty="0"/>
              <a:t> </a:t>
            </a:r>
            <a:r>
              <a:rPr dirty="0" err="1"/>
              <a:t>지침</a:t>
            </a:r>
            <a:r>
              <a:rPr dirty="0"/>
              <a:t> </a:t>
            </a:r>
            <a:r>
              <a:rPr dirty="0" err="1"/>
              <a:t>제안’을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피해자의</a:t>
            </a:r>
            <a:r>
              <a:rPr dirty="0"/>
              <a:t> </a:t>
            </a:r>
            <a:r>
              <a:rPr dirty="0" err="1"/>
              <a:t>입증</a:t>
            </a:r>
            <a:r>
              <a:rPr dirty="0"/>
              <a:t> </a:t>
            </a:r>
            <a:r>
              <a:rPr dirty="0" err="1"/>
              <a:t>책임을</a:t>
            </a:r>
            <a:r>
              <a:rPr dirty="0"/>
              <a:t> </a:t>
            </a:r>
            <a:r>
              <a:rPr dirty="0" err="1"/>
              <a:t>완화하고</a:t>
            </a:r>
            <a:r>
              <a:rPr dirty="0"/>
              <a:t> </a:t>
            </a:r>
            <a:r>
              <a:rPr dirty="0" err="1"/>
              <a:t>개발자·운영자의</a:t>
            </a:r>
            <a:r>
              <a:rPr dirty="0"/>
              <a:t> </a:t>
            </a:r>
            <a:r>
              <a:rPr dirty="0" err="1"/>
              <a:t>연대책임을</a:t>
            </a:r>
            <a:r>
              <a:rPr dirty="0"/>
              <a:t> </a:t>
            </a:r>
            <a:r>
              <a:rPr dirty="0" err="1"/>
              <a:t>제시함</a:t>
            </a:r>
            <a:r>
              <a:rPr dirty="0"/>
              <a:t>.</a:t>
            </a:r>
          </a:p>
          <a:p>
            <a:pPr lvl="0"/>
            <a:r>
              <a:rPr dirty="0" err="1"/>
              <a:t>한국은</a:t>
            </a:r>
            <a:r>
              <a:rPr dirty="0"/>
              <a:t> </a:t>
            </a:r>
            <a:r>
              <a:rPr dirty="0" err="1"/>
              <a:t>운영자에게</a:t>
            </a:r>
            <a:r>
              <a:rPr dirty="0"/>
              <a:t> </a:t>
            </a:r>
            <a:r>
              <a:rPr dirty="0" err="1"/>
              <a:t>무과실책임을</a:t>
            </a:r>
            <a:r>
              <a:rPr dirty="0"/>
              <a:t>,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결함</a:t>
            </a:r>
            <a:r>
              <a:rPr dirty="0"/>
              <a:t> 시 </a:t>
            </a:r>
            <a:r>
              <a:rPr dirty="0" err="1"/>
              <a:t>개발자에게</a:t>
            </a:r>
            <a:r>
              <a:rPr dirty="0"/>
              <a:t> </a:t>
            </a:r>
            <a:r>
              <a:rPr dirty="0" err="1"/>
              <a:t>연대책임을</a:t>
            </a:r>
            <a:r>
              <a:rPr dirty="0"/>
              <a:t> </a:t>
            </a:r>
            <a:r>
              <a:rPr dirty="0" err="1"/>
              <a:t>부과하는</a:t>
            </a:r>
            <a:r>
              <a:rPr dirty="0"/>
              <a:t> ‘</a:t>
            </a:r>
            <a:r>
              <a:rPr dirty="0" err="1"/>
              <a:t>인공지능</a:t>
            </a:r>
            <a:r>
              <a:rPr dirty="0"/>
              <a:t> </a:t>
            </a:r>
            <a:r>
              <a:rPr dirty="0" err="1"/>
              <a:t>책임법</a:t>
            </a:r>
            <a:r>
              <a:rPr dirty="0"/>
              <a:t>’ </a:t>
            </a:r>
            <a:r>
              <a:rPr dirty="0" err="1"/>
              <a:t>발의</a:t>
            </a:r>
            <a:r>
              <a:rPr dirty="0"/>
              <a:t> </a:t>
            </a:r>
            <a:r>
              <a:rPr dirty="0" err="1"/>
              <a:t>상태임</a:t>
            </a:r>
            <a:r>
              <a:rPr dirty="0"/>
              <a:t>.</a:t>
            </a:r>
            <a:endParaRPr lang="en-US" dirty="0"/>
          </a:p>
          <a:p>
            <a:pPr lvl="1"/>
            <a:r>
              <a:rPr lang="ko-KR" altLang="en-US" b="1" dirty="0"/>
              <a:t>한국</a:t>
            </a:r>
            <a:r>
              <a:rPr lang="en-US" altLang="ko-KR" b="1" dirty="0"/>
              <a:t>(</a:t>
            </a:r>
            <a:r>
              <a:rPr lang="en-US" altLang="ko-KR" dirty="0"/>
              <a:t>2024</a:t>
            </a:r>
            <a:r>
              <a:rPr lang="ko-KR" altLang="en-US" dirty="0"/>
              <a:t>년 </a:t>
            </a:r>
            <a:r>
              <a:rPr lang="en-US" altLang="ko-KR" dirty="0"/>
              <a:t>12</a:t>
            </a:r>
            <a:r>
              <a:rPr lang="ko-KR" altLang="en-US" dirty="0"/>
              <a:t>월 국회를 통과</a:t>
            </a:r>
            <a:r>
              <a:rPr lang="en-US" altLang="ko-KR" dirty="0"/>
              <a:t>)</a:t>
            </a:r>
            <a:r>
              <a:rPr lang="ko-KR" altLang="en-US" dirty="0"/>
              <a:t>한 </a:t>
            </a:r>
            <a:r>
              <a:rPr lang="ko-KR" altLang="en-US" b="1" dirty="0"/>
              <a:t>「인공지능 발전과 신뢰 기반 조성 등에 관한 기본법」</a:t>
            </a:r>
            <a:endParaRPr lang="en-US" altLang="ko-KR" dirty="0"/>
          </a:p>
          <a:p>
            <a:pPr lvl="2"/>
            <a:r>
              <a:rPr lang="ko-KR" altLang="en-US" b="1" dirty="0"/>
              <a:t>생성물 워터마크 의무화</a:t>
            </a:r>
            <a:r>
              <a:rPr lang="en-US" altLang="ko-KR" dirty="0"/>
              <a:t>: AI</a:t>
            </a:r>
            <a:r>
              <a:rPr lang="ko-KR" altLang="en-US" dirty="0"/>
              <a:t>로 만든 사진</a:t>
            </a:r>
            <a:r>
              <a:rPr lang="en-US" altLang="ko-KR" dirty="0"/>
              <a:t>, </a:t>
            </a:r>
            <a:r>
              <a:rPr lang="ko-KR" altLang="en-US" dirty="0"/>
              <a:t>영상</a:t>
            </a:r>
            <a:r>
              <a:rPr lang="en-US" altLang="ko-KR" dirty="0"/>
              <a:t>, </a:t>
            </a:r>
            <a:r>
              <a:rPr lang="ko-KR" altLang="en-US" dirty="0"/>
              <a:t>음성</a:t>
            </a:r>
            <a:r>
              <a:rPr lang="en-US" altLang="ko-KR" dirty="0"/>
              <a:t>, </a:t>
            </a:r>
            <a:r>
              <a:rPr lang="ko-KR" altLang="en-US" dirty="0"/>
              <a:t>텍스트 생성물에 </a:t>
            </a:r>
            <a:r>
              <a:rPr lang="en-US" altLang="ko-KR" dirty="0"/>
              <a:t>AI </a:t>
            </a:r>
            <a:r>
              <a:rPr lang="ko-KR" altLang="en-US" dirty="0"/>
              <a:t>결과물임을 반드시 표시해야 합니다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b="1" dirty="0" err="1"/>
              <a:t>고영향</a:t>
            </a:r>
            <a:r>
              <a:rPr lang="ko-KR" altLang="en-US" b="1" dirty="0"/>
              <a:t> </a:t>
            </a:r>
            <a:r>
              <a:rPr lang="en-US" altLang="ko-KR" b="1" dirty="0"/>
              <a:t>AI </a:t>
            </a:r>
            <a:r>
              <a:rPr lang="ko-KR" altLang="en-US" b="1" dirty="0"/>
              <a:t>규정</a:t>
            </a:r>
            <a:r>
              <a:rPr lang="en-US" altLang="ko-KR" dirty="0"/>
              <a:t>: </a:t>
            </a:r>
            <a:r>
              <a:rPr lang="ko-KR" altLang="en-US" dirty="0"/>
              <a:t>의료</a:t>
            </a:r>
            <a:r>
              <a:rPr lang="en-US" altLang="ko-KR" dirty="0"/>
              <a:t>, </a:t>
            </a:r>
            <a:r>
              <a:rPr lang="ko-KR" altLang="en-US" dirty="0"/>
              <a:t>채용</a:t>
            </a:r>
            <a:r>
              <a:rPr lang="en-US" altLang="ko-KR" dirty="0"/>
              <a:t>, </a:t>
            </a:r>
            <a:r>
              <a:rPr lang="ko-KR" altLang="en-US" dirty="0"/>
              <a:t>대출 심사 등 국민의 생명과 기본권에 영향을 미치는 </a:t>
            </a:r>
            <a:r>
              <a:rPr lang="en-US" altLang="ko-KR" dirty="0"/>
              <a:t>AI</a:t>
            </a:r>
            <a:r>
              <a:rPr lang="ko-KR" altLang="en-US" dirty="0"/>
              <a:t>를 </a:t>
            </a:r>
            <a:r>
              <a:rPr lang="en-US" altLang="ko-KR" dirty="0"/>
              <a:t>'</a:t>
            </a:r>
            <a:r>
              <a:rPr lang="ko-KR" altLang="en-US" dirty="0" err="1"/>
              <a:t>고영향</a:t>
            </a:r>
            <a:r>
              <a:rPr lang="ko-KR" altLang="en-US" dirty="0"/>
              <a:t> </a:t>
            </a:r>
            <a:r>
              <a:rPr lang="en-US" altLang="ko-KR" dirty="0"/>
              <a:t>AI'</a:t>
            </a:r>
            <a:r>
              <a:rPr lang="ko-KR" altLang="en-US" dirty="0"/>
              <a:t>로 지정해 관리 의무를 부과합니다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b="1" dirty="0"/>
              <a:t>과태료 부과</a:t>
            </a:r>
            <a:r>
              <a:rPr lang="en-US" altLang="ko-KR" dirty="0"/>
              <a:t>: </a:t>
            </a:r>
            <a:r>
              <a:rPr lang="ko-KR" altLang="en-US" dirty="0"/>
              <a:t>투명성 의무나 시정 명령을 위반할 경우 기업에게 최대 </a:t>
            </a:r>
            <a:r>
              <a:rPr lang="en-US" altLang="ko-KR" b="1" dirty="0"/>
              <a:t>3</a:t>
            </a:r>
            <a:r>
              <a:rPr lang="ko-KR" altLang="en-US" b="1" dirty="0"/>
              <a:t>천만 원</a:t>
            </a:r>
            <a:r>
              <a:rPr lang="ko-KR" altLang="en-US" dirty="0"/>
              <a:t>의 과태료를 부과합니다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b="1" dirty="0"/>
              <a:t>거버넌스 구축</a:t>
            </a:r>
            <a:r>
              <a:rPr lang="en-US" altLang="ko-KR" dirty="0"/>
              <a:t>: 3</a:t>
            </a:r>
            <a:r>
              <a:rPr lang="ko-KR" altLang="en-US" dirty="0" err="1"/>
              <a:t>년마다</a:t>
            </a:r>
            <a:r>
              <a:rPr lang="ko-KR" altLang="en-US" dirty="0"/>
              <a:t> 국가 </a:t>
            </a:r>
            <a:r>
              <a:rPr lang="en-US" altLang="ko-KR" dirty="0"/>
              <a:t>AI </a:t>
            </a:r>
            <a:r>
              <a:rPr lang="ko-KR" altLang="en-US" dirty="0"/>
              <a:t>기본 계획을 수립하고</a:t>
            </a:r>
            <a:r>
              <a:rPr lang="en-US" altLang="ko-KR" dirty="0"/>
              <a:t>, </a:t>
            </a:r>
            <a:r>
              <a:rPr lang="ko-KR" altLang="en-US" dirty="0"/>
              <a:t>대통령 직속 국가 인공지능 위원회가 이를 심의</a:t>
            </a:r>
            <a:r>
              <a:rPr lang="en-US" altLang="ko-KR" dirty="0"/>
              <a:t>·</a:t>
            </a:r>
            <a:r>
              <a:rPr lang="ko-KR" altLang="en-US" dirty="0"/>
              <a:t>의결합니다</a:t>
            </a:r>
            <a:r>
              <a:rPr lang="en-US" altLang="ko-KR" dirty="0"/>
              <a:t>. [</a:t>
            </a:r>
            <a:r>
              <a:rPr lang="en-US" altLang="ko-KR" dirty="0">
                <a:hlinkClick r:id="rId2"/>
              </a:rPr>
              <a:t>1</a:t>
            </a:r>
            <a:r>
              <a:rPr lang="en-US" altLang="ko-KR" dirty="0"/>
              <a:t>, </a:t>
            </a:r>
            <a:r>
              <a:rPr lang="en-US" altLang="ko-KR" dirty="0">
                <a:hlinkClick r:id="rId3"/>
              </a:rPr>
              <a:t>2</a:t>
            </a:r>
            <a:r>
              <a:rPr lang="en-US" altLang="ko-KR" dirty="0"/>
              <a:t>, </a:t>
            </a:r>
            <a:r>
              <a:rPr lang="en-US" altLang="ko-KR" dirty="0">
                <a:hlinkClick r:id="rId4"/>
              </a:rPr>
              <a:t>3</a:t>
            </a:r>
            <a:r>
              <a:rPr lang="en-US" altLang="ko-KR" dirty="0"/>
              <a:t>, </a:t>
            </a:r>
            <a:r>
              <a:rPr lang="en-US" altLang="ko-KR" dirty="0">
                <a:hlinkClick r:id="rId5"/>
              </a:rPr>
              <a:t>4</a:t>
            </a:r>
            <a:r>
              <a:rPr lang="en-US" altLang="ko-KR" dirty="0"/>
              <a:t>]</a:t>
            </a:r>
          </a:p>
          <a:p>
            <a:pPr lvl="1"/>
            <a:endParaRPr dirty="0"/>
          </a:p>
          <a:p>
            <a:pPr lvl="0"/>
            <a:r>
              <a:rPr dirty="0" err="1"/>
              <a:t>미국</a:t>
            </a:r>
            <a:r>
              <a:rPr dirty="0"/>
              <a:t> </a:t>
            </a:r>
            <a:r>
              <a:rPr dirty="0" err="1"/>
              <a:t>캘리포니아주는</a:t>
            </a:r>
            <a:r>
              <a:rPr dirty="0"/>
              <a:t> </a:t>
            </a:r>
            <a:r>
              <a:rPr dirty="0" err="1"/>
              <a:t>자율주행차</a:t>
            </a:r>
            <a:r>
              <a:rPr dirty="0"/>
              <a:t> </a:t>
            </a:r>
            <a:r>
              <a:rPr dirty="0" err="1"/>
              <a:t>사고에</a:t>
            </a:r>
            <a:r>
              <a:rPr dirty="0"/>
              <a:t> </a:t>
            </a:r>
            <a:r>
              <a:rPr dirty="0" err="1"/>
              <a:t>대해</a:t>
            </a:r>
            <a:r>
              <a:rPr dirty="0"/>
              <a:t> </a:t>
            </a:r>
            <a:r>
              <a:rPr dirty="0" err="1"/>
              <a:t>제조사와</a:t>
            </a:r>
            <a:r>
              <a:rPr dirty="0"/>
              <a:t> </a:t>
            </a:r>
            <a:r>
              <a:rPr dirty="0" err="1"/>
              <a:t>운영자에게</a:t>
            </a:r>
            <a:r>
              <a:rPr dirty="0"/>
              <a:t> </a:t>
            </a:r>
            <a:r>
              <a:rPr dirty="0" err="1"/>
              <a:t>엄격책임</a:t>
            </a:r>
            <a:r>
              <a:rPr dirty="0"/>
              <a:t>(strict liability) </a:t>
            </a:r>
            <a:r>
              <a:rPr dirty="0" err="1"/>
              <a:t>부과를</a:t>
            </a:r>
            <a:r>
              <a:rPr dirty="0"/>
              <a:t> </a:t>
            </a:r>
            <a:r>
              <a:rPr dirty="0" err="1"/>
              <a:t>논의</a:t>
            </a:r>
            <a:r>
              <a:rPr dirty="0"/>
              <a:t> </a:t>
            </a:r>
            <a:r>
              <a:rPr dirty="0" err="1"/>
              <a:t>중임</a:t>
            </a:r>
            <a:r>
              <a:rPr dirty="0"/>
              <a:t>.</a:t>
            </a:r>
          </a:p>
          <a:p>
            <a:pPr lvl="0"/>
            <a:r>
              <a:rPr dirty="0" err="1"/>
              <a:t>법적</a:t>
            </a:r>
            <a:r>
              <a:rPr dirty="0"/>
              <a:t> </a:t>
            </a:r>
            <a:r>
              <a:rPr dirty="0" err="1"/>
              <a:t>대응은</a:t>
            </a:r>
            <a:r>
              <a:rPr dirty="0"/>
              <a:t> </a:t>
            </a:r>
            <a:r>
              <a:rPr dirty="0" err="1"/>
              <a:t>추정적</a:t>
            </a:r>
            <a:r>
              <a:rPr dirty="0"/>
              <a:t> </a:t>
            </a:r>
            <a:r>
              <a:rPr dirty="0" err="1"/>
              <a:t>인과관계</a:t>
            </a:r>
            <a:r>
              <a:rPr dirty="0"/>
              <a:t> </a:t>
            </a:r>
            <a:r>
              <a:rPr dirty="0" err="1"/>
              <a:t>도입</a:t>
            </a:r>
            <a:r>
              <a:rPr dirty="0"/>
              <a:t> </a:t>
            </a:r>
            <a:r>
              <a:rPr dirty="0" err="1"/>
              <a:t>등을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피해자</a:t>
            </a:r>
            <a:r>
              <a:rPr dirty="0"/>
              <a:t> </a:t>
            </a:r>
            <a:r>
              <a:rPr dirty="0" err="1"/>
              <a:t>보호를</a:t>
            </a:r>
            <a:r>
              <a:rPr dirty="0"/>
              <a:t> </a:t>
            </a:r>
            <a:r>
              <a:rPr dirty="0" err="1"/>
              <a:t>강화하는</a:t>
            </a:r>
            <a:r>
              <a:rPr dirty="0"/>
              <a:t> </a:t>
            </a:r>
            <a:r>
              <a:rPr dirty="0" err="1"/>
              <a:t>방향으로</a:t>
            </a:r>
            <a:r>
              <a:rPr dirty="0"/>
              <a:t> </a:t>
            </a:r>
            <a:r>
              <a:rPr dirty="0" err="1"/>
              <a:t>진화하고</a:t>
            </a:r>
            <a:r>
              <a:rPr dirty="0"/>
              <a:t> </a:t>
            </a:r>
            <a:r>
              <a:rPr dirty="0" err="1"/>
              <a:t>있음</a:t>
            </a:r>
            <a:r>
              <a:rPr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22. AI 시스템 내 법적 가치 내장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규제를</a:t>
            </a:r>
            <a:r>
              <a:rPr dirty="0"/>
              <a:t> </a:t>
            </a:r>
            <a:r>
              <a:rPr dirty="0" err="1"/>
              <a:t>넘어</a:t>
            </a:r>
            <a:r>
              <a:rPr dirty="0"/>
              <a:t> </a:t>
            </a: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과정에서</a:t>
            </a:r>
            <a:r>
              <a:rPr dirty="0"/>
              <a:t> </a:t>
            </a:r>
            <a:r>
              <a:rPr dirty="0" err="1"/>
              <a:t>법적</a:t>
            </a:r>
            <a:r>
              <a:rPr dirty="0"/>
              <a:t> </a:t>
            </a:r>
            <a:r>
              <a:rPr dirty="0" err="1"/>
              <a:t>가치를</a:t>
            </a:r>
            <a:r>
              <a:rPr dirty="0"/>
              <a:t> </a:t>
            </a:r>
            <a:r>
              <a:rPr dirty="0" err="1"/>
              <a:t>고려하는</a:t>
            </a:r>
            <a:r>
              <a:rPr dirty="0"/>
              <a:t> ‘Value-Sensitive Design’ </a:t>
            </a:r>
            <a:r>
              <a:rPr dirty="0" err="1"/>
              <a:t>접근이</a:t>
            </a:r>
            <a:r>
              <a:rPr dirty="0"/>
              <a:t> </a:t>
            </a:r>
            <a:r>
              <a:rPr dirty="0" err="1"/>
              <a:t>주목받음</a:t>
            </a:r>
            <a:r>
              <a:rPr dirty="0"/>
              <a:t>.</a:t>
            </a:r>
          </a:p>
          <a:p>
            <a:pPr lvl="0"/>
            <a:r>
              <a:rPr dirty="0" err="1"/>
              <a:t>배트야</a:t>
            </a:r>
            <a:r>
              <a:rPr dirty="0"/>
              <a:t> </a:t>
            </a:r>
            <a:r>
              <a:rPr dirty="0" err="1"/>
              <a:t>프리드먼은</a:t>
            </a:r>
            <a:r>
              <a:rPr dirty="0"/>
              <a:t> </a:t>
            </a: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아키텍처</a:t>
            </a:r>
            <a:r>
              <a:rPr dirty="0"/>
              <a:t> </a:t>
            </a:r>
            <a:r>
              <a:rPr dirty="0" err="1"/>
              <a:t>자체가</a:t>
            </a:r>
            <a:r>
              <a:rPr dirty="0"/>
              <a:t> </a:t>
            </a:r>
            <a:r>
              <a:rPr dirty="0" err="1"/>
              <a:t>규범적</a:t>
            </a:r>
            <a:r>
              <a:rPr dirty="0"/>
              <a:t> </a:t>
            </a:r>
            <a:r>
              <a:rPr dirty="0" err="1"/>
              <a:t>기능을</a:t>
            </a:r>
            <a:r>
              <a:rPr dirty="0"/>
              <a:t> </a:t>
            </a:r>
            <a:r>
              <a:rPr dirty="0" err="1"/>
              <a:t>수행하도록</a:t>
            </a:r>
            <a:r>
              <a:rPr dirty="0"/>
              <a:t> </a:t>
            </a:r>
            <a:r>
              <a:rPr dirty="0" err="1"/>
              <a:t>인간의</a:t>
            </a:r>
            <a:r>
              <a:rPr dirty="0"/>
              <a:t> </a:t>
            </a:r>
            <a:r>
              <a:rPr dirty="0" err="1"/>
              <a:t>가치를</a:t>
            </a:r>
            <a:r>
              <a:rPr dirty="0"/>
              <a:t> </a:t>
            </a:r>
            <a:r>
              <a:rPr dirty="0" err="1"/>
              <a:t>내장해야</a:t>
            </a:r>
            <a:r>
              <a:rPr dirty="0"/>
              <a:t> </a:t>
            </a:r>
            <a:r>
              <a:rPr dirty="0" err="1"/>
              <a:t>한다고</a:t>
            </a:r>
            <a:r>
              <a:rPr dirty="0"/>
              <a:t> </a:t>
            </a:r>
            <a:r>
              <a:rPr dirty="0" err="1"/>
              <a:t>주장함</a:t>
            </a:r>
            <a:r>
              <a:rPr dirty="0"/>
              <a:t>.</a:t>
            </a:r>
          </a:p>
          <a:p>
            <a:pPr lvl="0"/>
            <a:r>
              <a:rPr dirty="0" err="1"/>
              <a:t>이는</a:t>
            </a:r>
            <a:r>
              <a:rPr dirty="0"/>
              <a:t> </a:t>
            </a:r>
            <a:r>
              <a:rPr dirty="0" err="1"/>
              <a:t>법을</a:t>
            </a:r>
            <a:r>
              <a:rPr dirty="0"/>
              <a:t> </a:t>
            </a:r>
            <a:r>
              <a:rPr dirty="0" err="1"/>
              <a:t>단순한</a:t>
            </a:r>
            <a:r>
              <a:rPr dirty="0"/>
              <a:t>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통제</a:t>
            </a:r>
            <a:r>
              <a:rPr dirty="0"/>
              <a:t> </a:t>
            </a:r>
            <a:r>
              <a:rPr dirty="0" err="1"/>
              <a:t>수단이</a:t>
            </a:r>
            <a:r>
              <a:rPr dirty="0"/>
              <a:t> </a:t>
            </a:r>
            <a:r>
              <a:rPr dirty="0" err="1"/>
              <a:t>아닌</a:t>
            </a:r>
            <a:r>
              <a:rPr dirty="0"/>
              <a:t> </a:t>
            </a: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내부의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원리로</a:t>
            </a:r>
            <a:r>
              <a:rPr dirty="0"/>
              <a:t> </a:t>
            </a:r>
            <a:r>
              <a:rPr dirty="0" err="1"/>
              <a:t>전환하는</a:t>
            </a:r>
            <a:r>
              <a:rPr dirty="0"/>
              <a:t> </a:t>
            </a:r>
            <a:r>
              <a:rPr dirty="0" err="1"/>
              <a:t>새로운</a:t>
            </a:r>
            <a:r>
              <a:rPr dirty="0"/>
              <a:t> </a:t>
            </a:r>
            <a:r>
              <a:rPr dirty="0" err="1"/>
              <a:t>규제</a:t>
            </a:r>
            <a:r>
              <a:rPr dirty="0"/>
              <a:t> </a:t>
            </a:r>
            <a:r>
              <a:rPr dirty="0" err="1"/>
              <a:t>패러다임임</a:t>
            </a:r>
            <a:r>
              <a:rPr dirty="0"/>
              <a:t>.</a:t>
            </a:r>
          </a:p>
          <a:p>
            <a:pPr lvl="0"/>
            <a:r>
              <a:rPr dirty="0" err="1"/>
              <a:t>공정성</a:t>
            </a:r>
            <a:r>
              <a:rPr dirty="0"/>
              <a:t>, </a:t>
            </a:r>
            <a:r>
              <a:rPr dirty="0" err="1"/>
              <a:t>투명성</a:t>
            </a:r>
            <a:r>
              <a:rPr dirty="0"/>
              <a:t>, </a:t>
            </a:r>
            <a:r>
              <a:rPr dirty="0" err="1"/>
              <a:t>안전성을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단계부터</a:t>
            </a:r>
            <a:r>
              <a:rPr dirty="0"/>
              <a:t> </a:t>
            </a:r>
            <a:r>
              <a:rPr dirty="0" err="1"/>
              <a:t>적용하여</a:t>
            </a:r>
            <a:r>
              <a:rPr dirty="0"/>
              <a:t> </a:t>
            </a:r>
            <a:r>
              <a:rPr dirty="0" err="1"/>
              <a:t>사후적</a:t>
            </a:r>
            <a:r>
              <a:rPr dirty="0"/>
              <a:t> </a:t>
            </a:r>
            <a:r>
              <a:rPr dirty="0" err="1"/>
              <a:t>통제의</a:t>
            </a:r>
            <a:r>
              <a:rPr dirty="0"/>
              <a:t> </a:t>
            </a:r>
            <a:r>
              <a:rPr dirty="0" err="1"/>
              <a:t>한계를</a:t>
            </a:r>
            <a:r>
              <a:rPr dirty="0"/>
              <a:t> </a:t>
            </a:r>
            <a:r>
              <a:rPr dirty="0" err="1"/>
              <a:t>극복하려</a:t>
            </a:r>
            <a:r>
              <a:rPr dirty="0"/>
              <a:t> 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29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F680B40-AAD3-5E5E-05FE-D58953521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1116866"/>
            <a:ext cx="2407264" cy="356104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24. AI와 전체주의 및 감시 자본주의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dirty="0" err="1"/>
              <a:t>샤오샤나</a:t>
            </a:r>
            <a:r>
              <a:rPr dirty="0"/>
              <a:t> </a:t>
            </a:r>
            <a:r>
              <a:rPr dirty="0" err="1"/>
              <a:t>주보프는</a:t>
            </a:r>
            <a:r>
              <a:rPr dirty="0"/>
              <a:t>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인간</a:t>
            </a:r>
            <a:r>
              <a:rPr dirty="0"/>
              <a:t> </a:t>
            </a:r>
            <a:r>
              <a:rPr dirty="0" err="1"/>
              <a:t>경험을</a:t>
            </a:r>
            <a:r>
              <a:rPr dirty="0"/>
              <a:t> </a:t>
            </a:r>
            <a:r>
              <a:rPr dirty="0" err="1"/>
              <a:t>행동</a:t>
            </a:r>
            <a:r>
              <a:rPr dirty="0"/>
              <a:t> </a:t>
            </a:r>
            <a:r>
              <a:rPr dirty="0" err="1"/>
              <a:t>데이터로</a:t>
            </a:r>
            <a:r>
              <a:rPr dirty="0"/>
              <a:t> </a:t>
            </a:r>
            <a:r>
              <a:rPr dirty="0" err="1"/>
              <a:t>변환해</a:t>
            </a:r>
            <a:r>
              <a:rPr dirty="0"/>
              <a:t> </a:t>
            </a:r>
            <a:r>
              <a:rPr dirty="0" err="1"/>
              <a:t>조작하는</a:t>
            </a:r>
            <a:r>
              <a:rPr dirty="0"/>
              <a:t> ’</a:t>
            </a:r>
            <a:r>
              <a:rPr dirty="0" err="1"/>
              <a:t>감시</a:t>
            </a:r>
            <a:r>
              <a:rPr dirty="0"/>
              <a:t> </a:t>
            </a:r>
            <a:r>
              <a:rPr dirty="0" err="1"/>
              <a:t>자본주의</a:t>
            </a:r>
            <a:r>
              <a:rPr lang="en-US" dirty="0"/>
              <a:t>   Surveillance </a:t>
            </a:r>
            <a:r>
              <a:rPr lang="en-US" dirty="0" err="1"/>
              <a:t>Capitalism</a:t>
            </a:r>
            <a:r>
              <a:rPr dirty="0" err="1"/>
              <a:t>’의</a:t>
            </a:r>
            <a:r>
              <a:rPr dirty="0"/>
              <a:t> </a:t>
            </a:r>
            <a:r>
              <a:rPr dirty="0" err="1"/>
              <a:t>위험성을</a:t>
            </a:r>
            <a:r>
              <a:rPr dirty="0"/>
              <a:t> </a:t>
            </a:r>
            <a:r>
              <a:rPr dirty="0" err="1"/>
              <a:t>경고함</a:t>
            </a:r>
            <a:r>
              <a:rPr dirty="0"/>
              <a:t>.</a:t>
            </a:r>
            <a:r>
              <a:rPr lang="en-US" dirty="0"/>
              <a:t>(2019)</a:t>
            </a:r>
          </a:p>
          <a:p>
            <a:pPr marL="6858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100" b="1" dirty="0">
                <a:latin typeface="Arial" panose="020B0604020202020204" pitchFamily="34" charset="0"/>
                <a:cs typeface="Arial" panose="020B0604020202020204" pitchFamily="34" charset="0"/>
              </a:rPr>
              <a:t>행동 데이터 추출</a:t>
            </a:r>
            <a:r>
              <a:rPr lang="ko-KR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: 사용자가 온라인에서 검색, 클릭, 구매한 내역 등 일거수일투족이 데이터로 수집</a:t>
            </a:r>
          </a:p>
          <a:p>
            <a:pPr marL="6858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100" b="1" dirty="0">
                <a:latin typeface="Arial" panose="020B0604020202020204" pitchFamily="34" charset="0"/>
                <a:cs typeface="Arial" panose="020B0604020202020204" pitchFamily="34" charset="0"/>
              </a:rPr>
              <a:t>행동 잉여의 발생</a:t>
            </a:r>
            <a:r>
              <a:rPr lang="ko-KR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: 서비스 개선에 필요한 양 이상의 방대한 비정형 데이터(감정, 생체 정보 등)가 강제로 축적</a:t>
            </a:r>
          </a:p>
          <a:p>
            <a:pPr marL="6858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100" b="1" dirty="0">
                <a:latin typeface="Arial" panose="020B0604020202020204" pitchFamily="34" charset="0"/>
                <a:cs typeface="Arial" panose="020B0604020202020204" pitchFamily="34" charset="0"/>
              </a:rPr>
              <a:t>예측 상품 생산</a:t>
            </a:r>
            <a:r>
              <a:rPr lang="ko-KR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: 인공지능과 알고리즘을 통해 사용자가 미래에 무엇을 하고 구매할지 예측</a:t>
            </a:r>
          </a:p>
          <a:p>
            <a:pPr marL="6858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100" b="1" dirty="0">
                <a:latin typeface="Arial" panose="020B0604020202020204" pitchFamily="34" charset="0"/>
                <a:cs typeface="Arial" panose="020B0604020202020204" pitchFamily="34" charset="0"/>
              </a:rPr>
              <a:t>행동 유도 및 통제</a:t>
            </a:r>
            <a:r>
              <a:rPr lang="ko-KR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: 단순히 사용자의 행동을 예측하는 것을 넘어, 맞춤형 광고와 추천 시스템으로 소비 욕구를 자극하고 행동을 조종</a:t>
            </a:r>
            <a:endParaRPr lang="ko-KR" altLang="ko-KR" sz="1100" dirty="0">
              <a:latin typeface="Arial" panose="020B0604020202020204" pitchFamily="34" charset="0"/>
            </a:endParaRPr>
          </a:p>
          <a:p>
            <a:pPr lvl="0"/>
            <a:r>
              <a:rPr dirty="0" err="1"/>
              <a:t>유발</a:t>
            </a:r>
            <a:r>
              <a:rPr dirty="0"/>
              <a:t> </a:t>
            </a:r>
            <a:r>
              <a:rPr dirty="0" err="1"/>
              <a:t>하라리는</a:t>
            </a:r>
            <a:r>
              <a:rPr dirty="0"/>
              <a:t>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생체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분석해</a:t>
            </a:r>
            <a:r>
              <a:rPr dirty="0"/>
              <a:t> </a:t>
            </a:r>
            <a:r>
              <a:rPr dirty="0" err="1"/>
              <a:t>감정과</a:t>
            </a:r>
            <a:r>
              <a:rPr dirty="0"/>
              <a:t> </a:t>
            </a:r>
            <a:r>
              <a:rPr dirty="0" err="1"/>
              <a:t>의사결정을</a:t>
            </a:r>
            <a:r>
              <a:rPr dirty="0"/>
              <a:t> </a:t>
            </a:r>
            <a:r>
              <a:rPr dirty="0" err="1"/>
              <a:t>조작하는</a:t>
            </a:r>
            <a:r>
              <a:rPr dirty="0"/>
              <a:t> ’</a:t>
            </a:r>
            <a:r>
              <a:rPr dirty="0" err="1"/>
              <a:t>전체주의적</a:t>
            </a:r>
            <a:r>
              <a:rPr dirty="0"/>
              <a:t> </a:t>
            </a:r>
            <a:r>
              <a:rPr dirty="0" err="1"/>
              <a:t>잠재력’을</a:t>
            </a:r>
            <a:r>
              <a:rPr dirty="0"/>
              <a:t> </a:t>
            </a:r>
            <a:r>
              <a:rPr dirty="0" err="1"/>
              <a:t>지적함</a:t>
            </a:r>
            <a:r>
              <a:rPr dirty="0"/>
              <a:t>.</a:t>
            </a:r>
          </a:p>
          <a:p>
            <a:pPr lvl="0"/>
            <a:r>
              <a:rPr dirty="0" err="1"/>
              <a:t>중앙</a:t>
            </a:r>
            <a:r>
              <a:rPr dirty="0"/>
              <a:t> </a:t>
            </a:r>
            <a:r>
              <a:rPr dirty="0" err="1"/>
              <a:t>집권</a:t>
            </a:r>
            <a:r>
              <a:rPr dirty="0"/>
              <a:t> </a:t>
            </a:r>
            <a:r>
              <a:rPr dirty="0" err="1"/>
              <a:t>방식의</a:t>
            </a:r>
            <a:r>
              <a:rPr dirty="0"/>
              <a:t> AI </a:t>
            </a:r>
            <a:r>
              <a:rPr dirty="0" err="1"/>
              <a:t>자원</a:t>
            </a:r>
            <a:r>
              <a:rPr dirty="0"/>
              <a:t> </a:t>
            </a:r>
            <a:r>
              <a:rPr dirty="0" err="1"/>
              <a:t>배분은</a:t>
            </a:r>
            <a:r>
              <a:rPr dirty="0"/>
              <a:t> </a:t>
            </a:r>
            <a:r>
              <a:rPr dirty="0" err="1"/>
              <a:t>사회주의</a:t>
            </a:r>
            <a:r>
              <a:rPr dirty="0"/>
              <a:t> </a:t>
            </a:r>
            <a:r>
              <a:rPr dirty="0" err="1"/>
              <a:t>계획</a:t>
            </a:r>
            <a:r>
              <a:rPr dirty="0"/>
              <a:t> </a:t>
            </a:r>
            <a:r>
              <a:rPr dirty="0" err="1"/>
              <a:t>경제의</a:t>
            </a:r>
            <a:r>
              <a:rPr dirty="0"/>
              <a:t> </a:t>
            </a:r>
            <a:r>
              <a:rPr dirty="0" err="1"/>
              <a:t>부작용을</a:t>
            </a:r>
            <a:r>
              <a:rPr dirty="0"/>
              <a:t> </a:t>
            </a:r>
            <a:r>
              <a:rPr dirty="0" err="1"/>
              <a:t>낳아</a:t>
            </a:r>
            <a:r>
              <a:rPr dirty="0"/>
              <a:t> </a:t>
            </a:r>
            <a:r>
              <a:rPr dirty="0" err="1"/>
              <a:t>경제적</a:t>
            </a:r>
            <a:r>
              <a:rPr dirty="0"/>
              <a:t> </a:t>
            </a:r>
            <a:r>
              <a:rPr dirty="0" err="1"/>
              <a:t>자유를</a:t>
            </a:r>
            <a:r>
              <a:rPr dirty="0"/>
              <a:t> </a:t>
            </a:r>
            <a:r>
              <a:rPr dirty="0" err="1"/>
              <a:t>파괴할</a:t>
            </a:r>
            <a:r>
              <a:rPr dirty="0"/>
              <a:t> </a:t>
            </a:r>
            <a:r>
              <a:rPr dirty="0" err="1"/>
              <a:t>우려가</a:t>
            </a:r>
            <a:r>
              <a:rPr dirty="0"/>
              <a:t> </a:t>
            </a:r>
            <a:r>
              <a:rPr dirty="0" err="1"/>
              <a:t>있음</a:t>
            </a:r>
            <a:r>
              <a:rPr dirty="0"/>
              <a:t>.</a:t>
            </a:r>
          </a:p>
          <a:p>
            <a:pPr lvl="0"/>
            <a:r>
              <a:rPr dirty="0"/>
              <a:t>AI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감시</a:t>
            </a:r>
            <a:r>
              <a:rPr dirty="0"/>
              <a:t> </a:t>
            </a:r>
            <a:r>
              <a:rPr dirty="0" err="1"/>
              <a:t>체제는</a:t>
            </a:r>
            <a:r>
              <a:rPr dirty="0"/>
              <a:t> </a:t>
            </a:r>
            <a:r>
              <a:rPr dirty="0" err="1"/>
              <a:t>조지</a:t>
            </a:r>
            <a:r>
              <a:rPr dirty="0"/>
              <a:t> </a:t>
            </a:r>
            <a:r>
              <a:rPr dirty="0" err="1"/>
              <a:t>오웰의</a:t>
            </a:r>
            <a:r>
              <a:rPr dirty="0"/>
              <a:t> </a:t>
            </a:r>
            <a:r>
              <a:rPr dirty="0" err="1"/>
              <a:t>디스토피아를</a:t>
            </a:r>
            <a:r>
              <a:rPr dirty="0"/>
              <a:t> </a:t>
            </a:r>
            <a:r>
              <a:rPr dirty="0" err="1"/>
              <a:t>현실화할</a:t>
            </a:r>
            <a:r>
              <a:rPr dirty="0"/>
              <a:t> 수 </a:t>
            </a:r>
            <a:r>
              <a:rPr dirty="0" err="1"/>
              <a:t>있으므로</a:t>
            </a:r>
            <a:r>
              <a:rPr dirty="0"/>
              <a:t> </a:t>
            </a:r>
            <a:r>
              <a:rPr dirty="0" err="1"/>
              <a:t>민주적</a:t>
            </a:r>
            <a:r>
              <a:rPr dirty="0"/>
              <a:t> </a:t>
            </a:r>
            <a:r>
              <a:rPr dirty="0" err="1"/>
              <a:t>통제가</a:t>
            </a:r>
            <a:r>
              <a:rPr dirty="0"/>
              <a:t> </a:t>
            </a:r>
            <a:r>
              <a:rPr dirty="0" err="1"/>
              <a:t>절실함</a:t>
            </a:r>
            <a:r>
              <a:rPr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30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F25A68D-4275-DB89-8857-4BA577716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1063229"/>
            <a:ext cx="2385836" cy="353187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25. AI를 활용한 민주주의의 발전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200151"/>
            <a:ext cx="4743450" cy="3394472"/>
          </a:xfrm>
        </p:spPr>
        <p:txBody>
          <a:bodyPr>
            <a:normAutofit lnSpcReduction="10000"/>
          </a:bodyPr>
          <a:lstStyle/>
          <a:p>
            <a:pPr lvl="0"/>
            <a:r>
              <a:rPr dirty="0" err="1"/>
              <a:t>베스</a:t>
            </a:r>
            <a:r>
              <a:rPr dirty="0"/>
              <a:t> </a:t>
            </a:r>
            <a:r>
              <a:rPr dirty="0" err="1"/>
              <a:t>시몬</a:t>
            </a:r>
            <a:r>
              <a:rPr dirty="0"/>
              <a:t> </a:t>
            </a:r>
            <a:r>
              <a:rPr dirty="0" err="1"/>
              <a:t>노벡은</a:t>
            </a:r>
            <a:r>
              <a:rPr dirty="0"/>
              <a:t>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시민</a:t>
            </a:r>
            <a:r>
              <a:rPr dirty="0"/>
              <a:t> </a:t>
            </a:r>
            <a:r>
              <a:rPr dirty="0" err="1"/>
              <a:t>전문성과</a:t>
            </a:r>
            <a:r>
              <a:rPr dirty="0"/>
              <a:t> </a:t>
            </a:r>
            <a:r>
              <a:rPr dirty="0" err="1"/>
              <a:t>정부</a:t>
            </a:r>
            <a:r>
              <a:rPr dirty="0"/>
              <a:t> </a:t>
            </a:r>
            <a:r>
              <a:rPr dirty="0" err="1"/>
              <a:t>수요를</a:t>
            </a:r>
            <a:r>
              <a:rPr dirty="0"/>
              <a:t> </a:t>
            </a:r>
            <a:r>
              <a:rPr dirty="0" err="1"/>
              <a:t>연결하여</a:t>
            </a:r>
            <a:r>
              <a:rPr dirty="0"/>
              <a:t> </a:t>
            </a:r>
            <a:r>
              <a:rPr dirty="0" err="1"/>
              <a:t>참여</a:t>
            </a:r>
            <a:r>
              <a:rPr dirty="0"/>
              <a:t> </a:t>
            </a:r>
            <a:r>
              <a:rPr dirty="0" err="1"/>
              <a:t>민주주의를</a:t>
            </a:r>
            <a:r>
              <a:rPr dirty="0"/>
              <a:t> </a:t>
            </a:r>
            <a:r>
              <a:rPr dirty="0" err="1"/>
              <a:t>보완할</a:t>
            </a:r>
            <a:r>
              <a:rPr dirty="0"/>
              <a:t> 수 </a:t>
            </a:r>
            <a:r>
              <a:rPr dirty="0" err="1"/>
              <a:t>있다고</a:t>
            </a:r>
            <a:r>
              <a:rPr dirty="0"/>
              <a:t> </a:t>
            </a:r>
            <a:r>
              <a:rPr dirty="0" err="1"/>
              <a:t>주장함</a:t>
            </a:r>
            <a:r>
              <a:rPr dirty="0"/>
              <a:t>.</a:t>
            </a:r>
          </a:p>
          <a:p>
            <a:pPr lvl="0"/>
            <a:r>
              <a:rPr dirty="0" err="1"/>
              <a:t>오드리</a:t>
            </a:r>
            <a:r>
              <a:rPr dirty="0"/>
              <a:t> </a:t>
            </a:r>
            <a:r>
              <a:rPr dirty="0" err="1"/>
              <a:t>탕은</a:t>
            </a:r>
            <a:r>
              <a:rPr dirty="0"/>
              <a:t> </a:t>
            </a:r>
            <a:r>
              <a:rPr dirty="0" err="1"/>
              <a:t>대만의</a:t>
            </a:r>
            <a:r>
              <a:rPr dirty="0"/>
              <a:t> ‘</a:t>
            </a:r>
            <a:r>
              <a:rPr dirty="0" err="1"/>
              <a:t>폴리스</a:t>
            </a:r>
            <a:r>
              <a:rPr dirty="0"/>
              <a:t>(Polis)’ </a:t>
            </a:r>
            <a:r>
              <a:rPr dirty="0" err="1"/>
              <a:t>플랫폼을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AI로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시민</a:t>
            </a:r>
            <a:r>
              <a:rPr dirty="0"/>
              <a:t> </a:t>
            </a:r>
            <a:r>
              <a:rPr dirty="0" err="1"/>
              <a:t>합의를</a:t>
            </a:r>
            <a:r>
              <a:rPr dirty="0"/>
              <a:t> </a:t>
            </a:r>
            <a:r>
              <a:rPr dirty="0" err="1"/>
              <a:t>도출하는</a:t>
            </a:r>
            <a:r>
              <a:rPr dirty="0"/>
              <a:t> </a:t>
            </a:r>
            <a:r>
              <a:rPr dirty="0" err="1"/>
              <a:t>디지털</a:t>
            </a:r>
            <a:r>
              <a:rPr dirty="0"/>
              <a:t> </a:t>
            </a:r>
            <a:r>
              <a:rPr dirty="0" err="1"/>
              <a:t>민주주의를</a:t>
            </a:r>
            <a:r>
              <a:rPr dirty="0"/>
              <a:t> </a:t>
            </a:r>
            <a:r>
              <a:rPr dirty="0" err="1"/>
              <a:t>실증함</a:t>
            </a:r>
            <a:r>
              <a:rPr dirty="0"/>
              <a:t>.</a:t>
            </a:r>
          </a:p>
          <a:p>
            <a:pPr lvl="0"/>
            <a:r>
              <a:rPr dirty="0" err="1"/>
              <a:t>AI는</a:t>
            </a:r>
            <a:r>
              <a:rPr dirty="0"/>
              <a:t> </a:t>
            </a:r>
            <a:r>
              <a:rPr dirty="0" err="1"/>
              <a:t>시민</a:t>
            </a:r>
            <a:r>
              <a:rPr dirty="0"/>
              <a:t> </a:t>
            </a:r>
            <a:r>
              <a:rPr dirty="0" err="1"/>
              <a:t>참여</a:t>
            </a:r>
            <a:r>
              <a:rPr dirty="0"/>
              <a:t> </a:t>
            </a:r>
            <a:r>
              <a:rPr dirty="0" err="1"/>
              <a:t>확대와</a:t>
            </a:r>
            <a:r>
              <a:rPr dirty="0"/>
              <a:t> </a:t>
            </a: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결정의</a:t>
            </a:r>
            <a:r>
              <a:rPr dirty="0"/>
              <a:t> </a:t>
            </a:r>
            <a:r>
              <a:rPr dirty="0" err="1"/>
              <a:t>투명성</a:t>
            </a:r>
            <a:r>
              <a:rPr dirty="0"/>
              <a:t> </a:t>
            </a:r>
            <a:r>
              <a:rPr dirty="0" err="1"/>
              <a:t>제고를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민주주의를</a:t>
            </a:r>
            <a:r>
              <a:rPr dirty="0"/>
              <a:t> </a:t>
            </a:r>
            <a:r>
              <a:rPr dirty="0" err="1"/>
              <a:t>심화시키는</a:t>
            </a:r>
            <a:r>
              <a:rPr dirty="0"/>
              <a:t> </a:t>
            </a:r>
            <a:r>
              <a:rPr dirty="0" err="1"/>
              <a:t>도구가</a:t>
            </a:r>
            <a:r>
              <a:rPr dirty="0"/>
              <a:t> 될 수 </a:t>
            </a:r>
            <a:r>
              <a:rPr dirty="0" err="1"/>
              <a:t>있음</a:t>
            </a:r>
            <a:r>
              <a:rPr dirty="0"/>
              <a:t>.</a:t>
            </a:r>
          </a:p>
          <a:p>
            <a:pPr lvl="0"/>
            <a:r>
              <a:rPr dirty="0" err="1"/>
              <a:t>기술의</a:t>
            </a:r>
            <a:r>
              <a:rPr dirty="0"/>
              <a:t> </a:t>
            </a:r>
            <a:r>
              <a:rPr dirty="0" err="1"/>
              <a:t>영향은</a:t>
            </a:r>
            <a:r>
              <a:rPr dirty="0"/>
              <a:t> </a:t>
            </a:r>
            <a:r>
              <a:rPr dirty="0" err="1"/>
              <a:t>결국</a:t>
            </a:r>
            <a:r>
              <a:rPr dirty="0"/>
              <a:t> </a:t>
            </a:r>
            <a:r>
              <a:rPr dirty="0" err="1"/>
              <a:t>설계와</a:t>
            </a:r>
            <a:r>
              <a:rPr dirty="0"/>
              <a:t> </a:t>
            </a:r>
            <a:r>
              <a:rPr dirty="0" err="1"/>
              <a:t>활용</a:t>
            </a:r>
            <a:r>
              <a:rPr dirty="0"/>
              <a:t> </a:t>
            </a:r>
            <a:r>
              <a:rPr dirty="0" err="1"/>
              <a:t>방식에</a:t>
            </a:r>
            <a:r>
              <a:rPr dirty="0"/>
              <a:t> </a:t>
            </a:r>
            <a:r>
              <a:rPr dirty="0" err="1"/>
              <a:t>달려</a:t>
            </a:r>
            <a:r>
              <a:rPr dirty="0"/>
              <a:t> </a:t>
            </a:r>
            <a:r>
              <a:rPr dirty="0" err="1"/>
              <a:t>있으며</a:t>
            </a:r>
            <a:r>
              <a:rPr dirty="0"/>
              <a:t>, </a:t>
            </a:r>
            <a:r>
              <a:rPr dirty="0" err="1"/>
              <a:t>숙의</a:t>
            </a:r>
            <a:r>
              <a:rPr dirty="0"/>
              <a:t> </a:t>
            </a:r>
            <a:r>
              <a:rPr dirty="0" err="1"/>
              <a:t>민주주의를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다원적</a:t>
            </a:r>
            <a:r>
              <a:rPr dirty="0"/>
              <a:t> </a:t>
            </a:r>
            <a:r>
              <a:rPr dirty="0" err="1"/>
              <a:t>협력</a:t>
            </a:r>
            <a:r>
              <a:rPr dirty="0"/>
              <a:t> </a:t>
            </a:r>
            <a:r>
              <a:rPr dirty="0" err="1"/>
              <a:t>도구로</a:t>
            </a:r>
            <a:r>
              <a:rPr dirty="0"/>
              <a:t> </a:t>
            </a:r>
            <a:r>
              <a:rPr dirty="0" err="1"/>
              <a:t>관리되어야</a:t>
            </a:r>
            <a:r>
              <a:rPr dirty="0"/>
              <a:t> 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2026-05-06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31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341ADC7-16F1-2157-1F10-950BA9D33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5869"/>
            <a:ext cx="3520439" cy="32689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2798</Words>
  <Application>Microsoft Office PowerPoint</Application>
  <PresentationFormat>화면 슬라이드 쇼(16:9)</PresentationFormat>
  <Paragraphs>266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Ch09: AI시대의 법과 제도</vt:lpstr>
      <vt:lpstr>0. 고대, 중세에는 저작권 개념이 없었다</vt:lpstr>
      <vt:lpstr>1. 전통적 저작권과 AI의 도전</vt:lpstr>
      <vt:lpstr>Google 전자도서관 프로젝트</vt:lpstr>
      <vt:lpstr>1-1. Anthrophic 의 도서 스캔 공장</vt:lpstr>
      <vt:lpstr>마르셀 뒤샹과 백남준</vt:lpstr>
      <vt:lpstr>1-3. AI 생성물은 과연 작품(a work of art)인가</vt:lpstr>
      <vt:lpstr>언어의 본질과 LLM</vt:lpstr>
      <vt:lpstr>2. AI 생성물 저작권의 각국 현황</vt:lpstr>
      <vt:lpstr>3. EU AI 법과 저작권 준수 의무</vt:lpstr>
      <vt:lpstr>4. AI 작곡 및 생성 음악의 쟁점</vt:lpstr>
      <vt:lpstr>5. AI 생성 이미지의 저작권 보호</vt:lpstr>
      <vt:lpstr>6. 영상 저작권 침해와 공정이용</vt:lpstr>
      <vt:lpstr>7. 저작권과 저작인접권의 차이</vt:lpstr>
      <vt:lpstr>8. AI 창작 보호와 혁신의 균형점</vt:lpstr>
      <vt:lpstr>9. 전통적 사생활 개념의 한계</vt:lpstr>
      <vt:lpstr>10. AI 기반 개인정보 침해 사례</vt:lpstr>
      <vt:lpstr>11. 설계에 의한 프라이버시 원칙</vt:lpstr>
      <vt:lpstr>12. GDPR 및 각국의 정보 보호법</vt:lpstr>
      <vt:lpstr>13. 고위험 AI의 정의와 주요 사례</vt:lpstr>
      <vt:lpstr>14. 자율주행 및 의료 AI 사고 사례</vt:lpstr>
      <vt:lpstr>15. AI 알고리즘의 편향성 사례</vt:lpstr>
      <vt:lpstr>16. 알고리즘 오류와 행정적 피해</vt:lpstr>
      <vt:lpstr>17. EU 및 각국의 고위험 AI 규제</vt:lpstr>
      <vt:lpstr>18. AI 안전성 확보를 위한 기술</vt:lpstr>
      <vt:lpstr>19. 전통적 책임 귀속과 책임 격차</vt:lpstr>
      <vt:lpstr>20. AI 시대의 새로운 책임 모델</vt:lpstr>
      <vt:lpstr>21. AI 책임 관련 법제 현황</vt:lpstr>
      <vt:lpstr>22. AI 시스템 내 법적 가치 내장</vt:lpstr>
      <vt:lpstr>24. AI와 전체주의 및 감시 자본주의</vt:lpstr>
      <vt:lpstr>25. AI를 활용한 민주주의의 발전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30</TotalTime>
  <Words>89</Words>
  <Application>Microsoft Office PowerPoint</Application>
  <PresentationFormat>화면 슬라이드 쇼(16:9)</PresentationFormat>
  <Paragraphs>25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Ch09: AI시대의 법과 제도</dc:title>
  <dc:creator>송경모/2026-05-06/한국공학대학교</dc:creator>
  <cp:keywords/>
  <cp:lastModifiedBy>Kyung Mo Song</cp:lastModifiedBy>
  <cp:revision>31</cp:revision>
  <dcterms:created xsi:type="dcterms:W3CDTF">2026-05-05T03:17:30Z</dcterms:created>
  <dcterms:modified xsi:type="dcterms:W3CDTF">2026-05-05T05:29:25Z</dcterms:modified>
  <cp:category>Free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2026-05-06</vt:lpwstr>
  </property>
  <property fmtid="{D5CDD505-2E9C-101B-9397-08002B2CF9AE}" pid="3" name="organization">
    <vt:lpwstr>한국공학대학교</vt:lpwstr>
  </property>
  <property fmtid="{D5CDD505-2E9C-101B-9397-08002B2CF9AE}" pid="4" name="pptxname">
    <vt:lpwstr>20260506_a송경모_tCh09강의_o한국공학대학교_fPres_v00</vt:lpwstr>
  </property>
  <property fmtid="{D5CDD505-2E9C-101B-9397-08002B2CF9AE}" pid="5" name="tags">
    <vt:lpwstr/>
  </property>
  <property fmtid="{D5CDD505-2E9C-101B-9397-08002B2CF9AE}" pid="6" name="version">
    <vt:lpwstr>0</vt:lpwstr>
  </property>
</Properties>
</file>