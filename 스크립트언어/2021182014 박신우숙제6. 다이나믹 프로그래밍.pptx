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2"/>
  </p:notesMasterIdLst>
  <p:sldIdLst>
    <p:sldId id="258" r:id="rId2"/>
    <p:sldId id="269" r:id="rId3"/>
    <p:sldId id="335" r:id="rId4"/>
    <p:sldId id="259" r:id="rId5"/>
    <p:sldId id="276" r:id="rId6"/>
    <p:sldId id="330" r:id="rId7"/>
    <p:sldId id="331" r:id="rId8"/>
    <p:sldId id="277" r:id="rId9"/>
    <p:sldId id="339" r:id="rId10"/>
    <p:sldId id="341" r:id="rId11"/>
    <p:sldId id="342" r:id="rId12"/>
    <p:sldId id="348" r:id="rId13"/>
    <p:sldId id="349" r:id="rId14"/>
    <p:sldId id="343" r:id="rId15"/>
    <p:sldId id="351" r:id="rId16"/>
    <p:sldId id="344" r:id="rId17"/>
    <p:sldId id="350" r:id="rId18"/>
    <p:sldId id="345" r:id="rId19"/>
    <p:sldId id="346" r:id="rId20"/>
    <p:sldId id="347" r:id="rId21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4660"/>
  </p:normalViewPr>
  <p:slideViewPr>
    <p:cSldViewPr>
      <p:cViewPr varScale="1">
        <p:scale>
          <a:sx n="96" d="100"/>
          <a:sy n="96" d="100"/>
        </p:scale>
        <p:origin x="8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03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6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02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99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A7062-49E1-2D84-735A-4112C55AE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B4B371-6D3B-893C-A3C5-84361D445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BA008-34C4-2792-4622-5A981FDE5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5B94E0-AC26-B0D0-FA6B-557B0EA47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44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227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800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61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483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177CE-0C07-EECB-B702-9A506195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2D7CD-178D-4F5E-F957-8EF6A2086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4418A-FF3E-E05F-7A02-BC1B4B69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04D99-5A03-9AEE-6937-76DB63759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90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310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youtube.com/watch?v=EO90NY1ltrg&amp;list=PLg0hsGjqxAUZimgPzzUdTjrV0bn5ALtAl&amp;index=21" TargetMode="External"/><Relationship Id="rId4" Type="http://schemas.openxmlformats.org/officeDocument/2006/relationships/hyperlink" Target="https://www.youtube.com/watch?v=DEyTA-T1B1o&amp;list=PLg0hsGjqxAUZimgPzzUdTjrV0bn5ALtAl&amp;index=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2898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youtube.com/watch?v=SYmza_IHs9c&amp;list=PLg0hsGjqxAUZimgPzzUdTjrV0bn5ALtAl&amp;index=22" TargetMode="External"/><Relationship Id="rId4" Type="http://schemas.openxmlformats.org/officeDocument/2006/relationships/hyperlink" Target="https://www.youtube.com/watch?v=UbTRCHdpflA&amp;list=PLg0hsGjqxAUZimgPzzUdTjrV0bn5ALtAl&amp;index=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6. </a:t>
            </a:r>
            <a:r>
              <a:rPr lang="ko-KR" altLang="en-US" b="1" dirty="0">
                <a:solidFill>
                  <a:srgbClr val="0000FF"/>
                </a:solidFill>
              </a:rPr>
              <a:t>다이나믹 프로그래밍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https://school.programmers.co.kr/learn/courses/30/lessons/43105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https://www.youtube.com/watch?v=DEyTA-T1B1o&amp;list=PLg0hsGjqxAUZimgPzzUdTjrV0bn5ALtAl&amp;index=3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https://www.youtube.com/watch?v=EO90NY1ltrg&amp;list=PLg0hsGjqxAUZimgPzzUdTjrV0bn5ALtAl&amp;index=21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ko-KR" alt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589449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2786898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삼각형의 꼭대기에서 바닥까지 이어지는 경로 중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거쳐간 숫자의 합이 가장 큰 경우를 찾아보려고 한다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61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546695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268760"/>
            <a:ext cx="8058125" cy="970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4977" y="281630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4977" y="3313905"/>
            <a:ext cx="576064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977" y="374031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FFC000"/>
                </a:solidFill>
              </a:rPr>
              <a:t>i</a:t>
            </a:r>
            <a:endParaRPr lang="en-US" altLang="ko-KR" sz="2000" b="1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5173" y="421171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i+1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104" y="472021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L-1</a:t>
            </a:r>
          </a:p>
        </p:txBody>
      </p:sp>
      <p:sp>
        <p:nvSpPr>
          <p:cNvPr id="9" name="자유형 8"/>
          <p:cNvSpPr/>
          <p:nvPr/>
        </p:nvSpPr>
        <p:spPr>
          <a:xfrm>
            <a:off x="3766206" y="3265090"/>
            <a:ext cx="486137" cy="1655180"/>
          </a:xfrm>
          <a:custGeom>
            <a:avLst/>
            <a:gdLst>
              <a:gd name="connsiteX0" fmla="*/ 486137 w 486137"/>
              <a:gd name="connsiteY0" fmla="*/ 0 h 1655180"/>
              <a:gd name="connsiteX1" fmla="*/ 445626 w 486137"/>
              <a:gd name="connsiteY1" fmla="*/ 52086 h 1655180"/>
              <a:gd name="connsiteX2" fmla="*/ 428264 w 486137"/>
              <a:gd name="connsiteY2" fmla="*/ 63661 h 1655180"/>
              <a:gd name="connsiteX3" fmla="*/ 399327 w 486137"/>
              <a:gd name="connsiteY3" fmla="*/ 115747 h 1655180"/>
              <a:gd name="connsiteX4" fmla="*/ 347241 w 486137"/>
              <a:gd name="connsiteY4" fmla="*/ 173621 h 1655180"/>
              <a:gd name="connsiteX5" fmla="*/ 324091 w 486137"/>
              <a:gd name="connsiteY5" fmla="*/ 214132 h 1655180"/>
              <a:gd name="connsiteX6" fmla="*/ 277793 w 486137"/>
              <a:gd name="connsiteY6" fmla="*/ 272005 h 1655180"/>
              <a:gd name="connsiteX7" fmla="*/ 254643 w 486137"/>
              <a:gd name="connsiteY7" fmla="*/ 300942 h 1655180"/>
              <a:gd name="connsiteX8" fmla="*/ 243069 w 486137"/>
              <a:gd name="connsiteY8" fmla="*/ 324091 h 1655180"/>
              <a:gd name="connsiteX9" fmla="*/ 219919 w 486137"/>
              <a:gd name="connsiteY9" fmla="*/ 341454 h 1655180"/>
              <a:gd name="connsiteX10" fmla="*/ 214132 w 486137"/>
              <a:gd name="connsiteY10" fmla="*/ 364603 h 1655180"/>
              <a:gd name="connsiteX11" fmla="*/ 196770 w 486137"/>
              <a:gd name="connsiteY11" fmla="*/ 381965 h 1655180"/>
              <a:gd name="connsiteX12" fmla="*/ 185195 w 486137"/>
              <a:gd name="connsiteY12" fmla="*/ 399327 h 1655180"/>
              <a:gd name="connsiteX13" fmla="*/ 179408 w 486137"/>
              <a:gd name="connsiteY13" fmla="*/ 416689 h 1655180"/>
              <a:gd name="connsiteX14" fmla="*/ 150471 w 486137"/>
              <a:gd name="connsiteY14" fmla="*/ 462988 h 1655180"/>
              <a:gd name="connsiteX15" fmla="*/ 138897 w 486137"/>
              <a:gd name="connsiteY15" fmla="*/ 486137 h 1655180"/>
              <a:gd name="connsiteX16" fmla="*/ 115747 w 486137"/>
              <a:gd name="connsiteY16" fmla="*/ 503499 h 1655180"/>
              <a:gd name="connsiteX17" fmla="*/ 92598 w 486137"/>
              <a:gd name="connsiteY17" fmla="*/ 538223 h 1655180"/>
              <a:gd name="connsiteX18" fmla="*/ 75236 w 486137"/>
              <a:gd name="connsiteY18" fmla="*/ 561372 h 1655180"/>
              <a:gd name="connsiteX19" fmla="*/ 63661 w 486137"/>
              <a:gd name="connsiteY19" fmla="*/ 584522 h 1655180"/>
              <a:gd name="connsiteX20" fmla="*/ 46299 w 486137"/>
              <a:gd name="connsiteY20" fmla="*/ 601884 h 1655180"/>
              <a:gd name="connsiteX21" fmla="*/ 40512 w 486137"/>
              <a:gd name="connsiteY21" fmla="*/ 619246 h 1655180"/>
              <a:gd name="connsiteX22" fmla="*/ 28937 w 486137"/>
              <a:gd name="connsiteY22" fmla="*/ 636608 h 1655180"/>
              <a:gd name="connsiteX23" fmla="*/ 5788 w 486137"/>
              <a:gd name="connsiteY23" fmla="*/ 688694 h 1655180"/>
              <a:gd name="connsiteX24" fmla="*/ 0 w 486137"/>
              <a:gd name="connsiteY24" fmla="*/ 740780 h 1655180"/>
              <a:gd name="connsiteX25" fmla="*/ 5788 w 486137"/>
              <a:gd name="connsiteY25" fmla="*/ 868102 h 1655180"/>
              <a:gd name="connsiteX26" fmla="*/ 28937 w 486137"/>
              <a:gd name="connsiteY26" fmla="*/ 949124 h 1655180"/>
              <a:gd name="connsiteX27" fmla="*/ 57874 w 486137"/>
              <a:gd name="connsiteY27" fmla="*/ 983848 h 1655180"/>
              <a:gd name="connsiteX28" fmla="*/ 92598 w 486137"/>
              <a:gd name="connsiteY28" fmla="*/ 1024360 h 1655180"/>
              <a:gd name="connsiteX29" fmla="*/ 109960 w 486137"/>
              <a:gd name="connsiteY29" fmla="*/ 1035935 h 1655180"/>
              <a:gd name="connsiteX30" fmla="*/ 127322 w 486137"/>
              <a:gd name="connsiteY30" fmla="*/ 1053297 h 1655180"/>
              <a:gd name="connsiteX31" fmla="*/ 150471 w 486137"/>
              <a:gd name="connsiteY31" fmla="*/ 1070659 h 1655180"/>
              <a:gd name="connsiteX32" fmla="*/ 167833 w 486137"/>
              <a:gd name="connsiteY32" fmla="*/ 1082233 h 1655180"/>
              <a:gd name="connsiteX33" fmla="*/ 202557 w 486137"/>
              <a:gd name="connsiteY33" fmla="*/ 1105383 h 1655180"/>
              <a:gd name="connsiteX34" fmla="*/ 214132 w 486137"/>
              <a:gd name="connsiteY34" fmla="*/ 1128532 h 1655180"/>
              <a:gd name="connsiteX35" fmla="*/ 219919 w 486137"/>
              <a:gd name="connsiteY35" fmla="*/ 1151681 h 1655180"/>
              <a:gd name="connsiteX36" fmla="*/ 225707 w 486137"/>
              <a:gd name="connsiteY36" fmla="*/ 1169043 h 1655180"/>
              <a:gd name="connsiteX37" fmla="*/ 231494 w 486137"/>
              <a:gd name="connsiteY37" fmla="*/ 1197980 h 1655180"/>
              <a:gd name="connsiteX38" fmla="*/ 243069 w 486137"/>
              <a:gd name="connsiteY38" fmla="*/ 1273216 h 1655180"/>
              <a:gd name="connsiteX39" fmla="*/ 231494 w 486137"/>
              <a:gd name="connsiteY39" fmla="*/ 1354238 h 1655180"/>
              <a:gd name="connsiteX40" fmla="*/ 219919 w 486137"/>
              <a:gd name="connsiteY40" fmla="*/ 1371600 h 1655180"/>
              <a:gd name="connsiteX41" fmla="*/ 190983 w 486137"/>
              <a:gd name="connsiteY41" fmla="*/ 1423686 h 1655180"/>
              <a:gd name="connsiteX42" fmla="*/ 167833 w 486137"/>
              <a:gd name="connsiteY42" fmla="*/ 1464198 h 1655180"/>
              <a:gd name="connsiteX43" fmla="*/ 150471 w 486137"/>
              <a:gd name="connsiteY43" fmla="*/ 1475772 h 1655180"/>
              <a:gd name="connsiteX44" fmla="*/ 138897 w 486137"/>
              <a:gd name="connsiteY44" fmla="*/ 1498922 h 1655180"/>
              <a:gd name="connsiteX45" fmla="*/ 98385 w 486137"/>
              <a:gd name="connsiteY45" fmla="*/ 1539433 h 1655180"/>
              <a:gd name="connsiteX46" fmla="*/ 75236 w 486137"/>
              <a:gd name="connsiteY46" fmla="*/ 1574157 h 1655180"/>
              <a:gd name="connsiteX47" fmla="*/ 63661 w 486137"/>
              <a:gd name="connsiteY47" fmla="*/ 1591519 h 1655180"/>
              <a:gd name="connsiteX48" fmla="*/ 46299 w 486137"/>
              <a:gd name="connsiteY48" fmla="*/ 1608881 h 1655180"/>
              <a:gd name="connsiteX49" fmla="*/ 23150 w 486137"/>
              <a:gd name="connsiteY49" fmla="*/ 1649393 h 1655180"/>
              <a:gd name="connsiteX50" fmla="*/ 11575 w 486137"/>
              <a:gd name="connsiteY50" fmla="*/ 1655180 h 165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6137" h="1655180">
                <a:moveTo>
                  <a:pt x="486137" y="0"/>
                </a:moveTo>
                <a:cubicBezTo>
                  <a:pt x="472633" y="17362"/>
                  <a:pt x="460421" y="35811"/>
                  <a:pt x="445626" y="52086"/>
                </a:cubicBezTo>
                <a:cubicBezTo>
                  <a:pt x="440947" y="57233"/>
                  <a:pt x="432791" y="58380"/>
                  <a:pt x="428264" y="63661"/>
                </a:cubicBezTo>
                <a:cubicBezTo>
                  <a:pt x="406693" y="88828"/>
                  <a:pt x="415757" y="91102"/>
                  <a:pt x="399327" y="115747"/>
                </a:cubicBezTo>
                <a:cubicBezTo>
                  <a:pt x="376179" y="150469"/>
                  <a:pt x="375501" y="141324"/>
                  <a:pt x="347241" y="173621"/>
                </a:cubicBezTo>
                <a:cubicBezTo>
                  <a:pt x="325978" y="197921"/>
                  <a:pt x="344857" y="185060"/>
                  <a:pt x="324091" y="214132"/>
                </a:cubicBezTo>
                <a:cubicBezTo>
                  <a:pt x="309732" y="234235"/>
                  <a:pt x="293226" y="252714"/>
                  <a:pt x="277793" y="272005"/>
                </a:cubicBezTo>
                <a:cubicBezTo>
                  <a:pt x="270076" y="281651"/>
                  <a:pt x="260167" y="289893"/>
                  <a:pt x="254643" y="300942"/>
                </a:cubicBezTo>
                <a:cubicBezTo>
                  <a:pt x="250785" y="308658"/>
                  <a:pt x="248683" y="317541"/>
                  <a:pt x="243069" y="324091"/>
                </a:cubicBezTo>
                <a:cubicBezTo>
                  <a:pt x="236792" y="331415"/>
                  <a:pt x="227636" y="335666"/>
                  <a:pt x="219919" y="341454"/>
                </a:cubicBezTo>
                <a:cubicBezTo>
                  <a:pt x="217990" y="349170"/>
                  <a:pt x="218078" y="357697"/>
                  <a:pt x="214132" y="364603"/>
                </a:cubicBezTo>
                <a:cubicBezTo>
                  <a:pt x="210071" y="371709"/>
                  <a:pt x="202010" y="375678"/>
                  <a:pt x="196770" y="381965"/>
                </a:cubicBezTo>
                <a:cubicBezTo>
                  <a:pt x="192317" y="387308"/>
                  <a:pt x="189053" y="393540"/>
                  <a:pt x="185195" y="399327"/>
                </a:cubicBezTo>
                <a:cubicBezTo>
                  <a:pt x="183266" y="405114"/>
                  <a:pt x="182136" y="411233"/>
                  <a:pt x="179408" y="416689"/>
                </a:cubicBezTo>
                <a:cubicBezTo>
                  <a:pt x="157574" y="460358"/>
                  <a:pt x="168838" y="430845"/>
                  <a:pt x="150471" y="462988"/>
                </a:cubicBezTo>
                <a:cubicBezTo>
                  <a:pt x="146191" y="470478"/>
                  <a:pt x="144511" y="479587"/>
                  <a:pt x="138897" y="486137"/>
                </a:cubicBezTo>
                <a:cubicBezTo>
                  <a:pt x="132620" y="493461"/>
                  <a:pt x="122155" y="496290"/>
                  <a:pt x="115747" y="503499"/>
                </a:cubicBezTo>
                <a:cubicBezTo>
                  <a:pt x="106505" y="513896"/>
                  <a:pt x="100945" y="527094"/>
                  <a:pt x="92598" y="538223"/>
                </a:cubicBezTo>
                <a:cubicBezTo>
                  <a:pt x="86811" y="545939"/>
                  <a:pt x="80348" y="553193"/>
                  <a:pt x="75236" y="561372"/>
                </a:cubicBezTo>
                <a:cubicBezTo>
                  <a:pt x="70663" y="568688"/>
                  <a:pt x="68676" y="577502"/>
                  <a:pt x="63661" y="584522"/>
                </a:cubicBezTo>
                <a:cubicBezTo>
                  <a:pt x="58904" y="591182"/>
                  <a:pt x="52086" y="596097"/>
                  <a:pt x="46299" y="601884"/>
                </a:cubicBezTo>
                <a:cubicBezTo>
                  <a:pt x="44370" y="607671"/>
                  <a:pt x="43240" y="613790"/>
                  <a:pt x="40512" y="619246"/>
                </a:cubicBezTo>
                <a:cubicBezTo>
                  <a:pt x="37401" y="625467"/>
                  <a:pt x="31762" y="630252"/>
                  <a:pt x="28937" y="636608"/>
                </a:cubicBezTo>
                <a:cubicBezTo>
                  <a:pt x="1386" y="698597"/>
                  <a:pt x="31983" y="649399"/>
                  <a:pt x="5788" y="688694"/>
                </a:cubicBezTo>
                <a:cubicBezTo>
                  <a:pt x="3859" y="706056"/>
                  <a:pt x="0" y="723311"/>
                  <a:pt x="0" y="740780"/>
                </a:cubicBezTo>
                <a:cubicBezTo>
                  <a:pt x="0" y="783264"/>
                  <a:pt x="1561" y="825828"/>
                  <a:pt x="5788" y="868102"/>
                </a:cubicBezTo>
                <a:cubicBezTo>
                  <a:pt x="6242" y="872644"/>
                  <a:pt x="23130" y="940413"/>
                  <a:pt x="28937" y="949124"/>
                </a:cubicBezTo>
                <a:cubicBezTo>
                  <a:pt x="54522" y="987501"/>
                  <a:pt x="24450" y="944853"/>
                  <a:pt x="57874" y="983848"/>
                </a:cubicBezTo>
                <a:cubicBezTo>
                  <a:pt x="77035" y="1006203"/>
                  <a:pt x="71056" y="1006408"/>
                  <a:pt x="92598" y="1024360"/>
                </a:cubicBezTo>
                <a:cubicBezTo>
                  <a:pt x="97941" y="1028813"/>
                  <a:pt x="104617" y="1031482"/>
                  <a:pt x="109960" y="1035935"/>
                </a:cubicBezTo>
                <a:cubicBezTo>
                  <a:pt x="116247" y="1041175"/>
                  <a:pt x="121108" y="1047971"/>
                  <a:pt x="127322" y="1053297"/>
                </a:cubicBezTo>
                <a:cubicBezTo>
                  <a:pt x="134645" y="1059574"/>
                  <a:pt x="142622" y="1065053"/>
                  <a:pt x="150471" y="1070659"/>
                </a:cubicBezTo>
                <a:cubicBezTo>
                  <a:pt x="156131" y="1074702"/>
                  <a:pt x="162490" y="1077780"/>
                  <a:pt x="167833" y="1082233"/>
                </a:cubicBezTo>
                <a:cubicBezTo>
                  <a:pt x="196736" y="1106318"/>
                  <a:pt x="172044" y="1095211"/>
                  <a:pt x="202557" y="1105383"/>
                </a:cubicBezTo>
                <a:cubicBezTo>
                  <a:pt x="206415" y="1113099"/>
                  <a:pt x="211103" y="1120454"/>
                  <a:pt x="214132" y="1128532"/>
                </a:cubicBezTo>
                <a:cubicBezTo>
                  <a:pt x="216925" y="1135979"/>
                  <a:pt x="217734" y="1144033"/>
                  <a:pt x="219919" y="1151681"/>
                </a:cubicBezTo>
                <a:cubicBezTo>
                  <a:pt x="221595" y="1157547"/>
                  <a:pt x="224227" y="1163125"/>
                  <a:pt x="225707" y="1169043"/>
                </a:cubicBezTo>
                <a:cubicBezTo>
                  <a:pt x="228093" y="1178586"/>
                  <a:pt x="229734" y="1188302"/>
                  <a:pt x="231494" y="1197980"/>
                </a:cubicBezTo>
                <a:cubicBezTo>
                  <a:pt x="236845" y="1227413"/>
                  <a:pt x="238735" y="1242880"/>
                  <a:pt x="243069" y="1273216"/>
                </a:cubicBezTo>
                <a:cubicBezTo>
                  <a:pt x="242224" y="1280820"/>
                  <a:pt x="237312" y="1338724"/>
                  <a:pt x="231494" y="1354238"/>
                </a:cubicBezTo>
                <a:cubicBezTo>
                  <a:pt x="229052" y="1360751"/>
                  <a:pt x="223777" y="1365813"/>
                  <a:pt x="219919" y="1371600"/>
                </a:cubicBezTo>
                <a:cubicBezTo>
                  <a:pt x="209525" y="1423573"/>
                  <a:pt x="223824" y="1379897"/>
                  <a:pt x="190983" y="1423686"/>
                </a:cubicBezTo>
                <a:cubicBezTo>
                  <a:pt x="177366" y="1441842"/>
                  <a:pt x="183332" y="1448699"/>
                  <a:pt x="167833" y="1464198"/>
                </a:cubicBezTo>
                <a:cubicBezTo>
                  <a:pt x="162915" y="1469116"/>
                  <a:pt x="156258" y="1471914"/>
                  <a:pt x="150471" y="1475772"/>
                </a:cubicBezTo>
                <a:cubicBezTo>
                  <a:pt x="146613" y="1483489"/>
                  <a:pt x="144360" y="1492245"/>
                  <a:pt x="138897" y="1498922"/>
                </a:cubicBezTo>
                <a:cubicBezTo>
                  <a:pt x="126804" y="1513703"/>
                  <a:pt x="108978" y="1523543"/>
                  <a:pt x="98385" y="1539433"/>
                </a:cubicBezTo>
                <a:lnTo>
                  <a:pt x="75236" y="1574157"/>
                </a:lnTo>
                <a:cubicBezTo>
                  <a:pt x="71378" y="1579944"/>
                  <a:pt x="68579" y="1586601"/>
                  <a:pt x="63661" y="1591519"/>
                </a:cubicBezTo>
                <a:cubicBezTo>
                  <a:pt x="57874" y="1597306"/>
                  <a:pt x="51056" y="1602221"/>
                  <a:pt x="46299" y="1608881"/>
                </a:cubicBezTo>
                <a:cubicBezTo>
                  <a:pt x="34955" y="1624762"/>
                  <a:pt x="36815" y="1635728"/>
                  <a:pt x="23150" y="1649393"/>
                </a:cubicBezTo>
                <a:cubicBezTo>
                  <a:pt x="20100" y="1652443"/>
                  <a:pt x="15433" y="1653251"/>
                  <a:pt x="11575" y="1655180"/>
                </a:cubicBezTo>
              </a:path>
            </a:pathLst>
          </a:custGeom>
          <a:noFill/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2555776" y="2636912"/>
            <a:ext cx="3312368" cy="252028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/>
        </p:nvSpPr>
        <p:spPr>
          <a:xfrm>
            <a:off x="2699792" y="3265090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/>
          <p:cNvSpPr/>
          <p:nvPr/>
        </p:nvSpPr>
        <p:spPr>
          <a:xfrm>
            <a:off x="3347864" y="3297596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3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https://school.programmers.co.kr/learn/courses/30/lessons/42898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https://www.youtube.com/watch?v=UbTRCHdpflA&amp;list=PLg0hsGjqxAUZimgPzzUdTjrV0bn5ALtAl&amp;index=1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https://www.youtube.com/watch?v=SYmza_IHs9c&amp;list=PLg0hsGjqxAUZimgPzzUdTjrV0bn5ALtAl&amp;index=22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55576" y="5590981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80" y="2913524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913524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65804" y="5206124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0" y="2420888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20888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76" y="1178827"/>
            <a:ext cx="7279016" cy="936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2507893"/>
            <a:ext cx="941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(0,0)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1061" y="470222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(m-1,n-1)</a:t>
            </a:r>
          </a:p>
        </p:txBody>
      </p:sp>
    </p:spTree>
    <p:extLst>
      <p:ext uri="{BB962C8B-B14F-4D97-AF65-F5344CB8AC3E}">
        <p14:creationId xmlns:p14="http://schemas.microsoft.com/office/powerpoint/2010/main" val="110671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베스트 앨범 </a:t>
            </a:r>
            <a:r>
              <a:rPr lang="fr-FR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000" dirty="0"/>
              <a:t>https://school.programmers.co.kr/learn/courses/30/lessons/42579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별로 가장 많이 재생된 노래를 두 개씩 모아 베스트 앨범을 출시하려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노래는 고유 번호로 구분하며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노래를 수록하는 기준은 다음과 같습니다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속한 노래가 많이 재생된 장르를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많이 재생된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재생 횟수가 같은 노래 중에서는 고유 번호가 낮은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장르에 속한 곡이 하나라면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곡만 선택합니다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4F4C0D-968A-79CF-8CAD-DC1110870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9" y="4365104"/>
            <a:ext cx="7884368" cy="13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유저는 한 번에 한 명의 유저를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신고 횟수에 제한은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다른 유저를 계속해서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유저를 여러 번 신고할 수도 있지만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유저에 대한 신고 횟수는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회로 처리됩니다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이상 신고된 유저는 게시판 이용이 정지되며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해당 유저를 신고한 모든 유저에게 정지 사실을 메일로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유저가 신고한 모든 내용을 취합하여 마지막에 한꺼번에 게시판 이용 정지를 시키면서 정지 메일을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422AF-D135-5DEC-B715-D2D68C5B44DF}"/>
              </a:ext>
            </a:extLst>
          </p:cNvPr>
          <p:cNvSpPr txBox="1"/>
          <p:nvPr/>
        </p:nvSpPr>
        <p:spPr>
          <a:xfrm>
            <a:off x="539552" y="1172404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다음은 전체 유저 목록이 </a:t>
            </a:r>
            <a:r>
              <a:rPr lang="en-US" altLang="ko-KR" dirty="0"/>
              <a:t>["</a:t>
            </a:r>
            <a:r>
              <a:rPr lang="en-US" altLang="ko-KR" dirty="0" err="1"/>
              <a:t>muzi</a:t>
            </a:r>
            <a:r>
              <a:rPr lang="en-US" altLang="ko-KR" dirty="0"/>
              <a:t>", "</a:t>
            </a:r>
            <a:r>
              <a:rPr lang="en-US" altLang="ko-KR" dirty="0" err="1"/>
              <a:t>frodo</a:t>
            </a:r>
            <a:r>
              <a:rPr lang="en-US" altLang="ko-KR" dirty="0"/>
              <a:t>", "</a:t>
            </a:r>
            <a:r>
              <a:rPr lang="en-US" altLang="ko-KR" dirty="0" err="1"/>
              <a:t>apeach</a:t>
            </a:r>
            <a:r>
              <a:rPr lang="en-US" altLang="ko-KR" dirty="0"/>
              <a:t>", "neo"]</a:t>
            </a:r>
            <a:r>
              <a:rPr lang="ko-KR" altLang="en-US" dirty="0"/>
              <a:t>이고</a:t>
            </a:r>
            <a:r>
              <a:rPr lang="en-US" altLang="ko-KR" dirty="0"/>
              <a:t>, k = 2 (</a:t>
            </a:r>
            <a:r>
              <a:rPr lang="ko-KR" altLang="en-US" dirty="0"/>
              <a:t>즉</a:t>
            </a:r>
            <a:r>
              <a:rPr lang="en-US" altLang="ko-KR" dirty="0"/>
              <a:t>, 2</a:t>
            </a:r>
            <a:r>
              <a:rPr lang="ko-KR" altLang="en-US" dirty="0"/>
              <a:t>번 이상 신고 당하면 이용 정지</a:t>
            </a:r>
            <a:r>
              <a:rPr lang="en-US" altLang="ko-KR" dirty="0"/>
              <a:t>)</a:t>
            </a:r>
            <a:r>
              <a:rPr lang="ko-KR" altLang="en-US" dirty="0"/>
              <a:t>인 경우의 예시입니다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C0E967-254F-2353-E033-7331025E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8155"/>
            <a:ext cx="4708574" cy="40783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9180E-4305-4D57-1938-1188050C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473614"/>
            <a:ext cx="6238490" cy="203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AA785-4BEF-D354-B21E-97C9FD59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51175-74DB-2FD0-F7D9-3E025897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도둑질 </a:t>
            </a:r>
            <a:r>
              <a:rPr lang="en-US" altLang="ko-KR" sz="2800" dirty="0"/>
              <a:t>(Programmers, DP)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https://school.programmers.co.kr/learn/courses/30/lessons/42897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5F90F1-B0CB-34F0-6142-72BE31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0585A-805F-CA58-170C-D3B6E5DA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도둑이 어느 마을을 털 계획을 하고 있습니다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이 마을의 모든 집들은 아래 그림과 같이 </a:t>
            </a:r>
            <a:r>
              <a:rPr lang="ko-KR" altLang="en-US" sz="1800" b="1" dirty="0">
                <a:latin typeface="Open Sans" panose="020F0502020204030204" pitchFamily="34" charset="0"/>
              </a:rPr>
              <a:t>동그랗게 배치</a:t>
            </a:r>
            <a:r>
              <a:rPr lang="ko-KR" altLang="en-US" sz="1800" dirty="0">
                <a:latin typeface="Open Sans" panose="020F0502020204030204" pitchFamily="34" charset="0"/>
              </a:rPr>
              <a:t>되어 있습니다</a:t>
            </a:r>
            <a:r>
              <a:rPr lang="en-US" altLang="ko-KR" sz="1800" dirty="0">
                <a:latin typeface="Open Sans" panose="020F0502020204030204" pitchFamily="34" charset="0"/>
              </a:rPr>
              <a:t>. 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집들은 서로 인접한 집들과 방범장치가 연결되어 있기 때문에 </a:t>
            </a:r>
            <a:r>
              <a:rPr lang="ko-KR" altLang="en-US" sz="1800" b="1" dirty="0">
                <a:latin typeface="Open Sans" panose="020F0502020204030204" pitchFamily="34" charset="0"/>
              </a:rPr>
              <a:t>인접한 두 집을 털면 경보</a:t>
            </a:r>
            <a:r>
              <a:rPr lang="ko-KR" altLang="en-US" sz="1800" dirty="0">
                <a:latin typeface="Open Sans" panose="020F0502020204030204" pitchFamily="34" charset="0"/>
              </a:rPr>
              <a:t>가 울립니다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집에 있는 돈이 담긴 배열 </a:t>
            </a:r>
            <a:r>
              <a:rPr lang="en-US" altLang="ko-KR" sz="1800" dirty="0">
                <a:latin typeface="Open Sans" panose="020F0502020204030204" pitchFamily="34" charset="0"/>
              </a:rPr>
              <a:t>money</a:t>
            </a:r>
            <a:r>
              <a:rPr lang="ko-KR" altLang="en-US" sz="1800" dirty="0">
                <a:latin typeface="Open Sans" panose="020F0502020204030204" pitchFamily="34" charset="0"/>
              </a:rPr>
              <a:t>가 주어질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도둑이 훔칠 수 있는 돈의 최댓값을 </a:t>
            </a:r>
            <a:r>
              <a:rPr lang="en-US" altLang="ko-KR" sz="1800" dirty="0">
                <a:latin typeface="Open Sans" panose="020F0502020204030204" pitchFamily="34" charset="0"/>
              </a:rPr>
              <a:t>return </a:t>
            </a:r>
            <a:r>
              <a:rPr lang="ko-KR" altLang="en-US" sz="1800" dirty="0">
                <a:latin typeface="Open Sans" panose="020F0502020204030204" pitchFamily="34" charset="0"/>
              </a:rPr>
              <a:t>하도록 </a:t>
            </a:r>
            <a:r>
              <a:rPr lang="en-US" altLang="ko-KR" sz="1800" dirty="0">
                <a:latin typeface="Open Sans" panose="020F0502020204030204" pitchFamily="34" charset="0"/>
              </a:rPr>
              <a:t>solution </a:t>
            </a:r>
            <a:r>
              <a:rPr lang="ko-KR" altLang="en-US" sz="1800" dirty="0">
                <a:latin typeface="Open Sans" panose="020F0502020204030204" pitchFamily="34" charset="0"/>
              </a:rPr>
              <a:t>함수를 작성하세요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1A6CA3-633F-B289-C6C7-BA46FCF4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99" y="3284984"/>
            <a:ext cx="3285925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128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F1413-300B-0EFB-4096-E2DEE6B3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F06138C-1270-9BBA-3D6A-B07B51349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5422" y="1700808"/>
            <a:ext cx="4320480" cy="396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F2841-9779-7331-EAE9-D22BBBE8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874186-BB69-6F00-09C5-C47C390B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E75C87-6E7F-7634-41AB-F1A1F6181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844" y="274638"/>
            <a:ext cx="3485210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3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설탕배달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2839,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http://210.93.60.51/problem/0182</a:t>
            </a:r>
            <a:br>
              <a:rPr lang="en-US" altLang="ko-KR" sz="2000" dirty="0"/>
            </a:br>
            <a:r>
              <a:rPr lang="en-US" altLang="ko-KR" sz="2000" dirty="0"/>
              <a:t>https://www.acmicpc.net/problem/2839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킬로그램을 배달해야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설탕공장에서 만드는 설탕은 봉지에 담겨져 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봉지는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봉지와 </a:t>
            </a:r>
            <a:r>
              <a:rPr lang="en-US" altLang="ko-KR" sz="1800" b="1" dirty="0">
                <a:latin typeface="Open Sans" panose="020F0502020204030204" pitchFamily="34" charset="0"/>
              </a:rPr>
              <a:t>5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</a:t>
            </a:r>
            <a:r>
              <a:rPr lang="ko-KR" altLang="en-US" sz="1800" dirty="0">
                <a:latin typeface="Open Sans" panose="020F0502020204030204" pitchFamily="34" charset="0"/>
              </a:rPr>
              <a:t>가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상근이는 귀찮기 때문에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최대한 적은 봉지를 들고 가려고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18</a:t>
            </a:r>
            <a:r>
              <a:rPr lang="ko-KR" altLang="en-US" sz="1800" dirty="0">
                <a:latin typeface="Open Sans" panose="020F0502020204030204" pitchFamily="34" charset="0"/>
              </a:rPr>
              <a:t>킬로그램 설탕을 배달해야 할 때</a:t>
            </a:r>
            <a:r>
              <a:rPr lang="en-US" altLang="ko-KR" sz="1800" dirty="0">
                <a:latin typeface="Open Sans" panose="020F0502020204030204" pitchFamily="34" charset="0"/>
              </a:rPr>
              <a:t>, 3</a:t>
            </a:r>
            <a:r>
              <a:rPr lang="ko-KR" altLang="en-US" sz="1800" dirty="0">
                <a:latin typeface="Open Sans" panose="020F0502020204030204" pitchFamily="34" charset="0"/>
              </a:rPr>
              <a:t>킬로그램 봉지 </a:t>
            </a:r>
            <a:r>
              <a:rPr lang="en-US" altLang="ko-KR" sz="1800" dirty="0">
                <a:latin typeface="Open Sans" panose="020F0502020204030204" pitchFamily="34" charset="0"/>
              </a:rPr>
              <a:t>6</a:t>
            </a:r>
            <a:r>
              <a:rPr lang="ko-KR" altLang="en-US" sz="1800" dirty="0">
                <a:latin typeface="Open Sans" panose="020F0502020204030204" pitchFamily="34" charset="0"/>
              </a:rPr>
              <a:t>개를 가져가도 되지만</a:t>
            </a:r>
            <a:r>
              <a:rPr lang="en-US" altLang="ko-KR" sz="1800" dirty="0">
                <a:latin typeface="Open Sans" panose="020F0502020204030204" pitchFamily="34" charset="0"/>
              </a:rPr>
              <a:t>, 5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개와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개를 배달하면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더 적은 개수의 봉지를 배달할 수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상근이가 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배달해야 할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봉지 몇 개를 가져가면 되는지 그 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7" y="4885528"/>
            <a:ext cx="7861126" cy="1438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026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135D4-6DD5-5B4A-6148-7141FA61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FDCFD10-731C-1F7C-771F-B051ABAEB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7443" y="274638"/>
            <a:ext cx="8229600" cy="186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8617B-E23B-3828-E948-394A4A51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93F257-0CB9-1768-07D9-CA5B3D73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23796D-AA7D-0F5D-92B0-279D1994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251894"/>
            <a:ext cx="3792352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78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7. 1</a:t>
            </a:r>
            <a:r>
              <a:rPr lang="ko-KR" altLang="en-US" sz="2800" dirty="0"/>
              <a:t>로 만들기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1463,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http://210.93.60.51/problem/0183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https://www.acmicpc.net/problem/1463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정수 </a:t>
            </a:r>
            <a:r>
              <a:rPr lang="en-US" altLang="ko-KR" sz="1800" dirty="0">
                <a:latin typeface="Open Sans" panose="020F0502020204030204" pitchFamily="34" charset="0"/>
              </a:rPr>
              <a:t>X</a:t>
            </a:r>
            <a:r>
              <a:rPr lang="ko-KR" altLang="en-US" sz="1800" dirty="0">
                <a:latin typeface="Open Sans" panose="020F0502020204030204" pitchFamily="34" charset="0"/>
              </a:rPr>
              <a:t>에 사용할 수 있는 연산은 다음과 같이 세 가지 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1</a:t>
            </a:r>
            <a:r>
              <a:rPr lang="ko-KR" altLang="en-US" sz="1800" b="1" dirty="0">
                <a:latin typeface="Open Sans" panose="020F0502020204030204" pitchFamily="34" charset="0"/>
              </a:rPr>
              <a:t>을 뺀다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latin typeface="Open Sans" panose="020F0502020204030204" pitchFamily="34" charset="0"/>
              </a:rPr>
              <a:t>정수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이 주어졌을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위와 같은 연산 세 개를 적절히 사용해서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을 만들려고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b="1" dirty="0">
                <a:latin typeface="Open Sans" panose="020F0502020204030204" pitchFamily="34" charset="0"/>
              </a:rPr>
              <a:t>연산을 사용하는 횟수의 최솟값을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출력하시오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3" y="4437112"/>
            <a:ext cx="8014667" cy="13442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44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FE39A-CE97-2504-D496-A819413E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81C4715-BFA9-9242-0652-AB0EB01EE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95536" y="136525"/>
            <a:ext cx="8229600" cy="183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E4002-67A7-F5C0-109A-1553361E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904D4-5E38-AE9E-11BE-8E15E440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0B128E-7FC7-A59D-E681-26C587840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2034193"/>
            <a:ext cx="3259712" cy="452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9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8. </a:t>
            </a:r>
            <a:r>
              <a:rPr lang="ko-KR" altLang="en-US" sz="2800" dirty="0"/>
              <a:t>내려가기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2096,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https://www.acmicpc.net/problem/2096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줄에 </a:t>
            </a:r>
            <a:r>
              <a:rPr lang="en-US" altLang="ko-KR" sz="1800" b="1" dirty="0">
                <a:latin typeface="Open Sans" panose="020F0502020204030204" pitchFamily="34" charset="0"/>
              </a:rPr>
              <a:t>0 </a:t>
            </a:r>
            <a:r>
              <a:rPr lang="ko-KR" altLang="en-US" sz="1800" b="1" dirty="0">
                <a:latin typeface="Open Sans" panose="020F0502020204030204" pitchFamily="34" charset="0"/>
              </a:rPr>
              <a:t>이상 </a:t>
            </a:r>
            <a:r>
              <a:rPr lang="en-US" altLang="ko-KR" sz="1800" b="1" dirty="0">
                <a:latin typeface="Open Sans" panose="020F0502020204030204" pitchFamily="34" charset="0"/>
              </a:rPr>
              <a:t>9 </a:t>
            </a:r>
            <a:r>
              <a:rPr lang="ko-KR" altLang="en-US" sz="1800" b="1" dirty="0">
                <a:latin typeface="Open Sans" panose="020F0502020204030204" pitchFamily="34" charset="0"/>
              </a:rPr>
              <a:t>이하의 숫자가 세 개씩 적혀 있다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내려가기 게임을 하고 있는데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이 게임은 </a:t>
            </a:r>
            <a:r>
              <a:rPr lang="ko-KR" altLang="en-US" sz="1800" b="1" dirty="0">
                <a:latin typeface="Open Sans" panose="020F0502020204030204" pitchFamily="34" charset="0"/>
              </a:rPr>
              <a:t>첫 줄에서 시작해서 마지막 줄에서 끝나게 되는 놀이이다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먼저 처음에 적혀 있는 세 개의 숫자 중에서 하나를 골라서 시작하게 된다</a:t>
            </a:r>
            <a:r>
              <a:rPr lang="en-US" altLang="ko-KR" sz="1800" dirty="0">
                <a:latin typeface="Open Sans" panose="020F0502020204030204" pitchFamily="34" charset="0"/>
              </a:rPr>
              <a:t>.  </a:t>
            </a:r>
            <a:r>
              <a:rPr lang="ko-KR" altLang="en-US" sz="1800" dirty="0">
                <a:latin typeface="Open Sans" panose="020F0502020204030204" pitchFamily="34" charset="0"/>
              </a:rPr>
              <a:t>다음 줄로 내려갈 때에는 </a:t>
            </a:r>
            <a:r>
              <a:rPr lang="ko-KR" altLang="en-US" sz="1800" b="1" dirty="0">
                <a:latin typeface="Open Sans" panose="020F0502020204030204" pitchFamily="34" charset="0"/>
              </a:rPr>
              <a:t>다음과 같은 제약 조건이 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별표는 현재 위치이고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dirty="0" err="1">
                <a:latin typeface="Open Sans" panose="020F0502020204030204" pitchFamily="34" charset="0"/>
              </a:rPr>
              <a:t>아랫</a:t>
            </a:r>
            <a:r>
              <a:rPr lang="ko-KR" altLang="en-US" sz="1800" dirty="0">
                <a:latin typeface="Open Sans" panose="020F0502020204030204" pitchFamily="34" charset="0"/>
              </a:rPr>
              <a:t> 줄의 </a:t>
            </a:r>
            <a:r>
              <a:rPr lang="ko-KR" altLang="en-US" sz="1800" b="1" dirty="0">
                <a:latin typeface="Open Sans" panose="020F0502020204030204" pitchFamily="34" charset="0"/>
              </a:rPr>
              <a:t>파란 동그라미는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다음 줄로 내려갈 수 있는 위치이며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빨간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가위표는</a:t>
            </a:r>
            <a:r>
              <a:rPr lang="ko-KR" altLang="en-US" sz="1800" b="1" dirty="0">
                <a:latin typeface="Open Sans" panose="020F0502020204030204" pitchFamily="34" charset="0"/>
              </a:rPr>
              <a:t>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내려갈 수 없는 위치가 </a:t>
            </a:r>
            <a:r>
              <a:rPr lang="ko-KR" altLang="en-US" sz="1800" dirty="0">
                <a:latin typeface="Open Sans" panose="020F0502020204030204" pitchFamily="34" charset="0"/>
              </a:rPr>
              <a:t>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 err="1">
                <a:latin typeface="Open Sans" panose="020F0502020204030204" pitchFamily="34" charset="0"/>
              </a:rPr>
              <a:t>숫자표가</a:t>
            </a:r>
            <a:r>
              <a:rPr lang="ko-KR" altLang="en-US" sz="1800" dirty="0">
                <a:latin typeface="Open Sans" panose="020F0502020204030204" pitchFamily="34" charset="0"/>
              </a:rPr>
              <a:t> 주어져 있을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얻을 수 있는 </a:t>
            </a:r>
            <a:r>
              <a:rPr lang="ko-KR" altLang="en-US" sz="1800" b="1" dirty="0">
                <a:latin typeface="Open Sans" panose="020F0502020204030204" pitchFamily="34" charset="0"/>
              </a:rPr>
              <a:t>최대 점수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최소 점수를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881312"/>
            <a:ext cx="80391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6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9. </a:t>
            </a:r>
            <a:r>
              <a:rPr lang="ko-KR" altLang="en-US" sz="2800" dirty="0"/>
              <a:t>가장 큰 증가하는 부분 수열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11055,DP)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http://210.93.60.51/problem/0185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https://www.acmicpc.net/problem/11055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주어졌을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b="1" dirty="0">
                <a:latin typeface="Open Sans" panose="020F0502020204030204" pitchFamily="34" charset="0"/>
              </a:rPr>
              <a:t>수열의 증가하는 부분 수열 중에서 합이 가장 큰 것을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 = {1, 100, 2, 50, 60, 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인 경우에 합이 가장 큰 증가하는 부분 수열은 </a:t>
            </a:r>
            <a:r>
              <a:rPr lang="en-US" altLang="ko-KR" sz="1800" dirty="0">
                <a:latin typeface="Open Sans" panose="020F0502020204030204" pitchFamily="34" charset="0"/>
              </a:rPr>
              <a:t>A = {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en-US" altLang="ko-KR" sz="1800" dirty="0">
                <a:latin typeface="Open Sans" panose="020F0502020204030204" pitchFamily="34" charset="0"/>
              </a:rPr>
              <a:t>, 100,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2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50, 60, </a:t>
            </a:r>
            <a:r>
              <a:rPr lang="en-US" altLang="ko-KR" sz="1800" dirty="0">
                <a:latin typeface="Open Sans" panose="020F0502020204030204" pitchFamily="34" charset="0"/>
              </a:rPr>
              <a:t>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합은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113</a:t>
            </a:r>
            <a:r>
              <a:rPr lang="ko-KR" altLang="en-US" sz="1800" dirty="0">
                <a:latin typeface="Open Sans" panose="020F0502020204030204" pitchFamily="34" charset="0"/>
              </a:rPr>
              <a:t>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429000"/>
            <a:ext cx="7711777" cy="1640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753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8DE6-BFC4-7515-24A8-A8AC87EF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3A519-F783-50A8-ED79-D702E664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10. RGB</a:t>
            </a:r>
            <a:r>
              <a:rPr lang="ko-KR" altLang="en-US" sz="2800" dirty="0"/>
              <a:t>거리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1149, 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http://210.93.60.51/problem/0141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https://www.acmicpc.net/problem/1149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5EF35-03CF-3E4F-F1EE-1D0130E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3D03-50DE-7CB9-0A1E-409973EC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dirty="0">
                <a:latin typeface="Open Sans" panose="020F0502020204030204" pitchFamily="34" charset="0"/>
              </a:rPr>
              <a:t>RGB</a:t>
            </a:r>
            <a:r>
              <a:rPr lang="ko-KR" altLang="en-US" sz="1800" dirty="0">
                <a:latin typeface="Open Sans" panose="020F0502020204030204" pitchFamily="34" charset="0"/>
              </a:rPr>
              <a:t>거리에는 집이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번 집이 순서대로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집은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 중 하나의 색으로 칠해야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아래 규칙을 만족하면서 모든 집을 칠하는 비용의 최솟값을 구해보자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(2 ≤ </a:t>
            </a:r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 ≤ N-1)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색은 </a:t>
            </a:r>
            <a:r>
              <a:rPr lang="en-US" altLang="ko-KR" sz="1800" b="1" dirty="0">
                <a:latin typeface="Open Sans" panose="020F0502020204030204" pitchFamily="34" charset="0"/>
              </a:rPr>
              <a:t>i-1</a:t>
            </a:r>
            <a:r>
              <a:rPr lang="ko-KR" altLang="en-US" sz="1800" b="1" dirty="0">
                <a:latin typeface="Open Sans" panose="020F0502020204030204" pitchFamily="34" charset="0"/>
              </a:rPr>
              <a:t>번</a:t>
            </a:r>
            <a:r>
              <a:rPr lang="en-US" altLang="ko-KR" sz="1800" b="1" dirty="0">
                <a:latin typeface="Open Sans" panose="020F0502020204030204" pitchFamily="34" charset="0"/>
              </a:rPr>
              <a:t>, i+1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색과 같지 않아야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 집의 수 </a:t>
            </a:r>
            <a:r>
              <a:rPr lang="en-US" altLang="ko-KR" sz="1800" dirty="0">
                <a:latin typeface="Open Sans" panose="020F0502020204030204" pitchFamily="34" charset="0"/>
              </a:rPr>
              <a:t>N(2 ≤ N ≤ 1,000)</a:t>
            </a:r>
            <a:r>
              <a:rPr lang="ko-KR" altLang="en-US" sz="1800" dirty="0">
                <a:latin typeface="Open Sans" panose="020F0502020204030204" pitchFamily="34" charset="0"/>
              </a:rPr>
              <a:t>이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줄에는 각 집을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파랑으로 칠하는 비용이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한 줄에 하나씩 주어진다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63AAAA-9140-84C1-1554-069F1D551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08" y="4656504"/>
            <a:ext cx="6228184" cy="172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4831</TotalTime>
  <Words>1298</Words>
  <Application>Microsoft Office PowerPoint</Application>
  <PresentationFormat>화면 슬라이드 쇼(4:3)</PresentationFormat>
  <Paragraphs>127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Helvetica Neue</vt:lpstr>
      <vt:lpstr>굴림</vt:lpstr>
      <vt:lpstr>malgun gothic</vt:lpstr>
      <vt:lpstr>malgun gothic</vt:lpstr>
      <vt:lpstr>Arial</vt:lpstr>
      <vt:lpstr>Open Sans</vt:lpstr>
      <vt:lpstr>Office 테마</vt:lpstr>
      <vt:lpstr>숙제6. 다이나믹 프로그래밍</vt:lpstr>
      <vt:lpstr>백준 온라인저지  https://www.acmicpc.net/</vt:lpstr>
      <vt:lpstr>TUKorea 온라인저지  http://210.93.60.51/</vt:lpstr>
      <vt:lpstr>Programmers https://school.programmers.co.kr/</vt:lpstr>
      <vt:lpstr>1. 정수삼각형 (Programmers, DP)</vt:lpstr>
      <vt:lpstr>1. 정수삼각형 (Programmers, DP)</vt:lpstr>
      <vt:lpstr>2. 등굣길(Programmers, DP)</vt:lpstr>
      <vt:lpstr>2. 등굣길(Programmers, DP)</vt:lpstr>
      <vt:lpstr>3. 베스트 앨범 (Programmers, 구현)  https://school.programmers.co.kr/learn/courses/30/lessons/42579</vt:lpstr>
      <vt:lpstr>4. 신고결과받기 (Programmers, 구현)  https://school.programmers.co.kr/learn/courses/30/lessons/92334</vt:lpstr>
      <vt:lpstr>4. 신고결과받기 (Programmers, 구현)  https://school.programmers.co.kr/learn/courses/30/lessons/92334</vt:lpstr>
      <vt:lpstr>5. 도둑질 (Programmers, DP)  https://school.programmers.co.kr/learn/courses/30/lessons/42897</vt:lpstr>
      <vt:lpstr>PowerPoint 프레젠테이션</vt:lpstr>
      <vt:lpstr>6. 설탕배달 (TUKorea, 백준2839, DP)  http://210.93.60.51/problem/0182 https://www.acmicpc.net/problem/2839</vt:lpstr>
      <vt:lpstr>PowerPoint 프레젠테이션</vt:lpstr>
      <vt:lpstr>7. 1로 만들기 (TUKorea, 백준1463, DP)  http://210.93.60.51/problem/0183 https://www.acmicpc.net/problem/1463</vt:lpstr>
      <vt:lpstr>PowerPoint 프레젠테이션</vt:lpstr>
      <vt:lpstr>8. 내려가기 (TUKorea, 백준2096, DP)  http://210.93.60.51/problem/0184 https://www.acmicpc.net/problem/2096</vt:lpstr>
      <vt:lpstr>9. 가장 큰 증가하는 부분 수열 (TUKorea,백준11055,DP)  http://210.93.60.51/problem/0185 https://www.acmicpc.net/problem/11055</vt:lpstr>
      <vt:lpstr>10. RGB거리 (TUKorea,백준1149, DP)  http://210.93.60.51/problem/0141 https://www.acmicpc.net/problem/1149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267</cp:revision>
  <cp:lastPrinted>2023-07-23T09:30:34Z</cp:lastPrinted>
  <dcterms:created xsi:type="dcterms:W3CDTF">2008-03-02T04:39:19Z</dcterms:created>
  <dcterms:modified xsi:type="dcterms:W3CDTF">2026-04-30T02:00:59Z</dcterms:modified>
</cp:coreProperties>
</file>