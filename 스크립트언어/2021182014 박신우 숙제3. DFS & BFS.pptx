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84" r:id="rId1"/>
  </p:sldMasterIdLst>
  <p:notesMasterIdLst>
    <p:notesMasterId r:id="rId15"/>
  </p:notesMasterIdLst>
  <p:sldIdLst>
    <p:sldId id="258" r:id="rId2"/>
    <p:sldId id="269" r:id="rId3"/>
    <p:sldId id="335" r:id="rId4"/>
    <p:sldId id="259" r:id="rId5"/>
    <p:sldId id="336" r:id="rId6"/>
    <p:sldId id="337" r:id="rId7"/>
    <p:sldId id="339" r:id="rId8"/>
    <p:sldId id="345" r:id="rId9"/>
    <p:sldId id="346" r:id="rId10"/>
    <p:sldId id="341" r:id="rId11"/>
    <p:sldId id="343" r:id="rId12"/>
    <p:sldId id="344" r:id="rId13"/>
    <p:sldId id="342" r:id="rId14"/>
  </p:sldIdLst>
  <p:sldSz cx="9144000" cy="6858000" type="screen4x3"/>
  <p:notesSz cx="6796088" cy="9926638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1" autoAdjust="0"/>
    <p:restoredTop sz="94660"/>
  </p:normalViewPr>
  <p:slideViewPr>
    <p:cSldViewPr>
      <p:cViewPr varScale="1">
        <p:scale>
          <a:sx n="96" d="100"/>
          <a:sy n="96" d="100"/>
        </p:scale>
        <p:origin x="1276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4812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D755AD21-19C0-49A3-8C7F-3EE70D30FEBF}" type="datetimeFigureOut">
              <a:rPr lang="ko-KR" altLang="en-US"/>
              <a:pPr>
                <a:defRPr/>
              </a:pPr>
              <a:t>2026-04-01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14875"/>
            <a:ext cx="5437188" cy="4467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163"/>
            <a:ext cx="2944813" cy="4968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8163"/>
            <a:ext cx="2944812" cy="496887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F8CEB46D-9B0E-47D1-8684-1DB50B81E07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5363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364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399BD248-42D7-44D8-991C-BF0E4233C8AD}" type="slidenum">
              <a:rPr lang="ko-KR" altLang="en-US"/>
              <a:pPr>
                <a:spcBef>
                  <a:spcPct val="0"/>
                </a:spcBef>
              </a:pPr>
              <a:t>1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CE528-7F58-8114-7800-EFA490682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301D9848-AD40-DF15-D243-28D631A9CD52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091CA6EA-ABB6-24D8-9BAE-97421D8EE256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937960F0-1989-1616-5FDB-55CF6FAE0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833864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08FF79-6E0B-4FCD-4276-D4CAA1B9B7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>
            <a:extLst>
              <a:ext uri="{FF2B5EF4-FFF2-40B4-BE49-F238E27FC236}">
                <a16:creationId xmlns:a16="http://schemas.microsoft.com/office/drawing/2014/main" id="{2C6B5741-4F6C-4D1A-EEF6-369E9297ED61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>
            <a:extLst>
              <a:ext uri="{FF2B5EF4-FFF2-40B4-BE49-F238E27FC236}">
                <a16:creationId xmlns:a16="http://schemas.microsoft.com/office/drawing/2014/main" id="{73D3F1C7-091C-1E87-193D-1AF1F221AD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>
            <a:extLst>
              <a:ext uri="{FF2B5EF4-FFF2-40B4-BE49-F238E27FC236}">
                <a16:creationId xmlns:a16="http://schemas.microsoft.com/office/drawing/2014/main" id="{6F198135-18B5-ED7B-0127-7B81C3306D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73985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슬라이드 이미지 개체 틀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7411" name="슬라이드 노트 개체 틀 2"/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7412" name="슬라이드 번호 개체 틀 3"/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30000"/>
              </a:spcBef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>
              <a:spcBef>
                <a:spcPct val="0"/>
              </a:spcBef>
            </a:pPr>
            <a:fld id="{AE97164F-AFE0-47CF-AE29-34AF6F04086E}" type="slidenum">
              <a:rPr lang="ko-KR" altLang="en-US"/>
              <a:pPr>
                <a:spcBef>
                  <a:spcPct val="0"/>
                </a:spcBef>
              </a:pPr>
              <a:t>4</a:t>
            </a:fld>
            <a:endParaRPr lang="ko-KR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688F8-5F87-5720-444A-1721D475DE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00004F-D8EA-614A-3DBC-3E425426DA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B41AE31-036B-30BC-DCF7-1F84F0D2C2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3BF956-C273-78EE-309C-C157A256EC9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55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2295-AB65-DAB2-4B2B-6214B53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2FE399-1B8E-044C-8145-04FF4C8EB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CEA629-1B19-2CFA-FC0C-97ED8A476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750F-CB33-8A29-A3EA-4DE2D502A5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86028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4AF4A5-5617-2BA3-1998-B43431DBB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67605B-0E30-2C3F-90AB-0349812CBD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A6FCDA3-DE81-C79D-7CFA-90D64473B9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5E7FB2C-EF50-069C-CDBF-B40305EF9A5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2299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D8154-5674-3592-043C-ED5B85D562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196531-8DAF-7C4B-C085-A0F72FDF03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11258C-00BC-693E-9655-C702C0AED5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E7B02C-31F7-C577-64B6-706B91BEEA2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12291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A74AEE-7A0D-96F3-DC00-CD1982E99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D57D1CC-D413-2624-3D37-F91AFB7E4E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2FA2A9-8E56-659F-504C-F85BE86342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04232F-ADED-A902-AE9F-DE2B502B708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05099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3124B-599C-5A9B-55F1-49BCC6924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D513158-2355-0AA2-C25A-73B1481B6E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D9D15D-D6D3-443E-D4BB-0EE666F91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E741E-9D23-5E5B-30D8-2B51E1B6C0A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13615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32295-AB65-DAB2-4B2B-6214B5399D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2FE399-1B8E-044C-8145-04FF4C8EB9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ACEA629-1B19-2CFA-FC0C-97ED8A476A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76750F-CB33-8A29-A3EA-4DE2D502A5A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8CEB46D-9B0E-47D1-8684-1DB50B81E07A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8068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14313" y="6356350"/>
            <a:ext cx="2643187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29CDB7A-47E2-4059-8EF4-A0640D1BC94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92036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68346"/>
          </a:xfrm>
        </p:spPr>
        <p:txBody>
          <a:bodyPr/>
          <a:lstStyle>
            <a:lvl1pPr>
              <a:defRPr sz="36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57200" y="1285860"/>
            <a:ext cx="8229600" cy="484030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3733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A268DA64-E15D-4814-A1DA-86D92D550423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657845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26670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D6C9443-308F-41EB-9403-36E994EE3C1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393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D354F6A4-0517-45C2-862F-B475182F438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64194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날짜 개체 틀 6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9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0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1666478B-8FBF-4F39-8AAE-C744841EBA9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33225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2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4" name="날짜 개체 틀 2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  <a:endParaRPr lang="ko-KR" altLang="en-US" dirty="0"/>
          </a:p>
        </p:txBody>
      </p:sp>
      <p:sp>
        <p:nvSpPr>
          <p:cNvPr id="5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E7DB5AE-6182-458A-9442-7D0E5621EC3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877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3" name="날짜 개체 틀 1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4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DF7FABC-72A3-4036-B860-C8EA1438AE6D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17440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2B92AEAB-351F-4F89-A116-7A44E83E55A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6088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모서리가 둥근 직사각형 4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날짜 개체 틀 4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7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8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EE7A7B-3993-47B6-A1BC-0275495E6D5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6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C72FCFE9-07D1-4516-8BF2-C49BDADA48E1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67918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모서리가 둥근 직사각형 3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3"/>
          <p:cNvSpPr>
            <a:spLocks noGrp="1"/>
          </p:cNvSpPr>
          <p:nvPr>
            <p:ph type="dt" sz="half" idx="10"/>
          </p:nvPr>
        </p:nvSpPr>
        <p:spPr>
          <a:xfrm>
            <a:off x="0" y="6356350"/>
            <a:ext cx="25908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6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4C30A18C-D925-420F-814E-C2D3F93C5265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3783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제목 개체 틀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텍스트 개체 틀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214313" y="6356350"/>
            <a:ext cx="25717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1</a:t>
            </a:r>
            <a:r>
              <a:rPr lang="ko-KR" altLang="en-US"/>
              <a:t>학기 </a:t>
            </a:r>
            <a:r>
              <a:rPr lang="en-US" altLang="ko-KR"/>
              <a:t>STL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 smtClean="0">
                <a:solidFill>
                  <a:srgbClr val="898989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0749D700-1C6B-4D65-B91E-BEEB48FB19C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  <p:sp>
        <p:nvSpPr>
          <p:cNvPr id="7" name="모서리가 둥근 직사각형 6"/>
          <p:cNvSpPr/>
          <p:nvPr userDrawn="1"/>
        </p:nvSpPr>
        <p:spPr>
          <a:xfrm>
            <a:off x="142875" y="142875"/>
            <a:ext cx="8858250" cy="6572250"/>
          </a:xfrm>
          <a:prstGeom prst="roundRect">
            <a:avLst>
              <a:gd name="adj" fmla="val 7328"/>
            </a:avLst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latinLnBrk="1" hangingPunct="1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4157" r:id="rId1"/>
    <p:sldLayoutId id="2147484158" r:id="rId2"/>
    <p:sldLayoutId id="2147484159" r:id="rId3"/>
    <p:sldLayoutId id="2147484160" r:id="rId4"/>
    <p:sldLayoutId id="2147484161" r:id="rId5"/>
    <p:sldLayoutId id="2147484162" r:id="rId6"/>
    <p:sldLayoutId id="2147484163" r:id="rId7"/>
    <p:sldLayoutId id="2147484164" r:id="rId8"/>
    <p:sldLayoutId id="2147484165" r:id="rId9"/>
    <p:sldLayoutId id="2147484166" r:id="rId10"/>
    <p:sldLayoutId id="2147484167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3600" kern="1200">
          <a:solidFill>
            <a:srgbClr val="C00000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3600">
          <a:solidFill>
            <a:srgbClr val="C00000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rgbClr val="C00000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acmicpc.net/problem/1260" TargetMode="External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www.youtube.com/watch?v=uQ5oq802r9k&amp;list=PLg0hsGjqxAUZimgPzzUdTjrV0bn5ALtAl&amp;index=26" TargetMode="External"/><Relationship Id="rId4" Type="http://schemas.openxmlformats.org/officeDocument/2006/relationships/hyperlink" Target="https://www.youtube.com/watch?v=UQyUuiDRB1o&amp;list=PLg0hsGjqxAUZimgPzzUdTjrV0bn5ALtAl&amp;index=5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210.93.60.51/problem/0045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hyperlink" Target="https://www.youtube.com/watch?v=tjxW8sJf1Rg&amp;list=PLg0hsGjqxAUZimgPzzUdTjrV0bn5ALtAl&amp;index=28" TargetMode="External"/><Relationship Id="rId4" Type="http://schemas.openxmlformats.org/officeDocument/2006/relationships/hyperlink" Target="https://www.youtube.com/watch?v=_qNcHcGlp2s&amp;list=PLg0hsGjqxAUZimgPzzUdTjrV0bn5ALtAl&amp;index=7" TargetMode="Externa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ol.programmers.co.kr/learn/courses/30/lessons/43164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hyperlink" Target="https://www.youtube.com/watch?v=SPdMC1wNKDs&amp;list=PLg0hsGjqxAUZimgPzzUdTjrV0bn5ALtAl&amp;index=27" TargetMode="External"/><Relationship Id="rId4" Type="http://schemas.openxmlformats.org/officeDocument/2006/relationships/hyperlink" Target="https://www.youtube.com/watch?v=b1G0EsqOvr8&amp;list=PLg0hsGjqxAUZimgPzzUdTjrV0bn5ALtAl&amp;index=6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ko-KR" altLang="en-US" b="1" dirty="0">
                <a:solidFill>
                  <a:srgbClr val="0000FF"/>
                </a:solidFill>
              </a:rPr>
              <a:t>숙제</a:t>
            </a:r>
            <a:r>
              <a:rPr lang="en-US" altLang="ko-KR" b="1" dirty="0">
                <a:solidFill>
                  <a:srgbClr val="0000FF"/>
                </a:solidFill>
              </a:rPr>
              <a:t>3. DFS</a:t>
            </a:r>
            <a:r>
              <a:rPr lang="ko-KR" altLang="en-US" b="1" dirty="0">
                <a:solidFill>
                  <a:srgbClr val="0000FF"/>
                </a:solidFill>
              </a:rPr>
              <a:t> </a:t>
            </a:r>
            <a:r>
              <a:rPr lang="en-US" altLang="ko-KR" b="1" dirty="0">
                <a:solidFill>
                  <a:srgbClr val="0000FF"/>
                </a:solidFill>
              </a:rPr>
              <a:t>&amp; BFS</a:t>
            </a:r>
          </a:p>
        </p:txBody>
      </p:sp>
      <p:sp>
        <p:nvSpPr>
          <p:cNvPr id="14339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467544" y="3886200"/>
            <a:ext cx="8424936" cy="406896"/>
          </a:xfrm>
        </p:spPr>
        <p:txBody>
          <a:bodyPr/>
          <a:lstStyle/>
          <a:p>
            <a:pPr lvl="1" eaLnBrk="1" hangingPunct="1"/>
            <a:r>
              <a:rPr lang="ko-KR" altLang="en-US" dirty="0">
                <a:solidFill>
                  <a:schemeClr val="tx1"/>
                </a:solidFill>
              </a:rPr>
              <a:t>담당교수 </a:t>
            </a:r>
            <a:r>
              <a:rPr lang="en-US" altLang="ko-KR" dirty="0">
                <a:solidFill>
                  <a:schemeClr val="tx1"/>
                </a:solidFill>
              </a:rPr>
              <a:t>: </a:t>
            </a:r>
            <a:r>
              <a:rPr lang="ko-KR" altLang="en-US" dirty="0">
                <a:solidFill>
                  <a:schemeClr val="tx1"/>
                </a:solidFill>
              </a:rPr>
              <a:t>김영식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07E377-6501-AC88-60CF-FFCD8D9C88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149552DC-4336-108F-9F09-35F2F4EDA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2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7E901156-3666-1D61-B9AB-A579345EDEE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ko-KR" altLang="en-US" sz="2800" b="1" dirty="0">
                <a:solidFill>
                  <a:srgbClr val="0000FF"/>
                </a:solidFill>
              </a:rPr>
              <a:t>백준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https://www.acmicpc.net/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C570ED1C-A34A-AF1E-D534-A3DA190C182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백준 온라인저지</a:t>
            </a:r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“</a:t>
            </a:r>
            <a:r>
              <a:rPr lang="ko-KR" altLang="en-US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맞았습니다</a:t>
            </a:r>
            <a:r>
              <a:rPr lang="en-US" altLang="ko-KR" b="1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!!”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85" y="4725144"/>
            <a:ext cx="8268915" cy="144016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516" y="2223976"/>
            <a:ext cx="4722093" cy="250116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7097186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FC8DD9-884D-A67C-7FF6-BE2052E40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>
            <a:extLst>
              <a:ext uri="{FF2B5EF4-FFF2-40B4-BE49-F238E27FC236}">
                <a16:creationId xmlns:a16="http://schemas.microsoft.com/office/drawing/2014/main" id="{0900215C-78E8-FFC3-D66F-318826C1BE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3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>
            <a:extLst>
              <a:ext uri="{FF2B5EF4-FFF2-40B4-BE49-F238E27FC236}">
                <a16:creationId xmlns:a16="http://schemas.microsoft.com/office/drawing/2014/main" id="{15DEA275-57E7-EE18-C236-75AE335D57B0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 err="1">
                <a:solidFill>
                  <a:srgbClr val="0000FF"/>
                </a:solidFill>
              </a:rPr>
              <a:t>TUKorea</a:t>
            </a:r>
            <a:r>
              <a:rPr lang="ko-KR" altLang="en-US" sz="2800" b="1" dirty="0">
                <a:solidFill>
                  <a:srgbClr val="0000FF"/>
                </a:solidFill>
              </a:rPr>
              <a:t> 온라인저지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 http://210.93.60.51/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>
            <a:extLst>
              <a:ext uri="{FF2B5EF4-FFF2-40B4-BE49-F238E27FC236}">
                <a16:creationId xmlns:a16="http://schemas.microsoft.com/office/drawing/2014/main" id="{5E7D3A3B-FF86-CC36-AECA-71BBAFB9252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062433"/>
          </a:xfrm>
        </p:spPr>
        <p:txBody>
          <a:bodyPr/>
          <a:lstStyle/>
          <a:p>
            <a:pPr algn="l"/>
            <a:r>
              <a:rPr lang="en-US" altLang="ko-KR" b="0" i="0" dirty="0" err="1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TUKorea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온라인저지는 </a:t>
            </a:r>
            <a:r>
              <a:rPr lang="ko-KR" altLang="en-US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반드시 학번으로</a:t>
            </a:r>
            <a:r>
              <a:rPr lang="en-US" altLang="ko-KR" b="1" i="0" dirty="0">
                <a:solidFill>
                  <a:srgbClr val="FF0000"/>
                </a:solidFill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Accepted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 샷 제출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FD442A2-9A74-208C-4235-0D0C2DBF94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5513" y="2132856"/>
            <a:ext cx="5972973" cy="4522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7889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번호 개체 틀 4"/>
          <p:cNvSpPr>
            <a:spLocks noGrp="1"/>
          </p:cNvSpPr>
          <p:nvPr>
            <p:ph type="sldNum" sz="quarter" idx="12"/>
          </p:nvPr>
        </p:nvSpPr>
        <p:spPr bwMode="auto">
          <a:xfrm>
            <a:off x="8572500" y="6357938"/>
            <a:ext cx="233363" cy="365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742950" indent="-285750" latinLnBrk="1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 marL="1143000" indent="-228600" latinLnBrk="1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 marL="1600200" indent="-228600" latinLnBrk="1">
              <a:spcBef>
                <a:spcPct val="20000"/>
              </a:spcBef>
              <a:buFont typeface="Arial" panose="020B0604020202020204" pitchFamily="34" charset="0"/>
              <a:buChar char="–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 marL="2057400" indent="-228600" latinLnBrk="1">
              <a:spcBef>
                <a:spcPct val="20000"/>
              </a:spcBef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16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fld id="{BC3C6B57-3855-4E64-AEE7-8610084F94D2}" type="slidenum">
              <a:rPr lang="en-US" altLang="ko-KR" sz="1200">
                <a:solidFill>
                  <a:srgbClr val="898989"/>
                </a:solidFill>
              </a:rPr>
              <a:pPr algn="ctr">
                <a:spcBef>
                  <a:spcPct val="0"/>
                </a:spcBef>
                <a:buFontTx/>
                <a:buNone/>
              </a:pPr>
              <a:t>4</a:t>
            </a:fld>
            <a:endParaRPr lang="en-US" altLang="ko-KR" sz="1200">
              <a:solidFill>
                <a:srgbClr val="898989"/>
              </a:solidFill>
            </a:endParaRPr>
          </a:p>
        </p:txBody>
      </p:sp>
      <p:sp>
        <p:nvSpPr>
          <p:cNvPr id="16387" name="Rectangle 2"/>
          <p:cNvSpPr>
            <a:spLocks noGrp="1" noRot="1" noChangeArrowheads="1"/>
          </p:cNvSpPr>
          <p:nvPr>
            <p:ph type="title"/>
          </p:nvPr>
        </p:nvSpPr>
        <p:spPr>
          <a:xfrm>
            <a:off x="457200" y="274638"/>
            <a:ext cx="8229600" cy="868362"/>
          </a:xfrm>
        </p:spPr>
        <p:txBody>
          <a:bodyPr/>
          <a:lstStyle/>
          <a:p>
            <a:pPr eaLnBrk="1" hangingPunct="1"/>
            <a:r>
              <a:rPr lang="en-US" altLang="ko-KR" sz="2800" b="1" dirty="0">
                <a:solidFill>
                  <a:srgbClr val="0000FF"/>
                </a:solidFill>
              </a:rPr>
              <a:t>Programmers</a:t>
            </a:r>
            <a:br>
              <a:rPr lang="en-US" altLang="ko-KR" sz="2800" b="1" dirty="0">
                <a:solidFill>
                  <a:srgbClr val="0000FF"/>
                </a:solidFill>
              </a:rPr>
            </a:br>
            <a:r>
              <a:rPr lang="en-US" altLang="ko-KR" sz="2800" b="1" dirty="0">
                <a:solidFill>
                  <a:srgbClr val="0000FF"/>
                </a:solidFill>
                <a:latin typeface="malgun gothic" panose="020B0503020000020004" pitchFamily="50" charset="-127"/>
                <a:ea typeface="malgun gothic" panose="020B0503020000020004" pitchFamily="50" charset="-127"/>
              </a:rPr>
              <a:t>https://school.programmers.co.kr/</a:t>
            </a:r>
            <a:endParaRPr lang="ko-KR" altLang="en-US" sz="2800" b="1" dirty="0">
              <a:solidFill>
                <a:srgbClr val="0000FF"/>
              </a:solidFill>
            </a:endParaRPr>
          </a:p>
        </p:txBody>
      </p:sp>
      <p:sp>
        <p:nvSpPr>
          <p:cNvPr id="16388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251520" y="1214439"/>
            <a:ext cx="8892480" cy="1278458"/>
          </a:xfrm>
        </p:spPr>
        <p:txBody>
          <a:bodyPr/>
          <a:lstStyle/>
          <a:p>
            <a:pPr algn="l"/>
            <a:r>
              <a:rPr lang="en-US" altLang="ko-KR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Programmers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회원가입하고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문제를 </a:t>
            </a:r>
            <a:r>
              <a:rPr lang="ko-KR" altLang="en-US" b="0" i="0" dirty="0">
                <a:effectLst/>
                <a:latin typeface="malgun gothic" panose="020B0503020000020004" pitchFamily="50" charset="-127"/>
                <a:ea typeface="malgun gothic" panose="020B0503020000020004" pitchFamily="50" charset="-127"/>
              </a:rPr>
              <a:t>해결</a:t>
            </a:r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해당 문제 </a:t>
            </a:r>
            <a:r>
              <a:rPr lang="ko-KR" altLang="en-US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소스코드와 통과</a:t>
            </a:r>
            <a:r>
              <a:rPr lang="en-US" altLang="ko-KR" b="1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 </a:t>
            </a:r>
            <a:r>
              <a:rPr lang="ko-KR" altLang="en-US" dirty="0">
                <a:latin typeface="malgun gothic" panose="020B0503020000020004" pitchFamily="50" charset="-127"/>
                <a:ea typeface="malgun gothic" panose="020B0503020000020004" pitchFamily="50" charset="-127"/>
              </a:rPr>
              <a:t>스크린 샷 제출</a:t>
            </a:r>
            <a:endParaRPr lang="en-US" altLang="ko-KR" dirty="0">
              <a:latin typeface="malgun gothic" panose="020B0503020000020004" pitchFamily="50" charset="-127"/>
              <a:ea typeface="malgun gothic" panose="020B0503020000020004" pitchFamily="50" charset="-127"/>
            </a:endParaRPr>
          </a:p>
          <a:p>
            <a:pPr algn="l"/>
            <a:endParaRPr lang="en-US" altLang="ko-KR" b="0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757046F-BA5C-9133-150D-0D37D082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9116" y="2204864"/>
            <a:ext cx="5845767" cy="43784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AC85E7-3CF8-67B9-A10A-EE026569C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03BD85-67F7-DB37-CA40-0BD36E03B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858218"/>
          </a:xfrm>
        </p:spPr>
        <p:txBody>
          <a:bodyPr/>
          <a:lstStyle/>
          <a:p>
            <a:r>
              <a:rPr lang="en-US" altLang="ko-KR" sz="3200" dirty="0"/>
              <a:t>1. DFS</a:t>
            </a:r>
            <a:r>
              <a:rPr lang="ko-KR" altLang="en-US" sz="3200" dirty="0"/>
              <a:t>와 </a:t>
            </a:r>
            <a:r>
              <a:rPr lang="en-US" altLang="ko-KR" sz="3200" dirty="0"/>
              <a:t>BFS (</a:t>
            </a:r>
            <a:r>
              <a:rPr lang="ko-KR" altLang="en-US" sz="3200" dirty="0"/>
              <a:t>백준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https://www.acmicpc.net/problem/1260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https://www.youtube.com/watch?v=UQyUuiDRB1o&amp;list=PLg0hsGjqxAUZimgPzzUdTjrV0bn5ALtAl&amp;index=5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https://www.youtube.com/watch?v=uQ5oq802r9k&amp;list=PLg0hsGjqxAUZimgPzzUdTjrV0bn5ALtAl&amp;index=26</a:t>
            </a:r>
            <a:br>
              <a:rPr lang="en-US" altLang="ko-KR" sz="1600" dirty="0">
                <a:solidFill>
                  <a:srgbClr val="0000FF"/>
                </a:solidFill>
              </a:rPr>
            </a:b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203ADC-4566-9C05-FA6F-37E1FF24D5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844824"/>
            <a:ext cx="8229600" cy="4281339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그래프를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DFS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로 탐색한 결과와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BFS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로 탐색한 결과를 출력하는 프로그램을 </a:t>
            </a:r>
            <a:r>
              <a:rPr lang="ko-KR" altLang="en-US" sz="20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단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방문할 수 있는 정점이 여러 개인 경우에는 정점 번호가 작은 것을 먼저 방문하고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더 이상 방문할 수 있는 점이 없는 경우 종료한다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정점 번호는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번부터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N</a:t>
            </a:r>
            <a:r>
              <a:rPr lang="ko-KR" altLang="en-US" sz="2000" b="0" i="0" dirty="0" err="1">
                <a:effectLst/>
                <a:latin typeface="Open Sans" panose="020F0502020204030204" pitchFamily="34" charset="0"/>
              </a:rPr>
              <a:t>번까지이다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336FE90-6B8C-ACA4-E1F1-D5ABAAB50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651954E7-C108-EFB3-78D5-9D3A3FD3F7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528" y="4177939"/>
            <a:ext cx="8568952" cy="2347405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06635B26-5451-17D8-CA6A-1A61ECBFB5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79712" y="3550448"/>
            <a:ext cx="6668351" cy="2614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3708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E60-3252-0419-2091-13B8382A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E1D5C-3F84-77F4-B8C1-55E4EABC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2. </a:t>
            </a:r>
            <a:r>
              <a:rPr lang="ko-KR" altLang="en-US" sz="3200" dirty="0" err="1"/>
              <a:t>순박꼭질</a:t>
            </a:r>
            <a:r>
              <a:rPr lang="ko-KR" altLang="en-US" sz="3200" dirty="0"/>
              <a:t>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BFS</a:t>
            </a:r>
            <a:r>
              <a:rPr lang="ko-KR" altLang="en-US" sz="3200" dirty="0"/>
              <a:t>최단거리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https://www.acmicpc.net/problem/1697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3403D-C1EA-3FA9-2534-69D55DD42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수빈이는 동생과 숨바꼭질을 하고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수빈이는 현재 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N(0 ≤ N ≤ 100,000)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에 있고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동생은 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K(0 ≤ K ≤ 100,000)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에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수빈이는 걷거나 순간이동을 할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만약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수빈이의 위치가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X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일 때 걷는다면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초 후에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X-1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또는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X+1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로 이동하게 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순간이동을 하는 경우에는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초 후에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2*X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의 위치로 이동하게 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수빈이와 동생의 위치가 주어졌을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수빈이가 동생을 찾을 수 있는 가장 빠른 시간이 몇 초 후인지 구하는 프로그램을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C6C31A-B43C-7BA1-2990-42B676EF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897AE92-6E72-0BD7-C162-0A5E50A2BA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6104" y="3861048"/>
            <a:ext cx="7164288" cy="16857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49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1BDCB5-7F53-214B-6C61-C92019CB9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EFEF50-ACBE-B55A-3CD9-ECD0968B96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714202"/>
          </a:xfrm>
        </p:spPr>
        <p:txBody>
          <a:bodyPr/>
          <a:lstStyle/>
          <a:p>
            <a:r>
              <a:rPr lang="en-US" altLang="ko-KR" sz="2800" dirty="0"/>
              <a:t>3. </a:t>
            </a:r>
            <a:r>
              <a:rPr lang="ko-KR" altLang="en-US" sz="2800" dirty="0"/>
              <a:t>중요한 교차로 </a:t>
            </a:r>
            <a:r>
              <a:rPr lang="en-US" altLang="ko-KR" sz="2800" dirty="0"/>
              <a:t>(</a:t>
            </a:r>
            <a:r>
              <a:rPr lang="en-US" altLang="ko-KR" sz="2800" dirty="0" err="1"/>
              <a:t>TUKorea</a:t>
            </a:r>
            <a:r>
              <a:rPr lang="en-US" altLang="ko-KR" sz="2800" dirty="0"/>
              <a:t>, DFS/BFS</a:t>
            </a:r>
            <a:r>
              <a:rPr lang="ko-KR" altLang="en-US" sz="2800" dirty="0"/>
              <a:t>완전탐색</a:t>
            </a:r>
            <a:r>
              <a:rPr lang="en-US" altLang="ko-KR" sz="2800" dirty="0"/>
              <a:t>)</a:t>
            </a:r>
            <a:br>
              <a:rPr lang="en-US" altLang="ko-KR" sz="2800" dirty="0"/>
            </a:br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http://210.93.60.51/problem/0045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https://www.youtube.com/watch?v=_qNcHcGlp2s&amp;list=PLg0hsGjqxAUZimgPzzUdTjrV0bn5ALtAl&amp;index=7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https://www.youtube.com/watch?v=tjxW8sJf1Rg&amp;list=PLg0hsGjqxAUZimgPzzUdTjrV0bn5ALtAl&amp;index=28</a:t>
            </a:r>
            <a:br>
              <a:rPr lang="en-US" altLang="ko-KR" sz="1600" dirty="0">
                <a:solidFill>
                  <a:srgbClr val="0000FF"/>
                </a:solidFill>
              </a:rPr>
            </a:b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ABA8CA-B1A0-8B3D-CAB9-27BB454F48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88840"/>
            <a:ext cx="8229600" cy="4137323"/>
          </a:xfrm>
        </p:spPr>
        <p:txBody>
          <a:bodyPr/>
          <a:lstStyle/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도로는 모두 양방향 통행이 가능하며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모든 교차로를 이용할 수 있다면 어느 교차로에서 든지 다른 교차로로 갈 수 있습니다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교차로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J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에서 교차로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K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를 가려면 반드시 교차로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I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를 통과해야 한다면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교차로 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I</a:t>
            </a:r>
            <a:r>
              <a:rPr lang="ko-KR" altLang="en-US" sz="2000" b="0" i="0" dirty="0">
                <a:effectLst/>
                <a:latin typeface="Open Sans" panose="020F0502020204030204" pitchFamily="34" charset="0"/>
              </a:rPr>
              <a:t>를 중요한 교차로 라고 합니다</a:t>
            </a:r>
            <a:r>
              <a:rPr lang="en-US" altLang="ko-KR" sz="20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2000" dirty="0">
                <a:latin typeface="Open Sans" panose="020F0502020204030204" pitchFamily="34" charset="0"/>
              </a:rPr>
              <a:t>A </a:t>
            </a:r>
            <a:r>
              <a:rPr lang="ko-KR" altLang="en-US" sz="2000" dirty="0">
                <a:latin typeface="Open Sans" panose="020F0502020204030204" pitchFamily="34" charset="0"/>
              </a:rPr>
              <a:t>교차로가 중요한 교차로라면</a:t>
            </a:r>
            <a:r>
              <a:rPr lang="en-US" altLang="ko-KR" sz="2000" dirty="0">
                <a:latin typeface="Open Sans" panose="020F0502020204030204" pitchFamily="34" charset="0"/>
              </a:rPr>
              <a:t>, A </a:t>
            </a:r>
            <a:r>
              <a:rPr lang="ko-KR" altLang="en-US" sz="2000" dirty="0">
                <a:latin typeface="Open Sans" panose="020F0502020204030204" pitchFamily="34" charset="0"/>
              </a:rPr>
              <a:t>교차로를 제외한 다른 임의의 교차로에서 시작해서 나머지 모든 교차로들을 방문하려고 할 때 하나라도 방문하지 못하는 교차로가 존재한다</a:t>
            </a:r>
            <a:r>
              <a:rPr lang="en-US" altLang="ko-KR" sz="2000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en-US" altLang="ko-KR" sz="2000" dirty="0"/>
              <a:t>I2</a:t>
            </a:r>
            <a:r>
              <a:rPr lang="ko-KR" altLang="en-US" sz="2000" dirty="0"/>
              <a:t> </a:t>
            </a:r>
            <a:r>
              <a:rPr lang="en-US" altLang="ko-KR" sz="2000" dirty="0"/>
              <a:t>=</a:t>
            </a:r>
            <a:r>
              <a:rPr lang="ko-KR" altLang="en-US" sz="2000" dirty="0"/>
              <a:t> 중요한 교차로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345AAE8-FF1A-38EE-FB83-8DBB91949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  <p:pic>
        <p:nvPicPr>
          <p:cNvPr id="1026" name="Picture 2" descr="Image">
            <a:extLst>
              <a:ext uri="{FF2B5EF4-FFF2-40B4-BE49-F238E27FC236}">
                <a16:creationId xmlns:a16="http://schemas.microsoft.com/office/drawing/2014/main" id="{F2C50E13-0EE7-BA83-B682-C8FE9E99B3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8063" y="4005064"/>
            <a:ext cx="3704411" cy="25645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9540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6C94C4-8C86-4FEB-B781-E2CD83BCE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중요한 교차로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DFS/BFS</a:t>
            </a:r>
            <a:r>
              <a:rPr lang="ko-KR" altLang="en-US" dirty="0"/>
              <a:t>완전탐색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D356AC82-3574-ED61-0405-1E718D1B2F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448343" y="1340768"/>
            <a:ext cx="8229600" cy="28467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DE2542F-7CFD-E261-BEDF-46F7CD2C24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B13EC21-6148-E846-3280-3373FEF2B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15821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E13D73-23DE-A052-A63D-D7AED4824A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중요한 교차로 </a:t>
            </a:r>
            <a:r>
              <a:rPr lang="en-US" altLang="ko-KR" dirty="0"/>
              <a:t>(</a:t>
            </a:r>
            <a:r>
              <a:rPr lang="en-US" altLang="ko-KR" dirty="0" err="1"/>
              <a:t>TUKorea</a:t>
            </a:r>
            <a:r>
              <a:rPr lang="en-US" altLang="ko-KR" dirty="0"/>
              <a:t>, DFS/BFS</a:t>
            </a:r>
            <a:r>
              <a:rPr lang="ko-KR" altLang="en-US" dirty="0"/>
              <a:t>완전탐색</a:t>
            </a:r>
            <a:r>
              <a:rPr lang="en-US" altLang="ko-KR" dirty="0"/>
              <a:t>)</a:t>
            </a:r>
            <a:endParaRPr lang="ko-KR" altLang="en-US" dirty="0"/>
          </a:p>
        </p:txBody>
      </p:sp>
      <p:pic>
        <p:nvPicPr>
          <p:cNvPr id="7" name="내용 개체 틀 6">
            <a:extLst>
              <a:ext uri="{FF2B5EF4-FFF2-40B4-BE49-F238E27FC236}">
                <a16:creationId xmlns:a16="http://schemas.microsoft.com/office/drawing/2014/main" id="{A30F3F89-2BB6-B309-8B73-F52FA5140D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 bwMode="auto">
          <a:xfrm>
            <a:off x="971600" y="1142984"/>
            <a:ext cx="3474541" cy="4840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0267631-2A3D-06FE-9C3C-B2AA5B3A7A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2008</a:t>
            </a:r>
            <a:r>
              <a:rPr lang="ko-KR" altLang="en-US"/>
              <a:t>년</a:t>
            </a:r>
            <a:r>
              <a:rPr lang="en-US" altLang="ko-KR"/>
              <a:t>2</a:t>
            </a:r>
            <a:r>
              <a:rPr lang="ko-KR" altLang="en-US"/>
              <a:t>학기 </a:t>
            </a:r>
            <a:r>
              <a:rPr lang="en-US" altLang="ko-KR"/>
              <a:t>3D</a:t>
            </a:r>
            <a:r>
              <a:rPr lang="ko-KR" altLang="en-US"/>
              <a:t>게임프로그래밍</a:t>
            </a:r>
            <a:r>
              <a:rPr lang="en-US" altLang="ko-KR"/>
              <a:t>II </a:t>
            </a:r>
            <a:r>
              <a:rPr lang="ko-KR" altLang="en-US"/>
              <a:t>담당교수</a:t>
            </a:r>
            <a:r>
              <a:rPr lang="en-US" altLang="ko-KR"/>
              <a:t>:</a:t>
            </a:r>
            <a:r>
              <a:rPr lang="ko-KR" altLang="en-US"/>
              <a:t>김영식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D0E14D5-43FE-F8AE-47E9-6FEC757F62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FE143F9-B5B7-8985-67B3-A1FF53494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992" y="2132856"/>
            <a:ext cx="4336725" cy="3729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32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182D6-7C3A-1450-0957-0736228992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FC0AAC-B616-D4EC-909C-ECC3F2A8B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642194"/>
          </a:xfrm>
        </p:spPr>
        <p:txBody>
          <a:bodyPr/>
          <a:lstStyle/>
          <a:p>
            <a:r>
              <a:rPr lang="en-US" altLang="ko-KR" sz="2800" dirty="0"/>
              <a:t>4. </a:t>
            </a:r>
            <a:r>
              <a:rPr lang="ko-KR" altLang="en-US" sz="2800" dirty="0"/>
              <a:t>여행경로</a:t>
            </a:r>
            <a:r>
              <a:rPr lang="en-US" altLang="ko-KR" sz="2800" dirty="0"/>
              <a:t>(Programmers, DFS)</a:t>
            </a:r>
            <a:br>
              <a:rPr lang="en-US" altLang="ko-KR" sz="2800" dirty="0"/>
            </a:br>
            <a:r>
              <a:rPr lang="en-US" altLang="ko-KR" sz="1600" dirty="0">
                <a:solidFill>
                  <a:srgbClr val="0000FF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https://school.programmers.co.kr/learn/courses/30/lessons/43164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https://www.youtube.com/watch?v=b1G0EsqOvr8&amp;list=PLg0hsGjqxAUZimgPzzUdTjrV0bn5ALtAl&amp;index=6</a:t>
            </a:r>
            <a:br>
              <a:rPr lang="en-US" altLang="ko-KR" sz="1600" dirty="0">
                <a:solidFill>
                  <a:srgbClr val="0000FF"/>
                </a:solidFill>
              </a:rPr>
            </a:br>
            <a:r>
              <a:rPr lang="en-US" altLang="ko-KR" sz="1600" dirty="0">
                <a:solidFill>
                  <a:srgbClr val="0000FF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https://www.youtube.com/watch?v=SPdMC1wNKDs&amp;list=PLg0hsGjqxAUZimgPzzUdTjrV0bn5ALtAl&amp;index=27</a:t>
            </a:r>
            <a:br>
              <a:rPr lang="en-US" altLang="ko-KR" sz="1600" dirty="0">
                <a:solidFill>
                  <a:srgbClr val="0000FF"/>
                </a:solidFill>
              </a:rPr>
            </a:br>
            <a:endParaRPr lang="ko-KR" altLang="en-US" sz="1600" dirty="0">
              <a:solidFill>
                <a:srgbClr val="0000FF"/>
              </a:solidFill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1099AAD-C6EA-CB4B-F77E-8434C7D5EA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58C86E8-5349-F7B3-AFB6-B10A83FC02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916832"/>
            <a:ext cx="8229600" cy="4209331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주어진 항공권을 모두 이용하여 여행경로를 짜려고 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항상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"ICN"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공항에서 출발합니다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동일한 항공권이 여러 장 있을 수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항공권 정보가 담긴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2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차원 배열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tickets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가 매개변수로 주어질 때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방문하는 공항 경로를 배열에 담아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return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하도록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solution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함수를 작성해주세요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/>
              <a:t>가능한 경로가 </a:t>
            </a:r>
            <a:r>
              <a:rPr lang="en-US" altLang="ko-KR" sz="1800" dirty="0"/>
              <a:t>2</a:t>
            </a:r>
            <a:r>
              <a:rPr lang="ko-KR" altLang="en-US" sz="1800" dirty="0"/>
              <a:t>개 이상일 경우 알파벳 순서가 앞서는 경로를 </a:t>
            </a:r>
            <a:r>
              <a:rPr lang="en-US" altLang="ko-KR" sz="1800" dirty="0"/>
              <a:t>return </a:t>
            </a:r>
            <a:endParaRPr lang="ko-KR" altLang="en-US" sz="1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54F8B673-170E-B5A8-D7F6-5057E87A7C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84" y="3933056"/>
            <a:ext cx="8534103" cy="26642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82145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6FFC37-21E2-51FA-12C8-E959F3E84B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4F97A1-C191-5822-CF9D-EA1A65E793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3200" dirty="0"/>
              <a:t>5. </a:t>
            </a:r>
            <a:r>
              <a:rPr lang="ko-KR" altLang="en-US" sz="3200" dirty="0"/>
              <a:t>알파벳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DFS</a:t>
            </a:r>
            <a:r>
              <a:rPr lang="ko-KR" altLang="en-US" sz="3200" dirty="0"/>
              <a:t>재귀</a:t>
            </a:r>
            <a:r>
              <a:rPr lang="en-US" altLang="ko-KR" sz="3200" dirty="0"/>
              <a:t>, </a:t>
            </a:r>
            <a:r>
              <a:rPr lang="ko-KR" altLang="en-US" sz="3200" dirty="0" err="1"/>
              <a:t>백트레킹</a:t>
            </a:r>
            <a:r>
              <a:rPr lang="en-US" altLang="ko-KR" sz="3200" dirty="0"/>
              <a:t>, </a:t>
            </a:r>
            <a:r>
              <a:rPr lang="ko-KR" altLang="en-US" sz="3200" dirty="0" err="1"/>
              <a:t>비트마스킹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https://www.acmicpc.net/problem/1987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E426206-F067-2066-18BA-79006F01E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세로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R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칸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가로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C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칸으로 된 표 모양 보드의 각 칸에는 대문자 알파벳이 하나씩 적혀 있고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좌측 상단 칸 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(1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행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1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열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)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에는 말이 놓여 있다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말은 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상하좌우로 인접한 네 칸 중의 한 칸으로 이동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할 수 있는데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,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새로 이동한 칸에 적혀 있는 </a:t>
            </a:r>
            <a:r>
              <a:rPr lang="ko-KR" altLang="en-US" sz="1800" b="1" i="0" dirty="0">
                <a:effectLst/>
                <a:latin typeface="Open Sans" panose="020F0502020204030204" pitchFamily="34" charset="0"/>
              </a:rPr>
              <a:t>알파벳은 지금까지 지나온 모든 칸에 적혀 있는 알파벳과는 달라야 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</a:p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말이 최대한 몇 칸을 지날 수 있는지를 구하는 프로그램을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 </a:t>
            </a:r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말이 지나는 칸은 좌측 상단의 칸도 포함된다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59FAEA8-5681-3846-F5F1-849427CF4B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4A4F564-EEBD-4CC2-F6B9-A29BD0EDA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44" y="3419737"/>
            <a:ext cx="5184576" cy="311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6446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80B89-A314-7404-82C5-CD497EB4A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305985-4355-4625-FD61-1428CEE319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74638"/>
            <a:ext cx="9144000" cy="868346"/>
          </a:xfrm>
        </p:spPr>
        <p:txBody>
          <a:bodyPr/>
          <a:lstStyle/>
          <a:p>
            <a:r>
              <a:rPr lang="en-US" altLang="ko-KR" sz="3200" dirty="0"/>
              <a:t>6. </a:t>
            </a:r>
            <a:r>
              <a:rPr lang="ko-KR" altLang="en-US" sz="3200" dirty="0"/>
              <a:t>섬의 개수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DFS/BFS</a:t>
            </a:r>
            <a:r>
              <a:rPr lang="ko-KR" altLang="en-US" sz="3200" dirty="0"/>
              <a:t> 완전탐색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https://www.acmicpc.net/problem/4963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27D852-373A-0402-A529-2B5347A077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b="0" i="0" dirty="0">
                <a:effectLst/>
                <a:latin typeface="Open Sans" panose="020F0502020204030204" pitchFamily="34" charset="0"/>
              </a:rPr>
              <a:t>섬의 개수를 세는 프로그램을 </a:t>
            </a:r>
            <a:r>
              <a:rPr lang="ko-KR" altLang="en-US" sz="1800" b="0" i="0" dirty="0" err="1">
                <a:effectLst/>
                <a:latin typeface="Open Sans" panose="020F0502020204030204" pitchFamily="34" charset="0"/>
              </a:rPr>
              <a:t>작성하시오</a:t>
            </a:r>
            <a:r>
              <a:rPr lang="en-US" altLang="ko-KR" sz="1800" b="0" i="0" dirty="0">
                <a:effectLst/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/>
              <a:t>한 정사각형과 </a:t>
            </a:r>
            <a:r>
              <a:rPr lang="ko-KR" altLang="en-US" sz="1800" b="1" dirty="0"/>
              <a:t>가로</a:t>
            </a:r>
            <a:r>
              <a:rPr lang="en-US" altLang="ko-KR" sz="1800" b="1" dirty="0"/>
              <a:t>, </a:t>
            </a:r>
            <a:r>
              <a:rPr lang="ko-KR" altLang="en-US" sz="1800" b="1" dirty="0"/>
              <a:t>세로 또는 대각선으로 연결</a:t>
            </a:r>
            <a:r>
              <a:rPr lang="en-US" altLang="ko-KR" sz="1800" b="1" dirty="0"/>
              <a:t> </a:t>
            </a:r>
          </a:p>
          <a:p>
            <a:pPr algn="just"/>
            <a:endParaRPr lang="en-US" altLang="ko-KR" sz="1800" dirty="0"/>
          </a:p>
          <a:p>
            <a:pPr algn="just"/>
            <a:endParaRPr lang="en-US" altLang="ko-KR" sz="1800" dirty="0"/>
          </a:p>
          <a:p>
            <a:pPr algn="just"/>
            <a:endParaRPr lang="en-US" altLang="ko-KR" sz="1800" dirty="0"/>
          </a:p>
          <a:p>
            <a:pPr algn="just"/>
            <a:endParaRPr lang="en-US" altLang="ko-KR" sz="1800" dirty="0"/>
          </a:p>
          <a:p>
            <a:pPr algn="just"/>
            <a:r>
              <a:rPr lang="ko-KR" altLang="en-US" sz="1800" dirty="0"/>
              <a:t>입력은 </a:t>
            </a:r>
            <a:r>
              <a:rPr lang="ko-KR" altLang="en-US" sz="1800" b="1" dirty="0"/>
              <a:t>여러 개의 테스트 케이스로 </a:t>
            </a:r>
            <a:r>
              <a:rPr lang="ko-KR" altLang="en-US" sz="1800" dirty="0"/>
              <a:t>이루어져 있다</a:t>
            </a:r>
            <a:r>
              <a:rPr lang="en-US" altLang="ko-KR" sz="1800" dirty="0"/>
              <a:t>. </a:t>
            </a:r>
            <a:r>
              <a:rPr lang="ko-KR" altLang="en-US" sz="1800" dirty="0"/>
              <a:t>각 테스트 케이스의 첫째 줄에는 </a:t>
            </a:r>
            <a:r>
              <a:rPr lang="ko-KR" altLang="en-US" sz="1800" b="1" dirty="0"/>
              <a:t>지도의 너비 </a:t>
            </a:r>
            <a:r>
              <a:rPr lang="en-US" altLang="ko-KR" sz="1800" b="1" dirty="0"/>
              <a:t>w</a:t>
            </a:r>
            <a:r>
              <a:rPr lang="ko-KR" altLang="en-US" sz="1800" b="1" dirty="0"/>
              <a:t>와 높이 </a:t>
            </a:r>
            <a:r>
              <a:rPr lang="en-US" altLang="ko-KR" sz="1800" b="1" dirty="0"/>
              <a:t>h</a:t>
            </a:r>
            <a:r>
              <a:rPr lang="ko-KR" altLang="en-US" sz="1800" dirty="0"/>
              <a:t>가 주어진다</a:t>
            </a:r>
            <a:r>
              <a:rPr lang="en-US" altLang="ko-KR" sz="1800" dirty="0"/>
              <a:t>. </a:t>
            </a:r>
          </a:p>
          <a:p>
            <a:pPr algn="just"/>
            <a:r>
              <a:rPr lang="ko-KR" altLang="en-US" sz="1800" dirty="0"/>
              <a:t>둘째 줄부터 </a:t>
            </a:r>
            <a:r>
              <a:rPr lang="en-US" altLang="ko-KR" sz="1800" dirty="0"/>
              <a:t>h</a:t>
            </a:r>
            <a:r>
              <a:rPr lang="ko-KR" altLang="en-US" sz="1800" dirty="0"/>
              <a:t>개 줄에는 지도가 주어진다</a:t>
            </a:r>
            <a:r>
              <a:rPr lang="en-US" altLang="ko-KR" sz="1800" dirty="0"/>
              <a:t>. </a:t>
            </a:r>
            <a:r>
              <a:rPr lang="en-US" altLang="ko-KR" sz="1800" b="1" dirty="0"/>
              <a:t>1</a:t>
            </a:r>
            <a:r>
              <a:rPr lang="ko-KR" altLang="en-US" sz="1800" b="1" dirty="0"/>
              <a:t>은 땅</a:t>
            </a:r>
            <a:r>
              <a:rPr lang="en-US" altLang="ko-KR" sz="1800" b="1" dirty="0"/>
              <a:t>, 0</a:t>
            </a:r>
            <a:r>
              <a:rPr lang="ko-KR" altLang="en-US" sz="1800" b="1" dirty="0"/>
              <a:t>은 바다이다</a:t>
            </a:r>
            <a:r>
              <a:rPr lang="en-US" altLang="ko-KR" sz="1800" b="1" dirty="0"/>
              <a:t>.</a:t>
            </a:r>
          </a:p>
          <a:p>
            <a:pPr algn="just"/>
            <a:r>
              <a:rPr lang="ko-KR" altLang="en-US" sz="1800" b="1" dirty="0"/>
              <a:t>입력의 마지막 줄에는 </a:t>
            </a:r>
            <a:r>
              <a:rPr lang="en-US" altLang="ko-KR" sz="1800" b="1" dirty="0"/>
              <a:t>0</a:t>
            </a:r>
            <a:r>
              <a:rPr lang="ko-KR" altLang="en-US" sz="1800" b="1" dirty="0"/>
              <a:t>이 두 개 주어진다</a:t>
            </a:r>
            <a:r>
              <a:rPr lang="en-US" altLang="ko-KR" sz="1800" b="1" dirty="0"/>
              <a:t>.</a:t>
            </a:r>
          </a:p>
          <a:p>
            <a:pPr algn="just"/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9393B46-A32F-A08C-E86F-C74FA11E2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B438236B-E0DD-8CC8-79B3-7B0349387E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1" y="1988840"/>
            <a:ext cx="2695575" cy="134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788AACBD-E1D3-BBB1-81EC-758F49D9358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29631" y="4670035"/>
            <a:ext cx="4660024" cy="1999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79253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F4E60-3252-0419-2091-13B8382AD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BE1D5C-3F84-77F4-B8C1-55E4EABC3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3200" dirty="0"/>
              <a:t>7. </a:t>
            </a:r>
            <a:r>
              <a:rPr lang="ko-KR" altLang="en-US" sz="3200" dirty="0"/>
              <a:t>트리순회 </a:t>
            </a:r>
            <a:r>
              <a:rPr lang="en-US" altLang="ko-KR" sz="3200" dirty="0"/>
              <a:t>(</a:t>
            </a:r>
            <a:r>
              <a:rPr lang="ko-KR" altLang="en-US" sz="3200" dirty="0"/>
              <a:t>백준</a:t>
            </a:r>
            <a:r>
              <a:rPr lang="en-US" altLang="ko-KR" sz="3200" dirty="0"/>
              <a:t>, </a:t>
            </a:r>
            <a:r>
              <a:rPr lang="ko-KR" altLang="en-US" sz="3200" dirty="0" err="1"/>
              <a:t>이진트리순회</a:t>
            </a:r>
            <a:r>
              <a:rPr lang="en-US" altLang="ko-KR" sz="3200" dirty="0"/>
              <a:t>)</a:t>
            </a:r>
            <a:br>
              <a:rPr lang="en-US" altLang="ko-KR" sz="3200" dirty="0"/>
            </a:br>
            <a:r>
              <a:rPr lang="en-US" altLang="ko-KR" sz="3200" dirty="0"/>
              <a:t>https://www.acmicpc.net/problem/1991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543403D-C1EA-3FA9-2534-69D55DD42E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4785395"/>
          </a:xfrm>
        </p:spPr>
        <p:txBody>
          <a:bodyPr/>
          <a:lstStyle/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이진 트리를 </a:t>
            </a:r>
            <a:r>
              <a:rPr lang="ko-KR" altLang="en-US" sz="1800" dirty="0" err="1">
                <a:latin typeface="Open Sans" panose="020F0502020204030204" pitchFamily="34" charset="0"/>
              </a:rPr>
              <a:t>입력받아</a:t>
            </a:r>
            <a:r>
              <a:rPr lang="ko-KR" altLang="en-US" sz="1800" dirty="0">
                <a:latin typeface="Open Sans" panose="020F0502020204030204" pitchFamily="34" charset="0"/>
              </a:rPr>
              <a:t> 전위 순회</a:t>
            </a:r>
            <a:r>
              <a:rPr lang="en-US" altLang="ko-KR" sz="1800" dirty="0">
                <a:latin typeface="Open Sans" panose="020F0502020204030204" pitchFamily="34" charset="0"/>
              </a:rPr>
              <a:t>(preorder traversal), </a:t>
            </a:r>
            <a:r>
              <a:rPr lang="ko-KR" altLang="en-US" sz="1800" dirty="0">
                <a:latin typeface="Open Sans" panose="020F0502020204030204" pitchFamily="34" charset="0"/>
              </a:rPr>
              <a:t>중위 순회</a:t>
            </a:r>
            <a:r>
              <a:rPr lang="en-US" altLang="ko-KR" sz="1800" dirty="0">
                <a:latin typeface="Open Sans" panose="020F0502020204030204" pitchFamily="34" charset="0"/>
              </a:rPr>
              <a:t>(</a:t>
            </a:r>
            <a:r>
              <a:rPr lang="en-US" altLang="ko-KR" sz="1800" dirty="0" err="1">
                <a:latin typeface="Open Sans" panose="020F0502020204030204" pitchFamily="34" charset="0"/>
              </a:rPr>
              <a:t>inorder</a:t>
            </a:r>
            <a:r>
              <a:rPr lang="en-US" altLang="ko-KR" sz="1800" dirty="0">
                <a:latin typeface="Open Sans" panose="020F0502020204030204" pitchFamily="34" charset="0"/>
              </a:rPr>
              <a:t> traversal), </a:t>
            </a:r>
            <a:r>
              <a:rPr lang="ko-KR" altLang="en-US" sz="1800" dirty="0">
                <a:latin typeface="Open Sans" panose="020F0502020204030204" pitchFamily="34" charset="0"/>
              </a:rPr>
              <a:t>후위 순회</a:t>
            </a:r>
            <a:r>
              <a:rPr lang="en-US" altLang="ko-KR" sz="1800" dirty="0">
                <a:latin typeface="Open Sans" panose="020F0502020204030204" pitchFamily="34" charset="0"/>
              </a:rPr>
              <a:t>(</a:t>
            </a:r>
            <a:r>
              <a:rPr lang="en-US" altLang="ko-KR" sz="1800" dirty="0" err="1">
                <a:latin typeface="Open Sans" panose="020F0502020204030204" pitchFamily="34" charset="0"/>
              </a:rPr>
              <a:t>postorder</a:t>
            </a:r>
            <a:r>
              <a:rPr lang="en-US" altLang="ko-KR" sz="1800" dirty="0">
                <a:latin typeface="Open Sans" panose="020F0502020204030204" pitchFamily="34" charset="0"/>
              </a:rPr>
              <a:t> traversal)</a:t>
            </a:r>
            <a:r>
              <a:rPr lang="ko-KR" altLang="en-US" sz="1800" dirty="0">
                <a:latin typeface="Open Sans" panose="020F0502020204030204" pitchFamily="34" charset="0"/>
              </a:rPr>
              <a:t>한 결과를 출력하는 프로그램을 </a:t>
            </a:r>
            <a:r>
              <a:rPr lang="ko-KR" altLang="en-US" sz="1800" dirty="0" err="1">
                <a:latin typeface="Open Sans" panose="020F0502020204030204" pitchFamily="34" charset="0"/>
              </a:rPr>
              <a:t>작성하시오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첫째 줄에는 이진 트리의 노드의 개수 </a:t>
            </a:r>
            <a:r>
              <a:rPr lang="en-US" altLang="ko-KR" sz="1800" dirty="0">
                <a:latin typeface="Open Sans" panose="020F0502020204030204" pitchFamily="34" charset="0"/>
              </a:rPr>
              <a:t>N(1 ≤ N ≤ 26)</a:t>
            </a:r>
          </a:p>
          <a:p>
            <a:pPr algn="just"/>
            <a:r>
              <a:rPr lang="ko-KR" altLang="en-US" sz="1800" dirty="0">
                <a:latin typeface="Open Sans" panose="020F0502020204030204" pitchFamily="34" charset="0"/>
              </a:rPr>
              <a:t>둘째 줄부터 </a:t>
            </a:r>
            <a:r>
              <a:rPr lang="en-US" altLang="ko-KR" sz="1800" dirty="0">
                <a:latin typeface="Open Sans" panose="020F0502020204030204" pitchFamily="34" charset="0"/>
              </a:rPr>
              <a:t>N</a:t>
            </a:r>
            <a:r>
              <a:rPr lang="ko-KR" altLang="en-US" sz="1800" dirty="0">
                <a:latin typeface="Open Sans" panose="020F0502020204030204" pitchFamily="34" charset="0"/>
              </a:rPr>
              <a:t>개의 줄에 걸쳐 각 노드와 그의 왼쪽 자식 노드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오른쪽 자식 노드가 주어진다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노드의 이름은 </a:t>
            </a:r>
            <a:r>
              <a:rPr lang="en-US" altLang="ko-KR" sz="1800" dirty="0">
                <a:latin typeface="Open Sans" panose="020F0502020204030204" pitchFamily="34" charset="0"/>
              </a:rPr>
              <a:t>A</a:t>
            </a:r>
            <a:r>
              <a:rPr lang="ko-KR" altLang="en-US" sz="1800" dirty="0">
                <a:latin typeface="Open Sans" panose="020F0502020204030204" pitchFamily="34" charset="0"/>
              </a:rPr>
              <a:t>부터 차례대로 알파벳 대문자로 매겨지며</a:t>
            </a:r>
            <a:r>
              <a:rPr lang="en-US" altLang="ko-KR" sz="1800" dirty="0">
                <a:latin typeface="Open Sans" panose="020F0502020204030204" pitchFamily="34" charset="0"/>
              </a:rPr>
              <a:t>, </a:t>
            </a:r>
            <a:r>
              <a:rPr lang="ko-KR" altLang="en-US" sz="1800" dirty="0">
                <a:latin typeface="Open Sans" panose="020F0502020204030204" pitchFamily="34" charset="0"/>
              </a:rPr>
              <a:t>항상 </a:t>
            </a:r>
            <a:r>
              <a:rPr lang="en-US" altLang="ko-KR" sz="1800" dirty="0">
                <a:latin typeface="Open Sans" panose="020F0502020204030204" pitchFamily="34" charset="0"/>
              </a:rPr>
              <a:t>A</a:t>
            </a:r>
            <a:r>
              <a:rPr lang="ko-KR" altLang="en-US" sz="1800" dirty="0">
                <a:latin typeface="Open Sans" panose="020F0502020204030204" pitchFamily="34" charset="0"/>
              </a:rPr>
              <a:t>가 루트 노드가 된다</a:t>
            </a:r>
            <a:r>
              <a:rPr lang="en-US" altLang="ko-KR" sz="1800" dirty="0">
                <a:latin typeface="Open Sans" panose="020F0502020204030204" pitchFamily="34" charset="0"/>
              </a:rPr>
              <a:t>. </a:t>
            </a:r>
            <a:r>
              <a:rPr lang="ko-KR" altLang="en-US" sz="1800" dirty="0">
                <a:latin typeface="Open Sans" panose="020F0502020204030204" pitchFamily="34" charset="0"/>
              </a:rPr>
              <a:t>자식 노드가 없는 경우에는 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  <a:r>
              <a:rPr lang="ko-KR" altLang="en-US" sz="1800" dirty="0">
                <a:latin typeface="Open Sans" panose="020F0502020204030204" pitchFamily="34" charset="0"/>
              </a:rPr>
              <a:t>으로 표현한다</a:t>
            </a:r>
            <a:r>
              <a:rPr lang="en-US" altLang="ko-KR" sz="1800" dirty="0">
                <a:latin typeface="Open Sans" panose="020F0502020204030204" pitchFamily="34" charset="0"/>
              </a:rPr>
              <a:t>.</a:t>
            </a:r>
          </a:p>
          <a:p>
            <a:pPr algn="just"/>
            <a:r>
              <a:rPr lang="ko-KR" altLang="en-US" sz="1800" dirty="0"/>
              <a:t>전위 순회 </a:t>
            </a:r>
            <a:r>
              <a:rPr lang="en-US" altLang="ko-KR" sz="1800" dirty="0"/>
              <a:t>: ABDCEFG // (</a:t>
            </a:r>
            <a:r>
              <a:rPr lang="ko-KR" altLang="en-US" sz="1800" dirty="0"/>
              <a:t>루트</a:t>
            </a:r>
            <a:r>
              <a:rPr lang="en-US" altLang="ko-KR" sz="1800" dirty="0"/>
              <a:t>) (</a:t>
            </a:r>
            <a:r>
              <a:rPr lang="ko-KR" altLang="en-US" sz="1800" dirty="0"/>
              <a:t>왼쪽 자식</a:t>
            </a:r>
            <a:r>
              <a:rPr lang="en-US" altLang="ko-KR" sz="1800" dirty="0"/>
              <a:t>) (</a:t>
            </a:r>
            <a:r>
              <a:rPr lang="ko-KR" altLang="en-US" sz="1800" dirty="0"/>
              <a:t>오른쪽 자식</a:t>
            </a:r>
            <a:r>
              <a:rPr lang="en-US" altLang="ko-KR" sz="1800" dirty="0"/>
              <a:t>)</a:t>
            </a:r>
          </a:p>
          <a:p>
            <a:pPr algn="just"/>
            <a:r>
              <a:rPr lang="ko-KR" altLang="en-US" sz="1800" dirty="0"/>
              <a:t>중위 순회 </a:t>
            </a:r>
            <a:r>
              <a:rPr lang="en-US" altLang="ko-KR" sz="1800" dirty="0"/>
              <a:t>: DBAECFG // (</a:t>
            </a:r>
            <a:r>
              <a:rPr lang="ko-KR" altLang="en-US" sz="1800" dirty="0"/>
              <a:t>왼쪽 자식</a:t>
            </a:r>
            <a:r>
              <a:rPr lang="en-US" altLang="ko-KR" sz="1800" dirty="0"/>
              <a:t>) (</a:t>
            </a:r>
            <a:r>
              <a:rPr lang="ko-KR" altLang="en-US" sz="1800" dirty="0"/>
              <a:t>루트</a:t>
            </a:r>
            <a:r>
              <a:rPr lang="en-US" altLang="ko-KR" sz="1800" dirty="0"/>
              <a:t>) (</a:t>
            </a:r>
            <a:r>
              <a:rPr lang="ko-KR" altLang="en-US" sz="1800" dirty="0"/>
              <a:t>오른쪽 자식</a:t>
            </a:r>
            <a:r>
              <a:rPr lang="en-US" altLang="ko-KR" sz="1800" dirty="0"/>
              <a:t>)</a:t>
            </a:r>
          </a:p>
          <a:p>
            <a:pPr algn="just"/>
            <a:r>
              <a:rPr lang="ko-KR" altLang="en-US" sz="1800" dirty="0"/>
              <a:t>후위 순회 </a:t>
            </a:r>
            <a:r>
              <a:rPr lang="en-US" altLang="ko-KR" sz="1800" dirty="0"/>
              <a:t>: DBEGFCA // (</a:t>
            </a:r>
            <a:r>
              <a:rPr lang="ko-KR" altLang="en-US" sz="1800" dirty="0"/>
              <a:t>왼쪽 자식</a:t>
            </a:r>
            <a:r>
              <a:rPr lang="en-US" altLang="ko-KR" sz="1800" dirty="0"/>
              <a:t>) (</a:t>
            </a:r>
            <a:r>
              <a:rPr lang="ko-KR" altLang="en-US" sz="1800" dirty="0"/>
              <a:t>오른쪽 자식</a:t>
            </a:r>
            <a:r>
              <a:rPr lang="en-US" altLang="ko-KR" sz="1800" dirty="0"/>
              <a:t>) (</a:t>
            </a:r>
            <a:r>
              <a:rPr lang="ko-KR" altLang="en-US" sz="1800" dirty="0"/>
              <a:t>루트</a:t>
            </a:r>
            <a:r>
              <a:rPr lang="en-US" altLang="ko-KR" sz="1800" dirty="0"/>
              <a:t>)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C6C31A-B43C-7BA1-2990-42B676EF36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268DA64-E15D-4814-A1DA-86D92D550423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  <p:pic>
        <p:nvPicPr>
          <p:cNvPr id="1026" name="Picture 2" descr="https://www.acmicpc.net/JudgeOnline/upload/201007/trtr.png">
            <a:extLst>
              <a:ext uri="{FF2B5EF4-FFF2-40B4-BE49-F238E27FC236}">
                <a16:creationId xmlns:a16="http://schemas.microsoft.com/office/drawing/2014/main" id="{78262772-1B4F-4F4D-870E-2BA1A2B2BA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9832" y="4424764"/>
            <a:ext cx="2524125" cy="2095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079146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풍요">
      <a:dk1>
        <a:sysClr val="windowText" lastClr="000000"/>
      </a:dk1>
      <a:lt1>
        <a:sysClr val="window" lastClr="FFFFFF"/>
      </a:lt1>
      <a:dk2>
        <a:srgbClr val="B13F9A"/>
      </a:dk2>
      <a:lt2>
        <a:srgbClr val="F4E7ED"/>
      </a:lt2>
      <a:accent1>
        <a:srgbClr val="B83D68"/>
      </a:accent1>
      <a:accent2>
        <a:srgbClr val="AC66BB"/>
      </a:accent2>
      <a:accent3>
        <a:srgbClr val="DE6C36"/>
      </a:accent3>
      <a:accent4>
        <a:srgbClr val="F9B639"/>
      </a:accent4>
      <a:accent5>
        <a:srgbClr val="CF6DA4"/>
      </a:accent5>
      <a:accent6>
        <a:srgbClr val="FA8D3D"/>
      </a:accent6>
      <a:hlink>
        <a:srgbClr val="FFDE66"/>
      </a:hlink>
      <a:folHlink>
        <a:srgbClr val="D490C5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4559</TotalTime>
  <Words>978</Words>
  <Application>Microsoft Office PowerPoint</Application>
  <PresentationFormat>화면 슬라이드 쇼(4:3)</PresentationFormat>
  <Paragraphs>77</Paragraphs>
  <Slides>13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9" baseType="lpstr">
      <vt:lpstr>굴림</vt:lpstr>
      <vt:lpstr>맑은 고딕</vt:lpstr>
      <vt:lpstr>맑은 고딕</vt:lpstr>
      <vt:lpstr>Arial</vt:lpstr>
      <vt:lpstr>Open Sans</vt:lpstr>
      <vt:lpstr>Office 테마</vt:lpstr>
      <vt:lpstr>숙제3. DFS &amp; BFS</vt:lpstr>
      <vt:lpstr>백준 온라인저지  https://www.acmicpc.net/</vt:lpstr>
      <vt:lpstr>TUKorea 온라인저지  http://210.93.60.51/</vt:lpstr>
      <vt:lpstr>Programmers https://school.programmers.co.kr/</vt:lpstr>
      <vt:lpstr>1. DFS와 BFS (백준) https://www.acmicpc.net/problem/1260 https://www.youtube.com/watch?v=UQyUuiDRB1o&amp;list=PLg0hsGjqxAUZimgPzzUdTjrV0bn5ALtAl&amp;index=5 https://www.youtube.com/watch?v=uQ5oq802r9k&amp;list=PLg0hsGjqxAUZimgPzzUdTjrV0bn5ALtAl&amp;index=26 </vt:lpstr>
      <vt:lpstr>2. 순박꼭질 (백준, BFS최단거리) https://www.acmicpc.net/problem/1697</vt:lpstr>
      <vt:lpstr>3. 중요한 교차로 (TUKorea, DFS/BFS완전탐색) http://210.93.60.51/problem/0045 https://www.youtube.com/watch?v=_qNcHcGlp2s&amp;list=PLg0hsGjqxAUZimgPzzUdTjrV0bn5ALtAl&amp;index=7 https://www.youtube.com/watch?v=tjxW8sJf1Rg&amp;list=PLg0hsGjqxAUZimgPzzUdTjrV0bn5ALtAl&amp;index=28 </vt:lpstr>
      <vt:lpstr>3. 중요한 교차로 (TUKorea, DFS/BFS완전탐색)</vt:lpstr>
      <vt:lpstr>3. 중요한 교차로 (TUKorea, DFS/BFS완전탐색)</vt:lpstr>
      <vt:lpstr>4. 여행경로(Programmers, DFS) https://school.programmers.co.kr/learn/courses/30/lessons/43164 https://www.youtube.com/watch?v=b1G0EsqOvr8&amp;list=PLg0hsGjqxAUZimgPzzUdTjrV0bn5ALtAl&amp;index=6 https://www.youtube.com/watch?v=SPdMC1wNKDs&amp;list=PLg0hsGjqxAUZimgPzzUdTjrV0bn5ALtAl&amp;index=27 </vt:lpstr>
      <vt:lpstr>5. 알파벳 (백준, DFS재귀, 백트레킹, 비트마스킹) https://www.acmicpc.net/problem/1987</vt:lpstr>
      <vt:lpstr>6. 섬의 개수 (백준, DFS/BFS 완전탐색) https://www.acmicpc.net/problem/4963</vt:lpstr>
      <vt:lpstr>7. 트리순회 (백준, 이진트리순회) https://www.acmicpc.net/problem/1991</vt:lpstr>
    </vt:vector>
  </TitlesOfParts>
  <Company>kpu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STL</dc:title>
  <dc:creator>kys</dc:creator>
  <cp:lastModifiedBy>신우 박</cp:lastModifiedBy>
  <cp:revision>236</cp:revision>
  <cp:lastPrinted>2023-07-23T09:30:34Z</cp:lastPrinted>
  <dcterms:created xsi:type="dcterms:W3CDTF">2008-03-02T04:39:19Z</dcterms:created>
  <dcterms:modified xsi:type="dcterms:W3CDTF">2026-04-01T15:01:12Z</dcterms:modified>
</cp:coreProperties>
</file>