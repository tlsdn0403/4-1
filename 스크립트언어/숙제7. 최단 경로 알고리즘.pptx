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6"/>
  </p:notesMasterIdLst>
  <p:sldIdLst>
    <p:sldId id="258" r:id="rId2"/>
    <p:sldId id="269" r:id="rId3"/>
    <p:sldId id="335" r:id="rId4"/>
    <p:sldId id="259" r:id="rId5"/>
    <p:sldId id="339" r:id="rId6"/>
    <p:sldId id="341" r:id="rId7"/>
    <p:sldId id="345" r:id="rId8"/>
    <p:sldId id="342" r:id="rId9"/>
    <p:sldId id="343" r:id="rId10"/>
    <p:sldId id="320" r:id="rId11"/>
    <p:sldId id="346" r:id="rId12"/>
    <p:sldId id="348" r:id="rId13"/>
    <p:sldId id="349" r:id="rId14"/>
    <p:sldId id="350" r:id="rId15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99" d="100"/>
          <a:sy n="99" d="100"/>
        </p:scale>
        <p:origin x="90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2026-03-19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722FF-9B88-4724-AD5A-905C5AF7B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A088FD-B323-28D8-40CA-1CC5C5C3F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3A7792-7EF0-A8B6-A108-7E8591121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CEFE2C-36FD-DD64-FDA2-203C29F549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56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C5905-9421-8F95-57D2-36A21A95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9D7F44-93D4-55D4-C4B5-E8CB43B06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B5A0B7-CC05-CA92-0DCA-2BC1E4427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DAE5C7-F6D1-7CDC-FB04-7BE88DECB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170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13E0-95E8-C9AE-1AC5-E0464998F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0A6035-B30A-F988-0FB4-4479EEC8D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88B05B-634E-BBF5-4B84-E0D66BBFC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B0BA3A-EC41-2F69-0726-4BA264EDA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783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673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179AA-92FE-B49C-4B18-8C4E5E2EC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A00F92-E83F-7BA9-A62C-782B51BF9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83383B-BE11-905C-FE29-F189622BF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C290A7-78C4-EF71-0C0F-786140BE44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5167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0347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6926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524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ol.programmers.co.kr/learn/courses/30/lessons/72413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www.youtube.com/watch?v=0QiXS0_TTVU&amp;list=PLg0hsGjqxAUZimgPzzUdTjrV0bn5ALtAl&amp;index=34" TargetMode="External"/><Relationship Id="rId4" Type="http://schemas.openxmlformats.org/officeDocument/2006/relationships/hyperlink" Target="https://www.youtube.com/watch?v=ejkvFLxDngQ&amp;list=PLg0hsGjqxAUZimgPzzUdTjrV0bn5ALtAl&amp;index=14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7544" y="2130425"/>
            <a:ext cx="8424936" cy="1470025"/>
          </a:xfrm>
        </p:spPr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7. </a:t>
            </a:r>
            <a:r>
              <a:rPr lang="ko-KR" altLang="en-US" b="1" dirty="0">
                <a:solidFill>
                  <a:srgbClr val="0000FF"/>
                </a:solidFill>
              </a:rPr>
              <a:t>최단 경로 알고리즘</a:t>
            </a:r>
            <a:r>
              <a:rPr lang="en-US" altLang="ko-KR" b="1" dirty="0">
                <a:solidFill>
                  <a:srgbClr val="0000FF"/>
                </a:solidFill>
              </a:rPr>
              <a:t/>
            </a:r>
            <a:br>
              <a:rPr lang="en-US" altLang="ko-KR" b="1" dirty="0">
                <a:solidFill>
                  <a:srgbClr val="0000FF"/>
                </a:solidFill>
              </a:rPr>
            </a:br>
            <a:r>
              <a:rPr lang="en-US" altLang="ko-KR" b="1" dirty="0">
                <a:solidFill>
                  <a:srgbClr val="0000FF"/>
                </a:solidFill>
              </a:rPr>
              <a:t>(</a:t>
            </a:r>
            <a:r>
              <a:rPr lang="ko-KR" altLang="en-US" b="1" dirty="0" err="1">
                <a:solidFill>
                  <a:srgbClr val="0000FF"/>
                </a:solidFill>
              </a:rPr>
              <a:t>우선순위큐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다익스트라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플로이드워셜</a:t>
            </a:r>
            <a:r>
              <a:rPr lang="en-US" altLang="ko-KR" b="1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r>
              <a:rPr lang="en-US" altLang="ko-KR" sz="2800" b="1" dirty="0">
                <a:solidFill>
                  <a:srgbClr val="0000FF"/>
                </a:solidFill>
              </a:rPr>
              <a:t/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r>
              <a:rPr lang="en-US" altLang="ko-KR" sz="2800" b="1" dirty="0">
                <a:solidFill>
                  <a:srgbClr val="0000FF"/>
                </a:solidFill>
              </a:rPr>
              <a:t/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1. </a:t>
            </a:r>
            <a:r>
              <a:rPr lang="ko-KR" altLang="en-US" sz="2800" dirty="0"/>
              <a:t>택배 배송 </a:t>
            </a:r>
            <a:r>
              <a:rPr lang="en-US" altLang="ko-KR" sz="2800" dirty="0"/>
              <a:t>(</a:t>
            </a:r>
            <a:r>
              <a:rPr lang="ko-KR" altLang="en-US" sz="2800" dirty="0"/>
              <a:t>백준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다익스트라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800" dirty="0"/>
              <a:t>https://www.acmicpc.net/problem/5972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농부 현서의 지도가 주어지고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지나가는 길에 소를 만나면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줘야할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 여물의 비용이 주어질 때 최소 여물은 얼마일까요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?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농부 현서는 가는 길의 길이는 고려하지 않습니다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dirty="0"/>
              <a:t>농부 현서는 헛간 </a:t>
            </a:r>
            <a:r>
              <a:rPr lang="en-US" altLang="ko-KR" sz="2000" dirty="0"/>
              <a:t>1</a:t>
            </a:r>
            <a:r>
              <a:rPr lang="ko-KR" altLang="en-US" sz="2000" dirty="0"/>
              <a:t>에 있고 농부 찬홍이는 헛간 </a:t>
            </a:r>
            <a:r>
              <a:rPr lang="en-US" altLang="ko-KR" sz="2000" dirty="0"/>
              <a:t>N</a:t>
            </a:r>
            <a:r>
              <a:rPr lang="ko-KR" altLang="en-US" sz="2000" dirty="0"/>
              <a:t>에 있습니다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DDF72A0-3963-3411-0D57-A6FAE28F6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718575"/>
            <a:ext cx="6372200" cy="380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2. </a:t>
            </a:r>
            <a:r>
              <a:rPr lang="ko-KR" altLang="en-US" sz="2800" dirty="0"/>
              <a:t>순회강연 </a:t>
            </a:r>
            <a:r>
              <a:rPr lang="en-US" altLang="ko-KR" sz="2800" dirty="0"/>
              <a:t>(</a:t>
            </a:r>
            <a:r>
              <a:rPr lang="ko-KR" altLang="en-US" sz="2800" dirty="0"/>
              <a:t>백준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우선순위큐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최대힙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그리디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800" dirty="0"/>
              <a:t>https://www.acmicpc.net/problem/2109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한 저명한 학자에게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n(0 ≤ n ≤ 10,000)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개의 대학에서 강연 요청을 해 왔다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각 대학에서는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d(1 ≤ d ≤ 10,000)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일 안에 와서 강연을 해 주면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p(1 ≤ p ≤ 10,000)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만큼의 강연료를 지불하겠다고 알려왔다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가장 많은 돈을 벌 수 있도록 순회강연을 하려 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강연의 특성상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학자는 하루에 최대 한 곳에서만 강연을 할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예를 들어 네 대학에서 제시한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p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값이 각각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50, 10, 20, 30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d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값이 차례로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2, 1, 2, 1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이라고 하자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이럴 때에는 첫째 날에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4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대학에서 강연을 하고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둘째 날에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대학에서 강연을 하면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80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만큼의 돈을 벌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dirty="0">
                <a:solidFill>
                  <a:srgbClr val="0000FF"/>
                </a:solidFill>
                <a:latin typeface="Open Sans" panose="020F0502020204030204" pitchFamily="34" charset="0"/>
              </a:rPr>
              <a:t>10000</a:t>
            </a:r>
            <a:r>
              <a:rPr lang="ko-KR" altLang="en-US" sz="1800" dirty="0">
                <a:solidFill>
                  <a:srgbClr val="0000FF"/>
                </a:solidFill>
                <a:latin typeface="Open Sans" panose="020F0502020204030204" pitchFamily="34" charset="0"/>
              </a:rPr>
              <a:t>일 부터 거꾸로 </a:t>
            </a:r>
            <a:r>
              <a:rPr lang="en-US" altLang="ko-KR" sz="1800" dirty="0">
                <a:solidFill>
                  <a:srgbClr val="0000FF"/>
                </a:solidFill>
                <a:latin typeface="Open Sans" panose="020F0502020204030204" pitchFamily="34" charset="0"/>
              </a:rPr>
              <a:t>1</a:t>
            </a:r>
            <a:r>
              <a:rPr lang="ko-KR" altLang="en-US" sz="1800" dirty="0">
                <a:solidFill>
                  <a:srgbClr val="0000FF"/>
                </a:solidFill>
                <a:latin typeface="Open Sans" panose="020F0502020204030204" pitchFamily="34" charset="0"/>
              </a:rPr>
              <a:t>일까지 차례로 배정한다</a:t>
            </a:r>
            <a:r>
              <a:rPr lang="en-US" altLang="ko-KR" sz="1800" dirty="0">
                <a:solidFill>
                  <a:srgbClr val="0000FF"/>
                </a:solidFill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dirty="0">
                <a:solidFill>
                  <a:srgbClr val="0000FF"/>
                </a:solidFill>
                <a:latin typeface="Open Sans" panose="020F0502020204030204" pitchFamily="34" charset="0"/>
              </a:rPr>
              <a:t>d</a:t>
            </a:r>
            <a:r>
              <a:rPr lang="ko-KR" altLang="en-US" sz="1800" dirty="0">
                <a:solidFill>
                  <a:srgbClr val="0000FF"/>
                </a:solidFill>
                <a:latin typeface="Open Sans" panose="020F0502020204030204" pitchFamily="34" charset="0"/>
              </a:rPr>
              <a:t>일까지 하는 강연은 </a:t>
            </a:r>
            <a:r>
              <a:rPr lang="en-US" altLang="ko-KR" sz="1800" dirty="0">
                <a:solidFill>
                  <a:srgbClr val="0000FF"/>
                </a:solidFill>
                <a:latin typeface="Open Sans" panose="020F0502020204030204" pitchFamily="34" charset="0"/>
              </a:rPr>
              <a:t>d, d-1, d-2,… 1 </a:t>
            </a:r>
            <a:r>
              <a:rPr lang="ko-KR" altLang="en-US" sz="1800" dirty="0">
                <a:solidFill>
                  <a:srgbClr val="0000FF"/>
                </a:solidFill>
                <a:latin typeface="Open Sans" panose="020F0502020204030204" pitchFamily="34" charset="0"/>
              </a:rPr>
              <a:t>모두 배정 가능하다</a:t>
            </a:r>
            <a:r>
              <a:rPr lang="en-US" altLang="ko-KR" sz="1800" dirty="0">
                <a:solidFill>
                  <a:srgbClr val="0000FF"/>
                </a:solidFill>
                <a:latin typeface="Open Sans" panose="020F0502020204030204" pitchFamily="34" charset="0"/>
              </a:rPr>
              <a:t>.</a:t>
            </a:r>
            <a:r>
              <a:rPr lang="ko-KR" altLang="en-US" sz="1800" dirty="0">
                <a:solidFill>
                  <a:srgbClr val="0000FF"/>
                </a:solidFill>
                <a:latin typeface="Open Sans" panose="020F0502020204030204" pitchFamily="34" charset="0"/>
              </a:rPr>
              <a:t> </a:t>
            </a:r>
            <a:endParaRPr lang="en-US" altLang="ko-KR" sz="1800" b="0" i="0" dirty="0">
              <a:solidFill>
                <a:srgbClr val="0000FF"/>
              </a:solidFill>
              <a:effectLst/>
              <a:latin typeface="Open Sans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AF8CC-F25F-C942-3D68-B27571ECD854}"/>
              </a:ext>
            </a:extLst>
          </p:cNvPr>
          <p:cNvSpPr txBox="1"/>
          <p:nvPr/>
        </p:nvSpPr>
        <p:spPr>
          <a:xfrm>
            <a:off x="1835696" y="4771018"/>
            <a:ext cx="18722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FF"/>
                </a:solidFill>
              </a:rPr>
              <a:t># 4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# 20 2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# 30 2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# 40 3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# 40 3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# 정답 110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20D92A-013E-5ADA-6F8D-3ED9FDB50840}"/>
              </a:ext>
            </a:extLst>
          </p:cNvPr>
          <p:cNvSpPr txBox="1"/>
          <p:nvPr/>
        </p:nvSpPr>
        <p:spPr>
          <a:xfrm>
            <a:off x="4283855" y="4725144"/>
            <a:ext cx="37799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FF"/>
                </a:solidFill>
              </a:rPr>
              <a:t># 2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# 10 2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# 10 2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# 정답 20</a:t>
            </a:r>
          </a:p>
        </p:txBody>
      </p:sp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D79EC-E4C2-4C95-E9DE-A15E24A95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6F4974-3A24-DDE1-7D1B-7497BF6B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sz="2400" dirty="0"/>
              <a:t>3. </a:t>
            </a:r>
            <a:r>
              <a:rPr lang="ko-KR" altLang="en-US" sz="2400" dirty="0"/>
              <a:t>소가 길을 건너간 이유</a:t>
            </a:r>
            <a:r>
              <a:rPr lang="en-US" altLang="ko-KR" sz="2400" dirty="0"/>
              <a:t>4</a:t>
            </a:r>
            <a:r>
              <a:rPr lang="ko-KR" altLang="en-US" sz="2400" dirty="0"/>
              <a:t> </a:t>
            </a:r>
            <a:r>
              <a:rPr lang="en-US" altLang="ko-KR" sz="2400" dirty="0"/>
              <a:t>(</a:t>
            </a:r>
            <a:r>
              <a:rPr lang="ko-KR" altLang="en-US" sz="2400" dirty="0"/>
              <a:t>백준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우선순위큐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최소힙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그리디</a:t>
            </a:r>
            <a:r>
              <a:rPr lang="en-US" altLang="ko-KR" sz="2400" dirty="0"/>
              <a:t>)</a:t>
            </a:r>
            <a:br>
              <a:rPr lang="en-US" altLang="ko-KR" sz="2400" dirty="0"/>
            </a:br>
            <a:r>
              <a:rPr lang="en-US" altLang="ko-KR" sz="2400" dirty="0"/>
              <a:t>https://www.acmicpc.net/problem/14464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2FEBBF-64DE-7DB8-4A4F-89EE16F20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13394F-D3DA-913A-2913-C07152083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닭은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C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마리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(1 ≤ C ≤ 20,000), </a:t>
            </a:r>
            <a:r>
              <a:rPr lang="en-US" altLang="ko-KR" sz="1800" b="0" i="0" dirty="0" err="1">
                <a:effectLst/>
                <a:latin typeface="Open Sans" panose="020F0502020204030204" pitchFamily="34" charset="0"/>
              </a:rPr>
              <a:t>i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닭은 정확히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Ti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초에만 소를 도와줄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소는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마리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(1 ≤ N ≤ 20,000), j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소는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Aj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초부터 </a:t>
            </a:r>
            <a:r>
              <a:rPr lang="en-US" altLang="ko-KR" sz="1800" b="0" i="0" dirty="0" err="1">
                <a:effectLst/>
                <a:latin typeface="Open Sans" panose="020F0502020204030204" pitchFamily="34" charset="0"/>
              </a:rPr>
              <a:t>Bj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초까지 길을 건널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j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번 소가 </a:t>
            </a:r>
            <a:r>
              <a:rPr lang="en-US" altLang="ko-KR" sz="1800" b="1" i="0" dirty="0" err="1">
                <a:effectLst/>
                <a:latin typeface="Open Sans" panose="020F0502020204030204" pitchFamily="34" charset="0"/>
              </a:rPr>
              <a:t>i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번 닭의 도움을 받아 길을 건너려면  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Aj ≤ Ti ≤ </a:t>
            </a:r>
            <a:r>
              <a:rPr lang="en-US" altLang="ko-KR" sz="1800" b="1" i="0" dirty="0" err="1">
                <a:effectLst/>
                <a:latin typeface="Open Sans" panose="020F0502020204030204" pitchFamily="34" charset="0"/>
              </a:rPr>
              <a:t>Bj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를 만족해야 한다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i="0" dirty="0">
                <a:effectLst/>
                <a:latin typeface="Open Sans" panose="020F0502020204030204" pitchFamily="34" charset="0"/>
              </a:rPr>
              <a:t>첫 줄에 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C</a:t>
            </a:r>
            <a:r>
              <a:rPr lang="ko-KR" altLang="en-US" sz="180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i="0" dirty="0">
                <a:effectLst/>
                <a:latin typeface="Open Sans" panose="020F0502020204030204" pitchFamily="34" charset="0"/>
              </a:rPr>
              <a:t>이 주어진다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i="0" dirty="0">
                <a:effectLst/>
                <a:latin typeface="Open Sans" panose="020F0502020204030204" pitchFamily="34" charset="0"/>
              </a:rPr>
              <a:t>다음 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C</a:t>
            </a:r>
            <a:r>
              <a:rPr lang="ko-KR" altLang="en-US" sz="1800" i="0" dirty="0">
                <a:effectLst/>
                <a:latin typeface="Open Sans" panose="020F0502020204030204" pitchFamily="34" charset="0"/>
              </a:rPr>
              <a:t>줄에는 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T1…TC</a:t>
            </a:r>
            <a:r>
              <a:rPr lang="ko-KR" altLang="en-US" sz="1800" i="0" dirty="0">
                <a:effectLst/>
                <a:latin typeface="Open Sans" panose="020F0502020204030204" pitchFamily="34" charset="0"/>
              </a:rPr>
              <a:t>가 주어지고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i="0" dirty="0">
                <a:effectLst/>
                <a:latin typeface="Open Sans" panose="020F0502020204030204" pitchFamily="34" charset="0"/>
              </a:rPr>
              <a:t>그 다음 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i="0" dirty="0">
                <a:effectLst/>
                <a:latin typeface="Open Sans" panose="020F0502020204030204" pitchFamily="34" charset="0"/>
              </a:rPr>
              <a:t>줄에는 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Aj</a:t>
            </a:r>
            <a:r>
              <a:rPr lang="ko-KR" altLang="en-US" sz="180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1800" i="0" dirty="0" err="1">
                <a:effectLst/>
                <a:latin typeface="Open Sans" panose="020F0502020204030204" pitchFamily="34" charset="0"/>
              </a:rPr>
              <a:t>Bj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(Aj ≤ </a:t>
            </a:r>
            <a:r>
              <a:rPr lang="en-US" altLang="ko-KR" sz="1800" i="0" dirty="0" err="1">
                <a:effectLst/>
                <a:latin typeface="Open Sans" panose="020F0502020204030204" pitchFamily="34" charset="0"/>
              </a:rPr>
              <a:t>Bj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)</a:t>
            </a:r>
            <a:r>
              <a:rPr lang="ko-KR" altLang="en-US" sz="1800" i="0" dirty="0">
                <a:effectLst/>
                <a:latin typeface="Open Sans" panose="020F0502020204030204" pitchFamily="34" charset="0"/>
              </a:rPr>
              <a:t>가 주어진다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i="0" dirty="0">
                <a:effectLst/>
                <a:latin typeface="Open Sans" panose="020F0502020204030204" pitchFamily="34" charset="0"/>
              </a:rPr>
              <a:t>도움을 받을 수 있는 소가 최대 몇 마리인지 출력한다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19DE5B2-567C-96B8-405D-7595BFC93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487992"/>
            <a:ext cx="5616624" cy="321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34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B2B20-4B16-B621-1878-D805E707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A739D-B2C9-7045-1763-959F8AD6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다음 순열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800" dirty="0"/>
              <a:t>http://210.93.60.51/problem/0057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72360B-F912-2D91-961D-82AA60C5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F3B8B4-350A-50A3-AE91-CB80AA09D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다음은 사전 순으로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1,2,3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의 순열입니다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1 2 3     1 3 2     2 1 3     2 3 1     3 1 2     3 2 1 </a:t>
            </a:r>
          </a:p>
          <a:p>
            <a:pPr marL="0" indent="0" algn="just">
              <a:buNone/>
            </a:pP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/>
            </a:r>
            <a:br>
              <a:rPr lang="en-US" altLang="ko-KR" sz="1800" b="0" i="0" dirty="0">
                <a:effectLst/>
                <a:latin typeface="Open Sans" panose="020F0502020204030204" pitchFamily="34" charset="0"/>
              </a:rPr>
            </a:br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1,2,…,n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의 순열이 주어지면 사전 순으로 다음 순열을 생성합니다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예를 들어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2 3 1 4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의 경우 답은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2 3 4 1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입니다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1 ≤N≤ 1000 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로 상당히 크기 때문에 표준라이브러리 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permutations 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으로 모든 순열의 경우를 리스트로 생성하면 메모리 초과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시간 초과된다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266035-7E61-F4D4-060E-1BCAEE4D7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95145C9-4D93-F8B4-A96D-3275DE0F2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4077072"/>
            <a:ext cx="6882113" cy="216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92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D464-ABF4-2534-91B9-7A4E1C341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699D2-E1C4-C3CB-3E1E-95ED4F075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90266"/>
          </a:xfrm>
        </p:spPr>
        <p:txBody>
          <a:bodyPr/>
          <a:lstStyle/>
          <a:p>
            <a:r>
              <a:rPr lang="en-US" altLang="ko-KR" sz="2800" dirty="0"/>
              <a:t>5. </a:t>
            </a:r>
            <a:r>
              <a:rPr lang="ko-KR" altLang="en-US" sz="2800" dirty="0"/>
              <a:t>합승 택시</a:t>
            </a:r>
            <a:r>
              <a:rPr lang="en-US" altLang="ko-KR" sz="2800" dirty="0"/>
              <a:t>(Programmers, Floyd </a:t>
            </a:r>
            <a:r>
              <a:rPr lang="en-US" altLang="ko-KR" sz="2800" dirty="0" err="1"/>
              <a:t>Warshall</a:t>
            </a:r>
            <a:r>
              <a:rPr lang="en-US" altLang="ko-KR" sz="2800" dirty="0"/>
              <a:t>) </a:t>
            </a:r>
            <a:br>
              <a:rPr lang="en-US" altLang="ko-KR" sz="2800" dirty="0"/>
            </a:br>
            <a:r>
              <a:rPr lang="en-US" altLang="ko-KR" sz="16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https://school.programmers.co.kr/learn/courses/30/lessons/72413</a:t>
            </a:r>
            <a:r>
              <a:rPr lang="en-US" altLang="ko-KR" sz="1600" dirty="0">
                <a:solidFill>
                  <a:srgbClr val="0000FF"/>
                </a:solidFill>
              </a:rPr>
              <a:t/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https://www.youtube.com/watch?v=ejkvFLxDngQ&amp;list=PLg0hsGjqxAUZimgPzzUdTjrV0bn5ALtAl&amp;index=14</a:t>
            </a:r>
            <a:r>
              <a:rPr lang="en-US" altLang="ko-KR" sz="1600" dirty="0">
                <a:solidFill>
                  <a:srgbClr val="0000FF"/>
                </a:solidFill>
              </a:rPr>
              <a:t/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https://www.youtube.com/watch?v=0QiXS0_TTVU&amp;list=PLg0hsGjqxAUZimgPzzUdTjrV0bn5ALtAl&amp;index=34</a:t>
            </a:r>
            <a:r>
              <a:rPr lang="en-US" altLang="ko-KR" sz="1600" dirty="0">
                <a:solidFill>
                  <a:srgbClr val="0000FF"/>
                </a:solidFill>
              </a:rPr>
              <a:t/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2800" dirty="0"/>
              <a:t/>
            </a:r>
            <a:br>
              <a:rPr lang="en-US" altLang="ko-KR" sz="2800" dirty="0"/>
            </a:b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C0934D-9D8D-8BDD-1B5F-8368C579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D1FCD0-6DD4-9CA7-B754-4B5A8AD17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D1A740D-35B8-5DF0-0995-BB402FE01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916832"/>
            <a:ext cx="8640960" cy="4209331"/>
          </a:xfrm>
        </p:spPr>
        <p:txBody>
          <a:bodyPr/>
          <a:lstStyle/>
          <a:p>
            <a:r>
              <a:rPr lang="en-US" altLang="ko-KR" sz="2000" dirty="0"/>
              <a:t>2021 </a:t>
            </a:r>
            <a:r>
              <a:rPr lang="ko-KR" altLang="en-US" sz="2000" dirty="0" err="1"/>
              <a:t>카카오공채</a:t>
            </a:r>
            <a:r>
              <a:rPr lang="ko-KR" altLang="en-US" sz="2000" dirty="0"/>
              <a:t> </a:t>
            </a:r>
            <a:r>
              <a:rPr lang="en-US" altLang="ko-KR" sz="2000" dirty="0"/>
              <a:t>1</a:t>
            </a:r>
            <a:r>
              <a:rPr lang="ko-KR" altLang="en-US" sz="2000" dirty="0"/>
              <a:t>차 </a:t>
            </a:r>
            <a:r>
              <a:rPr lang="en-US" altLang="ko-KR" sz="2000" dirty="0"/>
              <a:t>4</a:t>
            </a:r>
            <a:r>
              <a:rPr lang="ko-KR" altLang="en-US" sz="2000" dirty="0"/>
              <a:t>번</a:t>
            </a:r>
            <a:endParaRPr lang="en-US" altLang="ko-KR" sz="2000" dirty="0"/>
          </a:p>
          <a:p>
            <a:r>
              <a:rPr lang="en-US" altLang="ko-KR" sz="2000" dirty="0"/>
              <a:t>https://school.programmers.co.kr/learn/courses/30/lessons/72413</a:t>
            </a:r>
          </a:p>
          <a:p>
            <a:r>
              <a:rPr lang="en-US" altLang="ko-KR" sz="2000" dirty="0"/>
              <a:t>https://tech.kakao.com/2021/01/25/2021-kakao-recruitment-round-1/</a:t>
            </a:r>
          </a:p>
          <a:p>
            <a:r>
              <a:rPr lang="ko-KR" altLang="en-US" sz="2000" dirty="0" err="1"/>
              <a:t>다익스트라</a:t>
            </a:r>
            <a:r>
              <a:rPr lang="ko-KR" altLang="en-US" sz="2000" dirty="0"/>
              <a:t> </a:t>
            </a:r>
            <a:r>
              <a:rPr lang="en-US" altLang="ko-KR" sz="2000" dirty="0"/>
              <a:t>: K</a:t>
            </a:r>
            <a:r>
              <a:rPr lang="ko-KR" altLang="en-US" sz="2000" dirty="0"/>
              <a:t>정점에서 모든 정점까지 최단거리 구함</a:t>
            </a:r>
            <a:endParaRPr lang="en-US" altLang="ko-KR" sz="2000" dirty="0"/>
          </a:p>
          <a:p>
            <a:r>
              <a:rPr lang="en-US" altLang="ko-KR" sz="2000" dirty="0"/>
              <a:t>Floyd </a:t>
            </a:r>
            <a:r>
              <a:rPr lang="en-US" altLang="ko-KR" sz="2000" dirty="0" err="1"/>
              <a:t>Warshall</a:t>
            </a:r>
            <a:r>
              <a:rPr lang="en-US" altLang="ko-KR" sz="2000" dirty="0"/>
              <a:t> : (</a:t>
            </a:r>
            <a:r>
              <a:rPr lang="en-US" altLang="ko-KR" sz="2000" dirty="0" err="1"/>
              <a:t>i,j</a:t>
            </a:r>
            <a:r>
              <a:rPr lang="en-US" altLang="ko-KR" sz="2000" dirty="0"/>
              <a:t>) </a:t>
            </a:r>
            <a:r>
              <a:rPr lang="ko-KR" altLang="en-US" sz="2000" dirty="0"/>
              <a:t>모든 정점 쌍의 최단거리 구함</a:t>
            </a:r>
          </a:p>
        </p:txBody>
      </p:sp>
      <p:pic>
        <p:nvPicPr>
          <p:cNvPr id="9" name="Picture 2" descr="2021_kakao_taxi_01.png">
            <a:extLst>
              <a:ext uri="{FF2B5EF4-FFF2-40B4-BE49-F238E27FC236}">
                <a16:creationId xmlns:a16="http://schemas.microsoft.com/office/drawing/2014/main" id="{EFFD4D5E-CDB9-605E-7E97-8F140DCAF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3742523"/>
            <a:ext cx="3096344" cy="2854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2753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5. </a:t>
            </a:r>
            <a:r>
              <a:rPr lang="ko-KR" altLang="en-US" sz="2800" dirty="0"/>
              <a:t>합승 택시</a:t>
            </a:r>
            <a:r>
              <a:rPr lang="en-US" altLang="ko-KR" sz="2800" dirty="0"/>
              <a:t>(Programmers, Floyd </a:t>
            </a:r>
            <a:r>
              <a:rPr lang="en-US" altLang="ko-KR" sz="2800" dirty="0" err="1"/>
              <a:t>Warshall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20408"/>
            <a:ext cx="8616126" cy="274063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4425849"/>
            <a:ext cx="8568952" cy="101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18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4424A-6C2A-B719-7012-CC186BBD6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CA46E-9549-C7D6-366B-48CA63D1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6. </a:t>
            </a:r>
            <a:r>
              <a:rPr lang="ko-KR" altLang="en-US" sz="2800" dirty="0"/>
              <a:t>파티</a:t>
            </a:r>
            <a:r>
              <a:rPr lang="en-US" altLang="ko-KR" sz="2800" dirty="0"/>
              <a:t>(</a:t>
            </a:r>
            <a:r>
              <a:rPr lang="ko-KR" altLang="en-US" sz="2800" dirty="0"/>
              <a:t>백준</a:t>
            </a:r>
            <a:r>
              <a:rPr lang="en-US" altLang="ko-KR" sz="2800" dirty="0"/>
              <a:t>, 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다익스트라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800" dirty="0"/>
              <a:t>http://210.93.60.51/problem/0163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4ACDCB-1B0B-EE69-6987-4468E67CE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개의 숫자로 구분된 각각의 마을에 한 명의 학생이 살고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20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명의 학생이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X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번 마을에 모여서 파티를 벌이기로 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이 마을 사이에는 총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개의 단방향 도로들이 있고 </a:t>
            </a:r>
            <a:r>
              <a:rPr lang="en-US" altLang="ko-KR" sz="2000" b="0" i="0" dirty="0" err="1">
                <a:effectLst/>
                <a:latin typeface="Open Sans" panose="020F0502020204030204" pitchFamily="34" charset="0"/>
              </a:rPr>
              <a:t>i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번째 길을 지나는데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Ti(1 ≤ Ti≤ 100)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의 시간을 소비한다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20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각각의 학생들은 파티에 참석하기 위해 걸어가서 다시 그들의 마을로 돌아와야 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하지만 이 학생들은 워낙 게을러서 최단 시간에 오고 가기를 원한다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20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이 도로들은 단방향이기 때문에 아마 그들이 오고 가는 길이 다를지도 모른다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명의 학생들 중 오고 가는데 가장 많은 시간을 소비하는 학생은 누구일지 구하여라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741CC1-B0E4-C332-4842-8EFFB6DA9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470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 smtClean="0"/>
              <a:t>7. </a:t>
            </a:r>
            <a:r>
              <a:rPr lang="ko-KR" altLang="en-US" sz="3200" dirty="0"/>
              <a:t>장애물 </a:t>
            </a:r>
            <a:r>
              <a:rPr lang="en-US" altLang="ko-KR" sz="3200" dirty="0"/>
              <a:t>(TUKorea0073, </a:t>
            </a:r>
            <a:r>
              <a:rPr lang="en-US" altLang="ko-KR" sz="3200" dirty="0" err="1"/>
              <a:t>Dijkstra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2400" dirty="0"/>
              <a:t>http://210.93.60.51/problem/0073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363272" cy="4840303"/>
          </a:xfrm>
        </p:spPr>
        <p:txBody>
          <a:bodyPr/>
          <a:lstStyle/>
          <a:p>
            <a:endParaRPr lang="en-US" altLang="ko-KR"/>
          </a:p>
          <a:p>
            <a:r>
              <a:rPr lang="ko-KR" altLang="en-US"/>
              <a:t>정점의 개수 </a:t>
            </a:r>
            <a:r>
              <a:rPr lang="en-US" altLang="ko-KR"/>
              <a:t>V</a:t>
            </a:r>
            <a:r>
              <a:rPr lang="ko-KR" altLang="en-US"/>
              <a:t>와 간선의 개수 </a:t>
            </a:r>
            <a:r>
              <a:rPr lang="en-US" altLang="ko-KR"/>
              <a:t>E</a:t>
            </a:r>
            <a:r>
              <a:rPr lang="ko-KR" altLang="en-US"/>
              <a:t> </a:t>
            </a:r>
            <a:r>
              <a:rPr lang="en-US" altLang="ko-KR"/>
              <a:t>: </a:t>
            </a:r>
            <a:r>
              <a:rPr lang="ko-KR" altLang="en-US"/>
              <a:t>양방향 그래프</a:t>
            </a:r>
            <a:endParaRPr lang="en-US" altLang="ko-KR"/>
          </a:p>
          <a:p>
            <a:r>
              <a:rPr lang="ko-KR" altLang="en-US"/>
              <a:t>원래 최단 경로의 길이 </a:t>
            </a:r>
            <a:r>
              <a:rPr lang="en-US" altLang="ko-KR"/>
              <a:t>A</a:t>
            </a:r>
            <a:r>
              <a:rPr lang="ko-KR" altLang="en-US"/>
              <a:t>를 구한다</a:t>
            </a:r>
            <a:r>
              <a:rPr lang="en-US" altLang="ko-KR"/>
              <a:t>.</a:t>
            </a:r>
          </a:p>
          <a:p>
            <a:r>
              <a:rPr lang="ko-KR" altLang="en-US"/>
              <a:t>그런 후 임의의 간선에 장애물이 떨어져서 가중치가 </a:t>
            </a:r>
            <a:r>
              <a:rPr lang="en-US" altLang="ko-KR"/>
              <a:t>2</a:t>
            </a:r>
            <a:r>
              <a:rPr lang="ko-KR" altLang="en-US"/>
              <a:t>배가 되었다고 가정하고 최단 경로 </a:t>
            </a:r>
            <a:r>
              <a:rPr lang="en-US" altLang="ko-KR"/>
              <a:t>B</a:t>
            </a:r>
            <a:r>
              <a:rPr lang="ko-KR" altLang="en-US"/>
              <a:t>를 구한다</a:t>
            </a:r>
            <a:r>
              <a:rPr lang="en-US" altLang="ko-KR"/>
              <a:t>.</a:t>
            </a:r>
          </a:p>
          <a:p>
            <a:r>
              <a:rPr lang="ko-KR" altLang="en-US"/>
              <a:t>최종적으로 </a:t>
            </a:r>
            <a:r>
              <a:rPr lang="en-US" altLang="ko-KR"/>
              <a:t>B-A</a:t>
            </a:r>
            <a:r>
              <a:rPr lang="ko-KR" altLang="en-US"/>
              <a:t>의 최대값을 구한다</a:t>
            </a:r>
            <a:r>
              <a:rPr lang="en-US" altLang="ko-KR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6450A5-9E67-47E6-773E-8167BCC0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게임온라인공채대비 코딩캠프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3793AD-3F15-9872-A523-6634FB0C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12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700808"/>
            <a:ext cx="8500863" cy="3312368"/>
          </a:xfrm>
          <a:prstGeom prst="rect">
            <a:avLst/>
          </a:prstGeom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 smtClean="0"/>
              <a:t>7. </a:t>
            </a:r>
            <a:r>
              <a:rPr lang="ko-KR" altLang="en-US" sz="3200" dirty="0"/>
              <a:t>장애물 </a:t>
            </a:r>
            <a:r>
              <a:rPr lang="en-US" altLang="ko-KR" sz="3200" dirty="0"/>
              <a:t>(TUKorea0073, </a:t>
            </a:r>
            <a:r>
              <a:rPr lang="en-US" altLang="ko-KR" sz="3200" dirty="0" err="1"/>
              <a:t>Dijkstra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2400" dirty="0"/>
              <a:t>http://210.93.60.51/problem/0073</a:t>
            </a:r>
            <a:endParaRPr lang="ko-KR" altLang="en-US" sz="3200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6C942F4-75C4-4739-9863-0EABD4A8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게임온라인공채대비 코딩캠프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D712F8-E643-CC4F-DD9D-FB033DBBE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421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24" y="1193383"/>
            <a:ext cx="8568952" cy="5112568"/>
          </a:xfrm>
          <a:prstGeom prst="rect">
            <a:avLst/>
          </a:prstGeom>
        </p:spPr>
      </p:pic>
      <p:sp>
        <p:nvSpPr>
          <p:cNvPr id="7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 smtClean="0"/>
              <a:t>7. </a:t>
            </a:r>
            <a:r>
              <a:rPr lang="ko-KR" altLang="en-US" sz="3200" dirty="0"/>
              <a:t>장애물 </a:t>
            </a:r>
            <a:r>
              <a:rPr lang="en-US" altLang="ko-KR" sz="3200" dirty="0"/>
              <a:t>(TUKorea0073, </a:t>
            </a:r>
            <a:r>
              <a:rPr lang="en-US" altLang="ko-KR" sz="3200" dirty="0" err="1"/>
              <a:t>Dijkstra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2400" dirty="0"/>
              <a:t>http://210.93.60.51/problem/0073</a:t>
            </a:r>
            <a:endParaRPr lang="ko-KR" altLang="en-US" sz="3200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C2806A-AA13-334B-58C2-6B4B3DB69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게임온라인공채대비 코딩캠프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5C1FB-C1A6-F2D3-E82C-1321FE6B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637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4710</TotalTime>
  <Words>810</Words>
  <Application>Microsoft Office PowerPoint</Application>
  <PresentationFormat>화면 슬라이드 쇼(4:3)</PresentationFormat>
  <Paragraphs>97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malgun gothic</vt:lpstr>
      <vt:lpstr>Open Sans</vt:lpstr>
      <vt:lpstr>굴림</vt:lpstr>
      <vt:lpstr>맑은 고딕</vt:lpstr>
      <vt:lpstr>Arial</vt:lpstr>
      <vt:lpstr>Office 테마</vt:lpstr>
      <vt:lpstr>숙제7. 최단 경로 알고리즘 (우선순위큐, 다익스트라, 플로이드워셜)</vt:lpstr>
      <vt:lpstr>백준 온라인저지  https://www.acmicpc.net/</vt:lpstr>
      <vt:lpstr>TUKorea 온라인저지  http://210.93.60.51/</vt:lpstr>
      <vt:lpstr>Programmers https://school.programmers.co.kr/</vt:lpstr>
      <vt:lpstr>1. 택배 배송 (백준, 다익스트라) https://www.acmicpc.net/problem/5972</vt:lpstr>
      <vt:lpstr>2. 순회강연 (백준, 우선순위큐, 최대힙, 그리디) https://www.acmicpc.net/problem/2109</vt:lpstr>
      <vt:lpstr>3. 소가 길을 건너간 이유4 (백준, 우선순위큐, 최소힙, 그리디) https://www.acmicpc.net/problem/14464</vt:lpstr>
      <vt:lpstr>4. 다음 순열 (TUKorea, 구현)  http://210.93.60.51/problem/0057</vt:lpstr>
      <vt:lpstr>5. 합승 택시(Programmers, Floyd Warshall)  https://school.programmers.co.kr/learn/courses/30/lessons/72413 https://www.youtube.com/watch?v=ejkvFLxDngQ&amp;list=PLg0hsGjqxAUZimgPzzUdTjrV0bn5ALtAl&amp;index=14 https://www.youtube.com/watch?v=0QiXS0_TTVU&amp;list=PLg0hsGjqxAUZimgPzzUdTjrV0bn5ALtAl&amp;index=34  </vt:lpstr>
      <vt:lpstr>5. 합승 택시(Programmers, Floyd Warshall)</vt:lpstr>
      <vt:lpstr>6. 파티(백준, TUKorea, 다익스트라) http://210.93.60.51/problem/0163</vt:lpstr>
      <vt:lpstr>7. 장애물 (TUKorea0073, Dijkstra) http://210.93.60.51/problem/0073</vt:lpstr>
      <vt:lpstr>7. 장애물 (TUKorea0073, Dijkstra) http://210.93.60.51/problem/0073</vt:lpstr>
      <vt:lpstr>7. 장애물 (TUKorea0073, Dijkstra) http://210.93.60.51/problem/0073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RYZEN5 3600</cp:lastModifiedBy>
  <cp:revision>266</cp:revision>
  <cp:lastPrinted>2023-07-23T09:30:34Z</cp:lastPrinted>
  <dcterms:created xsi:type="dcterms:W3CDTF">2008-03-02T04:39:19Z</dcterms:created>
  <dcterms:modified xsi:type="dcterms:W3CDTF">2026-03-19T07:28:31Z</dcterms:modified>
</cp:coreProperties>
</file>