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4_C9A68E54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A127DCBE.xml" ContentType="application/vnd.ms-powerpoint.comments+xml"/>
  <Override PartName="/ppt/notesSlides/notesSlide6.xml" ContentType="application/vnd.openxmlformats-officedocument.presentationml.notesSlide+xml"/>
  <Override PartName="/ppt/comments/modernComment_107_1970A1F9.xml" ContentType="application/vnd.ms-powerpoint.comments+xml"/>
  <Override PartName="/ppt/notesSlides/notesSlide7.xml" ContentType="application/vnd.openxmlformats-officedocument.presentationml.notesSlide+xml"/>
  <Override PartName="/ppt/comments/modernComment_108_D086DC89.xml" ContentType="application/vnd.ms-powerpoint.comments+xml"/>
  <Override PartName="/ppt/notesSlides/notesSlide8.xml" ContentType="application/vnd.openxmlformats-officedocument.presentationml.notesSlide+xml"/>
  <Override PartName="/ppt/comments/modernComment_109_AB1C5490.xml" ContentType="application/vnd.ms-powerpoint.comments+xml"/>
  <Override PartName="/ppt/notesSlides/notesSlide9.xml" ContentType="application/vnd.openxmlformats-officedocument.presentationml.notesSlide+xml"/>
  <Override PartName="/ppt/comments/modernComment_10A_232031F5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10C_14DE6560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0E_378BFA7C.xml" ContentType="application/vnd.ms-powerpoint.comments+xml"/>
  <Override PartName="/ppt/notesSlides/notesSlide14.xml" ContentType="application/vnd.openxmlformats-officedocument.presentationml.notesSlide+xml"/>
  <Override PartName="/ppt/comments/modernComment_10F_98341E48.xml" ContentType="application/vnd.ms-powerpoint.comments+xml"/>
  <Override PartName="/ppt/notesSlides/notesSlide15.xml" ContentType="application/vnd.openxmlformats-officedocument.presentationml.notesSlide+xml"/>
  <Override PartName="/ppt/comments/modernComment_110_D96B32A1.xml" ContentType="application/vnd.ms-powerpoint.comment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modernComment_11B_37A20CAF.xml" ContentType="application/vnd.ms-powerpoint.comments+xml"/>
  <Override PartName="/ppt/notesSlides/notesSlide26.xml" ContentType="application/vnd.openxmlformats-officedocument.presentationml.notesSlide+xml"/>
  <Override PartName="/ppt/comments/modernComment_11C_A64B06A3.xml" ContentType="application/vnd.ms-powerpoint.comment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6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81" r:id="rId20"/>
    <p:sldId id="276" r:id="rId21"/>
    <p:sldId id="277" r:id="rId22"/>
    <p:sldId id="278" r:id="rId23"/>
    <p:sldId id="279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6BC8724-5227-40E3-720F-CA48F3B91654}" name="신우 박" initials="신박" userId="826a28e94968e1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1" autoAdjust="0"/>
    <p:restoredTop sz="94660"/>
  </p:normalViewPr>
  <p:slideViewPr>
    <p:cSldViewPr>
      <p:cViewPr varScale="1">
        <p:scale>
          <a:sx n="94" d="100"/>
          <a:sy n="94" d="100"/>
        </p:scale>
        <p:origin x="52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omments/modernComment_10A_232031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EDA9143-BB84-47C7-98D3-EDD969DD008B}" authorId="{C6BC8724-5227-40E3-720F-CA48F3B91654}" created="2026-05-28T01:06:21.496">
    <pc:sldMkLst xmlns:pc="http://schemas.microsoft.com/office/powerpoint/2013/main/command">
      <pc:docMk/>
      <pc:sldMk cId="589312501" sldId="266"/>
    </pc:sldMkLst>
    <p188:txBody>
      <a:bodyPr/>
      <a:lstStyle/>
      <a:p>
        <a:r>
          <a:rPr lang="ko-KR" altLang="en-US"/>
          <a:t>서로소 집합으로 1234 와 56이 어떻게 구분될 것인가. 
그걸 구분하기 위해 부모 테이블을 만들어야 한다.</a:t>
        </a:r>
      </a:p>
    </p188:txBody>
  </p188:cm>
</p188:cmLst>
</file>

<file path=ppt/comments/modernComment_10C_14DE65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EC7342A-D8DA-4642-A7F7-94F677B99BE1}" authorId="{C6BC8724-5227-40E3-720F-CA48F3B91654}" created="2026-05-28T01:10:26.653">
    <pc:sldMkLst xmlns:pc="http://schemas.microsoft.com/office/powerpoint/2013/main/command">
      <pc:docMk/>
      <pc:sldMk cId="350119264" sldId="268"/>
    </pc:sldMkLst>
    <p188:txBody>
      <a:bodyPr/>
      <a:lstStyle/>
      <a:p>
        <a:r>
          <a:rPr lang="ko-KR" altLang="en-US"/>
          <a:t>루트노드를 찾으려면 따라가야한다</a:t>
        </a:r>
      </a:p>
    </p188:txBody>
  </p188:cm>
</p188:cmLst>
</file>

<file path=ppt/comments/modernComment_10E_378BFA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98C0D8-34EE-4D6F-8363-52601483F704}" authorId="{C6BC8724-5227-40E3-720F-CA48F3B91654}" created="2026-05-28T01:11:49.829">
    <pc:sldMkLst xmlns:pc="http://schemas.microsoft.com/office/powerpoint/2013/main/command">
      <pc:docMk/>
      <pc:sldMk cId="931920508" sldId="270"/>
    </pc:sldMkLst>
    <p188:txBody>
      <a:bodyPr/>
      <a:lstStyle/>
      <a:p>
        <a:r>
          <a:rPr lang="ko-KR" altLang="en-US"/>
          <a:t>부모테이블은 자기 노드번호가 부모가 되도록 초기화 해줘야됨</a:t>
        </a:r>
      </a:p>
    </p188:txBody>
  </p188:cm>
</p188:cmLst>
</file>

<file path=ppt/comments/modernComment_10F_98341E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805481E-C8D6-43F9-BA33-C962A47CE0C7}" authorId="{C6BC8724-5227-40E3-720F-CA48F3B91654}" created="2026-05-28T01:21:51.748">
    <pc:sldMkLst xmlns:pc="http://schemas.microsoft.com/office/powerpoint/2013/main/command">
      <pc:docMk/>
      <pc:sldMk cId="2553552456" sldId="271"/>
    </pc:sldMkLst>
    <p188:txBody>
      <a:bodyPr/>
      <a:lstStyle/>
      <a:p>
        <a:r>
          <a:rPr lang="ko-KR" altLang="en-US"/>
          <a:t>유니온이 편향되게 되어있다면 부모 테이블을 찾기 위해서 계속 쫓악야한다</a:t>
        </a:r>
      </a:p>
    </p188:txBody>
  </p188:cm>
</p188:cmLst>
</file>

<file path=ppt/comments/modernComment_11B_37A20CA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9E2182-B917-403B-BB4D-0B93F1C9E635}" authorId="{C6BC8724-5227-40E3-720F-CA48F3B91654}" created="2026-05-28T01:32:32.296">
    <pc:sldMkLst xmlns:pc="http://schemas.microsoft.com/office/powerpoint/2013/main/command">
      <pc:docMk/>
      <pc:sldMk cId="933366959" sldId="283"/>
    </pc:sldMkLst>
    <p188:txBody>
      <a:bodyPr/>
      <a:lstStyle/>
      <a:p>
        <a:r>
          <a:rPr lang="ko-KR" altLang="en-US"/>
          <a:t>사이클이 없는 트리이면서 모든 노드는 서로서로 연결을 할 수 있다.
이것이 신장트리
트리는 간선의 개수가 노드 개수 -1이다
최소신장트리는 간선이 양방향이다</a:t>
        </a:r>
      </a:p>
    </p188:txBody>
  </p188:cm>
</p188:cmLst>
</file>

<file path=ppt/comments/modernComment_11C_A64B06A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3C5887D-ED08-43A9-A800-4B15C907B775}" authorId="{C6BC8724-5227-40E3-720F-CA48F3B91654}" created="2026-05-28T01:03:42.717">
    <pc:sldMkLst xmlns:pc="http://schemas.microsoft.com/office/powerpoint/2013/main/command">
      <pc:docMk/>
      <pc:sldMk cId="2789934755" sldId="284"/>
    </pc:sldMkLst>
    <p188:txBody>
      <a:bodyPr/>
      <a:lstStyle/>
      <a:p>
        <a:r>
          <a:rPr lang="ko-KR" altLang="en-US"/>
          <a:t>최소 신장 트리는 어디든 갈 수 있다.
어느 노드던지 갈 수 있다.
트리는 루트와 자식관계로 나눠질 수 있다.
사이클의 유무 판정하고 각각의 노드에서 루트노드 찾는 기능을 하기 위해 유니온 연산과 파인드 연산을 하자
</a:t>
        </a:r>
      </a:p>
    </p188:txBody>
  </p188:cm>
  <p188:cm id="{E2F8DB4A-4D09-4E7E-BD43-48386337EAE5}" authorId="{C6BC8724-5227-40E3-720F-CA48F3B91654}" created="2026-05-28T01:32:53.918">
    <pc:sldMkLst xmlns:pc="http://schemas.microsoft.com/office/powerpoint/2013/main/command">
      <pc:docMk/>
      <pc:sldMk cId="2789934755" sldId="284"/>
    </pc:sldMkLst>
    <p188:txBody>
      <a:bodyPr/>
      <a:lstStyle/>
      <a:p>
        <a:r>
          <a:rPr lang="ko-KR" altLang="en-US"/>
          <a:t>도로 건설 비용을 최소화 하도록 간선을 설정하자 뭐 이런 문제
</a:t>
        </a:r>
      </a:p>
    </p188:txBody>
  </p188:cm>
</p188:cmLst>
</file>

<file path=ppt/comments/modernComment_104_C9A68E5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B4D458-4913-4A0C-83EC-29516B04D9AA}" authorId="{C6BC8724-5227-40E3-720F-CA48F3B91654}" created="2026-05-28T01:05:35.623">
    <pc:sldMkLst xmlns:pc="http://schemas.microsoft.com/office/powerpoint/2013/main/command">
      <pc:docMk/>
      <pc:sldMk cId="3383135828" sldId="260"/>
    </pc:sldMkLst>
    <p188:txBody>
      <a:bodyPr/>
      <a:lstStyle/>
      <a:p>
        <a:r>
          <a:rPr lang="ko-KR" altLang="en-US"/>
          <a:t>간선 정보를 이용해서 유니온과 파인드 연산을 하게 되면 어떤 게 서로소인지 구분 할 수 있다.
두 노드 사이의 간선이 존재하면 두 노드의 루트를 같이 공유하도록 해준다.
Find연산은 이 노드의 루트노드를 알려준다.</a:t>
        </a:r>
      </a:p>
    </p188:txBody>
  </p188:cm>
</p188:cmLst>
</file>

<file path=ppt/comments/modernComment_106_A127DCB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3F9FBE-9E92-4D60-BD16-1325BCF19FC8}" authorId="{C6BC8724-5227-40E3-720F-CA48F3B91654}" created="2026-05-28T01:07:08.675">
    <pc:sldMkLst xmlns:pc="http://schemas.microsoft.com/office/powerpoint/2013/main/command">
      <pc:docMk/>
      <pc:sldMk cId="2703744190" sldId="262"/>
    </pc:sldMkLst>
    <p188:txBody>
      <a:bodyPr/>
      <a:lstStyle/>
      <a:p>
        <a:r>
          <a:rPr lang="ko-KR" altLang="en-US"/>
          <a:t>부모를 자기 자신으로 설정하고 시작</a:t>
        </a:r>
      </a:p>
    </p188:txBody>
  </p188:cm>
</p188:cmLst>
</file>

<file path=ppt/comments/modernComment_107_1970A1F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A6F208E-2378-47BB-B039-7C06B665A7AB}" authorId="{C6BC8724-5227-40E3-720F-CA48F3B91654}" created="2026-05-28T01:07:49.949">
    <pc:sldMkLst xmlns:pc="http://schemas.microsoft.com/office/powerpoint/2013/main/command">
      <pc:docMk/>
      <pc:sldMk cId="426811897" sldId="263"/>
    </pc:sldMkLst>
    <p188:txBody>
      <a:bodyPr/>
      <a:lstStyle/>
      <a:p>
        <a:r>
          <a:rPr lang="ko-KR" altLang="en-US"/>
          <a:t>1-4 간선이 존재하면 유니온 연산을 한다.
부모가 다르다면 parent를 같게 만들자.
보통은 큰 번호를 기준으로 작은 번호가 부모가 되도록 한다.</a:t>
        </a:r>
      </a:p>
    </p188:txBody>
  </p188:cm>
</p188:cmLst>
</file>

<file path=ppt/comments/modernComment_108_D086DC8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DA9F6B-CC21-42AE-8DEF-EAA09D66EDA5}" authorId="{C6BC8724-5227-40E3-720F-CA48F3B91654}" created="2026-05-28T01:08:20.322">
    <pc:sldMkLst xmlns:pc="http://schemas.microsoft.com/office/powerpoint/2013/main/command">
      <pc:docMk/>
      <pc:sldMk cId="3498499209" sldId="264"/>
    </pc:sldMkLst>
    <p188:txBody>
      <a:bodyPr/>
      <a:lstStyle/>
      <a:p>
        <a:r>
          <a:rPr lang="ko-KR" altLang="en-US"/>
          <a:t>2-3 도 동일하게 유니온 연산을 한다.
부모가 다르니까 동일하게 만든다
3번의 부모가 2번이 되도록
</a:t>
        </a:r>
      </a:p>
    </p188:txBody>
  </p188:cm>
</p188:cmLst>
</file>

<file path=ppt/comments/modernComment_109_AB1C549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99EC4C-9F77-4CE7-8A5B-C51475442393}" authorId="{C6BC8724-5227-40E3-720F-CA48F3B91654}" created="2026-05-28T01:09:02.709">
    <pc:sldMkLst xmlns:pc="http://schemas.microsoft.com/office/powerpoint/2013/main/command">
      <pc:docMk/>
      <pc:sldMk cId="2870760592" sldId="265"/>
    </pc:sldMkLst>
    <p188:txBody>
      <a:bodyPr/>
      <a:lstStyle/>
      <a:p>
        <a:r>
          <a:rPr lang="ko-KR" altLang="en-US"/>
          <a:t>2번과 4번이 연결이 되어있다면 같도록 만든다.|
큰번호의 부모를 1번으로
</a:t>
        </a:r>
      </a:p>
    </p188:txBody>
  </p188:cm>
</p188:cmLst>
</file>

<file path=ppt/comments/modernComment_110_D96B32A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AABD7D-742C-4246-BB62-CBCA5CAB3253}" authorId="{C6BC8724-5227-40E3-720F-CA48F3B91654}" created="2026-05-28T01:22:31.098">
    <pc:sldMkLst xmlns:pc="http://schemas.microsoft.com/office/powerpoint/2013/main/command">
      <pc:docMk/>
      <pc:sldMk cId="3647681185" sldId="272"/>
    </pc:sldMkLst>
    <p188:txBody>
      <a:bodyPr/>
      <a:lstStyle/>
      <a:p>
        <a:r>
          <a:rPr lang="ko-KR" altLang="en-US"/>
          <a:t>그래서 find연산을 최적화를 시켜보자.
어차피 제귀적으로 호출해나가면서 
최종적인 루트노드를 아니까 중간에 있는 노드가 루트가 되도록 부모테이블을 갱신을 시키자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746D5-5C1C-5CFB-0E26-50977D17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C30AA492-2A35-85EA-4F8E-29A7E624CF9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3776D7D-5F5F-6A9B-321C-A6F57FE1DD9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CD6C0AFA-2BA8-5664-F22C-99A6C592BF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55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C3E8-D97A-9757-28AE-81FC3E528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0E679DC9-0776-62DA-FA0D-9B564ABB54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C6097C87-5ED1-587E-38CB-2CF573E5FAB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D0D0A7E-D8A6-D203-ED42-8C4AD1FC2B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5661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10693-0BB4-3886-3A67-403B26BBC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C7A3D22-4231-5307-15D3-631E6DB8131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C914F786-4F0D-661A-4684-484A5E1283F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8F91F29-4F24-6E2B-7395-055D4CA68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094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B4C61-7876-6C1B-4B42-D11488FF3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B43B013E-985B-88F7-3375-14AECE10DD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C170C06B-B913-0B02-E1E0-8738A0D23A0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7E14755-34C3-9D6F-92F9-85DC8C188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970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3F43-3E65-B512-9059-8EACB444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4262D17-03A3-19CB-D9BE-E63CB26AEC7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CCAC2EA3-587C-8C80-57F2-5A4A46D0BF7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702EDE9-CB7E-637E-4308-8ECF961AB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47748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3B37-89D3-6976-2CBC-1F6E5648B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F531817-B6E0-F630-A512-CF922265E7A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CD9703FA-2B6C-CF47-ABB2-DA1CCEE9A7E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DD7D57D9-6BBE-D6DF-70A7-83B88E144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2431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7EC48-B1B2-0884-9D8C-8720F2B89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BD87E488-A91A-C2EE-F37D-45E2EC80E2F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4CCD6688-EDFA-9C12-C6EE-2C4D523CB7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64E6356-E8D1-2A3C-970B-5B18B88F0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9064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A14C-BD7B-4BCB-9747-1B21EB46B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7C686CC2-152B-8522-3177-4EF35E1C18E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D8B96B40-4987-2AAE-EF5B-F13BF2736C5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50830190-7859-0146-7DE1-5C477BA9D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1162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C3FB9-DD3F-3A69-D6FE-04DD16DE5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E3CBF740-5D4C-D7EE-0F99-FCE5B77C1E1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F437760-C5CA-D4A2-22EC-B78E504CB93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28E51D73-B6B5-3661-C7E9-6F7D1893E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8925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2DA74-E1C4-649A-37AD-67D60C18F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B11EA490-72E3-F6AC-EB1C-42C08DA4509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910AA8E-3549-BCD2-7EFD-FC535FACF39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3DC35B31-E485-01EC-8D85-8A659AF26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986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0265-B0AE-85E8-A8B6-B5252294A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195956-5982-D9C4-6A3E-B326A5BEA25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469FD349-5B2D-7E40-AA0B-40BE3FFF8A8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AD99C297-DE88-2AD1-F691-E80A3A6A4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9002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B3097-3073-CBB7-68B6-0F3E3F427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A86E756-8F24-BE31-2921-189279B9193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56072AEA-5D97-58CA-5152-86515B95590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A4438EC-7E0C-BF82-AF83-C4B2FD7F1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84305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05B61-5FB1-123B-FC92-2E9D7EC19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8A626F7B-2723-8C7E-87C4-89746ACBAA6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97262714-89D9-DFD0-ED32-A66D02CCB62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D88E9701-EE60-4BC3-8799-CB677A78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936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30458-017C-8193-DD52-5C8F4D2C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4042C826-5824-E40A-69BC-1F9205ECEC9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93043D8-AFCA-FD76-52F8-4CE9344C74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47988962-0441-6013-BF08-8BDC74B1A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3376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06752-3DB1-6258-E984-B38A81266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759B395-D11E-E3FD-656A-A8209349AEB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F5B1FAD-57C4-D360-79CF-15668898788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08E958C-171F-76F6-1F15-93E3F80505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996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2A6D-F8C4-D591-ED6B-C0BCFD0A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AEB237A3-B8E2-1DB1-4AA9-12DCAD0BD4E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59106FBA-5EAF-20FE-ED57-F4DF71A77DD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05E2F523-66E9-EC41-8D6F-E63D05947C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2983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2C019-C03C-9128-D9BF-70AE9D2B5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E981F388-A368-FC1F-413C-F043117695B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5CCA4B87-3E55-77E8-6DEA-FB8A141EFC3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26C7C9B1-DDE8-C4DD-B867-0E191D4D24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5617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F7DC7-E238-E68A-F49E-097DE5A3E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4CAE8AB-0A7C-BF09-C1C4-13700029490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9B252BCC-E43C-6BB4-B73E-367ED080C70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83413E2D-6A3E-CBFB-C449-9BD074ACF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3489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142-85E2-40FE-64EF-D840387F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429EEA9-D72C-A354-4CC4-69F29B331F6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89C28F6-13C6-534F-742D-FAD9C64D5A8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CEEE3EAB-8507-7D4F-EB67-0A94F0A83F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2736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5EF37-B55C-C3F3-C058-3F0CED9EE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876FD696-8404-5636-85F5-121E4559D0F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DFD09B35-9267-33A4-0BB4-D2EDAFF5AA8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D19B739C-D678-55B1-9335-5E84C8714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2661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D949D-5534-7868-CD1E-1D456BBF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779E967-E960-E31F-0F55-EA0A3048CFB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DB0BA54C-6317-BE63-E5B6-AB7531A27DC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829BBAA0-AD85-F7D7-ACA0-428768BAC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2464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D2D9B-8894-9D3E-A7E5-B685BDC66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18734345-E26C-73A3-016D-A5319BA7FBE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F2C0DE0-42F4-9BDB-32BB-340CCB3ADFE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EC990E44-39B9-374A-31CD-2D9FBB0B8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0329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EAB7-12DE-9925-3D95-6A061AFB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637666F-2D3C-A3BC-9BF0-97902240556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A150C23-C2D9-44D6-79C1-70D9F2666EE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075EA7FB-CFB9-FC3E-1950-2D7D645F40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5106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728E6-0622-3224-9559-E2FC024E5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1978F563-BD37-D06B-09F7-948FBB3A1AD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554A28A-A620-F8CA-0FB4-936D98D3CC7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48221C80-B88A-088E-7DC3-440EECB179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7755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5F9F9-D906-7E7B-7187-AA2848F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E68AAEF-6C85-2164-47B8-F6AC86C3D79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69F2D142-8A2C-B3B6-4E61-8C976178C8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2F0A46EC-B5CF-7A6F-E2EE-06299EEBA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6509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936F2-BE2B-94D6-DCFC-CF3B1649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46D2C179-1F23-42B5-1E1F-2056A23B0F6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099921C-345D-46D5-D88D-B0B2DF18F9F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4276B9B5-4AED-A050-C463-4616160C3F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1156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6004-179A-245E-90F0-CE940FAB9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42A4B473-A401-3DB1-4032-B6213599DE5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EBA6A2CB-B812-0DF9-5961-207AB824124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2C9F664E-1EE4-BF89-4DC2-7E433DF0D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1574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652ED-3242-A7E0-0571-FA89DAB4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AC130E1D-35D2-A3BB-7A96-0C5BF75D96E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E88DEF70-A2AD-EA61-7EE6-C8A65542A56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E12D6327-A173-E2B3-C06C-6267078B9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987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9B09F-1B0D-E8A9-C45E-66D19F39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95AB3A3-9877-1AEF-0E88-DBA6175AEB9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C61A373-9EA1-C0F7-D172-7FEB1DE6282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DD21FDFA-9F45-FF85-F78F-BA9A4AC472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8074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580AB-63A9-DF90-94DB-D1D056155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7F7FFD42-53BE-5F36-C951-5833624930A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833980A-DED7-09F0-F8C3-8FDEF8099F7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EBB04B48-5C90-5FE2-E498-95E1A6A2FA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65719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564E9-2CD9-CB31-3708-B02B32407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C0CDA1E-0583-CA8C-7872-DEC9283D311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42A60F4-8EBB-E9E1-B2D0-A8ED3E127F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5633B273-27FA-15EF-BD16-94F5CF0311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14435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B88D1-CA94-1619-0BD9-737122E1D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A08E45D7-1871-1046-C13F-45F526642C2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7E99A22-2439-99D5-A381-8EE0898F13F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AC3A2560-8894-D21E-CF0C-CA65B92C4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2186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27A24-A4CD-D8BA-3903-073733076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1B3D636F-1697-C438-A8F8-F9E95CF0629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B1C066E-96AE-6D8C-E324-2C1E72BB661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53C3BEA6-C929-3340-9A63-99CE01B86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3576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49608-323F-1047-269C-7C6AC178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48B088D-DF13-9756-3CB3-E557C762513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DCA82A6-E8BD-DB14-8D74-544434C3964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1E54050-EAF2-1083-F743-48D800DFB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177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7485D-0500-09FC-F8F0-6FF637106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D3CB49A3-D06B-086D-5BAE-8D25EC73060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EFD88A4-5ABE-5086-37AC-EBE9B0338F8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8DB5CE5A-9120-614F-C66F-1279FDF9C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43565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8E291-C6CB-D059-9C15-49CF29A5F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576B184-4DF1-FDAD-E2B9-5F8845A2B1E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AB844DF4-0EE2-BEA9-6577-A91D43CCC86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726E4507-EE07-D26E-904D-8C8CBA594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39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9CB48-AA93-93FF-A29A-511D142BC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635818F5-7C77-4692-6DFD-9E1C3AB448C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3DC6B03F-8B1B-D42E-5754-11E52DBB6B2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C8D2C569-84F8-3A2D-E829-B84BEC02C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50974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D2941-051C-8BD2-907C-66A735024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3C8AB89-D203-35E6-F030-368FE819029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73F72F0-9A4B-F6CD-E682-EEB8D605640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872A8C7F-74D1-E580-B723-0F3640070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8334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1662D-4147-C205-3703-AE46B8E36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BC4E080D-932D-38F3-1F43-1872BD96F89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13FCBCB-C62E-73DE-E0FD-102DA04117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FA6577FE-401E-77FB-ED11-8E30DA475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3681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581A-63EE-5147-DBD1-C69FEAAB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EC7ADE0-B48D-6317-A344-347C7DC1E08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E82AB5D-16CD-3A48-651B-A3B35050715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0FB54CC1-E491-C937-B3A4-A69785D7B2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5583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22B9B-2388-0B60-502C-CA8022A85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414E9504-53BA-1CB9-5B15-453653A0028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6BB3A941-922B-A13F-F814-C5BF8DDE082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A05A067E-FA5A-A342-5A0B-DB34ED9034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34542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B21DD-E308-FD16-1DA3-F662972F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AD09308-D3F1-4293-C73E-EE5E01D04DA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5D0EC92A-A66E-33C8-3A4C-63B0F632FC6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390271CE-B907-3220-58A3-5F85D0095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64194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B76A-99BA-6B46-FFB7-C53047A3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DE52BC00-9B9D-2D1A-AC73-F143D737770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892D1F0-644E-697B-7994-9557B4BA532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5901C16D-769D-C4CE-3B95-2AEBBC8667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7352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EEF79-9C1D-D943-65A5-02719E96C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C4BB34E6-CED8-7C1E-01ED-3E2FC712B7A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92D7B569-EB06-99EB-8909-BF0FE2A5A0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69F5B2F-E07B-9D4E-3CCA-C023D54E3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9388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1AF3A-55D0-8CFC-CD8F-D54809ABB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7E883A27-67BD-3472-8E09-7F33F1B76D5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1FA7B0C-57AD-C115-76F5-D080E158FAD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BA9758D2-C258-1F22-692B-5C17E49D1F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87902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8DB64-810F-F1CB-235A-2CCC5B18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59CA6F9A-8386-D916-9EDE-8974D3C1B53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A1F0667-6FE4-0C61-5819-0B3FBFF34B7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7B7AD3A2-2E8C-C2A7-DABA-96A001664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0495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DF05C-CF9F-32A1-20DE-7566E8F8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0412E6BF-ACEB-0704-2921-AAF7545271E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5ECAC82C-7BE9-CC9B-F166-38FC2B8511E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C2AD3265-E703-409B-AB24-EFFAEC278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9692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8F90-62DF-7CF7-A6AB-F208B8B3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FDE2E96-F4E4-FE47-6B34-E4FB7C595FD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0A9A75F-D6DB-9366-55B1-134C2EEBF5F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5BA02024-2B44-2BD8-F156-7A1E7B994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77289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F1E87-04E3-A35F-880F-CA1F402EB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DF385C2E-F7FB-CFBB-1B3D-57F981A0B57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296EACF-919E-11C2-53E8-659A1ABC0D6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07101965-D2DE-96D4-2446-0B8C5FB3E9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44329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04A1C-D5C0-9B0F-B0BC-475F8347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FF330391-4611-E4E8-1B49-222ABF4A63E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34353D7-44EE-C287-CBCE-85378F71B90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4E6AA8EF-624C-B9BB-8ADE-E785C4D2E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3686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AC578-78C7-0A6B-8C36-F50DD625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CC290F2F-53D2-FC07-5CFE-CBBEB8C024B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188B4BDF-49A9-0D31-5488-EFBE83621BD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3DF5E323-7ED1-8126-87D8-3BE43287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15908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59D0D-C0E9-EC62-7CE4-B25AA4B5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CF8A1352-F60A-2E7C-4F99-0BD07402F6C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A8783A1A-D582-7887-A17C-90F7347FEE6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07727322-80A9-FDAD-3406-24B8D35E7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15253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82930-2C01-5FFB-1A9F-3A1E0CC2D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6E2A309F-12E8-CF59-3D76-116522E3018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613DA9B-DC3B-9AB9-CDF5-6AE501DD98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E601A13A-A0CA-2DE2-295E-9E71FB3FA3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436716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B6B1E-65E4-1017-ED92-7F153904A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9717D812-0001-34D3-90FC-21BBD5FCF78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2BC7E9EA-29C8-B61D-72F4-B64FBE99F87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463635F8-BB29-7041-A30C-FBF56D53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9433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4AF62-386E-43D5-16E9-9C16426CA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DE382BFD-F82C-603B-AA99-1DA10F17ED6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DCC35C13-8D53-7AF4-BB08-16B8A6C07CF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E340D3F2-2895-0469-1274-D14B428CF6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8885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88B0-7D36-8F88-434A-2AAAD329F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EB89C06F-9CCC-8B91-D203-40755ABF48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A903706B-6FEF-CF58-6E1B-0D50560344A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1D0398C5-07DC-C9E6-559A-4769E358C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5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C9A68E5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A127DCBE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1970A1F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D086DC8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AB1C549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232031F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14DE656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E_378BFA7C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98341E48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D96B32A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B_37A20CAF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C_A64B06A3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95536" y="2130425"/>
            <a:ext cx="8062664" cy="1470025"/>
          </a:xfrm>
        </p:spPr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기타 그래프 이론</a:t>
            </a:r>
            <a:br>
              <a:rPr lang="en-US" altLang="ko-KR" b="1" dirty="0">
                <a:solidFill>
                  <a:srgbClr val="0000FF"/>
                </a:solidFill>
              </a:rPr>
            </a:br>
            <a:r>
              <a:rPr lang="en-US" altLang="ko-KR" b="1" dirty="0">
                <a:solidFill>
                  <a:srgbClr val="0000FF"/>
                </a:solidFill>
              </a:rPr>
              <a:t>(Union-Find</a:t>
            </a:r>
            <a:r>
              <a:rPr lang="ko-KR" altLang="en-US" b="1" dirty="0">
                <a:solidFill>
                  <a:srgbClr val="0000FF"/>
                </a:solidFill>
              </a:rPr>
              <a:t> 자료구조</a:t>
            </a:r>
            <a:r>
              <a:rPr lang="en-US" altLang="ko-KR" b="1" dirty="0">
                <a:solidFill>
                  <a:srgbClr val="0000FF"/>
                </a:solidFill>
              </a:rPr>
              <a:t>, </a:t>
            </a:r>
            <a:r>
              <a:rPr lang="ko-KR" altLang="en-US" b="1" dirty="0" err="1">
                <a:solidFill>
                  <a:srgbClr val="0000FF"/>
                </a:solidFill>
              </a:rPr>
              <a:t>최소신장트리</a:t>
            </a:r>
            <a:r>
              <a:rPr lang="en-US" altLang="ko-KR" b="1" dirty="0">
                <a:solidFill>
                  <a:srgbClr val="0000FF"/>
                </a:solidFill>
              </a:rPr>
              <a:t>, </a:t>
            </a:r>
            <a:r>
              <a:rPr lang="ko-KR" altLang="en-US" b="1" dirty="0" err="1">
                <a:solidFill>
                  <a:srgbClr val="0000FF"/>
                </a:solidFill>
              </a:rPr>
              <a:t>위상정렬</a:t>
            </a:r>
            <a:r>
              <a:rPr lang="en-US" altLang="ko-KR" b="1" dirty="0">
                <a:solidFill>
                  <a:srgbClr val="0000FF"/>
                </a:solidFill>
              </a:rPr>
              <a:t>) 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1752600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b="1" dirty="0" err="1">
                <a:solidFill>
                  <a:srgbClr val="0000FF"/>
                </a:solidFill>
              </a:rPr>
              <a:t>서로소</a:t>
            </a:r>
            <a:r>
              <a:rPr lang="ko-KR" altLang="en-US" b="1" dirty="0">
                <a:solidFill>
                  <a:srgbClr val="0000FF"/>
                </a:solidFill>
              </a:rPr>
              <a:t> 집합</a:t>
            </a: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 err="1"/>
              <a:t>서로소</a:t>
            </a:r>
            <a:r>
              <a:rPr lang="ko-KR" altLang="en-US" sz="2000" dirty="0"/>
              <a:t> 집합</a:t>
            </a:r>
            <a:r>
              <a:rPr lang="en-US" altLang="ko-KR" sz="2000" dirty="0"/>
              <a:t>(Disjoint Sets)</a:t>
            </a:r>
            <a:r>
              <a:rPr lang="ko-KR" altLang="en-US" sz="2000" dirty="0"/>
              <a:t>란 </a:t>
            </a:r>
            <a:r>
              <a:rPr lang="ko-KR" altLang="en-US" sz="2000" b="1" dirty="0"/>
              <a:t>공통 원소가 없는 두 집합</a:t>
            </a:r>
            <a:r>
              <a:rPr lang="ko-KR" altLang="en-US" sz="2000" dirty="0"/>
              <a:t>을 의미</a:t>
            </a:r>
            <a:endParaRPr lang="en-US" altLang="ko-KR" sz="2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98BFEC-FD33-1281-7341-F0C9A91DE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2276872"/>
            <a:ext cx="7236296" cy="3152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242C-4549-9AD6-F07E-9609CD585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920F2B26-3916-2C28-FC89-7C5DD4BD0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5B2D1749-9936-74F3-6921-5696AACA547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b="1" dirty="0" err="1">
                <a:solidFill>
                  <a:srgbClr val="0000FF"/>
                </a:solidFill>
              </a:rPr>
              <a:t>서로소</a:t>
            </a:r>
            <a:r>
              <a:rPr lang="ko-KR" altLang="en-US" b="1" dirty="0">
                <a:solidFill>
                  <a:srgbClr val="0000FF"/>
                </a:solidFill>
              </a:rPr>
              <a:t> 집합 자료구조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1AE9F750-32D1-8EC3-0FB3-1C75BDC95A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 err="1"/>
              <a:t>서로소</a:t>
            </a:r>
            <a:r>
              <a:rPr lang="ko-KR" altLang="en-US" sz="2000" b="1" dirty="0"/>
              <a:t> 부분 집합들로 나누어진 원소들의 데이터를 처리하기 위한 자료구조</a:t>
            </a:r>
            <a:endParaRPr lang="en-US" altLang="ko-KR" sz="2000" b="1" dirty="0"/>
          </a:p>
          <a:p>
            <a:pPr algn="just" eaLnBrk="1" hangingPunct="1"/>
            <a:r>
              <a:rPr lang="ko-KR" altLang="en-US" sz="2000" dirty="0" err="1"/>
              <a:t>서로소</a:t>
            </a:r>
            <a:r>
              <a:rPr lang="ko-KR" altLang="en-US" sz="2000" dirty="0"/>
              <a:t> 집합 자료구조는 두 종류의 연산을 지원</a:t>
            </a:r>
            <a:endParaRPr lang="en-US" altLang="ko-KR" sz="2000" dirty="0"/>
          </a:p>
          <a:p>
            <a:pPr lvl="1" algn="just" eaLnBrk="1" hangingPunct="1"/>
            <a:r>
              <a:rPr lang="ko-KR" altLang="en-US" sz="1800" b="1" dirty="0"/>
              <a:t>합집합</a:t>
            </a:r>
            <a:r>
              <a:rPr lang="en-US" altLang="ko-KR" sz="1800" b="1" dirty="0"/>
              <a:t>(Union):</a:t>
            </a:r>
            <a:r>
              <a:rPr lang="ko-KR" altLang="en-US" sz="1800" b="1" dirty="0"/>
              <a:t> </a:t>
            </a:r>
            <a:r>
              <a:rPr lang="ko-KR" altLang="en-US" sz="1800" dirty="0"/>
              <a:t>두 개의 원소가 포함된 집합을 하나의 집합으로 합치는 연산</a:t>
            </a:r>
            <a:endParaRPr lang="en-US" altLang="ko-KR" sz="1800" dirty="0"/>
          </a:p>
          <a:p>
            <a:pPr lvl="1" algn="just" eaLnBrk="1" hangingPunct="1"/>
            <a:r>
              <a:rPr lang="ko-KR" altLang="en-US" sz="1800" b="1" dirty="0"/>
              <a:t>찾기</a:t>
            </a:r>
            <a:r>
              <a:rPr lang="en-US" altLang="ko-KR" sz="1800" b="1" dirty="0"/>
              <a:t>(Find): </a:t>
            </a:r>
            <a:r>
              <a:rPr lang="ko-KR" altLang="en-US" sz="1800" dirty="0"/>
              <a:t>특정한 원소가 속한 집합이 어떤 집합인지 알려주는 연산</a:t>
            </a:r>
            <a:endParaRPr lang="en-US" altLang="ko-KR" sz="1800" dirty="0"/>
          </a:p>
          <a:p>
            <a:pPr algn="just" eaLnBrk="1" hangingPunct="1"/>
            <a:r>
              <a:rPr lang="ko-KR" altLang="en-US" sz="2000" dirty="0" err="1"/>
              <a:t>서로소</a:t>
            </a:r>
            <a:r>
              <a:rPr lang="ko-KR" altLang="en-US" sz="2000" dirty="0"/>
              <a:t> 집합 자료구조는 </a:t>
            </a:r>
            <a:r>
              <a:rPr lang="ko-KR" altLang="en-US" sz="2000" b="1" dirty="0"/>
              <a:t>합치기 찾기</a:t>
            </a:r>
            <a:r>
              <a:rPr lang="en-US" altLang="ko-KR" sz="2000" b="1" dirty="0"/>
              <a:t>(Union Find) </a:t>
            </a:r>
            <a:r>
              <a:rPr lang="ko-KR" altLang="en-US" sz="2000" b="1" dirty="0"/>
              <a:t>자료구조</a:t>
            </a:r>
            <a:r>
              <a:rPr lang="ko-KR" altLang="en-US" sz="2000" dirty="0"/>
              <a:t>라고 불리기도 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31358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2103B-F855-63F2-C015-95A339931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9AC32B43-360C-68E1-F450-9A151057B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52C51E0A-41A0-814B-8FF2-8DCA8F8DE541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b="1" dirty="0" err="1">
                <a:solidFill>
                  <a:srgbClr val="0000FF"/>
                </a:solidFill>
              </a:rPr>
              <a:t>서로소</a:t>
            </a:r>
            <a:r>
              <a:rPr lang="ko-KR" altLang="en-US" b="1" dirty="0">
                <a:solidFill>
                  <a:srgbClr val="0000FF"/>
                </a:solidFill>
              </a:rPr>
              <a:t> 집합 자료구조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79979EB6-9E1B-308E-4400-6DC3CC927A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여러 개의 합치기 연산이 주어졌을 때 </a:t>
            </a:r>
            <a:r>
              <a:rPr lang="ko-KR" altLang="en-US" sz="2000" dirty="0" err="1"/>
              <a:t>서로소</a:t>
            </a:r>
            <a:r>
              <a:rPr lang="ko-KR" altLang="en-US" sz="2000" dirty="0"/>
              <a:t> 집합 자료구조의 동작 과정은 다음과 같다</a:t>
            </a:r>
            <a:r>
              <a:rPr lang="en-US" altLang="ko-KR" sz="2000" dirty="0"/>
              <a:t>.</a:t>
            </a:r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합집합</a:t>
            </a:r>
            <a:r>
              <a:rPr lang="en-US" altLang="ko-KR" sz="2000" dirty="0"/>
              <a:t>(Union) </a:t>
            </a:r>
            <a:r>
              <a:rPr lang="ko-KR" altLang="en-US" sz="2000" dirty="0"/>
              <a:t>연산을</a:t>
            </a:r>
            <a:r>
              <a:rPr lang="en-US" altLang="ko-KR" sz="2000" dirty="0"/>
              <a:t> </a:t>
            </a:r>
            <a:r>
              <a:rPr lang="ko-KR" altLang="en-US" sz="2000" dirty="0"/>
              <a:t>확인하여</a:t>
            </a:r>
            <a:r>
              <a:rPr lang="en-US" altLang="ko-KR" sz="2000" dirty="0"/>
              <a:t>, </a:t>
            </a:r>
            <a:r>
              <a:rPr lang="ko-KR" altLang="en-US" sz="2000" dirty="0"/>
              <a:t>서로 연결된 두 노드 </a:t>
            </a:r>
            <a:r>
              <a:rPr lang="en-US" altLang="ko-KR" sz="2000" dirty="0"/>
              <a:t>A, B</a:t>
            </a:r>
            <a:r>
              <a:rPr lang="ko-KR" altLang="en-US" sz="2000" dirty="0"/>
              <a:t>를 확인</a:t>
            </a:r>
            <a:endParaRPr lang="en-US" altLang="ko-KR" sz="2000" dirty="0"/>
          </a:p>
          <a:p>
            <a:pPr marL="857250" lvl="1" indent="-457200" algn="just" eaLnBrk="1" hangingPunct="1">
              <a:buFont typeface="+mj-lt"/>
              <a:buAutoNum type="arabicPeriod"/>
            </a:pPr>
            <a:r>
              <a:rPr lang="en-US" altLang="ko-KR" sz="1800" dirty="0"/>
              <a:t>A</a:t>
            </a:r>
            <a:r>
              <a:rPr lang="ko-KR" altLang="en-US" sz="1800" dirty="0"/>
              <a:t>와 </a:t>
            </a:r>
            <a:r>
              <a:rPr lang="en-US" altLang="ko-KR" sz="1800" dirty="0"/>
              <a:t>B</a:t>
            </a:r>
            <a:r>
              <a:rPr lang="ko-KR" altLang="en-US" sz="1800" dirty="0"/>
              <a:t>의 루트 노드 </a:t>
            </a:r>
            <a:r>
              <a:rPr lang="en-US" altLang="ko-KR" sz="1800" dirty="0"/>
              <a:t>A‘, B’ </a:t>
            </a:r>
            <a:r>
              <a:rPr lang="ko-KR" altLang="en-US" sz="1800" dirty="0"/>
              <a:t>를 각각 찾는다</a:t>
            </a:r>
            <a:r>
              <a:rPr lang="en-US" altLang="ko-KR" sz="1800" dirty="0"/>
              <a:t>. </a:t>
            </a:r>
          </a:p>
          <a:p>
            <a:pPr marL="857250" lvl="1" indent="-457200" algn="just" eaLnBrk="1" hangingPunct="1">
              <a:buFont typeface="+mj-lt"/>
              <a:buAutoNum type="arabicPeriod"/>
            </a:pPr>
            <a:r>
              <a:rPr lang="en-US" altLang="ko-KR" sz="1800" dirty="0"/>
              <a:t>A’</a:t>
            </a:r>
            <a:r>
              <a:rPr lang="ko-KR" altLang="en-US" sz="1800" dirty="0"/>
              <a:t>를 </a:t>
            </a:r>
            <a:r>
              <a:rPr lang="en-US" altLang="ko-KR" sz="1800" dirty="0"/>
              <a:t>B’</a:t>
            </a:r>
            <a:r>
              <a:rPr lang="ko-KR" altLang="en-US" sz="1800" dirty="0"/>
              <a:t>의 부모 노드로 설정한다</a:t>
            </a:r>
            <a:r>
              <a:rPr lang="en-US" altLang="ko-KR" sz="1800" dirty="0"/>
              <a:t>.</a:t>
            </a:r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모든 합집합</a:t>
            </a:r>
            <a:r>
              <a:rPr lang="en-US" altLang="ko-KR" sz="2000" dirty="0"/>
              <a:t>(Union) </a:t>
            </a:r>
            <a:r>
              <a:rPr lang="ko-KR" altLang="en-US" sz="2000" dirty="0"/>
              <a:t>연산을 처리할 때까지 </a:t>
            </a:r>
            <a:r>
              <a:rPr lang="en-US" altLang="ko-KR" sz="2000" dirty="0"/>
              <a:t>1</a:t>
            </a:r>
            <a:r>
              <a:rPr lang="ko-KR" altLang="en-US" sz="2000" dirty="0"/>
              <a:t>번의 과정을 반복한다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48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2187-C0B4-389A-CB86-393427B29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2FCACFF-FC61-1D21-B62E-505FA10E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889E10C-CB3D-5583-DC77-1BDB0F2A48D8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32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32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3200" b="1" dirty="0">
                <a:solidFill>
                  <a:srgbClr val="0000FF"/>
                </a:solidFill>
              </a:rPr>
              <a:t>: </a:t>
            </a:r>
            <a:r>
              <a:rPr lang="ko-KR" altLang="en-US" sz="32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7DFE0A-CC7B-EB4E-94E3-A2AC1F197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36" y="1779132"/>
            <a:ext cx="8532440" cy="307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7441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C0032-5A59-3177-78E9-664FF8A3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0568F47-86B2-2186-C53F-636CAC57B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1794478-4609-FBD8-8F40-56C72902E2B9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32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32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3200" b="1" dirty="0">
                <a:solidFill>
                  <a:srgbClr val="0000FF"/>
                </a:solidFill>
              </a:rPr>
              <a:t>: </a:t>
            </a:r>
            <a:r>
              <a:rPr lang="ko-KR" altLang="en-US" sz="32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C75135D-3AED-D0EC-8BE4-1ADDC75F9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28" y="1474769"/>
            <a:ext cx="8615175" cy="368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1189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E4A7E-4F89-095A-5C84-ECD1B3C2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4722618C-F730-253B-076A-AE530464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2142179-3A28-2F2F-9104-A25DB9E2B7A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32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32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3200" b="1" dirty="0">
                <a:solidFill>
                  <a:srgbClr val="0000FF"/>
                </a:solidFill>
              </a:rPr>
              <a:t>: </a:t>
            </a:r>
            <a:r>
              <a:rPr lang="ko-KR" altLang="en-US" sz="32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DBAC679-C36C-422E-A84A-0B4373E57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28" y="1456975"/>
            <a:ext cx="8578693" cy="370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49920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13A84-D2FF-2941-D157-DF2F87D4F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ECE3EEBF-0239-DD69-AFF0-AD6F6302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72E6A2B-835C-422B-B8C0-917F88A3692C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32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32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3200" b="1" dirty="0">
                <a:solidFill>
                  <a:srgbClr val="0000FF"/>
                </a:solidFill>
              </a:rPr>
              <a:t>: </a:t>
            </a:r>
            <a:r>
              <a:rPr lang="ko-KR" altLang="en-US" sz="32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18F9342-DF93-390A-CE69-A272730FD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28" y="1474443"/>
            <a:ext cx="8614501" cy="368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760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891C-483F-B1CF-CF4B-5E4044E1B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8D315B14-6542-18A2-64EC-FE7584A23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9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309E230F-B026-0DF1-94A2-ED121DAB5234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32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32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3200" b="1" dirty="0">
                <a:solidFill>
                  <a:srgbClr val="0000FF"/>
                </a:solidFill>
              </a:rPr>
              <a:t>: </a:t>
            </a:r>
            <a:r>
              <a:rPr lang="ko-KR" altLang="en-US" sz="32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DE4FD59-5C99-F45A-E25D-4F1E19A7D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20" y="1485151"/>
            <a:ext cx="8636770" cy="3672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1250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D60DB-0E9B-96F3-4139-CDE68F2ED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2DF22653-5E7F-33AB-AF11-C40C59D34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10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C58AE0D7-9860-EE71-2F2D-19471D2F234D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b="1" dirty="0" err="1">
                <a:solidFill>
                  <a:srgbClr val="0000FF"/>
                </a:solidFill>
              </a:rPr>
              <a:t>서로소</a:t>
            </a:r>
            <a:r>
              <a:rPr lang="ko-KR" altLang="en-US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b="1" dirty="0">
                <a:solidFill>
                  <a:srgbClr val="0000FF"/>
                </a:solidFill>
              </a:rPr>
              <a:t>: </a:t>
            </a:r>
            <a:r>
              <a:rPr lang="ko-KR" altLang="en-US" b="1" dirty="0">
                <a:solidFill>
                  <a:srgbClr val="0000FF"/>
                </a:solidFill>
              </a:rPr>
              <a:t>연결성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68119FF-CB05-49C7-4207-1F878800F3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 err="1"/>
              <a:t>서로소</a:t>
            </a:r>
            <a:r>
              <a:rPr lang="ko-KR" altLang="en-US" sz="2000" dirty="0"/>
              <a:t> 집합 자료구조에서는 연결성을 통해 손쉽게 집합의 형태를 확인</a:t>
            </a:r>
            <a:endParaRPr lang="en-US" altLang="ko-KR" sz="20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BD7BC3-7EB7-24AC-134A-AA6FDDE24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023935"/>
            <a:ext cx="7380312" cy="369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08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34CC7-869E-144F-9AEC-9BE512F2F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362C3FC4-3742-E457-DAAD-DD8EF4DC1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11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2978BBA-C2D6-9F36-AB9A-CE159EBED859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b="1" dirty="0" err="1">
                <a:solidFill>
                  <a:srgbClr val="0000FF"/>
                </a:solidFill>
              </a:rPr>
              <a:t>서로소</a:t>
            </a:r>
            <a:r>
              <a:rPr lang="ko-KR" altLang="en-US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b="1" dirty="0">
                <a:solidFill>
                  <a:srgbClr val="0000FF"/>
                </a:solidFill>
              </a:rPr>
              <a:t>: </a:t>
            </a:r>
            <a:r>
              <a:rPr lang="ko-KR" altLang="en-US" b="1" dirty="0">
                <a:solidFill>
                  <a:srgbClr val="0000FF"/>
                </a:solidFill>
              </a:rPr>
              <a:t>연결성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7736C7C2-F0EC-79D1-4D6D-5880176995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기본적인 형태의 </a:t>
            </a:r>
            <a:r>
              <a:rPr lang="ko-KR" altLang="en-US" sz="2000" dirty="0" err="1"/>
              <a:t>서로소</a:t>
            </a:r>
            <a:r>
              <a:rPr lang="ko-KR" altLang="en-US" sz="2000" dirty="0"/>
              <a:t> 집합 자료구조에서는 루트 노드에 즉시 접근할 수 없다</a:t>
            </a:r>
            <a:r>
              <a:rPr lang="en-US" altLang="ko-KR" sz="2000" dirty="0"/>
              <a:t>. </a:t>
            </a:r>
          </a:p>
          <a:p>
            <a:pPr lvl="1" algn="just" eaLnBrk="1" hangingPunct="1"/>
            <a:r>
              <a:rPr lang="ko-KR" altLang="en-US" sz="1800" dirty="0"/>
              <a:t>루트 노드를 찾기 위해서 </a:t>
            </a:r>
            <a:r>
              <a:rPr lang="ko-KR" altLang="en-US" sz="1800" b="1" dirty="0"/>
              <a:t>부모 테이블을 계속해서 확인</a:t>
            </a:r>
            <a:r>
              <a:rPr lang="ko-KR" altLang="en-US" sz="1800" dirty="0"/>
              <a:t>하며 거슬러 올라가야 한다</a:t>
            </a:r>
            <a:r>
              <a:rPr lang="en-US" altLang="ko-KR" sz="1800" dirty="0"/>
              <a:t>.</a:t>
            </a:r>
          </a:p>
          <a:p>
            <a:pPr algn="just" eaLnBrk="1" hangingPunct="1"/>
            <a:r>
              <a:rPr lang="ko-KR" altLang="en-US" sz="2000" dirty="0"/>
              <a:t>다음 예시에서 노드 </a:t>
            </a:r>
            <a:r>
              <a:rPr lang="en-US" altLang="ko-KR" sz="2000" dirty="0"/>
              <a:t>3</a:t>
            </a:r>
            <a:r>
              <a:rPr lang="ko-KR" altLang="en-US" sz="2000" dirty="0"/>
              <a:t>의 루트를 찾기 위해서는 노드 </a:t>
            </a:r>
            <a:r>
              <a:rPr lang="en-US" altLang="ko-KR" sz="2000" dirty="0"/>
              <a:t>2</a:t>
            </a:r>
            <a:r>
              <a:rPr lang="ko-KR" altLang="en-US" sz="2000" dirty="0"/>
              <a:t>를 거쳐 노드 </a:t>
            </a:r>
            <a:r>
              <a:rPr lang="en-US" altLang="ko-KR" sz="2000" dirty="0"/>
              <a:t>1</a:t>
            </a:r>
            <a:r>
              <a:rPr lang="ko-KR" altLang="en-US" sz="2000" dirty="0"/>
              <a:t>에 접근해야 한다</a:t>
            </a:r>
            <a:r>
              <a:rPr lang="en-US" altLang="ko-KR" sz="2000" dirty="0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C86F8EA-5231-AA8B-8B24-4AA004816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04" y="3422723"/>
            <a:ext cx="5940152" cy="292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926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D2CD-89F1-2230-C42B-AC2494D46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22F62CB4-683C-4DF2-7BFE-2FBEF7F5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B8146B5B-FADD-16D4-C8B6-4ACB9E9E7128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712968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기본적인 구현 방법 </a:t>
            </a:r>
            <a:r>
              <a:rPr lang="en-US" altLang="ko-KR" sz="2800" b="1" dirty="0">
                <a:solidFill>
                  <a:srgbClr val="0000FF"/>
                </a:solidFill>
              </a:rPr>
              <a:t>(Python)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9BAED9D-D461-0F70-5C7B-53A9FAC08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84188"/>
            <a:ext cx="8460432" cy="515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213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3756-C542-1E58-FAC6-D7749DF5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2670E44-AECC-D428-2F57-E25F20C5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EFC6B26-90F2-922E-BF98-4031DED9601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712968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기본적인 구현 방법 </a:t>
            </a:r>
            <a:r>
              <a:rPr lang="en-US" altLang="ko-KR" sz="2800" b="1" dirty="0">
                <a:solidFill>
                  <a:srgbClr val="0000FF"/>
                </a:solidFill>
              </a:rPr>
              <a:t>(C++)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3034B97-A330-D6F5-4DFA-DD28A18FC1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8" y="1008112"/>
            <a:ext cx="7353683" cy="558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2050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DC33B-5071-BE1B-423A-8387EA8B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D8EACAC-D69F-6992-D898-2F013C2FC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9AC8E04-7BAE-A5C9-9B32-084C20F21112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기본적인 구현 방법의 문제점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69767BF8-17E0-6BA7-E15E-A68B802D38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/>
              <a:t>합집합</a:t>
            </a:r>
            <a:r>
              <a:rPr lang="en-US" altLang="ko-KR" sz="2000" b="1" dirty="0"/>
              <a:t>(Union) </a:t>
            </a:r>
            <a:r>
              <a:rPr lang="ko-KR" altLang="en-US" sz="2000" b="1" dirty="0"/>
              <a:t>연산이 편향되게 이루어지는 경우 찾기</a:t>
            </a:r>
            <a:r>
              <a:rPr lang="en-US" altLang="ko-KR" sz="2000" b="1" dirty="0"/>
              <a:t>(Find) </a:t>
            </a:r>
            <a:r>
              <a:rPr lang="ko-KR" altLang="en-US" sz="2000" b="1" dirty="0"/>
              <a:t>함수가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비효율적으로 동작</a:t>
            </a:r>
            <a:r>
              <a:rPr lang="ko-KR" altLang="en-US" sz="2000" dirty="0"/>
              <a:t>한다</a:t>
            </a:r>
            <a:r>
              <a:rPr lang="en-US" altLang="ko-KR" sz="2000" dirty="0"/>
              <a:t>. </a:t>
            </a:r>
          </a:p>
          <a:p>
            <a:pPr algn="just" eaLnBrk="1" hangingPunct="1"/>
            <a:r>
              <a:rPr lang="ko-KR" altLang="en-US" sz="2000" dirty="0"/>
              <a:t>최악의 경우에는 찾기</a:t>
            </a:r>
            <a:r>
              <a:rPr lang="en-US" altLang="ko-KR" sz="2000" dirty="0"/>
              <a:t>(Find) </a:t>
            </a:r>
            <a:r>
              <a:rPr lang="ko-KR" altLang="en-US" sz="2000" dirty="0"/>
              <a:t>함수가 모든 노드를 다 확인하게 되어 시간 복잡도가 </a:t>
            </a:r>
            <a:r>
              <a:rPr lang="en-US" altLang="ko-KR" sz="2000" dirty="0"/>
              <a:t>O(V) </a:t>
            </a:r>
            <a:r>
              <a:rPr lang="ko-KR" altLang="en-US" sz="2000" dirty="0"/>
              <a:t>이다</a:t>
            </a:r>
            <a:r>
              <a:rPr lang="en-US" altLang="ko-KR" sz="2000" dirty="0"/>
              <a:t>. </a:t>
            </a:r>
          </a:p>
          <a:p>
            <a:pPr lvl="1" algn="just" eaLnBrk="1" hangingPunct="1"/>
            <a:r>
              <a:rPr lang="ko-KR" altLang="en-US" sz="1800" dirty="0"/>
              <a:t>다음과 같이 </a:t>
            </a:r>
            <a:r>
              <a:rPr lang="en-US" altLang="ko-KR" sz="1800" dirty="0"/>
              <a:t>{1, 2, 3, 4 5}</a:t>
            </a:r>
            <a:r>
              <a:rPr lang="ko-KR" altLang="en-US" sz="1800" dirty="0"/>
              <a:t>의 총 </a:t>
            </a:r>
            <a:r>
              <a:rPr lang="en-US" altLang="ko-KR" sz="1800" dirty="0"/>
              <a:t>5</a:t>
            </a:r>
            <a:r>
              <a:rPr lang="ko-KR" altLang="en-US" sz="1800" dirty="0"/>
              <a:t>개 원소가 존재하는 상황을 확인해 보자</a:t>
            </a:r>
            <a:r>
              <a:rPr lang="en-US" altLang="ko-KR" sz="1800" dirty="0"/>
              <a:t>.</a:t>
            </a:r>
          </a:p>
          <a:p>
            <a:pPr lvl="1" algn="just" eaLnBrk="1" hangingPunct="1"/>
            <a:r>
              <a:rPr lang="ko-KR" altLang="en-US" sz="1800" b="1" dirty="0"/>
              <a:t>수행된 연산들</a:t>
            </a:r>
            <a:r>
              <a:rPr lang="en-US" altLang="ko-KR" sz="1800" dirty="0"/>
              <a:t>: Union(4,5), Union(3,4), Union(2,3), Union(1,2)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0A61F68-2A47-9F40-5F01-16A8B08CA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84" y="3789040"/>
            <a:ext cx="7668344" cy="2140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24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C17A3-F980-9DA5-50EF-6CB516C40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49274433-C902-4FB1-CD71-F84A71FBD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892EDDF9-6349-5AEB-139A-1B91CC01A263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경로 압축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A55F052-2BA5-F02F-1E50-FC60D60F15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찾기</a:t>
            </a:r>
            <a:r>
              <a:rPr lang="en-US" altLang="ko-KR" sz="2000" dirty="0"/>
              <a:t>(Find) </a:t>
            </a:r>
            <a:r>
              <a:rPr lang="ko-KR" altLang="en-US" sz="2000" dirty="0"/>
              <a:t>함수를 최적화하기 위한 방법으로 경로 압축</a:t>
            </a:r>
            <a:r>
              <a:rPr lang="en-US" altLang="ko-KR" sz="2000" dirty="0"/>
              <a:t>(Path Compression)</a:t>
            </a:r>
            <a:r>
              <a:rPr lang="ko-KR" altLang="en-US" sz="2000" dirty="0"/>
              <a:t>을</a:t>
            </a:r>
            <a:r>
              <a:rPr lang="en-US" altLang="ko-KR" sz="2000" dirty="0"/>
              <a:t> </a:t>
            </a:r>
            <a:r>
              <a:rPr lang="ko-KR" altLang="en-US" sz="2000" dirty="0"/>
              <a:t>이용한다</a:t>
            </a:r>
            <a:r>
              <a:rPr lang="en-US" altLang="ko-KR" sz="2000" dirty="0"/>
              <a:t>. </a:t>
            </a:r>
          </a:p>
          <a:p>
            <a:pPr lvl="1" algn="just" eaLnBrk="1" hangingPunct="1"/>
            <a:r>
              <a:rPr lang="ko-KR" altLang="en-US" sz="1800" dirty="0"/>
              <a:t>찾기</a:t>
            </a:r>
            <a:r>
              <a:rPr lang="en-US" altLang="ko-KR" sz="1800" dirty="0"/>
              <a:t>(Find) </a:t>
            </a:r>
            <a:r>
              <a:rPr lang="ko-KR" altLang="en-US" sz="1800" dirty="0"/>
              <a:t>함수를 재귀적으로 호출한 뒤에 </a:t>
            </a:r>
            <a:r>
              <a:rPr lang="ko-KR" altLang="en-US" sz="1800" b="1" dirty="0"/>
              <a:t>부모 테이블 값을 바로 갱신</a:t>
            </a:r>
            <a:r>
              <a:rPr lang="ko-KR" altLang="en-US" sz="1800" dirty="0"/>
              <a:t>한다</a:t>
            </a:r>
            <a:r>
              <a:rPr lang="en-US" altLang="ko-KR" sz="1800" dirty="0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138E4B8-07AF-AA02-5671-435B85693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84" y="2852936"/>
            <a:ext cx="7920880" cy="193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6811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9B8CA-136E-00AD-32B6-3AAB9A014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3368AC9A-6A83-4455-A9F1-0A52315AA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CDBF84A-D842-EFA4-A8B7-166B765C445D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경로 압축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261DFEFF-D2DA-2188-D8C7-EAC800469D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경로 압축 기법을 적용하면 각 노드에 대하여 </a:t>
            </a:r>
            <a:r>
              <a:rPr lang="ko-KR" altLang="en-US" sz="2000" u="sng" dirty="0"/>
              <a:t>찾기</a:t>
            </a:r>
            <a:r>
              <a:rPr lang="en-US" altLang="ko-KR" sz="2000" u="sng" dirty="0"/>
              <a:t>(Find) </a:t>
            </a:r>
            <a:r>
              <a:rPr lang="ko-KR" altLang="en-US" sz="2000" u="sng" dirty="0"/>
              <a:t>함수를</a:t>
            </a:r>
            <a:r>
              <a:rPr lang="en-US" altLang="ko-KR" sz="2000" u="sng" dirty="0"/>
              <a:t> </a:t>
            </a:r>
            <a:r>
              <a:rPr lang="ko-KR" altLang="en-US" sz="2000" u="sng" dirty="0"/>
              <a:t>호출한 이후에 해당 노드의 루트 노드가 바로 부모 노드</a:t>
            </a:r>
            <a:r>
              <a:rPr lang="ko-KR" altLang="en-US" sz="2000" dirty="0"/>
              <a:t>가 된다</a:t>
            </a:r>
            <a:r>
              <a:rPr lang="en-US" altLang="ko-KR" sz="2000" dirty="0"/>
              <a:t>.</a:t>
            </a:r>
          </a:p>
          <a:p>
            <a:pPr algn="just" eaLnBrk="1" hangingPunct="1"/>
            <a:r>
              <a:rPr lang="ko-KR" altLang="en-US" sz="2000" dirty="0"/>
              <a:t>동일한 예시에 대해서 </a:t>
            </a:r>
            <a:r>
              <a:rPr lang="ko-KR" altLang="en-US" sz="2000" b="1" dirty="0"/>
              <a:t>모든 합집합</a:t>
            </a:r>
            <a:r>
              <a:rPr lang="en-US" altLang="ko-KR" sz="2000" b="1" dirty="0"/>
              <a:t>(Union) </a:t>
            </a:r>
            <a:r>
              <a:rPr lang="ko-KR" altLang="en-US" sz="2000" b="1" dirty="0"/>
              <a:t>함수를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처리한 후 각 원소에 대하여 찾기</a:t>
            </a:r>
            <a:r>
              <a:rPr lang="en-US" altLang="ko-KR" sz="2000" b="1" dirty="0"/>
              <a:t>(Find) </a:t>
            </a:r>
            <a:r>
              <a:rPr lang="ko-KR" altLang="en-US" sz="2000" b="1" dirty="0"/>
              <a:t>함수를 수행하면 다음과 같이 부모 테이블이 갱신</a:t>
            </a:r>
            <a:endParaRPr lang="en-US" altLang="ko-KR" sz="2000" b="1" dirty="0"/>
          </a:p>
          <a:p>
            <a:pPr algn="just" eaLnBrk="1" hangingPunct="1"/>
            <a:r>
              <a:rPr lang="ko-KR" altLang="en-US" sz="2000" dirty="0"/>
              <a:t>기본적인 방법에 비하여 시간 복잡도가 개선된다</a:t>
            </a:r>
            <a:r>
              <a:rPr lang="en-US" altLang="ko-KR" sz="2000" dirty="0"/>
              <a:t>.</a:t>
            </a:r>
            <a:endParaRPr lang="en-US" altLang="ko-KR" sz="1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F4C783-A3E6-F499-606D-5EA00E4C6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068959"/>
            <a:ext cx="7802178" cy="352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0084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9919F-EEA1-C471-1178-9D0E94267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4289989C-2D63-F9F4-72EF-022C19965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FF703B72-4D54-E6B3-6C4B-0A36C8A5C46E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712968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 자료구조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경로 압축 </a:t>
            </a:r>
            <a:r>
              <a:rPr lang="en-US" altLang="ko-KR" sz="2800" b="1" dirty="0">
                <a:solidFill>
                  <a:srgbClr val="0000FF"/>
                </a:solidFill>
              </a:rPr>
              <a:t>(Python)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1D4744-C98C-0C23-237A-B4F5372FB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053" y="1052736"/>
            <a:ext cx="8589923" cy="530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489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F665B-767F-AF7B-B4A1-92FFD0F91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7F835A06-6AA9-F6CF-E592-A184C5F5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BD10B27-7EE2-EF70-48F1-43FE8E550D7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800" b="1" dirty="0">
                <a:solidFill>
                  <a:srgbClr val="0000FF"/>
                </a:solidFill>
              </a:rPr>
              <a:t> 집합을 활용한 사이클 판별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1A04616-F945-C67C-1A6D-D6C229AF0E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 err="1"/>
              <a:t>서로소</a:t>
            </a:r>
            <a:r>
              <a:rPr lang="ko-KR" altLang="en-US" sz="2000" dirty="0"/>
              <a:t> 집합은 </a:t>
            </a:r>
            <a:r>
              <a:rPr lang="ko-KR" altLang="en-US" sz="2000" b="1" dirty="0" err="1"/>
              <a:t>무방향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그래프 내에서의 사이클을 판별</a:t>
            </a:r>
            <a:r>
              <a:rPr lang="ko-KR" altLang="en-US" sz="2000" dirty="0"/>
              <a:t>할 때 사용된다</a:t>
            </a:r>
            <a:r>
              <a:rPr lang="en-US" altLang="ko-KR" sz="2000" dirty="0"/>
              <a:t>.</a:t>
            </a:r>
          </a:p>
          <a:p>
            <a:pPr lvl="1" algn="just" eaLnBrk="1" hangingPunct="1"/>
            <a:r>
              <a:rPr lang="ko-KR" altLang="en-US" sz="1800" dirty="0"/>
              <a:t>참고로 방향 그래프에서의 사이클 여부는 </a:t>
            </a:r>
            <a:r>
              <a:rPr lang="en-US" altLang="ko-KR" sz="1800" dirty="0"/>
              <a:t>DFS</a:t>
            </a:r>
            <a:r>
              <a:rPr lang="ko-KR" altLang="en-US" sz="1800" dirty="0"/>
              <a:t>를 이용하여 판별한다</a:t>
            </a:r>
            <a:r>
              <a:rPr lang="en-US" altLang="ko-KR" sz="1800" dirty="0"/>
              <a:t>.</a:t>
            </a:r>
          </a:p>
          <a:p>
            <a:pPr algn="just" eaLnBrk="1" hangingPunct="1"/>
            <a:r>
              <a:rPr lang="ko-KR" altLang="en-US" sz="2000" b="1" dirty="0"/>
              <a:t>사이클 판별 알고리즘</a:t>
            </a:r>
            <a:r>
              <a:rPr lang="ko-KR" altLang="en-US" sz="2000" dirty="0"/>
              <a:t>은 다음과 가다</a:t>
            </a:r>
            <a:r>
              <a:rPr lang="en-US" altLang="ko-KR" sz="2000" dirty="0"/>
              <a:t>. </a:t>
            </a:r>
          </a:p>
          <a:p>
            <a:pPr marL="800100" lvl="1" indent="-342900" algn="just" eaLnBrk="1" hangingPunct="1">
              <a:buFont typeface="+mj-lt"/>
              <a:buAutoNum type="arabicPeriod"/>
            </a:pPr>
            <a:r>
              <a:rPr lang="ko-KR" altLang="en-US" sz="1800" dirty="0"/>
              <a:t>각 간선을 하나씩 확인하며 두 노드의 루트 노드를 확인한다</a:t>
            </a:r>
            <a:r>
              <a:rPr lang="en-US" altLang="ko-KR" sz="1800" dirty="0"/>
              <a:t>.</a:t>
            </a:r>
          </a:p>
          <a:p>
            <a:pPr lvl="2" algn="just" eaLnBrk="1" hangingPunct="1"/>
            <a:r>
              <a:rPr lang="ko-KR" altLang="en-US" sz="1600" dirty="0"/>
              <a:t>루트 노드가 서로 다르다면 두 노드에 대하여 합집합</a:t>
            </a:r>
            <a:r>
              <a:rPr lang="en-US" altLang="ko-KR" sz="1600" dirty="0"/>
              <a:t>(Union) </a:t>
            </a:r>
            <a:r>
              <a:rPr lang="ko-KR" altLang="en-US" sz="1600" dirty="0"/>
              <a:t>연산을 수행</a:t>
            </a:r>
            <a:endParaRPr lang="en-US" altLang="ko-KR" sz="1600" dirty="0"/>
          </a:p>
          <a:p>
            <a:pPr lvl="2" algn="just" eaLnBrk="1" hangingPunct="1"/>
            <a:r>
              <a:rPr lang="ko-KR" altLang="en-US" sz="1600" dirty="0"/>
              <a:t>루트 노드가 서로 같다면 사이클</a:t>
            </a:r>
            <a:r>
              <a:rPr lang="en-US" altLang="ko-KR" sz="1600" dirty="0"/>
              <a:t>(Cycle)</a:t>
            </a:r>
            <a:r>
              <a:rPr lang="ko-KR" altLang="en-US" sz="1600" dirty="0"/>
              <a:t>이 발생한 것이다</a:t>
            </a:r>
            <a:r>
              <a:rPr lang="en-US" altLang="ko-KR" sz="1600" dirty="0"/>
              <a:t>.</a:t>
            </a:r>
          </a:p>
          <a:p>
            <a:pPr marL="800100" lvl="1" indent="-342900" algn="just" eaLnBrk="1" hangingPunct="1">
              <a:buFont typeface="+mj-lt"/>
              <a:buAutoNum type="arabicPeriod"/>
            </a:pPr>
            <a:r>
              <a:rPr lang="ko-KR" altLang="en-US" sz="1800" dirty="0"/>
              <a:t>그래프에 포함되어 있는 모든 간선에 대하여 </a:t>
            </a:r>
            <a:r>
              <a:rPr lang="en-US" altLang="ko-KR" sz="1800" dirty="0"/>
              <a:t>1</a:t>
            </a:r>
            <a:r>
              <a:rPr lang="ko-KR" altLang="en-US" sz="1800" dirty="0"/>
              <a:t>번 과정을 반복한다</a:t>
            </a:r>
            <a:r>
              <a:rPr lang="en-US" altLang="ko-KR" sz="1800" dirty="0"/>
              <a:t>.</a:t>
            </a:r>
          </a:p>
          <a:p>
            <a:pPr lvl="1" algn="just" eaLnBrk="1" hangingPunct="1"/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3197337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9A86-AC5A-92B7-C644-663FBAB8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E7C82FDE-603F-7ADA-89A7-6B28BB956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19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353C0F17-FBBF-6C48-43A8-BCFC4408828D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</a:t>
            </a:r>
            <a:r>
              <a:rPr lang="en-US" altLang="ko-KR" sz="2400" b="1" dirty="0">
                <a:solidFill>
                  <a:srgbClr val="0000FF"/>
                </a:solidFill>
              </a:rPr>
              <a:t>: </a:t>
            </a:r>
            <a:r>
              <a:rPr lang="ko-KR" altLang="en-US" sz="24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AB2747-7E5A-E76C-B4EE-A593F4618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62334"/>
            <a:ext cx="8554508" cy="386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984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33E9-47E5-A843-E945-68E003CF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B6951EF7-A42C-27BE-8D64-3E1A99B8A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20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D5C7ED87-885B-44A3-DDE5-876347715AA3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</a:t>
            </a:r>
            <a:r>
              <a:rPr lang="en-US" altLang="ko-KR" sz="2400" b="1" dirty="0">
                <a:solidFill>
                  <a:srgbClr val="0000FF"/>
                </a:solidFill>
              </a:rPr>
              <a:t>: </a:t>
            </a:r>
            <a:r>
              <a:rPr lang="ko-KR" altLang="en-US" sz="24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AD547AC-1476-D875-1123-A1BDF45C2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46926"/>
            <a:ext cx="8525036" cy="3882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8108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E6884-D05F-7C93-4145-ACC80D6A0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A24AC37D-F2C2-357B-52E5-0D0A590A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21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BC153EAC-40D1-F718-479C-CAEE92A24D5E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</a:t>
            </a:r>
            <a:r>
              <a:rPr lang="en-US" altLang="ko-KR" sz="2400" b="1" dirty="0">
                <a:solidFill>
                  <a:srgbClr val="0000FF"/>
                </a:solidFill>
              </a:rPr>
              <a:t>: </a:t>
            </a:r>
            <a:r>
              <a:rPr lang="ko-KR" altLang="en-US" sz="24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426322C-EB6D-7200-FF69-4FFEE0CB5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64953"/>
            <a:ext cx="8559562" cy="3864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042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69098-4E4C-EED6-617E-CAA043D0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AA4FEAF3-2543-D304-4438-4C2D3B2D3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65BBCB9-9E2A-F9CC-16C7-79D1EA989B1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</a:t>
            </a:r>
            <a:r>
              <a:rPr lang="en-US" altLang="ko-KR" sz="2400" b="1" dirty="0">
                <a:solidFill>
                  <a:srgbClr val="0000FF"/>
                </a:solidFill>
              </a:rPr>
              <a:t>: </a:t>
            </a:r>
            <a:r>
              <a:rPr lang="ko-KR" altLang="en-US" sz="24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7EA1479-F557-E444-C8FA-C3E5F02E3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47952"/>
            <a:ext cx="8532440" cy="3883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35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88E6-98C7-1FF3-A89C-492BC3EBF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ED24930A-13B0-2C99-62DA-FE7E232D3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623A9C6F-5344-9AA6-C2C8-AD2696D858F2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 </a:t>
            </a:r>
            <a:r>
              <a:rPr lang="en-US" altLang="ko-KR" sz="2400" b="1" dirty="0">
                <a:solidFill>
                  <a:srgbClr val="0000FF"/>
                </a:solidFill>
              </a:rPr>
              <a:t>(Python)</a:t>
            </a:r>
            <a:endParaRPr lang="ko-KR" altLang="en-US" sz="2400" b="1" dirty="0">
              <a:solidFill>
                <a:srgbClr val="0000F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B0C33F-E4D6-901E-AAD0-0C779C104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980728"/>
            <a:ext cx="8532440" cy="53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9316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4F53-FB92-B805-AE10-96D287F6A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5F8CF77-10A2-E93A-F3A9-4A9321465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60469FB-3679-C17D-6DF5-90994F4DB0F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400" b="1" dirty="0" err="1">
                <a:solidFill>
                  <a:srgbClr val="0000FF"/>
                </a:solidFill>
              </a:rPr>
              <a:t>서로소</a:t>
            </a:r>
            <a:r>
              <a:rPr lang="ko-KR" altLang="en-US" sz="2400" b="1" dirty="0">
                <a:solidFill>
                  <a:srgbClr val="0000FF"/>
                </a:solidFill>
              </a:rPr>
              <a:t> 집합을 활용한 사이클 판별 </a:t>
            </a:r>
            <a:r>
              <a:rPr lang="en-US" altLang="ko-KR" sz="2400" b="1" dirty="0">
                <a:solidFill>
                  <a:srgbClr val="0000FF"/>
                </a:solidFill>
              </a:rPr>
              <a:t>(C++)</a:t>
            </a:r>
            <a:endParaRPr lang="ko-KR" altLang="en-US" sz="2400" b="1" dirty="0">
              <a:solidFill>
                <a:srgbClr val="0000FF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FB38192-4D48-F972-9E7A-3FB7BB008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440" y="936104"/>
            <a:ext cx="6083119" cy="573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37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7E2AA-4A8F-E38A-E468-EEEF81FED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B461B0F8-FBE1-B004-E4C2-D46B88258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A7E6C3B-2724-F596-BF65-A6CB370B3817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신장 트리 </a:t>
            </a:r>
            <a:r>
              <a:rPr lang="en-US" altLang="ko-KR" sz="2800" b="1" dirty="0">
                <a:solidFill>
                  <a:srgbClr val="0000FF"/>
                </a:solidFill>
              </a:rPr>
              <a:t>(Spanning Tree)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7E328577-C446-E46F-2BFE-3B8F0A9ED4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/>
              <a:t>그래프에서 모든 노드를 포함하면서 사이클이 존재하지 않는 부분 그래프 </a:t>
            </a:r>
            <a:endParaRPr lang="en-US" altLang="ko-KR" sz="2000" b="1" dirty="0"/>
          </a:p>
          <a:p>
            <a:pPr algn="just" eaLnBrk="1" hangingPunct="1"/>
            <a:r>
              <a:rPr lang="ko-KR" altLang="en-US" sz="2000" b="1" dirty="0"/>
              <a:t>간선의 개수 </a:t>
            </a:r>
            <a:r>
              <a:rPr lang="en-US" altLang="ko-KR" sz="2000" b="1" dirty="0"/>
              <a:t>= </a:t>
            </a:r>
            <a:r>
              <a:rPr lang="ko-KR" altLang="en-US" sz="2000" b="1" dirty="0"/>
              <a:t>노드 개수</a:t>
            </a:r>
            <a:r>
              <a:rPr lang="en-US" altLang="ko-KR" sz="2000" b="1" dirty="0"/>
              <a:t>(N) - 1</a:t>
            </a:r>
          </a:p>
          <a:p>
            <a:pPr algn="just" eaLnBrk="1" hangingPunct="1"/>
            <a:r>
              <a:rPr lang="ko-KR" altLang="en-US" sz="2000" dirty="0"/>
              <a:t>모든 노드가 포함되어 서로 연결되면서 사이클이 존재하지 않는다는 조건은 </a:t>
            </a:r>
            <a:r>
              <a:rPr lang="ko-KR" altLang="en-US" sz="2000" b="1" dirty="0"/>
              <a:t>트리</a:t>
            </a:r>
            <a:r>
              <a:rPr lang="ko-KR" altLang="en-US" sz="2000" dirty="0"/>
              <a:t>의 조건이기도 함</a:t>
            </a:r>
            <a:endParaRPr lang="en-US" altLang="ko-KR" sz="1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052004-0668-D5EA-E8DE-31B6812B2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48" y="3068960"/>
            <a:ext cx="8491632" cy="20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669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CBD1B-B69E-ACAC-C283-D534B264D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0445421-1C1D-5AA0-4038-926CA09E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CD272F73-5378-81D4-195C-7E80DE68F6E1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최소 신장 트리 </a:t>
            </a:r>
            <a:r>
              <a:rPr lang="en-US" altLang="ko-KR" sz="2800" b="1" dirty="0">
                <a:solidFill>
                  <a:srgbClr val="0000FF"/>
                </a:solidFill>
              </a:rPr>
              <a:t>(Minimum Spanning Tree)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EC565304-EE79-809D-9A4B-4727365202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/>
              <a:t>최소한의 비용으로 구성되는 신장 트리를 찾아야 할 때 </a:t>
            </a:r>
            <a:r>
              <a:rPr lang="ko-KR" altLang="en-US" sz="2000" dirty="0"/>
              <a:t>어떻게 해야 할까요</a:t>
            </a:r>
            <a:r>
              <a:rPr lang="en-US" altLang="ko-KR" sz="2000" dirty="0"/>
              <a:t>? </a:t>
            </a:r>
          </a:p>
          <a:p>
            <a:pPr algn="just" eaLnBrk="1" hangingPunct="1"/>
            <a:r>
              <a:rPr lang="ko-KR" altLang="en-US" sz="2000" dirty="0"/>
              <a:t>예를 들어 </a:t>
            </a:r>
            <a:r>
              <a:rPr lang="en-US" altLang="ko-KR" sz="2000" dirty="0"/>
              <a:t>N</a:t>
            </a:r>
            <a:r>
              <a:rPr lang="ko-KR" altLang="en-US" sz="2000" dirty="0"/>
              <a:t>개의 도시가 존재하는 상황에서 두 도시 사이에 도로를 놓아 전체 도시가 서로 연결될 수 있게 도로를 설치하는 경우를 생각해 보자</a:t>
            </a:r>
            <a:r>
              <a:rPr lang="en-US" altLang="ko-KR" sz="2000" dirty="0"/>
              <a:t>.</a:t>
            </a:r>
          </a:p>
          <a:p>
            <a:pPr algn="just" eaLnBrk="1" hangingPunct="1"/>
            <a:r>
              <a:rPr lang="ko-KR" altLang="en-US" sz="2000" dirty="0"/>
              <a:t>두 도시 </a:t>
            </a:r>
            <a:r>
              <a:rPr lang="en-US" altLang="ko-KR" sz="2000" dirty="0"/>
              <a:t>A, B</a:t>
            </a:r>
            <a:r>
              <a:rPr lang="ko-KR" altLang="en-US" sz="2000" dirty="0"/>
              <a:t>를 선택했을 때 </a:t>
            </a:r>
            <a:r>
              <a:rPr lang="en-US" altLang="ko-KR" sz="2000" dirty="0"/>
              <a:t>A</a:t>
            </a:r>
            <a:r>
              <a:rPr lang="ko-KR" altLang="en-US" sz="2000" dirty="0"/>
              <a:t>에서 </a:t>
            </a:r>
            <a:r>
              <a:rPr lang="en-US" altLang="ko-KR" sz="2000" dirty="0"/>
              <a:t>B</a:t>
            </a:r>
            <a:r>
              <a:rPr lang="ko-KR" altLang="en-US" sz="2000" dirty="0"/>
              <a:t>로 이동하는 경로가 반드시 존재하도록 도로를 설치한다</a:t>
            </a:r>
            <a:r>
              <a:rPr lang="en-US" altLang="ko-KR" sz="2000" dirty="0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B6C938-D811-EB70-E1F2-254054F4C6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3753040"/>
            <a:ext cx="8316416" cy="205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347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8C543-DE18-62C9-6AD9-DD3291B6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7D961D5B-581A-50DB-65EF-9EAA8E61D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01356448-2A49-3920-4F09-C18437383B3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 </a:t>
            </a:r>
            <a:r>
              <a:rPr lang="en-US" altLang="ko-KR" sz="2800" b="1" dirty="0">
                <a:solidFill>
                  <a:srgbClr val="0000FF"/>
                </a:solidFill>
              </a:rPr>
              <a:t>(Kruskal</a:t>
            </a:r>
            <a:r>
              <a:rPr lang="ko-KR" altLang="en-US" sz="2800" b="1" dirty="0">
                <a:solidFill>
                  <a:srgbClr val="0000FF"/>
                </a:solidFill>
              </a:rPr>
              <a:t> </a:t>
            </a:r>
            <a:r>
              <a:rPr lang="en-US" altLang="ko-KR" sz="2800" b="1" dirty="0">
                <a:solidFill>
                  <a:srgbClr val="0000FF"/>
                </a:solidFill>
              </a:rPr>
              <a:t>Algorithm)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EB636AE6-CB67-DD6E-2E15-184E2B7D8B0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대표적인</a:t>
            </a:r>
            <a:r>
              <a:rPr lang="en-US" altLang="ko-KR" sz="2000" dirty="0"/>
              <a:t> </a:t>
            </a:r>
            <a:r>
              <a:rPr lang="ko-KR" altLang="en-US" sz="2000" b="1" dirty="0"/>
              <a:t>최소 신장 트리 알고리즘</a:t>
            </a:r>
            <a:endParaRPr lang="en-US" altLang="ko-KR" sz="2000" b="1" dirty="0"/>
          </a:p>
          <a:p>
            <a:pPr algn="just" eaLnBrk="1" hangingPunct="1"/>
            <a:r>
              <a:rPr lang="ko-KR" altLang="en-US" sz="2000" dirty="0" err="1"/>
              <a:t>그리디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algn="just" eaLnBrk="1" hangingPunct="1"/>
            <a:r>
              <a:rPr lang="ko-KR" altLang="en-US" sz="2000" dirty="0"/>
              <a:t>구체적인 동작 과정</a:t>
            </a:r>
            <a:endParaRPr lang="en-US" altLang="ko-KR" sz="2000" dirty="0"/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간선 데이터를 비용에 따라 </a:t>
            </a:r>
            <a:r>
              <a:rPr lang="ko-KR" altLang="en-US" sz="2000" b="1" dirty="0"/>
              <a:t>오름차순으로 정렬</a:t>
            </a:r>
            <a:r>
              <a:rPr lang="ko-KR" altLang="en-US" sz="2000" dirty="0"/>
              <a:t>한다</a:t>
            </a:r>
            <a:endParaRPr lang="en-US" altLang="ko-KR" sz="2000" dirty="0"/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간선을 하나씩 확인하며 </a:t>
            </a:r>
            <a:r>
              <a:rPr lang="ko-KR" altLang="en-US" sz="2000" b="1" dirty="0"/>
              <a:t>현재의 간선이 사이클이 발생하는지 확인</a:t>
            </a:r>
            <a:endParaRPr lang="en-US" altLang="ko-KR" sz="2000" b="1" dirty="0"/>
          </a:p>
          <a:p>
            <a:pPr marL="800100" lvl="1" indent="-342900" algn="just" eaLnBrk="1" hangingPunct="1">
              <a:buFont typeface="+mj-lt"/>
              <a:buAutoNum type="arabicPeriod"/>
            </a:pPr>
            <a:r>
              <a:rPr lang="ko-KR" altLang="en-US" sz="1800" dirty="0"/>
              <a:t>사이클이 발생하지 않는 경우 최소 신장 트리에 포함시킨다</a:t>
            </a:r>
            <a:r>
              <a:rPr lang="en-US" altLang="ko-KR" sz="1800" dirty="0"/>
              <a:t>.</a:t>
            </a:r>
          </a:p>
          <a:p>
            <a:pPr marL="800100" lvl="1" indent="-342900" algn="just" eaLnBrk="1" hangingPunct="1">
              <a:buFont typeface="+mj-lt"/>
              <a:buAutoNum type="arabicPeriod"/>
            </a:pPr>
            <a:r>
              <a:rPr lang="ko-KR" altLang="en-US" sz="1800" dirty="0"/>
              <a:t>사이클이 발생하는 경우 최소 시장 트리에 포함시키지 않는다</a:t>
            </a:r>
            <a:r>
              <a:rPr lang="en-US" altLang="ko-KR" sz="1800" dirty="0"/>
              <a:t>.</a:t>
            </a:r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모든 간선에 대하여 </a:t>
            </a:r>
            <a:r>
              <a:rPr lang="en-US" altLang="ko-KR" sz="2000" dirty="0"/>
              <a:t>2</a:t>
            </a:r>
            <a:r>
              <a:rPr lang="ko-KR" altLang="en-US" sz="2000" dirty="0"/>
              <a:t>번의 과정을 반복한다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114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7D22-0ACF-0A8B-A5D9-700B61E8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111A21-CF62-D797-C76B-137706673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5998E670-EE7A-A8E3-A3A8-FAC476CF01E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96F9D0D-CB2C-1EA4-555B-A0308C570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455353"/>
            <a:ext cx="8640960" cy="373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646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D3472-C749-2633-4D48-2367C4AC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68CF4537-0E14-6591-AA0B-222DCBCB3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29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8FF0F92-8E18-54DE-E255-FA664A174EA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7A7462D-38C8-E8EE-7B08-9019636E9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73222"/>
            <a:ext cx="8640961" cy="426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8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EA201-EAA5-8B0A-73A9-5393C6FCF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592FCCF7-BA34-FEEE-4BDD-751BD937B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30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330CD1C2-D238-9910-F770-C6C4F271B7D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D0B8871-FC02-4CFE-5C36-B11586630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6297"/>
            <a:ext cx="8640961" cy="429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914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4946-3373-6176-785B-F5D995CD6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CA1FEEFE-37A4-7B43-57B3-521FD284E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31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1BE7C14-158C-9677-4360-EA5ABCFF43B4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BE3FFC-9044-0A84-8B8E-E7E9836DC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3903"/>
            <a:ext cx="8623773" cy="429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637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F557-31AC-DA63-3BF1-12116B07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35BC086F-070D-1F01-5CF5-F4BB0370C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A18FF91-F582-60D8-ACAF-532EE28390D3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F9E884-B5E8-B6E0-1CE9-5C88CFE4A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49051"/>
            <a:ext cx="8615150" cy="429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8266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A842D-63B7-9C58-D3FB-2CAD44FB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A11E300C-95AE-B83C-2E52-B344860B7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EFDF50A-756E-E61A-5D32-86FBC6DFB9C6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5381E16-7682-3907-C1CB-7179EE420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7423"/>
            <a:ext cx="8630051" cy="4287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928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581A6-FC8A-03A7-7CC5-F4A45112C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775970C5-1AF6-CF9B-4E89-FCDB8B75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5CEABD32-CD80-182F-A217-BE37CF4FBEEE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084C960-1BF5-1F39-FB36-6D46B9F61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3891"/>
            <a:ext cx="8623753" cy="429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814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4B29-079A-68E1-9B86-6EF63DBE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882B9361-124C-7478-2277-ACA18DD1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DCEC1267-0DDC-AA14-45F5-8564B0D4E4B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D4BD59-9A5D-69FA-7932-A9A0E9667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63507"/>
            <a:ext cx="8640951" cy="428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399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EF65-F87A-06D3-18D1-E6174D05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EF4E98EA-DEBD-FA9F-DD48-F6F8F0DB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45D36FB-7C13-0437-43A1-C949969CD6BD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354ED07-A2D1-040F-0D02-89FB9DB70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73351"/>
            <a:ext cx="8658707" cy="42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402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21E8C-02EC-9F89-6D74-66AF5B966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E9EA65C-A264-DB17-3C4C-198247053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C7DC8B7-90AF-50CA-DD25-F6513F929765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C829B8D-7D19-4445-8D2A-085086AD8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67114"/>
            <a:ext cx="8647438" cy="427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4647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34CD-A8EB-0433-FCD7-ACF23B38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69978BDC-6B25-F0D9-FF09-0F266C13F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AF8F832-177C-66F7-BC52-C531C2CD3D4C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동작 과정 살펴보기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D8B0E0-C606-E2A1-2088-77508D09E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370428"/>
            <a:ext cx="8640960" cy="38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111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62A1D-6630-F829-393D-0DBAEB77F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7A21221A-4335-256B-9B0D-76559B9F2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39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C691A825-207C-4E50-2AE4-497EBD51D3D1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구현 예시 </a:t>
            </a:r>
            <a:r>
              <a:rPr lang="en-US" altLang="ko-KR" sz="2800" b="1" dirty="0">
                <a:solidFill>
                  <a:srgbClr val="0000FF"/>
                </a:solidFill>
              </a:rPr>
              <a:t>(Python)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034E9BC-37A9-66D3-F4D9-8FE60257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24744"/>
            <a:ext cx="8640960" cy="523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02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86716-EA33-9A80-97CA-B55E018D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7E244730-0F32-6983-1AB0-9750914D1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40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182F5DF-0794-8393-CD44-99164CF7479F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</a:t>
            </a:r>
            <a:r>
              <a:rPr lang="en-US" altLang="ko-KR" sz="2800" b="1" dirty="0">
                <a:solidFill>
                  <a:srgbClr val="0000FF"/>
                </a:solidFill>
              </a:rPr>
              <a:t>: </a:t>
            </a:r>
            <a:r>
              <a:rPr lang="ko-KR" altLang="en-US" sz="2800" b="1" dirty="0">
                <a:solidFill>
                  <a:srgbClr val="0000FF"/>
                </a:solidFill>
              </a:rPr>
              <a:t>구현 예시 </a:t>
            </a:r>
            <a:r>
              <a:rPr lang="en-US" altLang="ko-KR" sz="2800" b="1" dirty="0">
                <a:solidFill>
                  <a:srgbClr val="0000FF"/>
                </a:solidFill>
              </a:rPr>
              <a:t>(C++)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373880B-BB95-3308-4E74-8EA0113A2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44" y="116632"/>
            <a:ext cx="7501512" cy="315925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F87475B-2FFA-D313-72F7-0F155D9A1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3273043"/>
            <a:ext cx="7501512" cy="393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092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FB5DA-72DF-1C47-F54C-EEB310BB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96DDD543-91C2-2B76-AFB1-6F9E59F85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41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334A5ED-AD04-632E-3D47-753F7061F254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크루스칼</a:t>
            </a:r>
            <a:r>
              <a:rPr lang="ko-KR" altLang="en-US" sz="2800" b="1" dirty="0">
                <a:solidFill>
                  <a:srgbClr val="0000FF"/>
                </a:solidFill>
              </a:rPr>
              <a:t> 알고리즘 성능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분석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A8536E93-6460-E2DA-2F91-17C5BFBC2C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 err="1"/>
              <a:t>크루스칼</a:t>
            </a:r>
            <a:r>
              <a:rPr lang="ko-KR" altLang="en-US" sz="2000" dirty="0"/>
              <a:t> 알고리즘은 간선의 개수가 </a:t>
            </a:r>
            <a:r>
              <a:rPr lang="en-US" altLang="ko-KR" sz="2000" dirty="0"/>
              <a:t>E</a:t>
            </a:r>
            <a:r>
              <a:rPr lang="ko-KR" altLang="en-US" sz="2000" dirty="0"/>
              <a:t>개 일 때</a:t>
            </a:r>
            <a:r>
              <a:rPr lang="en-US" altLang="ko-KR" sz="2000" dirty="0"/>
              <a:t>, </a:t>
            </a:r>
            <a:r>
              <a:rPr lang="en-US" altLang="ko-KR" sz="2000" b="1" dirty="0"/>
              <a:t>O(</a:t>
            </a:r>
            <a:r>
              <a:rPr lang="en-US" altLang="ko-KR" sz="2000" b="1" dirty="0" err="1"/>
              <a:t>ElogE</a:t>
            </a:r>
            <a:r>
              <a:rPr lang="en-US" altLang="ko-KR" sz="2000" b="1" dirty="0"/>
              <a:t>)</a:t>
            </a:r>
            <a:r>
              <a:rPr lang="ko-KR" altLang="en-US" sz="2000" dirty="0"/>
              <a:t>의 시간 복잡도</a:t>
            </a:r>
            <a:endParaRPr lang="en-US" altLang="ko-KR" sz="2000" dirty="0"/>
          </a:p>
          <a:p>
            <a:pPr algn="just" eaLnBrk="1" hangingPunct="1"/>
            <a:r>
              <a:rPr lang="ko-KR" altLang="en-US" sz="2000" dirty="0" err="1"/>
              <a:t>쿠루스칼</a:t>
            </a:r>
            <a:r>
              <a:rPr lang="ko-KR" altLang="en-US" sz="2000" dirty="0"/>
              <a:t> 알고리즘에서 </a:t>
            </a:r>
            <a:r>
              <a:rPr lang="ko-KR" altLang="en-US" sz="2000" b="1" dirty="0"/>
              <a:t>가장 많은 시간을 요구하는 곳은 간선을 정렬하는 부분</a:t>
            </a:r>
            <a:endParaRPr lang="en-US" altLang="ko-KR" sz="2000" b="1" dirty="0"/>
          </a:p>
          <a:p>
            <a:pPr lvl="1" algn="just" eaLnBrk="1" hangingPunct="1"/>
            <a:r>
              <a:rPr lang="ko-KR" altLang="en-US" sz="1800" dirty="0"/>
              <a:t>표준 라이브러리를 이용해 </a:t>
            </a:r>
            <a:r>
              <a:rPr lang="en-US" altLang="ko-KR" sz="1800" dirty="0"/>
              <a:t>E</a:t>
            </a:r>
            <a:r>
              <a:rPr lang="ko-KR" altLang="en-US" sz="1800" dirty="0"/>
              <a:t>개의 데이터를 </a:t>
            </a:r>
            <a:r>
              <a:rPr lang="ko-KR" altLang="en-US" sz="1800" u="sng" dirty="0"/>
              <a:t>정렬하기 위한 시간 복잡도는 </a:t>
            </a:r>
            <a:r>
              <a:rPr lang="en-US" altLang="ko-KR" sz="1800" u="sng" dirty="0"/>
              <a:t>O(</a:t>
            </a:r>
            <a:r>
              <a:rPr lang="en-US" altLang="ko-KR" sz="1800" u="sng" dirty="0" err="1"/>
              <a:t>ElogE</a:t>
            </a:r>
            <a:r>
              <a:rPr lang="en-US" altLang="ko-KR" sz="1800" u="sng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57637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6BF3E-EAE6-E712-F02F-3AED4DB2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F5F20B15-BED8-A117-AC4B-2AA373E83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926971A1-B4AB-8C87-A190-89C2F338E68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정렬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7C272C0-AACD-85BB-7498-7F040C268E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/>
              <a:t>사이클이 없는 방향 그래프의 모든 노드를 방향성에 거스르지 않도록 순서대로 나열</a:t>
            </a:r>
            <a:r>
              <a:rPr lang="ko-KR" altLang="en-US" sz="2000" dirty="0"/>
              <a:t>하는 것</a:t>
            </a:r>
            <a:endParaRPr lang="en-US" altLang="ko-KR" sz="2000" dirty="0"/>
          </a:p>
          <a:p>
            <a:pPr algn="just" eaLnBrk="1" hangingPunct="1"/>
            <a:r>
              <a:rPr lang="ko-KR" altLang="en-US" sz="2000" u="sng" dirty="0"/>
              <a:t>예시</a:t>
            </a:r>
            <a:r>
              <a:rPr lang="en-US" altLang="ko-KR" sz="2000" u="sng" dirty="0"/>
              <a:t>) </a:t>
            </a:r>
            <a:r>
              <a:rPr lang="ko-KR" altLang="en-US" sz="2000" u="sng" dirty="0"/>
              <a:t>선수 과목을 고려한 학습 순서 설정</a:t>
            </a:r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marL="0" indent="0" algn="just" eaLnBrk="1" hangingPunct="1">
              <a:buNone/>
            </a:pPr>
            <a:endParaRPr lang="en-US" altLang="ko-KR" sz="1800" u="sng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BA6AAD6-FC5A-F4D0-9CFE-D0CD40DCC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632" y="2708920"/>
            <a:ext cx="7020272" cy="314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2046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05687-E72F-26A1-A6DC-F88C219D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8DD4D10B-1364-41DE-18A4-A76EDCDE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849CE72B-13FD-64CF-8C5F-AAF772D35F4D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 err="1">
                <a:solidFill>
                  <a:srgbClr val="0000FF"/>
                </a:solidFill>
              </a:rPr>
              <a:t>진입차수와</a:t>
            </a:r>
            <a:r>
              <a:rPr lang="ko-KR" altLang="en-US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 err="1">
                <a:solidFill>
                  <a:srgbClr val="0000FF"/>
                </a:solidFill>
              </a:rPr>
              <a:t>진출차수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7B23D25-33D8-5AA7-7E6D-E820FA353F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 err="1"/>
              <a:t>진입차수</a:t>
            </a:r>
            <a:r>
              <a:rPr lang="en-US" altLang="ko-KR" sz="2000" b="1" dirty="0"/>
              <a:t>(Indegree): </a:t>
            </a:r>
            <a:r>
              <a:rPr lang="ko-KR" altLang="en-US" sz="2000" dirty="0"/>
              <a:t>특정한 노드로 들어오는 간선의 개수</a:t>
            </a:r>
            <a:endParaRPr lang="en-US" altLang="ko-KR" sz="2000" dirty="0"/>
          </a:p>
          <a:p>
            <a:pPr algn="just" eaLnBrk="1" hangingPunct="1"/>
            <a:r>
              <a:rPr lang="ko-KR" altLang="en-US" sz="2000" b="1" dirty="0" err="1"/>
              <a:t>진출차수</a:t>
            </a:r>
            <a:r>
              <a:rPr lang="en-US" altLang="ko-KR" sz="2000" b="1" dirty="0"/>
              <a:t>(Outdegree):</a:t>
            </a:r>
            <a:r>
              <a:rPr lang="en-US" altLang="ko-KR" sz="2000" dirty="0"/>
              <a:t> </a:t>
            </a:r>
            <a:r>
              <a:rPr lang="ko-KR" altLang="en-US" sz="2000" dirty="0"/>
              <a:t>특정한 노드에서 나가는 간선의 개수</a:t>
            </a:r>
            <a:endParaRPr lang="en-US" altLang="ko-KR" sz="2000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algn="just" eaLnBrk="1" hangingPunct="1"/>
            <a:endParaRPr lang="en-US" altLang="ko-KR" sz="2000" u="sng" dirty="0"/>
          </a:p>
          <a:p>
            <a:pPr marL="0" indent="0" algn="just" eaLnBrk="1" hangingPunct="1">
              <a:buNone/>
            </a:pPr>
            <a:endParaRPr lang="en-US" altLang="ko-KR" sz="1800" u="sng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62D0667-C673-95FE-2975-E1DF87D33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2276872"/>
            <a:ext cx="7308304" cy="3539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578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58963-5243-A61A-86F9-D4E7825B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FBCB954D-CCAF-CDE2-BD89-772AEF63E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8CC38DD7-355B-DBD4-C0D7-CDDA365DC1D5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알고리즘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192650FD-DE8C-BB4F-100D-BC8A889E84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b="1" dirty="0"/>
              <a:t>큐</a:t>
            </a:r>
            <a:r>
              <a:rPr lang="ko-KR" altLang="en-US" sz="2000" dirty="0"/>
              <a:t>를 이용하는 </a:t>
            </a:r>
            <a:r>
              <a:rPr lang="ko-KR" altLang="en-US" sz="2000" b="1" dirty="0"/>
              <a:t>위상 정렬 알고리즘의 동작 과정</a:t>
            </a:r>
            <a:r>
              <a:rPr lang="ko-KR" altLang="en-US" sz="2000" dirty="0"/>
              <a:t>은 다음과 같다</a:t>
            </a:r>
            <a:r>
              <a:rPr lang="en-US" altLang="ko-KR" sz="2000" dirty="0"/>
              <a:t>.</a:t>
            </a:r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 err="1"/>
              <a:t>진입차수가</a:t>
            </a:r>
            <a:r>
              <a:rPr lang="ko-KR" altLang="en-US" sz="2000" dirty="0"/>
              <a:t> </a:t>
            </a:r>
            <a:r>
              <a:rPr lang="en-US" altLang="ko-KR" sz="2000" dirty="0"/>
              <a:t>0</a:t>
            </a:r>
            <a:r>
              <a:rPr lang="ko-KR" altLang="en-US" sz="2000" dirty="0"/>
              <a:t>인 모든 노드를 큐에 넣는다</a:t>
            </a:r>
            <a:r>
              <a:rPr lang="en-US" altLang="ko-KR" sz="2000" dirty="0"/>
              <a:t>.</a:t>
            </a:r>
          </a:p>
          <a:p>
            <a:pPr marL="457200" indent="-457200" algn="just" eaLnBrk="1" hangingPunct="1">
              <a:buFont typeface="+mj-lt"/>
              <a:buAutoNum type="arabicPeriod"/>
            </a:pPr>
            <a:r>
              <a:rPr lang="ko-KR" altLang="en-US" sz="2000" dirty="0"/>
              <a:t>큐가 빌 때까지 다음의 과정을 반복한다</a:t>
            </a:r>
            <a:r>
              <a:rPr lang="en-US" altLang="ko-KR" sz="2000" dirty="0"/>
              <a:t>.</a:t>
            </a:r>
          </a:p>
          <a:p>
            <a:pPr marL="800100" lvl="1" indent="-342900" algn="just" eaLnBrk="1" hangingPunct="1">
              <a:buFont typeface="+mj-lt"/>
              <a:buAutoNum type="arabicParenR"/>
            </a:pPr>
            <a:r>
              <a:rPr lang="ko-KR" altLang="en-US" sz="1800" dirty="0"/>
              <a:t>큐에서 원소를 꺼내 해당 노드에서 나가는 간선을 그래프에서 제거한다</a:t>
            </a:r>
            <a:r>
              <a:rPr lang="en-US" altLang="ko-KR" sz="1800" dirty="0"/>
              <a:t>.</a:t>
            </a:r>
          </a:p>
          <a:p>
            <a:pPr marL="800100" lvl="1" indent="-342900" algn="just" eaLnBrk="1" hangingPunct="1">
              <a:buFont typeface="+mj-lt"/>
              <a:buAutoNum type="arabicParenR"/>
            </a:pPr>
            <a:r>
              <a:rPr lang="ko-KR" altLang="en-US" sz="1800" dirty="0"/>
              <a:t>새롭게 </a:t>
            </a:r>
            <a:r>
              <a:rPr lang="ko-KR" altLang="en-US" sz="1800" dirty="0" err="1"/>
              <a:t>진입차수가</a:t>
            </a:r>
            <a:r>
              <a:rPr lang="ko-KR" altLang="en-US" sz="1800" dirty="0"/>
              <a:t> </a:t>
            </a:r>
            <a:r>
              <a:rPr lang="en-US" altLang="ko-KR" sz="1800" dirty="0"/>
              <a:t>0</a:t>
            </a:r>
            <a:r>
              <a:rPr lang="ko-KR" altLang="en-US" sz="1800" dirty="0"/>
              <a:t>이 된 노드를 큐에 넣는다</a:t>
            </a:r>
            <a:r>
              <a:rPr lang="en-US" altLang="ko-KR" sz="1800" dirty="0"/>
              <a:t>.</a:t>
            </a:r>
          </a:p>
          <a:p>
            <a:pPr marL="800100" lvl="1" indent="-342900" algn="just" eaLnBrk="1" hangingPunct="1">
              <a:buFont typeface="+mj-lt"/>
              <a:buAutoNum type="arabicParenR"/>
            </a:pPr>
            <a:endParaRPr lang="en-US" altLang="ko-KR" sz="1800" dirty="0"/>
          </a:p>
          <a:p>
            <a:pPr algn="just" eaLnBrk="1" hangingPunct="1"/>
            <a:r>
              <a:rPr lang="ko-KR" altLang="en-US" sz="1800" dirty="0"/>
              <a:t>결과적으로 </a:t>
            </a:r>
            <a:r>
              <a:rPr lang="ko-KR" altLang="en-US" sz="1800" b="1" dirty="0"/>
              <a:t>각 노드가 큐에 들어온 순서가 위상 정렬을 수행한 결과</a:t>
            </a:r>
            <a:r>
              <a:rPr lang="ko-KR" altLang="en-US" sz="1800" dirty="0"/>
              <a:t>와 같다</a:t>
            </a:r>
            <a:r>
              <a:rPr lang="en-US" altLang="ko-KR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3289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EA892-00D3-A56F-6905-CF5CE25BF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C3730D03-A0B5-FA0C-BB32-DF6230355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D113A856-561A-6B55-7B7F-AF2099E5B8B3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9BDDDD2-FC14-8DAE-15FA-3700634FB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62755"/>
            <a:ext cx="8639601" cy="428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5108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6FC3-722B-86F7-3B5A-7776A3973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936A9A7D-8A5F-E524-48ED-8C772152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F5D6C8E7-EDA2-F6CC-B383-DE997F3DF4AB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F57F71-0352-3B72-A547-5D431EA45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131885"/>
            <a:ext cx="8584936" cy="4313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808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31E6-168B-4FB0-7A6C-6C7AE700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6096E628-D8E1-77E4-EF7D-FAC5E354F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41087BD-B534-3E1A-52B4-39801B50D321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E33A1D6-C2C5-1494-729E-E127A9E65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125645"/>
            <a:ext cx="8574063" cy="431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28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C863A-748B-5F04-69B5-9828608C8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38E33F67-5F7F-9465-F151-83B32C2F9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049961C-53BD-3A03-D313-E558007ECB55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FED4B0E-BDB9-EA50-E503-5F9C0E306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44237"/>
            <a:ext cx="8606631" cy="430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2091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2430E-7A76-1CFF-6C09-F6245C06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51BB212B-56F9-BD12-887B-946887B50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49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61ADA1F-AA32-7101-8CA6-B28B96E45E28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58D32B-EEBA-A462-4EDC-7ED3F14A2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34318"/>
            <a:ext cx="8640960" cy="433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3674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ADD55-8C56-8D10-CD8A-50D0CF59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2BA81878-729A-C2BD-4026-A66179993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50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C6C1192-B128-A873-33C8-0A7CEAEF130F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90A0A9-5C6C-B26A-7A27-198AA48C3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135578"/>
            <a:ext cx="8591399" cy="4309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0570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950E-832E-A66D-AADA-E0E1B4F92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FA95EA5-9152-DBD0-A4B9-F054AFAF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51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C32CD4FE-D923-167D-F2F4-559EB26B2345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699CF6-E09C-2E48-40FA-6F54B8A16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40526"/>
            <a:ext cx="8600089" cy="430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108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7A2AC-BA03-9F06-CBCB-EEBFAF02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FDE218D1-517E-C8F2-D775-4DAB10204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E9CC2AA-980D-507D-B4DB-3810FC7DF8B9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ABFA15-C31F-D50E-EA55-BA4D14382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4091"/>
            <a:ext cx="8640960" cy="429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5925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74E8-EB3B-D4C1-B14B-C0E376513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A5B98559-8B86-80AE-E7B2-C7BF2D1DF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BE43B432-223B-60DD-CFFE-79C08175E3D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3A70229-0BB3-2462-A5EE-05C747833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52929"/>
            <a:ext cx="8622039" cy="4292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6642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699B6-12AD-6669-A3F9-F0414C69D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51A51981-4A52-C8A0-D01C-377508A89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0A709A6-111A-50A2-2B96-4F946D8FF11A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동작</a:t>
            </a:r>
            <a:r>
              <a:rPr lang="en-US" altLang="ko-KR" sz="2800" b="1" dirty="0">
                <a:solidFill>
                  <a:srgbClr val="0000FF"/>
                </a:solidFill>
              </a:rPr>
              <a:t> </a:t>
            </a:r>
            <a:r>
              <a:rPr lang="ko-KR" altLang="en-US" sz="2800" b="1" dirty="0">
                <a:solidFill>
                  <a:srgbClr val="0000FF"/>
                </a:solidFill>
              </a:rPr>
              <a:t>예시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A9799F-7AE6-843B-A0A8-DD9A41F64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050536"/>
            <a:ext cx="8586102" cy="4466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3188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AE75-D367-7CCD-4EFD-14DC1E64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CF89FF20-E631-FAD0-4422-B97B351F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55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BB448C19-7914-6D40-D9D0-2960FF2734A7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정렬의 특징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3C1A8B2C-759D-8BA3-5878-4278D84C40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위상 정렬은 </a:t>
            </a:r>
            <a:r>
              <a:rPr lang="en-US" altLang="ko-KR" sz="2000" dirty="0"/>
              <a:t>DAG</a:t>
            </a:r>
            <a:r>
              <a:rPr lang="ko-KR" altLang="en-US" sz="2000" dirty="0"/>
              <a:t>에 대해서만 수행 가능</a:t>
            </a:r>
            <a:endParaRPr lang="en-US" altLang="ko-KR" sz="2000" dirty="0"/>
          </a:p>
          <a:p>
            <a:pPr lvl="1" algn="just" eaLnBrk="1" hangingPunct="1"/>
            <a:r>
              <a:rPr lang="en-US" altLang="ko-KR" sz="1800" b="1" dirty="0"/>
              <a:t>DAG (Directed Acyclic Graph):</a:t>
            </a:r>
            <a:r>
              <a:rPr lang="en-US" altLang="ko-KR" sz="1800" dirty="0"/>
              <a:t> </a:t>
            </a:r>
            <a:r>
              <a:rPr lang="ko-KR" altLang="en-US" sz="1800" dirty="0"/>
              <a:t>순환하지 않는 방향 그래프</a:t>
            </a:r>
            <a:endParaRPr lang="en-US" altLang="ko-KR" sz="1800" dirty="0"/>
          </a:p>
          <a:p>
            <a:pPr algn="just" eaLnBrk="1" hangingPunct="1"/>
            <a:r>
              <a:rPr lang="ko-KR" altLang="en-US" sz="2000" dirty="0"/>
              <a:t>위상 정렬에서는 </a:t>
            </a:r>
            <a:r>
              <a:rPr lang="ko-KR" altLang="en-US" sz="2000" b="1" dirty="0"/>
              <a:t>여러 가지 답이 존재</a:t>
            </a:r>
            <a:r>
              <a:rPr lang="ko-KR" altLang="en-US" sz="2000" dirty="0"/>
              <a:t>할 수 있다</a:t>
            </a:r>
            <a:r>
              <a:rPr lang="en-US" altLang="ko-KR" sz="2000" dirty="0"/>
              <a:t>.</a:t>
            </a:r>
          </a:p>
          <a:p>
            <a:pPr lvl="1" algn="just" eaLnBrk="1" hangingPunct="1"/>
            <a:r>
              <a:rPr lang="ko-KR" altLang="en-US" sz="1800" dirty="0"/>
              <a:t>한 단계에서 큐에 새롭게 들어가는 원소가 </a:t>
            </a:r>
            <a:r>
              <a:rPr lang="en-US" altLang="ko-KR" sz="1800" dirty="0"/>
              <a:t>2</a:t>
            </a:r>
            <a:r>
              <a:rPr lang="ko-KR" altLang="en-US" sz="1800" dirty="0"/>
              <a:t>개 이상인 경우가 있다면 여러 가지 답이 존재한다</a:t>
            </a:r>
            <a:r>
              <a:rPr lang="en-US" altLang="ko-KR" sz="1800" dirty="0"/>
              <a:t>.</a:t>
            </a:r>
          </a:p>
          <a:p>
            <a:pPr algn="just" eaLnBrk="1" hangingPunct="1"/>
            <a:r>
              <a:rPr lang="ko-KR" altLang="en-US" sz="2000" b="1" dirty="0"/>
              <a:t>모든 원소를 방문하기 전에 큐가 빈다면 사이클이 존재</a:t>
            </a:r>
            <a:r>
              <a:rPr lang="ko-KR" altLang="en-US" sz="2000" dirty="0"/>
              <a:t>한다고 판단</a:t>
            </a:r>
            <a:endParaRPr lang="en-US" altLang="ko-KR" sz="2000" dirty="0"/>
          </a:p>
          <a:p>
            <a:pPr lvl="1" algn="just" eaLnBrk="1" hangingPunct="1"/>
            <a:r>
              <a:rPr lang="ko-KR" altLang="en-US" sz="1800" u="sng" dirty="0"/>
              <a:t>사이클이 포함된 원소 중에서 어떠한 원소도 큐에 들어가지 못한다</a:t>
            </a:r>
            <a:r>
              <a:rPr lang="en-US" altLang="ko-KR" sz="1800" u="sng" dirty="0"/>
              <a:t>.</a:t>
            </a:r>
          </a:p>
          <a:p>
            <a:pPr algn="just" eaLnBrk="1" hangingPunct="1"/>
            <a:r>
              <a:rPr lang="ko-KR" altLang="en-US" sz="2000" dirty="0"/>
              <a:t>스택을 활용한 </a:t>
            </a:r>
            <a:r>
              <a:rPr lang="en-US" altLang="ko-KR" sz="2000" dirty="0"/>
              <a:t>DFS</a:t>
            </a:r>
            <a:r>
              <a:rPr lang="ko-KR" altLang="en-US" sz="2000" dirty="0"/>
              <a:t>를 이용해 위상 정렬을 수행할 수도 있다</a:t>
            </a:r>
            <a:r>
              <a:rPr lang="en-US" altLang="ko-KR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758584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20558-C459-F74A-C729-C989B138A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5ED26D21-3D8E-03C9-6AC9-B618EC26B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56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D4E0B7F1-B029-29F2-11C4-EDAE5C7ADDF5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알고리즘 </a:t>
            </a:r>
            <a:r>
              <a:rPr lang="en-US" altLang="ko-KR" sz="2800" b="1" dirty="0">
                <a:solidFill>
                  <a:srgbClr val="0000FF"/>
                </a:solidFill>
              </a:rPr>
              <a:t>(Python)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DA3775-8395-FA14-9011-AA5569C8A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1118628"/>
            <a:ext cx="8640960" cy="523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0971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02462-D1FD-94C7-3166-14D9E673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521DBB9-F982-BEF6-5956-374041503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57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4C03469-9C39-4FEA-908E-DAF91195133F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알고리즘 </a:t>
            </a:r>
            <a:r>
              <a:rPr lang="en-US" altLang="ko-KR" sz="2800" b="1" dirty="0">
                <a:solidFill>
                  <a:srgbClr val="0000FF"/>
                </a:solidFill>
              </a:rPr>
              <a:t>(C++)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25F5478-16EF-CC08-8AD9-8DEB0D7B0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042" y="1052736"/>
            <a:ext cx="7003915" cy="55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5647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6780-E621-F282-98A2-3A0B7DF52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BE293CC9-C167-BC1F-D158-B6241164C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58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522DC978-5071-36FA-0A18-9FDAED48A74E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251520" y="274638"/>
            <a:ext cx="864096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위상 정렬 알고리즘 성능 분석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7E2D0812-3CDA-460F-CBCD-599CF61304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8"/>
            <a:ext cx="8640960" cy="4911725"/>
          </a:xfrm>
        </p:spPr>
        <p:txBody>
          <a:bodyPr/>
          <a:lstStyle/>
          <a:p>
            <a:pPr algn="just" eaLnBrk="1" hangingPunct="1"/>
            <a:r>
              <a:rPr lang="ko-KR" altLang="en-US" sz="2000" dirty="0"/>
              <a:t>위상 정렬을 위해 차례대로 모든 노드를 확인하며 각 노드에서 나가는 간선을 차례대로 제거해야 한다</a:t>
            </a:r>
            <a:r>
              <a:rPr lang="en-US" altLang="ko-KR" sz="2000" dirty="0"/>
              <a:t>.</a:t>
            </a:r>
          </a:p>
          <a:p>
            <a:pPr algn="just" eaLnBrk="1" hangingPunct="1"/>
            <a:r>
              <a:rPr lang="ko-KR" altLang="en-US" sz="2000" dirty="0"/>
              <a:t>위상 정렬 알고리즘의 시간 복잡도는 </a:t>
            </a:r>
            <a:r>
              <a:rPr lang="en-US" altLang="ko-KR" sz="2000" b="1" dirty="0"/>
              <a:t>O(V + E)</a:t>
            </a:r>
          </a:p>
        </p:txBody>
      </p:sp>
    </p:spTree>
    <p:extLst>
      <p:ext uri="{BB962C8B-B14F-4D97-AF65-F5344CB8AC3E}">
        <p14:creationId xmlns:p14="http://schemas.microsoft.com/office/powerpoint/2010/main" val="3412053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5571</TotalTime>
  <Words>1250</Words>
  <Application>Microsoft Office PowerPoint</Application>
  <PresentationFormat>화면 슬라이드 쇼(4:3)</PresentationFormat>
  <Paragraphs>249</Paragraphs>
  <Slides>58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2" baseType="lpstr">
      <vt:lpstr>굴림</vt:lpstr>
      <vt:lpstr>맑은 고딕</vt:lpstr>
      <vt:lpstr>Arial</vt:lpstr>
      <vt:lpstr>Office 테마</vt:lpstr>
      <vt:lpstr>기타 그래프 이론 (Union-Find 자료구조, 최소신장트리, 위상정렬) </vt:lpstr>
      <vt:lpstr>서로소 집합</vt:lpstr>
      <vt:lpstr>서로소 집합 자료구조</vt:lpstr>
      <vt:lpstr>서로소 집합 자료구조</vt:lpstr>
      <vt:lpstr>서로소 집합 자료구조: 동작 과정 살펴보기</vt:lpstr>
      <vt:lpstr>서로소 집합 자료구조: 동작 과정 살펴보기</vt:lpstr>
      <vt:lpstr>서로소 집합 자료구조: 동작 과정 살펴보기</vt:lpstr>
      <vt:lpstr>서로소 집합 자료구조: 동작 과정 살펴보기</vt:lpstr>
      <vt:lpstr>서로소 집합 자료구조: 동작 과정 살펴보기</vt:lpstr>
      <vt:lpstr>서로소 집합 자료구조: 연결성</vt:lpstr>
      <vt:lpstr>서로소 집합 자료구조: 연결성</vt:lpstr>
      <vt:lpstr>서로소 집합 자료구조: 기본적인 구현 방법 (Python)</vt:lpstr>
      <vt:lpstr>서로소 집합 자료구조: 기본적인 구현 방법 (C++)</vt:lpstr>
      <vt:lpstr>서로소 집합 자료구조: 기본적인 구현 방법의 문제점</vt:lpstr>
      <vt:lpstr>서로소 집합 자료구조: 경로 압축</vt:lpstr>
      <vt:lpstr>서로소 집합 자료구조: 경로 압축</vt:lpstr>
      <vt:lpstr>서로소 집합 자료구조: 경로 압축 (Python)</vt:lpstr>
      <vt:lpstr>서로소 집합을 활용한 사이클 판별</vt:lpstr>
      <vt:lpstr>서로소 집합을 활용한 사이클 판별: 동작 과정 살펴보기</vt:lpstr>
      <vt:lpstr>서로소 집합을 활용한 사이클 판별: 동작 과정 살펴보기</vt:lpstr>
      <vt:lpstr>서로소 집합을 활용한 사이클 판별: 동작 과정 살펴보기</vt:lpstr>
      <vt:lpstr>서로소 집합을 활용한 사이클 판별: 동작 과정 살펴보기</vt:lpstr>
      <vt:lpstr>서로소 집합을 활용한 사이클 판별 (Python)</vt:lpstr>
      <vt:lpstr>서로소 집합을 활용한 사이클 판별 (C++)</vt:lpstr>
      <vt:lpstr>신장 트리 (Spanning Tree)</vt:lpstr>
      <vt:lpstr>최소 신장 트리 (Minimum Spanning Tree)</vt:lpstr>
      <vt:lpstr>크루스칼 알고리즘 (Kruskal Algorithm)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동작 과정 살펴보기</vt:lpstr>
      <vt:lpstr>크루스칼 알고리즘: 구현 예시 (Python)</vt:lpstr>
      <vt:lpstr>크루스칼 알고리즘: 구현 예시 (C++)</vt:lpstr>
      <vt:lpstr>크루스칼 알고리즘 성능 분석</vt:lpstr>
      <vt:lpstr>위상 정렬</vt:lpstr>
      <vt:lpstr>진입차수와 진출차수</vt:lpstr>
      <vt:lpstr>위상 정렬 알고리즘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 동작 예시</vt:lpstr>
      <vt:lpstr>위상 정렬의 특징</vt:lpstr>
      <vt:lpstr>위상 정렬 알고리즘 (Python)</vt:lpstr>
      <vt:lpstr>위상 정렬 알고리즘 (C++)</vt:lpstr>
      <vt:lpstr>위상 정렬 알고리즘 성능 분석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신우 박</cp:lastModifiedBy>
  <cp:revision>258</cp:revision>
  <cp:lastPrinted>2023-07-23T09:30:34Z</cp:lastPrinted>
  <dcterms:created xsi:type="dcterms:W3CDTF">2008-03-02T04:39:19Z</dcterms:created>
  <dcterms:modified xsi:type="dcterms:W3CDTF">2026-05-28T02:55:02Z</dcterms:modified>
</cp:coreProperties>
</file>