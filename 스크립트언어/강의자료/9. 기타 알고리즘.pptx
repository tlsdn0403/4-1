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C_C5B1C44D.xml" ContentType="application/vnd.ms-powerpoint.comments+xml"/>
  <Override PartName="/ppt/notesSlides/notesSlide11.xml" ContentType="application/vnd.openxmlformats-officedocument.presentationml.notesSlide+xml"/>
  <Override PartName="/ppt/comments/modernComment_10D_3D149D4E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0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BC8724-5227-40E3-720F-CA48F3B91654}" name="신우 박" initials="신박" userId="826a28e94968e1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5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omments/modernComment_10C_C5B1C4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7451A8-D47B-434C-A853-0A5E4D3A1F0E}" authorId="{C6BC8724-5227-40E3-720F-CA48F3B91654}" created="2026-06-01T01:47:42.782">
    <pc:sldMkLst xmlns:pc="http://schemas.microsoft.com/office/powerpoint/2013/main/command">
      <pc:docMk/>
      <pc:sldMk cId="3316761677" sldId="268"/>
    </pc:sldMkLst>
    <p188:txBody>
      <a:bodyPr/>
      <a:lstStyle/>
      <a:p>
        <a:r>
          <a:rPr lang="ko-KR" altLang="en-US"/>
          <a:t>특정 범위안에 있는 소수를 구하려면 시간이 너무 오래걸린다</a:t>
        </a:r>
      </a:p>
    </p188:txBody>
  </p188:cm>
</p188:cmLst>
</file>

<file path=ppt/comments/modernComment_10D_3D149D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6DFDA6-99A4-433D-B5EA-F8431445F120}" authorId="{C6BC8724-5227-40E3-720F-CA48F3B91654}" created="2026-06-01T01:50:55.914">
    <pc:sldMkLst xmlns:pc="http://schemas.microsoft.com/office/powerpoint/2013/main/command">
      <pc:docMk/>
      <pc:sldMk cId="1024761166" sldId="269"/>
    </pc:sldMkLst>
    <p188:txBody>
      <a:bodyPr/>
      <a:lstStyle/>
      <a:p>
        <a:r>
          <a:rPr lang="ko-KR" altLang="en-US"/>
          <a:t>채에 걸러서 남는 애들만 쓴다.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2026-06-01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46D5-5C1C-5CFB-0E26-50977D17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30AA492-2A35-85EA-4F8E-29A7E624CF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3776D7D-5F5F-6A9B-321C-A6F57FE1DD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D6C0AFA-2BA8-5664-F22C-99A6C592B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3855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73747-51D7-36AC-688E-B8432CBC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8A7D32B-2642-A55C-3CA3-3AA8728022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8C53880-5C06-CC6E-DA88-F004B7ECB4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CEA111B-BE1C-FF4B-4121-059CB12B1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4571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B13A-1CAC-1732-738A-FD30DD0D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F2AFCEC-8C1A-3EE7-60FF-0A4FBD79C5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DF7400B-DEA7-852A-9364-72B7DD889A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CD3A74B-8DDC-759E-2B28-CFE8095DB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861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33444-C5FF-15F2-2314-EA529FC8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B5A54E4-4134-A149-CF39-265CE6C2F0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7948BAD-B8FB-4B35-304C-8034778C93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CE0494E-391D-F4B6-E976-0FE3E4901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852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5FD7-6F97-7642-53F6-6E6AF68C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33723D0-05CD-25C4-CA0C-0A8C77737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DACA4C6-CEDB-B999-1BA5-42918A0291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A56B02C-372B-FAAE-96EE-F2AE54B64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0832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5E3C-ADBE-9331-3D7B-B5013168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C72E36A-55B2-095E-F800-5986C94222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C76ECAA-CAFD-85A9-97DB-471DA644FC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AD6F43B-1601-2FE1-3D5A-438F10EE9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652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F31FF-77EE-0BD0-6CC3-09E7C7D78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FA93957-C609-CBCF-54AD-A4A1C14D1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367C154-FAB7-998F-1FE3-DA980912AD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20D3D3A-2012-ECCB-6DA9-9953CE7FA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894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8671-1BC4-D3AA-9D0F-9AE22DD0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AA4B7BA-CB0B-695C-CA9D-09864366E7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B390210-53F9-D31D-385C-17FE76F2C4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C5F3E08-08CA-A6E4-D6F1-6D57E88FE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467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AFB0-279B-37F0-2C1E-4F8ED97F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3DCF26F-1A8C-B645-C9B7-1E21717E85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D0AE180-3591-E2A0-436C-3202EA98D4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01C4D33-688F-66ED-237D-45013855C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886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EBA10-E5FE-C704-E212-078E9A39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1C5DFF5-3DDA-86AF-0BA4-D1803BD94A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F319243-E335-2F20-EC67-45550CA76A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9D92BCE-FB8C-6DBD-3E18-6C934368E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168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66D8-DCE1-585E-35FB-C8983F2D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C5C9673-B67B-DEBB-E0E4-ACBF5CCE9E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2AF8D6B-5FF8-B75B-10CB-1908F97EAB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9A1A074-DF84-700C-EFB1-1F9297104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29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913A-5AAB-971C-BE5A-1859AC5C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3EDBA88-54B7-FCDB-9CE5-1E4FAA8F34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F5285C5B-A46C-49E5-A481-AD15975180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E31F6CB-5480-26EC-DBF9-476EC8880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344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BF9F-A03D-62F9-8B54-9D7DB16E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1C74E51-6803-37B2-7EE6-A2B9C51EEF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2CBD331-5E87-D77C-3505-2E6F928C3D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69ED54A-AB58-E5A5-E285-E8513F05A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756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821A-9C6E-929B-FD82-B2D93487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4C6D155-C082-FFFC-5F8C-44DBF216DB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4697F21-F336-37A3-2997-D60F5DCC24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86A0D2B-4856-225C-D477-2E55A0E73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778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0276-6257-92BB-8C00-97A1B6E8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E557EDB-6E79-54C6-15E9-31B3B5C07E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F743330-45DE-4C8C-7406-BC2C7FEC94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A73F249-5B0E-475A-4413-8598DC6A1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775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967C-57B1-EDEE-60EB-0C2A8819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B067333-40EE-4C9B-9F83-525F6A5BA2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76DF19-25AB-AE6B-8FA6-DE81A43394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26561D6-E4D5-62B8-6A92-0F7A08555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583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6599-55B1-B382-AA16-35672F9F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11D6E72-E92B-F1E9-B213-F6FF11060D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EF4473E-3ED1-EDB8-71FA-A04F4B2EE0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D539861-8E61-BC91-E5CE-1E17A1EA2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55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E76F-C4CD-84F8-CC0A-FBDFC66B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A952B3A-4675-B5A5-A426-8F465BEA1D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5E6E03D-59DB-CB60-2FAB-74692460B9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C33A931-727A-A8AD-6DA1-015843E99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33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EEA4-0ACB-042F-4F77-AD21734C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DDD787C-9938-868D-76B2-2CEA71B177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94F8E57-FEB5-81CC-F3A4-A504466E38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7A14C61-D6AA-249D-5EAA-C92906ADE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525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9A1D-AB76-77D2-D5A8-B83F305B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B07FEE7-2D2E-2136-1289-46B1002423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3E251A-8A6B-2496-A193-BAE497FD2B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E002EDD-2AA7-E82F-725D-CF88C4FE0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253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1250-5692-EF78-8075-6BA64504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92D0523-27CE-4910-8561-C02D4A38A4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B7566B3A-DEF4-8CAA-F832-203D84CD11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2563B4B-C37A-3DEA-DFF1-CB7BABAA7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6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926D-299C-0292-E7DD-09863DB6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0C13EA1-9BC1-A289-A450-EFC376BC15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92FCF6B-15F1-AC67-7545-E417C651A8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B0C3A66-3A88-6C1B-A775-D2FFDE013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4483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5DBD-6367-E610-7878-D684FD3C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7877106-D6AB-8085-3B6C-35799834DF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9A9A42B-B470-F41E-B4BD-3B4877B93B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04DBB09-4B9D-9490-806E-6818E1214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49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AEA8-FC90-148C-D787-2ABFE1FC9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EC40D43-90CC-9209-0AFB-2314D2BCFC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B72C894-E021-F29C-9FA0-D72E564626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D59E47A-DE09-9921-CBE0-8DBF23F29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178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5405-6C04-617D-38B3-01EBF6BD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66AF25A-61CB-6A70-0A02-9AB2018ACD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B9010108-B682-6939-6A1F-33069314B2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56C0C45-DF79-FC0F-CFF9-8A5FA329D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5243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1EAF-09A7-E9B3-EE49-8FAF55BE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AF6055B-6464-1846-ACBC-8B6C4E9832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CBB3E65-9470-9C61-084C-FAA3CEE1AD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8A37921-4C8B-515B-3DB3-6A851817E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66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7F7C-9AA1-B624-5723-68FF26BD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CFB2C04-D492-7CB1-6EA5-1382E354C5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7870C2B-C8D1-7117-34A6-A50BA8BDC4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803B5F6-3917-92F1-DFB8-F2749FBB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9060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7026-A197-87F8-84C6-E214CE9C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FD24DB4-47D2-EB77-D11C-C8DC659B5A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5026898-7C3E-244A-9B39-520A7DC9AB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9843ADE-F988-DE5E-BBCE-24EEA4B65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8504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A9C2-FE2A-4EAD-6529-E2D9E9ED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6FF16A9-D2AC-2004-8BD3-721C503FC4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EE2DD3-A9F8-8A43-3B65-44397AC139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69C7875-56AA-E946-485E-1FD5B73B6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80258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C28B-9E9F-8777-0217-7D7E40FB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82E006F-CB5F-3E62-F258-E06846E7B5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34017D1-D815-CA0F-4132-E392559F58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EDCAD23-1A24-019C-EED4-D5DA178DF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2098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45C0-CEF1-A5C7-8816-6C3DE32E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2A3B0B3-AF58-1DD2-CF05-6386D7B53D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B58B2EC-EFA0-1AD2-2845-54177411B8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BE33739-64A5-6935-FDF6-713F1BC3E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7989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4EE9-8C8C-FB1C-A2FC-6619A631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7F9E7F4-0486-7555-0CA9-6B744C2DF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4F0575-6AB7-A33E-9AD9-0CF1E6A2CD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1EB3675-D91C-B3CE-D35B-00D1A58A9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9850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F320D-BB5A-DF9F-7D40-A26F9C8B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C9BE4AC-C08C-9FC9-5525-D2BD9AACF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FC7509B-E9E5-70DE-4CFF-1B01FF44D8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63C83B5-AF8C-F634-314A-01970ED6C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2234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2C9B4-B152-33D0-D708-A5D6AC24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8BBAD47-D219-4E09-62BA-837FFE7CB4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5B6A013-09DA-76CB-BFF4-8BB31F406E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0838867-5ABC-64F4-27EB-499F5E409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608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DC59-C8AA-E18D-BF14-7B140975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F7B6714-C4D2-D6C8-D82B-B07A966B91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234B111-6D99-7BB3-B6B5-68ADD99123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A266D70-2600-A5E2-510B-FB78D74F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0590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AB02-F959-0761-0681-8C9AF797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E645D17-1FEF-EFA3-B469-30308550E0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9CC56FC-AACE-A57C-8D49-E5DEEFD0DF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8022426-F796-DBA0-2A24-4C7371EC7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0648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8002-6927-7600-9C63-35C06304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46AB3C8-C71B-0D6C-CF9A-F1338124C0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B5FD2F22-E9D3-AD77-B1C3-257EF02621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E1CC5DC-7EB2-891B-4889-9E536FC4E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24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2</a:t>
            </a:r>
            <a:r>
              <a:rPr lang="ko-KR" altLang="en-US" dirty="0"/>
              <a:t>학기 </a:t>
            </a:r>
            <a:r>
              <a:rPr lang="en-US" altLang="ko-KR" dirty="0"/>
              <a:t>3D</a:t>
            </a:r>
            <a:r>
              <a:rPr lang="ko-KR" altLang="en-US" dirty="0"/>
              <a:t>게임프로그래밍</a:t>
            </a:r>
            <a:r>
              <a:rPr lang="en-US" altLang="ko-KR" dirty="0"/>
              <a:t>II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C5B1C44D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3D149D4E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기타 알고리즘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</a:t>
            </a:r>
            <a:r>
              <a:rPr lang="ko-KR" altLang="en-US" b="1" dirty="0">
                <a:solidFill>
                  <a:srgbClr val="0000FF"/>
                </a:solidFill>
              </a:rPr>
              <a:t>소수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투포인터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누적합</a:t>
            </a:r>
            <a:r>
              <a:rPr lang="en-US" altLang="ko-KR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1752600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242C-4549-9AD6-F07E-9609CD58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20F2B26-3916-2C28-FC89-7C5DD4BD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B2D1749-9936-74F3-6921-5696AACA547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소수 </a:t>
            </a:r>
            <a:r>
              <a:rPr lang="en-US" altLang="ko-KR" b="1" dirty="0">
                <a:solidFill>
                  <a:srgbClr val="0000FF"/>
                </a:solidFill>
              </a:rPr>
              <a:t>(Prime Number)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AE9F750-32D1-8EC3-0FB3-1C75BDC95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소수란</a:t>
            </a:r>
            <a:r>
              <a:rPr lang="en-US" altLang="ko-KR" sz="2000" dirty="0"/>
              <a:t>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보다 큰 자연수 중에서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과 자기 자신을 제외한 자연수</a:t>
            </a:r>
            <a:r>
              <a:rPr lang="ko-KR" altLang="en-US" sz="2000" dirty="0"/>
              <a:t>로 나누어 떨어지지 않는 자연수</a:t>
            </a:r>
            <a:endParaRPr lang="en-US" altLang="ko-KR" sz="2000" dirty="0"/>
          </a:p>
          <a:p>
            <a:pPr algn="just" eaLnBrk="1" hangingPunct="1"/>
            <a:r>
              <a:rPr lang="en-US" altLang="ko-KR" sz="2000" dirty="0"/>
              <a:t>6</a:t>
            </a:r>
            <a:r>
              <a:rPr lang="ko-KR" altLang="en-US" sz="2000" dirty="0"/>
              <a:t>은 </a:t>
            </a:r>
            <a:r>
              <a:rPr lang="en-US" altLang="ko-KR" sz="2000" dirty="0"/>
              <a:t>1, 2, 3, 6</a:t>
            </a:r>
            <a:r>
              <a:rPr lang="ko-KR" altLang="en-US" sz="2000" dirty="0"/>
              <a:t>으로 나누어 떨어지므로 소수가 아니다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en-US" altLang="ko-KR" sz="2000" dirty="0"/>
              <a:t>7</a:t>
            </a:r>
            <a:r>
              <a:rPr lang="ko-KR" altLang="en-US" sz="2000" dirty="0"/>
              <a:t>은 </a:t>
            </a:r>
            <a:r>
              <a:rPr lang="en-US" altLang="ko-KR" sz="2000" dirty="0"/>
              <a:t>1</a:t>
            </a:r>
            <a:r>
              <a:rPr lang="ko-KR" altLang="en-US" sz="2000" dirty="0"/>
              <a:t>과 </a:t>
            </a:r>
            <a:r>
              <a:rPr lang="en-US" altLang="ko-KR" sz="2000" dirty="0"/>
              <a:t>7</a:t>
            </a:r>
            <a:r>
              <a:rPr lang="ko-KR" altLang="en-US" sz="2000" dirty="0"/>
              <a:t>을 제외하고는 나누어 떨어지지 않으므로 소수이다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코딩 테스트에서는 어떠한 자연수가 소수인지 아닌지 판별해야 하는 문제가 자주 출제된다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135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5541-2FE1-2975-048C-3E95552D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FD17F7E-11C0-09DC-49D8-ADEC8CDA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4CBFC89-07CC-4269-E7D1-ACC03EC6ACB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기본적인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(Python)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DE803F-6E5C-4870-1D25-77BA12153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412776"/>
            <a:ext cx="5604297" cy="33843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002C7B-FEDB-DD5A-6DE7-5054C44B4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5066928"/>
            <a:ext cx="4778499" cy="131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5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E17C-9CB8-E95D-EF41-6187C072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3A493DD-8B87-3B88-4322-C985BDEA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F320A54-6785-67C2-14C2-3E6CB808C4D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기본적인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(C++)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F652C1-DD3D-FC2F-19CC-22D3D57E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143000"/>
            <a:ext cx="8229600" cy="532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7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3E445-7715-CB99-9250-59703B24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1DD8C4F-03C6-4208-ED58-F92611D0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A5A640C-D4ED-2979-DD66-9889631FEE6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기본적인 알고리즘 성능 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5A8B735-C6AA-B5BB-24D1-76EEDDF4A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2</a:t>
            </a:r>
            <a:r>
              <a:rPr lang="ko-KR" altLang="en-US" sz="2000" dirty="0"/>
              <a:t>부터 </a:t>
            </a:r>
            <a:r>
              <a:rPr lang="en-US" altLang="ko-KR" sz="2000" dirty="0"/>
              <a:t>X – 1</a:t>
            </a:r>
            <a:r>
              <a:rPr lang="ko-KR" altLang="en-US" sz="2000" dirty="0"/>
              <a:t>까지의 모든 자연수에 대하여 연산을 수행해야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모든 수를 하나씩 확인한다는 점에서 시간 복잡도는 </a:t>
            </a:r>
            <a:r>
              <a:rPr lang="en-US" altLang="ko-KR" sz="2000" b="1" dirty="0"/>
              <a:t>O(X)</a:t>
            </a:r>
            <a:r>
              <a:rPr lang="en-US" altLang="ko-KR" sz="2000" dirty="0"/>
              <a:t>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792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D3EC-18B8-5F9A-4DF1-68024630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F3AFB03-4BB3-E8AA-073C-0F8B91C5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34550F0-1196-21D8-847D-DE403D6EBAF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약수의 성질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79CBE9B-498C-2564-5D61-A566AEF60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모든 약수가 가운데 약수를 기준으로 곱셈 연산에 대해 대칭</a:t>
            </a:r>
            <a:r>
              <a:rPr lang="ko-KR" altLang="en-US" sz="2000" dirty="0"/>
              <a:t>을 이루는 것을 알 수 있다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예를 들어 </a:t>
            </a:r>
            <a:r>
              <a:rPr lang="en-US" altLang="ko-KR" sz="1800" dirty="0"/>
              <a:t>16</a:t>
            </a:r>
            <a:r>
              <a:rPr lang="ko-KR" altLang="en-US" sz="1800" dirty="0"/>
              <a:t>의 약수는 </a:t>
            </a:r>
            <a:r>
              <a:rPr lang="en-US" altLang="ko-KR" sz="1800" dirty="0"/>
              <a:t>1, 2, 4, 8, 16</a:t>
            </a:r>
            <a:r>
              <a:rPr lang="ko-KR" altLang="en-US" sz="1800" dirty="0"/>
              <a:t> 이다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r>
              <a:rPr lang="ko-KR" altLang="en-US" sz="1800" dirty="0"/>
              <a:t>이때 </a:t>
            </a:r>
            <a:r>
              <a:rPr lang="en-US" altLang="ko-KR" sz="1800" dirty="0"/>
              <a:t>2 X 8 = 16</a:t>
            </a:r>
            <a:r>
              <a:rPr lang="ko-KR" altLang="en-US" sz="1800" dirty="0"/>
              <a:t>은 </a:t>
            </a:r>
            <a:r>
              <a:rPr lang="en-US" altLang="ko-KR" sz="1800" dirty="0"/>
              <a:t>8 X 2 = 16</a:t>
            </a:r>
            <a:r>
              <a:rPr lang="ko-KR" altLang="en-US" sz="1800" dirty="0"/>
              <a:t>과 대칭이다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dirty="0"/>
              <a:t>따라서 우리는 특정한 자연수의 모든 약수를 찾을 때 </a:t>
            </a:r>
            <a:r>
              <a:rPr lang="ko-KR" altLang="en-US" sz="2000" b="1" dirty="0"/>
              <a:t>가운데 약수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제곱근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까지만</a:t>
            </a:r>
            <a:r>
              <a:rPr lang="ko-KR" altLang="en-US" sz="2000" dirty="0"/>
              <a:t> 확인하면 된다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예를 들어 </a:t>
            </a:r>
            <a:r>
              <a:rPr lang="en-US" altLang="ko-KR" sz="1800" dirty="0"/>
              <a:t>16</a:t>
            </a:r>
            <a:r>
              <a:rPr lang="ko-KR" altLang="en-US" sz="1800" dirty="0"/>
              <a:t>이 </a:t>
            </a:r>
            <a:r>
              <a:rPr lang="en-US" altLang="ko-KR" sz="1800" dirty="0"/>
              <a:t>2</a:t>
            </a:r>
            <a:r>
              <a:rPr lang="ko-KR" altLang="en-US" sz="1800" dirty="0"/>
              <a:t>로 나누어 떨어진다는 것은 </a:t>
            </a:r>
            <a:r>
              <a:rPr lang="en-US" altLang="ko-KR" sz="1800" dirty="0"/>
              <a:t>8</a:t>
            </a:r>
            <a:r>
              <a:rPr lang="ko-KR" altLang="en-US" sz="1800" dirty="0"/>
              <a:t>로도 나누어 떨어진다는 것을 의미한다</a:t>
            </a:r>
            <a:r>
              <a:rPr lang="en-US" altLang="ko-KR" sz="18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59B9C0-31B2-E950-B741-CBAD3E461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132604"/>
            <a:ext cx="6084168" cy="19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3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8D4E-295D-1E4F-ACA0-2C35B14A0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C6AC89D-76A6-1259-ABA5-23A176EE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115C35-62B0-AB96-F292-56E1A30EC7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개선된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(Python)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65D83F-CA52-6069-9342-CA89DD6C6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7" y="5136505"/>
            <a:ext cx="4778499" cy="131683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F404608-E50B-DFA9-EB66-81F17749A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7" y="1153501"/>
            <a:ext cx="5928203" cy="391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6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F53F-8B34-A6D8-4916-99A59709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859EAB8-9F73-9260-B152-5426BB5C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71AC8F8-FB32-8657-C57A-223BD8A462A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개선된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(C++)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B892F6-7DB3-F194-4A36-5A4F84685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1" y="1135431"/>
            <a:ext cx="8125529" cy="531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2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C5E2-1C45-A496-AF06-05620716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E81D863-5651-816C-8629-73DEEEAF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D4F8EBB-7F68-CBC6-E6A5-0C36AC9CA0D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개선된 알고리즘 성능 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EA806F1-1895-5055-1E7B-6CAB6F7CE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2</a:t>
            </a:r>
            <a:r>
              <a:rPr lang="ko-KR" altLang="en-US" sz="2000" dirty="0"/>
              <a:t>부터 </a:t>
            </a:r>
            <a:r>
              <a:rPr lang="en-US" altLang="ko-KR" sz="2000" dirty="0"/>
              <a:t>X</a:t>
            </a:r>
            <a:r>
              <a:rPr lang="ko-KR" altLang="en-US" sz="2000" dirty="0"/>
              <a:t>의 제곱근</a:t>
            </a:r>
            <a:r>
              <a:rPr lang="en-US" altLang="ko-KR" sz="2000" dirty="0"/>
              <a:t>(</a:t>
            </a:r>
            <a:r>
              <a:rPr lang="ko-KR" altLang="en-US" sz="2000" dirty="0"/>
              <a:t>소수점 이하 무시</a:t>
            </a:r>
            <a:r>
              <a:rPr lang="en-US" altLang="ko-KR" sz="2000" dirty="0"/>
              <a:t>)</a:t>
            </a:r>
            <a:r>
              <a:rPr lang="ko-KR" altLang="en-US" sz="2000" dirty="0"/>
              <a:t>까지의 모든 자연수에 대하여 연산을 수행해야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시간 복잡도는 </a:t>
            </a:r>
            <a:r>
              <a:rPr lang="en-US" altLang="ko-KR" sz="2000" b="1" dirty="0"/>
              <a:t>O(X</a:t>
            </a:r>
            <a:r>
              <a:rPr lang="en-US" altLang="ko-KR" sz="2000" b="1" baseline="30000" dirty="0"/>
              <a:t>1/2</a:t>
            </a:r>
            <a:r>
              <a:rPr lang="en-US" altLang="ko-KR" sz="2000" b="1" dirty="0"/>
              <a:t>)</a:t>
            </a:r>
            <a:r>
              <a:rPr lang="en-US" altLang="ko-KR" sz="2000" dirty="0"/>
              <a:t>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99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751D2-031A-E30D-A26A-05EEDEC8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74F5D67-EC88-2B7B-744C-43AB8E15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B889A2F-E7F1-A33F-0DB1-931C9AB11D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다수의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소수 판별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89AE4A2-68CA-F76A-436A-0CD9023B0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하나의 수에 대해서 소수인지 아닌지 판별하는 방법을 알아보았다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하지만 </a:t>
            </a:r>
            <a:r>
              <a:rPr lang="ko-KR" altLang="en-US" sz="2000" b="1" dirty="0"/>
              <a:t>특정한 수의 범위 안에 존재하는 모든 소수</a:t>
            </a:r>
            <a:r>
              <a:rPr lang="ko-KR" altLang="en-US" sz="2000" dirty="0"/>
              <a:t>를 찾아야 할 때는 어떻게 할까요 </a:t>
            </a:r>
            <a:r>
              <a:rPr lang="en-US" altLang="ko-KR" sz="2000" dirty="0"/>
              <a:t>?</a:t>
            </a:r>
          </a:p>
          <a:p>
            <a:pPr algn="just" eaLnBrk="1" hangingPunct="1"/>
            <a:r>
              <a:rPr lang="ko-KR" altLang="en-US" sz="2000" b="1" dirty="0" err="1"/>
              <a:t>에라토스테네스의</a:t>
            </a:r>
            <a:r>
              <a:rPr lang="ko-KR" altLang="en-US" sz="2000" b="1" dirty="0"/>
              <a:t> 체 알고리즘</a:t>
            </a:r>
            <a:r>
              <a:rPr lang="ko-KR" altLang="en-US" sz="2000" dirty="0"/>
              <a:t>을 사용할 수 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7616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7F58-1C61-4D31-8BDB-4C7D81F2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E6C6DB7-AA1B-A46A-F1AE-58763B83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7E84FA8-19AA-2317-01F1-8B1D828132E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6878A8C-CF51-3401-A985-BDCF92782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다수의 자연수에 대하여 소수 여부를 판별</a:t>
            </a:r>
            <a:r>
              <a:rPr lang="ko-KR" altLang="en-US" sz="2000" dirty="0"/>
              <a:t>할 때 사용하는 대표적인 알고리즘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체는 </a:t>
            </a:r>
            <a:r>
              <a:rPr lang="en-US" altLang="ko-KR" sz="2000" dirty="0"/>
              <a:t>N</a:t>
            </a:r>
            <a:r>
              <a:rPr lang="ko-KR" altLang="en-US" sz="2000" dirty="0"/>
              <a:t>보다 작거나 같은 모든 소수를 찾을 때 사용할 수 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 알고리즘의 </a:t>
            </a:r>
            <a:r>
              <a:rPr lang="ko-KR" altLang="en-US" sz="2000" b="1" dirty="0"/>
              <a:t>구체적인 동작 과정</a:t>
            </a:r>
            <a:r>
              <a:rPr lang="ko-KR" altLang="en-US" sz="2000" dirty="0"/>
              <a:t>은 다음과 같다</a:t>
            </a:r>
            <a:r>
              <a:rPr lang="en-US" altLang="ko-KR" sz="2000" dirty="0"/>
              <a:t>.</a:t>
            </a:r>
          </a:p>
          <a:p>
            <a:pPr algn="just" eaLnBrk="1" hangingPunct="1"/>
            <a:endParaRPr lang="en-US" altLang="ko-KR" sz="2000" dirty="0"/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en-US" altLang="ko-KR" dirty="0"/>
              <a:t>2</a:t>
            </a:r>
            <a:r>
              <a:rPr lang="ko-KR" altLang="en-US" dirty="0"/>
              <a:t>부터 </a:t>
            </a:r>
            <a:r>
              <a:rPr lang="en-US" altLang="ko-KR" dirty="0"/>
              <a:t>N</a:t>
            </a:r>
            <a:r>
              <a:rPr lang="ko-KR" altLang="en-US" dirty="0"/>
              <a:t>까지의 모든 자연수를 나열한다</a:t>
            </a:r>
            <a:r>
              <a:rPr lang="en-US" altLang="ko-KR" dirty="0"/>
              <a:t>.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ko-KR" altLang="en-US" dirty="0"/>
              <a:t>남은 수 중에서 아직 처리하지 않은 가장 작은 수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ko-KR" altLang="en-US" dirty="0"/>
              <a:t>를 찾는다</a:t>
            </a:r>
            <a:r>
              <a:rPr lang="en-US" altLang="ko-KR" dirty="0"/>
              <a:t>.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ko-KR" altLang="en-US" dirty="0"/>
              <a:t>남은 수 중에서 </a:t>
            </a:r>
            <a:r>
              <a:rPr lang="en-US" altLang="ko-KR" dirty="0" err="1"/>
              <a:t>i</a:t>
            </a:r>
            <a:r>
              <a:rPr lang="ko-KR" altLang="en-US" dirty="0"/>
              <a:t>의 배수를 모두 제거한다</a:t>
            </a:r>
            <a:r>
              <a:rPr lang="en-US" altLang="ko-KR" dirty="0"/>
              <a:t>. (</a:t>
            </a:r>
            <a:r>
              <a:rPr lang="en-US" altLang="ko-KR" dirty="0" err="1"/>
              <a:t>i</a:t>
            </a:r>
            <a:r>
              <a:rPr lang="ko-KR" altLang="en-US" dirty="0"/>
              <a:t>는 제거하지 않는다</a:t>
            </a:r>
            <a:r>
              <a:rPr lang="en-US" altLang="ko-KR" dirty="0"/>
              <a:t>.)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ko-KR" altLang="en-US" dirty="0"/>
              <a:t>더 이상 반복할 수 없을 때까지 </a:t>
            </a:r>
            <a:r>
              <a:rPr lang="en-US" altLang="ko-KR" dirty="0"/>
              <a:t>2</a:t>
            </a:r>
            <a:r>
              <a:rPr lang="ko-KR" altLang="en-US" dirty="0"/>
              <a:t>번과 </a:t>
            </a:r>
            <a:r>
              <a:rPr lang="en-US" altLang="ko-KR" dirty="0"/>
              <a:t>3</a:t>
            </a:r>
            <a:r>
              <a:rPr lang="ko-KR" altLang="en-US" dirty="0"/>
              <a:t>번의 과정을 반복한다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47611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B792-10C9-1297-E6BA-DB63DBF1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8D867AB-34AF-0D39-08AF-587FF404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9D8937E-8D50-FD46-36FC-4165F11239D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609E67-3A28-8587-9790-480E78C1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42594"/>
            <a:ext cx="7416824" cy="47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01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A7AE-A115-4300-3E6D-C505D72B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C6E45C6-D10E-76D3-CAB4-DB3C61D2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11F7BD0-4F87-5055-B945-49EC4B576A2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D0CDDA-A449-5966-F09D-EB9042C4D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36442"/>
            <a:ext cx="8532440" cy="472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8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4878-6542-4A33-8292-C0210DE5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76F1515-1F56-1571-7826-2A66CEFA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24E7979-CB41-9414-3D93-A29A498D279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DA5CF4-C40E-A289-363B-3139012F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19862"/>
            <a:ext cx="8460432" cy="458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36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271B-FD6B-52C9-11D0-DDBCDC4A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FA36FCA-C1A6-3D51-3027-1F5BB88F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EBD0A8F-1C3A-F2F1-D55A-12DF0DCEE79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33CC0B-C83C-9FE5-A3D0-A6333AB54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31410"/>
            <a:ext cx="8532440" cy="473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3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6DA2-F47F-9FDE-82ED-DDF7E21E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276841E-DF14-8BB0-C0E5-2954BC29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8C654F-8F2F-E261-AB95-DF7AC2E7E93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253867-4413-825D-08BA-FF0E022FA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88411"/>
            <a:ext cx="8136904" cy="487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27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CD2A-A3BF-1EC7-D640-BB12B652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8FE26E8-DB42-CBF5-4947-E8229D82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B90D06F-FBA7-A5E7-AA9B-C857D56DA86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(Python)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095C3D-D96B-B3F5-F86B-FCF0B1A12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115049"/>
            <a:ext cx="6740274" cy="540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08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BF07-5C38-85F4-CAA3-155CC2FA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703D74B-96E9-6D53-A9DA-A3D72B88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ACEC97F-CB3F-C4F7-4C5C-221E9913EE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(C++)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EBCF8D-F3FD-4B35-5A2A-36233D574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71" y="1001915"/>
            <a:ext cx="8100392" cy="549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14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3C72-C526-23D9-B836-6C47D722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E4DCDB7-CEE1-CAFC-2E55-26CCC4C4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896F2CE-CB89-0D8E-9529-6285E0FF3A1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성능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5642EC1-3FA0-E1D6-6330-101307BBE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 알고리즘의 시간 복잡도는 사실상 선형 시간에 가까울 정도로 매우 빠르다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dirty="0"/>
              <a:t>시간 복잡도는 </a:t>
            </a:r>
            <a:r>
              <a:rPr lang="en-US" altLang="ko-KR" b="1" dirty="0"/>
              <a:t>O(</a:t>
            </a:r>
            <a:r>
              <a:rPr lang="en-US" altLang="ko-KR" b="1" dirty="0" err="1"/>
              <a:t>NloglogN</a:t>
            </a:r>
            <a:r>
              <a:rPr lang="en-US" altLang="ko-KR" b="1" dirty="0"/>
              <a:t>)</a:t>
            </a:r>
          </a:p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 알고리즘은 다수의 소수를 찾아야 하는 문제에서 효과적으로 사용될 수 있다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하지만 각 자연수에 대한 소수 여부를 저장해야 하므로 </a:t>
            </a:r>
            <a:r>
              <a:rPr lang="ko-KR" altLang="en-US" sz="1800" b="1" dirty="0"/>
              <a:t>메모리가 많이 필요</a:t>
            </a:r>
            <a:r>
              <a:rPr lang="ko-KR" altLang="en-US" sz="1800" dirty="0"/>
              <a:t>하다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r>
              <a:rPr lang="en-US" altLang="ko-KR" sz="1800" b="1" dirty="0"/>
              <a:t>10</a:t>
            </a:r>
            <a:r>
              <a:rPr lang="ko-KR" altLang="en-US" sz="1800" b="1" dirty="0"/>
              <a:t>억</a:t>
            </a:r>
            <a:r>
              <a:rPr lang="ko-KR" altLang="en-US" sz="1800" dirty="0"/>
              <a:t>이 소수인지 아닌지 판별해야 할 때 </a:t>
            </a:r>
            <a:r>
              <a:rPr lang="ko-KR" altLang="en-US" sz="1800" dirty="0" err="1"/>
              <a:t>에라토스테네스의</a:t>
            </a:r>
            <a:r>
              <a:rPr lang="ko-KR" altLang="en-US" sz="1800" dirty="0"/>
              <a:t> 체를 사용할 수 있을까요</a:t>
            </a:r>
            <a:r>
              <a:rPr lang="en-US" altLang="ko-KR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90683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405F-ED71-AB00-D0BF-E83C2D9D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525A009-BE21-2E7A-0A18-264D3448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D886B84-623A-46A2-3009-C1B7B2B02D2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투 포인터 </a:t>
            </a:r>
            <a:r>
              <a:rPr lang="en-US" altLang="ko-KR" sz="3200" b="1" dirty="0">
                <a:solidFill>
                  <a:srgbClr val="0000FF"/>
                </a:solidFill>
              </a:rPr>
              <a:t>(Two Pointers)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AEC9B61-728F-3A79-213A-222E97D8B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리스트에 순차적으로 접근해야 할 때 두 개의 점 위치를 기록하면서 처리</a:t>
            </a:r>
            <a:r>
              <a:rPr lang="ko-KR" altLang="en-US" sz="2000" dirty="0"/>
              <a:t>하는 알고리즘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흔히 </a:t>
            </a:r>
            <a:r>
              <a:rPr lang="en-US" altLang="ko-KR" sz="2000" dirty="0"/>
              <a:t>2, 3, 4, 5, 6, 7</a:t>
            </a:r>
            <a:r>
              <a:rPr lang="ko-KR" altLang="en-US" sz="2000" dirty="0"/>
              <a:t>번 학생을 지목해야 할 때 간단히 </a:t>
            </a:r>
            <a:r>
              <a:rPr lang="en-US" altLang="ko-KR" sz="2000" dirty="0"/>
              <a:t>‘2</a:t>
            </a:r>
            <a:r>
              <a:rPr lang="ko-KR" altLang="en-US" sz="2000" dirty="0"/>
              <a:t>번부터 </a:t>
            </a:r>
            <a:r>
              <a:rPr lang="en-US" altLang="ko-KR" sz="2000" dirty="0"/>
              <a:t>7</a:t>
            </a:r>
            <a:r>
              <a:rPr lang="ko-KR" altLang="en-US" sz="2000" dirty="0"/>
              <a:t>번까지의 학생</a:t>
            </a:r>
            <a:r>
              <a:rPr lang="en-US" altLang="ko-KR" sz="2000" dirty="0"/>
              <a:t>＇</a:t>
            </a:r>
            <a:r>
              <a:rPr lang="ko-KR" altLang="en-US" sz="2000" dirty="0"/>
              <a:t>이라고 부르곤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리스트에 담긴 데이터에 순차적으로 접근해야 할 때는 </a:t>
            </a:r>
            <a:r>
              <a:rPr lang="ko-KR" altLang="en-US" sz="2000" b="1" dirty="0"/>
              <a:t>시작점과 끝점 </a:t>
            </a:r>
            <a:r>
              <a:rPr lang="en-US" altLang="ko-KR" sz="2000" dirty="0"/>
              <a:t>2</a:t>
            </a:r>
            <a:r>
              <a:rPr lang="ko-KR" altLang="en-US" sz="2000" dirty="0"/>
              <a:t>개의 점으로 접근할 데이터의 범위를 표현할 수 있다</a:t>
            </a:r>
            <a:r>
              <a:rPr lang="en-US" altLang="ko-KR" sz="2000" dirty="0"/>
              <a:t>.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275792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3F86-5924-9983-7B85-7DE2F759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21FC942-9E6A-1DE1-7156-C32ECF94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ACFCDFD-D974-D671-9D7D-930C6013F2E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문제 설명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FEB91C0-CDCF-A224-0EEF-61214F9E9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N</a:t>
            </a:r>
            <a:r>
              <a:rPr lang="ko-KR" altLang="en-US" sz="2000" dirty="0"/>
              <a:t>개의 자연수로 구성된 수열이 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b="1" dirty="0"/>
              <a:t>합이 </a:t>
            </a:r>
            <a:r>
              <a:rPr lang="en-US" altLang="ko-KR" sz="2000" b="1" dirty="0"/>
              <a:t>M</a:t>
            </a:r>
            <a:r>
              <a:rPr lang="ko-KR" altLang="en-US" sz="2000" b="1" dirty="0"/>
              <a:t>인 부분 연속 수열의 개수</a:t>
            </a:r>
            <a:r>
              <a:rPr lang="ko-KR" altLang="en-US" sz="2000" dirty="0"/>
              <a:t>를 </a:t>
            </a:r>
            <a:r>
              <a:rPr lang="ko-KR" altLang="en-US" sz="2000" dirty="0" err="1"/>
              <a:t>구하시오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수행 시간 제한은 </a:t>
            </a:r>
            <a:r>
              <a:rPr lang="en-US" altLang="ko-KR" sz="2000" b="1" dirty="0"/>
              <a:t>O(N)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91167B-D5B5-04D1-6068-5B487D684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500572"/>
            <a:ext cx="8316416" cy="244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23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7615-D18D-4F8E-CE35-E2976F99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229CB86-6BF3-950B-0CDC-61440C3D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53718AA-E427-0B12-EC26-4E3DE6E2C68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BED2188-9D59-3868-DFF5-29765A1EF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투 포인터를 활용</a:t>
            </a:r>
            <a:r>
              <a:rPr lang="ko-KR" altLang="en-US" sz="2000" dirty="0"/>
              <a:t>하여 다음과 같은 알고리즘으로 문제를 해결</a:t>
            </a:r>
            <a:endParaRPr lang="en-US" altLang="ko-KR" sz="2000" dirty="0"/>
          </a:p>
          <a:p>
            <a:pPr algn="just" eaLnBrk="1" hangingPunct="1"/>
            <a:endParaRPr lang="en-US" altLang="ko-KR" sz="2000" dirty="0"/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시작점</a:t>
            </a:r>
            <a:r>
              <a:rPr lang="en-US" altLang="ko-KR" sz="2000" dirty="0"/>
              <a:t>(start)</a:t>
            </a:r>
            <a:r>
              <a:rPr lang="ko-KR" altLang="en-US" sz="2000" dirty="0"/>
              <a:t>과 끝점</a:t>
            </a:r>
            <a:r>
              <a:rPr lang="en-US" altLang="ko-KR" sz="2000" dirty="0"/>
              <a:t>(end)</a:t>
            </a:r>
            <a:r>
              <a:rPr lang="ko-KR" altLang="en-US" sz="2000" dirty="0"/>
              <a:t>이 첫 번째 원소의 인덱스</a:t>
            </a:r>
            <a:r>
              <a:rPr lang="en-US" altLang="ko-KR" sz="2000" dirty="0"/>
              <a:t>(0)</a:t>
            </a:r>
            <a:r>
              <a:rPr lang="ko-KR" altLang="en-US" sz="2000" dirty="0"/>
              <a:t>을 가리키도록 한다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현재 부분 합이 </a:t>
            </a:r>
            <a:r>
              <a:rPr lang="en-US" altLang="ko-KR" sz="2000" dirty="0"/>
              <a:t>M</a:t>
            </a:r>
            <a:r>
              <a:rPr lang="ko-KR" altLang="en-US" sz="2000" dirty="0"/>
              <a:t>과 같다면</a:t>
            </a:r>
            <a:r>
              <a:rPr lang="en-US" altLang="ko-KR" sz="2000" dirty="0"/>
              <a:t>, </a:t>
            </a:r>
            <a:r>
              <a:rPr lang="ko-KR" altLang="en-US" sz="2000" dirty="0"/>
              <a:t>카운트한다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현재 부분 합이 </a:t>
            </a:r>
            <a:r>
              <a:rPr lang="en-US" altLang="ko-KR" sz="2000" dirty="0"/>
              <a:t>M</a:t>
            </a:r>
            <a:r>
              <a:rPr lang="ko-KR" altLang="en-US" sz="2000" dirty="0"/>
              <a:t>보다 작다면</a:t>
            </a:r>
            <a:r>
              <a:rPr lang="en-US" altLang="ko-KR" sz="2000" dirty="0"/>
              <a:t>, end</a:t>
            </a:r>
            <a:r>
              <a:rPr lang="ko-KR" altLang="en-US" sz="2000" dirty="0"/>
              <a:t>를 </a:t>
            </a:r>
            <a:r>
              <a:rPr lang="en-US" altLang="ko-KR" sz="2000" dirty="0"/>
              <a:t>1 </a:t>
            </a:r>
            <a:r>
              <a:rPr lang="ko-KR" altLang="en-US" sz="2000" dirty="0"/>
              <a:t>증가시킨다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현재 부분 합이 </a:t>
            </a:r>
            <a:r>
              <a:rPr lang="en-US" altLang="ko-KR" sz="2000" dirty="0"/>
              <a:t>M</a:t>
            </a:r>
            <a:r>
              <a:rPr lang="ko-KR" altLang="en-US" sz="2000" dirty="0"/>
              <a:t>보다 크거나 같다면</a:t>
            </a:r>
            <a:r>
              <a:rPr lang="en-US" altLang="ko-KR" sz="2000" dirty="0"/>
              <a:t>, start</a:t>
            </a:r>
            <a:r>
              <a:rPr lang="ko-KR" altLang="en-US" sz="2000" dirty="0"/>
              <a:t>를 </a:t>
            </a:r>
            <a:r>
              <a:rPr lang="en-US" altLang="ko-KR" sz="2000" dirty="0"/>
              <a:t>1 </a:t>
            </a:r>
            <a:r>
              <a:rPr lang="ko-KR" altLang="en-US" sz="2000" dirty="0"/>
              <a:t>증가시킨다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모든 경우를 확인할 때까지 </a:t>
            </a:r>
            <a:r>
              <a:rPr lang="en-US" altLang="ko-KR" sz="2000" dirty="0"/>
              <a:t>2</a:t>
            </a:r>
            <a:r>
              <a:rPr lang="ko-KR" altLang="en-US" sz="2000" dirty="0"/>
              <a:t>번과 </a:t>
            </a:r>
            <a:r>
              <a:rPr lang="en-US" altLang="ko-KR" sz="2000" dirty="0"/>
              <a:t>4</a:t>
            </a:r>
            <a:r>
              <a:rPr lang="ko-KR" altLang="en-US" sz="2000" dirty="0"/>
              <a:t>번까지의 과정을 반복한다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2D211-BD52-0879-5334-83C4F0C5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4437112"/>
            <a:ext cx="5796136" cy="14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8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2195-2ADF-DD90-A99C-029678FD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DA2381B-2641-AD6E-6963-19B329F9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4EC3BA4-56F7-9EA5-7928-CE58F72833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14316C-3B0F-A5C8-05B4-B329AED52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90544"/>
            <a:ext cx="8388424" cy="49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73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EF72-CC63-8541-8DAD-2D8E0F8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9493685-D161-0F6F-CD30-6167C19E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490DCCF-9A10-E4B2-1AA2-09F8418EDB5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664B1F-B4DA-5A5E-BD1E-77A757B2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8" y="1231665"/>
            <a:ext cx="8388424" cy="482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70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C2A4-5F86-E589-298A-95FA4B6C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5B560A5-14C2-6A76-FAD1-756C0E1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9C57209-16A8-D4AC-F439-A1EB20D2736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AFF986-EEE6-39D2-F134-3D4CB4EFD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97555"/>
            <a:ext cx="8460432" cy="485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50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E54E7-8A35-8D0E-E141-5057E414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1ED7C05-E56C-DB0A-7B5F-CA5B747A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47F9CD8-368D-02AB-E83D-15E817641E2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E573B3-FD37-F49F-BC95-8A64E62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49576"/>
            <a:ext cx="8460432" cy="474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11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49BC-C9AA-C0A8-9603-5502A74D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6103488-E8CC-FD08-E319-E68E07D3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0E555BB-8319-8F5B-E1ED-8E96998058C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3DD27C-DBE7-3378-845E-BC6743FCD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96752"/>
            <a:ext cx="8507199" cy="482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37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7A48-99E3-215B-FD73-06718DC6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1C4208F-62C3-5A4D-F7D6-DC1408A9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503311F-028A-3F90-7F36-04309E29F98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228759-06EE-7613-1DA5-D5A55BEE5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38283"/>
            <a:ext cx="8532440" cy="493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13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8E09-28B7-19C7-80B3-D91AB2CD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D13EAFF-3B02-D07E-156B-3CD9636D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29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A3C615B-A8F7-047F-4D5D-DA280DE9CD5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FD5506-E8DA-DD88-38A5-29438EB52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91824"/>
            <a:ext cx="8532440" cy="481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14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5A5E-65C3-1D44-BDC5-37ADE4D6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355F597-50A7-F812-0A5E-E22C18BF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30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BDBFFA9-7037-6639-B605-B9D5A2B6302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F1AFB0-5B35-A98B-431C-B7FE35D1D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43000"/>
            <a:ext cx="8484123" cy="495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64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4BDF-5E80-FAEE-45BA-0D2B387D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A9609B5-AE45-DE0F-8BCC-E8B60AAF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31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666A47B-185B-8865-E7DB-AA4B1F08489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C4EBB5-4405-09EF-7CA5-0A0C44EA2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26057"/>
            <a:ext cx="8460432" cy="479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81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2942-DEE3-880E-43A3-AA1B191E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12DD6ED-314A-D68D-1127-CDA0D09B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32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E81AF14-ECB8-D0F2-5577-A3F22FEC884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예시 </a:t>
            </a:r>
            <a:r>
              <a:rPr lang="en-US" altLang="ko-KR" sz="2400" b="1" dirty="0">
                <a:solidFill>
                  <a:srgbClr val="0000FF"/>
                </a:solidFill>
              </a:rPr>
              <a:t>(Python)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CD6A9B-F6FE-818D-AFE0-30043E90C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72" y="1124744"/>
            <a:ext cx="7812360" cy="526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79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1A4E3-B1DF-3682-3297-3A0D0317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7CE9CBE-3685-E208-9F51-75CE372CE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33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D1116B0-F922-FCD6-087A-399D6629822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예시 </a:t>
            </a:r>
            <a:r>
              <a:rPr lang="en-US" altLang="ko-KR" sz="2400" b="1" dirty="0">
                <a:solidFill>
                  <a:srgbClr val="0000FF"/>
                </a:solidFill>
              </a:rPr>
              <a:t>(C++)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62C806-2F5B-5302-F54D-A3C302965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980728"/>
            <a:ext cx="8368137" cy="539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8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FA12-C386-EF46-61C6-4A23464C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6B21E8C-04F5-020E-3F9E-B6D13E39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ED68433-EE97-A44E-6777-2340AFB66AC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구간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합 </a:t>
            </a:r>
            <a:r>
              <a:rPr lang="en-US" altLang="ko-KR" sz="3200" b="1" dirty="0">
                <a:solidFill>
                  <a:srgbClr val="0000FF"/>
                </a:solidFill>
              </a:rPr>
              <a:t>(Interval Sum)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37A3545-AD7C-8450-19F6-B6CAEC55C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구간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합 문제</a:t>
            </a:r>
            <a:r>
              <a:rPr lang="en-US" altLang="ko-KR" sz="2000" b="1" dirty="0"/>
              <a:t>: </a:t>
            </a:r>
            <a:r>
              <a:rPr lang="ko-KR" altLang="en-US" sz="2000" dirty="0"/>
              <a:t>연속적으로 나열된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수가 있을 때 </a:t>
            </a:r>
            <a:r>
              <a:rPr lang="ko-KR" altLang="en-US" sz="2000" u="sng" dirty="0"/>
              <a:t>특정 구간의 모든 수를 합한 값을 계산</a:t>
            </a:r>
            <a:r>
              <a:rPr lang="ko-KR" altLang="en-US" sz="2000" dirty="0"/>
              <a:t>하는 문제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예를 들어 </a:t>
            </a:r>
            <a:r>
              <a:rPr lang="en-US" altLang="ko-KR" sz="2000" dirty="0"/>
              <a:t>5</a:t>
            </a:r>
            <a:r>
              <a:rPr lang="ko-KR" altLang="en-US" sz="2000" dirty="0"/>
              <a:t>개의 데이터로 구성된 수열 </a:t>
            </a:r>
            <a:r>
              <a:rPr lang="en-US" altLang="ko-KR" sz="2000" dirty="0"/>
              <a:t>{10, 20, 30, 40, 50}</a:t>
            </a:r>
            <a:r>
              <a:rPr lang="ko-KR" altLang="en-US" sz="2000" dirty="0"/>
              <a:t>이 있다고 가정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두 번째 수부터 네 번째 수까지의 합은 </a:t>
            </a:r>
            <a:r>
              <a:rPr lang="en-US" altLang="ko-KR" sz="2000" dirty="0"/>
              <a:t>20 + 30 + 40 = 90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  <a:p>
            <a:pPr algn="just" eaLnBrk="1" hangingPunct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47276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83C0-73BE-9950-E8A0-9F30DE9A2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7EC2F0B-A11C-3B38-8A47-61C1D66F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FA387CE-D90A-67CA-E5D3-D07D49F4221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구간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문제 설명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664AA4F-6719-E2A4-5E89-C21E33A21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N</a:t>
            </a:r>
            <a:r>
              <a:rPr lang="ko-KR" altLang="en-US" sz="2000" dirty="0"/>
              <a:t>개의 정수로 구성된 수열이 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en-US" altLang="ko-KR" sz="2000" dirty="0"/>
              <a:t>M</a:t>
            </a:r>
            <a:r>
              <a:rPr lang="ko-KR" altLang="en-US" sz="2000" dirty="0"/>
              <a:t>개의 쿼리</a:t>
            </a:r>
            <a:r>
              <a:rPr lang="en-US" altLang="ko-KR" sz="2000" dirty="0"/>
              <a:t>(Query) </a:t>
            </a:r>
            <a:r>
              <a:rPr lang="ko-KR" altLang="en-US" sz="2000" dirty="0"/>
              <a:t>정보가</a:t>
            </a:r>
            <a:r>
              <a:rPr lang="en-US" altLang="ko-KR" sz="2000" dirty="0"/>
              <a:t> </a:t>
            </a:r>
            <a:r>
              <a:rPr lang="ko-KR" altLang="en-US" sz="2000" dirty="0"/>
              <a:t>주어진다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dirty="0"/>
              <a:t>각 쿼리는 </a:t>
            </a:r>
            <a:r>
              <a:rPr lang="en-US" altLang="ko-KR" dirty="0"/>
              <a:t>Left</a:t>
            </a:r>
            <a:r>
              <a:rPr lang="ko-KR" altLang="en-US" dirty="0"/>
              <a:t>와 </a:t>
            </a:r>
            <a:r>
              <a:rPr lang="en-US" altLang="ko-KR" dirty="0"/>
              <a:t>Right </a:t>
            </a:r>
            <a:r>
              <a:rPr lang="ko-KR" altLang="en-US" dirty="0"/>
              <a:t>로 구성된다</a:t>
            </a:r>
            <a:r>
              <a:rPr lang="en-US" altLang="ko-KR" dirty="0"/>
              <a:t>. </a:t>
            </a:r>
          </a:p>
          <a:p>
            <a:pPr lvl="1" algn="just" eaLnBrk="1" hangingPunct="1"/>
            <a:r>
              <a:rPr lang="ko-KR" altLang="en-US" dirty="0"/>
              <a:t>각 쿼리에 대하여 </a:t>
            </a:r>
            <a:r>
              <a:rPr lang="en-US" altLang="ko-KR" dirty="0"/>
              <a:t>[Left, Right] </a:t>
            </a:r>
            <a:r>
              <a:rPr lang="ko-KR" altLang="en-US" dirty="0"/>
              <a:t>구간에 포함된 데이터들의 합을 출력한다</a:t>
            </a:r>
            <a:r>
              <a:rPr lang="en-US" altLang="ko-KR" dirty="0"/>
              <a:t>.</a:t>
            </a:r>
          </a:p>
          <a:p>
            <a:pPr algn="just" eaLnBrk="1" hangingPunct="1"/>
            <a:r>
              <a:rPr lang="ko-KR" altLang="en-US" sz="2000" dirty="0"/>
              <a:t>수행 시간 제한은 </a:t>
            </a:r>
            <a:r>
              <a:rPr lang="en-US" altLang="ko-KR" sz="2000" b="1" dirty="0"/>
              <a:t>O(N + M)</a:t>
            </a:r>
          </a:p>
        </p:txBody>
      </p:sp>
    </p:spTree>
    <p:extLst>
      <p:ext uri="{BB962C8B-B14F-4D97-AF65-F5344CB8AC3E}">
        <p14:creationId xmlns:p14="http://schemas.microsoft.com/office/powerpoint/2010/main" val="2831749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B8CA-DE27-0041-A57E-4803593F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9FF8B12-956B-7826-6B62-D1447F5DD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F2E9158-647A-5B87-00FC-782738B99C5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구간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DB4266D-2B6F-419B-13DC-E053272AF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접두사 합</a:t>
            </a:r>
            <a:r>
              <a:rPr lang="en-US" altLang="ko-KR" sz="2000" b="1" dirty="0"/>
              <a:t>(Prefix Sum): </a:t>
            </a:r>
            <a:r>
              <a:rPr lang="ko-KR" altLang="en-US" sz="2000" dirty="0"/>
              <a:t>배열의 맨 앞부터 특정 위치까지의 합을 미리 구해 놓은 것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접두사 합을 활용한 </a:t>
            </a:r>
            <a:r>
              <a:rPr lang="ko-KR" altLang="en-US" sz="2000" b="1" dirty="0"/>
              <a:t>알고리즘</a:t>
            </a:r>
            <a:r>
              <a:rPr lang="ko-KR" altLang="en-US" sz="2000" dirty="0"/>
              <a:t>은 다음과 같다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en-US" altLang="ko-KR" dirty="0"/>
              <a:t>N</a:t>
            </a:r>
            <a:r>
              <a:rPr lang="ko-KR" altLang="en-US" dirty="0"/>
              <a:t>개의 수 위치 각각에 대하여 접두사 합을 계산하여 </a:t>
            </a:r>
            <a:r>
              <a:rPr lang="en-US" altLang="ko-KR" dirty="0"/>
              <a:t>P</a:t>
            </a:r>
            <a:r>
              <a:rPr lang="ko-KR" altLang="en-US" dirty="0"/>
              <a:t>에 저장한다</a:t>
            </a:r>
            <a:r>
              <a:rPr lang="en-US" altLang="ko-KR" dirty="0"/>
              <a:t>.</a:t>
            </a:r>
          </a:p>
          <a:p>
            <a:pPr lvl="1" algn="just" eaLnBrk="1" hangingPunct="1"/>
            <a:r>
              <a:rPr lang="ko-KR" altLang="en-US" dirty="0"/>
              <a:t>매 </a:t>
            </a:r>
            <a:r>
              <a:rPr lang="en-US" altLang="ko-KR" dirty="0"/>
              <a:t>M</a:t>
            </a:r>
            <a:r>
              <a:rPr lang="ko-KR" altLang="en-US" dirty="0"/>
              <a:t>개의 쿼리 정보를 확인할 때 구간 합은 </a:t>
            </a:r>
            <a:r>
              <a:rPr lang="en-US" altLang="ko-KR" dirty="0"/>
              <a:t>P[Right] – P[Left – 1]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3F7A03-8199-7B85-D8FF-630BEDBFC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40" y="3585884"/>
            <a:ext cx="8460432" cy="209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7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FCDE-EE2B-58E3-F990-A9D1B9C5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165D904-DCB0-E372-781C-088CEF1C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2890D94-0378-F624-1C88-559536715B2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구간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코드 예시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BB4762-45E1-496C-33E4-4AFC583A5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24744"/>
            <a:ext cx="7859216" cy="533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88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E5F2E-C738-B4B8-1BDE-6248183B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F058575-8AA1-EC0A-6F09-EF251171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68E88B3-8BC6-FBF7-579B-B894D4CE039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구간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코드 예시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FFAA1F-9920-306D-295A-DDC549E6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7" y="1052737"/>
            <a:ext cx="8265871" cy="531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4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5579</TotalTime>
  <Words>1057</Words>
  <Application>Microsoft Office PowerPoint</Application>
  <PresentationFormat>화면 슬라이드 쇼(4:3)</PresentationFormat>
  <Paragraphs>168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굴림</vt:lpstr>
      <vt:lpstr>맑은 고딕</vt:lpstr>
      <vt:lpstr>Arial</vt:lpstr>
      <vt:lpstr>Office 테마</vt:lpstr>
      <vt:lpstr>기타 알고리즘 (소수, 투포인터, 누적합)</vt:lpstr>
      <vt:lpstr>소수 (Prime Number)</vt:lpstr>
      <vt:lpstr>소수의 판별: 기본적인 알고리즘 (Python)</vt:lpstr>
      <vt:lpstr>소수의 판별: 기본적인 알고리즘 (C++)</vt:lpstr>
      <vt:lpstr>소수의 판별: 기본적인 알고리즘 성능 분석</vt:lpstr>
      <vt:lpstr>약수의 성질</vt:lpstr>
      <vt:lpstr>소수의 판별: 개선된 알고리즘 (Python)</vt:lpstr>
      <vt:lpstr>소수의 판별: 개선된 알고리즘 (C++)</vt:lpstr>
      <vt:lpstr>소수의 판별: 개선된 알고리즘 성능 분석</vt:lpstr>
      <vt:lpstr>다수의 소수 판별</vt:lpstr>
      <vt:lpstr>에라토스테네스의 체 알고리즘</vt:lpstr>
      <vt:lpstr>에라토스테네스의 체 알고리즘 동작 예시</vt:lpstr>
      <vt:lpstr>에라토스테네스의 체 알고리즘 동작 예시</vt:lpstr>
      <vt:lpstr>에라토스테네스의 체 알고리즘 동작 예시</vt:lpstr>
      <vt:lpstr>에라토스테네스의 체 알고리즘 동작 예시</vt:lpstr>
      <vt:lpstr>에라토스테네스의 체 알고리즘 동작 예시</vt:lpstr>
      <vt:lpstr>에라토스테네스의 체 알고리즘 (Python)</vt:lpstr>
      <vt:lpstr>에라토스테네스의 체 알고리즘 (C++)</vt:lpstr>
      <vt:lpstr>에라토스테네스의 체 알고리즘 성능 분석</vt:lpstr>
      <vt:lpstr>투 포인터 (Two Pointers)</vt:lpstr>
      <vt:lpstr>특정한 합을 가지는 부분 연속 수열 찾기: 문제 설명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예시 (Python)</vt:lpstr>
      <vt:lpstr>특정한 합을 가지는 부분 연속 수열 찾기: 문제 예시 (C++)</vt:lpstr>
      <vt:lpstr>구간 합 (Interval Sum)</vt:lpstr>
      <vt:lpstr>구간 합 빠르게 계산하기: 문제 설명</vt:lpstr>
      <vt:lpstr>구간 합 빠르게 계산하기: 문제 해결 아이디어</vt:lpstr>
      <vt:lpstr>구간 합 빠르게 계산하기: 코드 예시 (Python)</vt:lpstr>
      <vt:lpstr>구간 합 빠르게 계산하기: 코드 예시 (C++)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266</cp:revision>
  <cp:lastPrinted>2023-07-23T09:30:34Z</cp:lastPrinted>
  <dcterms:created xsi:type="dcterms:W3CDTF">2008-03-02T04:39:19Z</dcterms:created>
  <dcterms:modified xsi:type="dcterms:W3CDTF">2026-06-01T03:29:24Z</dcterms:modified>
</cp:coreProperties>
</file>