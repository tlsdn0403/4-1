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2"/>
  </p:notesMasterIdLst>
  <p:sldIdLst>
    <p:sldId id="258" r:id="rId2"/>
    <p:sldId id="269" r:id="rId3"/>
    <p:sldId id="335" r:id="rId4"/>
    <p:sldId id="259" r:id="rId5"/>
    <p:sldId id="336" r:id="rId6"/>
    <p:sldId id="337" r:id="rId7"/>
    <p:sldId id="339" r:id="rId8"/>
    <p:sldId id="341" r:id="rId9"/>
    <p:sldId id="342" r:id="rId10"/>
    <p:sldId id="343" r:id="rId11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1" autoAdjust="0"/>
    <p:restoredTop sz="94660"/>
  </p:normalViewPr>
  <p:slideViewPr>
    <p:cSldViewPr>
      <p:cViewPr varScale="1">
        <p:scale>
          <a:sx n="87" d="100"/>
          <a:sy n="87" d="100"/>
        </p:scale>
        <p:origin x="60" y="1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2026-03-01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E528-7F58-8114-7800-EFA49068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01D9848-AD40-DF15-D243-28D631A9CD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91CA6EA-ABB6-24D8-9BAE-97421D8EE25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37960F0-1989-1616-5FDB-55CF6FAE0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338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FF79-6E0B-4FCD-4276-D4CAA1B9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6B5741-4F6C-4D1A-EEF6-369E9297ED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3D3F1C7-091C-1E87-193D-1AF1F221AD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F198135-18B5-ED7B-0127-7B81C3306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398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688F8-5F87-5720-444A-1721D475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00004F-D8EA-614A-3DBC-3E425426D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1AE31-036B-30BC-DCF7-1F84F0D2C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3BF956-C273-78EE-309C-C157A256EC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55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2295-AB65-DAB2-4B2B-6214B5399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2FE399-1B8E-044C-8145-04FF4C8EB9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CEA629-1B19-2CFA-FC0C-97ED8A476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76750F-CB33-8A29-A3EA-4DE2D502A5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860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F4A5-5617-2BA3-1998-B43431DB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67605B-0E30-2C3F-90AB-0349812CB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6FCDA3-DE81-C79D-7CFA-90D64473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E7FB2C-EF50-069C-CDBF-B40305EF9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229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291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07839-46E3-9788-520A-030053B1C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7C368E-9491-166D-0869-CC59E8967B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7959BA-8496-E419-64AD-9C50FD629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7E75ED-A3A6-CB01-D60A-7A8A5CB8B0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5829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688F8-5F87-5720-444A-1721D475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00004F-D8EA-614A-3DBC-3E425426D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1AE31-036B-30BC-DCF7-1F84F0D2C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3BF956-C273-78EE-309C-C157A256EC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7181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5. </a:t>
            </a:r>
            <a:r>
              <a:rPr lang="ko-KR" altLang="en-US" b="1" dirty="0">
                <a:solidFill>
                  <a:srgbClr val="0000FF"/>
                </a:solidFill>
              </a:rPr>
              <a:t>이진탐색 알고리즘</a:t>
            </a:r>
            <a:endParaRPr lang="en-US" altLang="ko-KR" b="1" dirty="0">
              <a:solidFill>
                <a:srgbClr val="0000FF"/>
              </a:solidFill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“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맞았습니다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!!”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5" y="4725144"/>
            <a:ext cx="8268915" cy="144016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6" y="2223976"/>
            <a:ext cx="4722093" cy="25011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971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062433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Accepted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442A2-9A74-208C-4235-0D0C2DBF9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13" y="2132856"/>
            <a:ext cx="5972973" cy="45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통과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57046F-BA5C-9133-150D-0D37D082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16" y="2204864"/>
            <a:ext cx="5845767" cy="43784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C85E7-3CF8-67B9-A10A-EE026569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3BD85-67F7-DB37-CA40-0BD36E03B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642194"/>
          </a:xfrm>
        </p:spPr>
        <p:txBody>
          <a:bodyPr/>
          <a:lstStyle/>
          <a:p>
            <a:r>
              <a:rPr lang="en-US" altLang="ko-KR" sz="3200" dirty="0"/>
              <a:t>1. </a:t>
            </a:r>
            <a:r>
              <a:rPr lang="ko-KR" altLang="en-US" sz="3200" dirty="0"/>
              <a:t>나무 자르기 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/>
              <a:t>이분탐색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1600" dirty="0">
                <a:solidFill>
                  <a:srgbClr val="0000FF"/>
                </a:solidFill>
              </a:rPr>
              <a:t>https://www.acmicpc.net/problem/2805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</a:rPr>
              <a:t>https://www.youtube.com/watch?v=aVBCcJ8Ypzg&amp;list=PLg0hsGjqxAUZimgPzzUdTjrV0bn5ALtAl&amp;index=18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</a:rPr>
              <a:t>https://www.youtube.com/watch?v=ujQ96TkAHA8&amp;list=PLg0hsGjqxAUZimgPzzUdTjrV0bn5ALtAl&amp;index=38</a:t>
            </a:r>
            <a:endParaRPr lang="ko-KR" altLang="en-US" sz="1600" dirty="0">
              <a:solidFill>
                <a:srgbClr val="0000FF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03ADC-4566-9C05-FA6F-37E1FF24D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60848"/>
            <a:ext cx="8229600" cy="406531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절단기 높이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H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를 지정하면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높이가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H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보다 큰 나무는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H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위의 부분이 잘릴 것이고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낮은 나무는 잘리지 않을 것이다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예를 들어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한 줄에 연속해 있는 나무의 높이가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20, 15, 10, 17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이라고 하자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상근이가 높이를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15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로 지정했다면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나무를 자른 뒤의 높이는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15, 15, 10, 15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가 될 것이고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상근이는 길이가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5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인 나무와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2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인 나무를 들고 집에 갈 것이다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dirty="0"/>
              <a:t>적어도 </a:t>
            </a:r>
            <a:r>
              <a:rPr lang="en-US" altLang="ko-KR" sz="2000" dirty="0"/>
              <a:t>M</a:t>
            </a:r>
            <a:r>
              <a:rPr lang="ko-KR" altLang="en-US" sz="2000" dirty="0"/>
              <a:t>미터의 나무를 집에 가져가기 위해서 절단기에 설정할 수 있는 높이의 최댓값을 구하는 프로그램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36FE90-6B8C-ACA4-E1F1-D5ABAAB50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570FF4-D45B-4300-EF64-24DFC094F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48" y="4715909"/>
            <a:ext cx="7308304" cy="1737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370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4E60-3252-0419-2091-13B8382A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BE1D5C-3F84-77F4-B8C1-55E4EABC3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2. </a:t>
            </a:r>
            <a:r>
              <a:rPr lang="ko-KR" altLang="en-US" sz="3200" dirty="0"/>
              <a:t>사칙연산 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/>
              <a:t>구현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https://www.acmicpc.net/problem/13420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43403D-C1EA-3FA9-2534-69D55DD42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사칙연산은 덧셈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뺄셈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곱셈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나눗셈으로 이루어져 있으며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컴퓨터 프로그램에서 이를 표현하는 기호는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+, -, *, /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와 같다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문제와 답이 주어졌을 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이를 계산하여 올바른 수식인지 계산하는 프로그램을 만들려고 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만약 주어진 데이터가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3 * 2 = 6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이라면 정답으로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3 * 2 = 7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이면 오답으로 채점을 하면 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문제와 답이 주어졌을 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이를 채점하는 프로그램을 </a:t>
            </a:r>
            <a:r>
              <a:rPr lang="ko-KR" altLang="en-US" sz="1800" b="0" i="0" dirty="0" err="1">
                <a:effectLst/>
                <a:latin typeface="Open Sans" panose="020F0502020204030204" pitchFamily="34" charset="0"/>
              </a:rPr>
              <a:t>작성하시오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C6C31A-B43C-7BA1-2990-42B676EF3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D4F87B-DD99-5F87-BBF2-DBBA41332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73" y="3510807"/>
            <a:ext cx="7812360" cy="294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fr-FR" altLang="ko-KR" sz="2800" dirty="0"/>
              <a:t>Postfix </a:t>
            </a:r>
            <a:r>
              <a:rPr lang="ko-KR" altLang="fr-FR" sz="2800" dirty="0"/>
              <a:t>표현식 </a:t>
            </a:r>
            <a:r>
              <a:rPr lang="fr-FR" altLang="ko-KR" sz="2800" dirty="0"/>
              <a:t>(TUKorea, </a:t>
            </a:r>
            <a:r>
              <a:rPr lang="ko-KR" altLang="en-US" sz="2800" dirty="0"/>
              <a:t>스택</a:t>
            </a:r>
            <a:r>
              <a:rPr lang="fr-FR" altLang="ko-KR" sz="2800" dirty="0"/>
              <a:t>) </a:t>
            </a:r>
            <a:br>
              <a:rPr lang="fr-FR" altLang="ko-KR" sz="2800" dirty="0"/>
            </a:br>
            <a:r>
              <a:rPr lang="fr-FR" altLang="ko-KR" sz="2800" dirty="0"/>
              <a:t>http://210.93.60.51/problem/0059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+,-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및 문자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a, b,…, z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가 포함된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 접미사로 표현되는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postfix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표현식을 괄호로 잘 묶인 원래 표현식으로 재구성해야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A62AD9A-333A-6106-E7D5-6A6BF2B4A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20" y="2780928"/>
            <a:ext cx="7812360" cy="1656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비밀지도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https://school.programmers.co.kr/learn/courses/30/lessons/17681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지도는 한 변의 길이가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인 정사각형 배열 형태로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 칸은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공백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"(" ")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또는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벽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"("#")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두 종류로 이루어져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전체 지도는 두 장의 지도를 겹쳐서 얻을 수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각각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과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라고 하자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또는 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중 어느 하나라도 벽인 부분은 전체 지도에서도 벽이다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과 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에서 모두 공백인 부분은 전체 지도에서도 공백이다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과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는 각각 정수 배열로 암호화되어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암호화된 배열은 지도의 각 가로줄에서 벽 부분을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공백 부분을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0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으로 </a:t>
            </a:r>
            <a:r>
              <a:rPr lang="ko-KR" altLang="en-US" sz="1800" b="0" i="0" dirty="0" err="1">
                <a:effectLst/>
                <a:latin typeface="Open Sans" panose="020F0502020204030204" pitchFamily="34" charset="0"/>
              </a:rPr>
              <a:t>부호화했을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 때 얻어지는 이진수에 해당하는 값의 배열이다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원래의 비밀지도를 해독하여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'#', 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공백으로 구성된 문자열 배열로 출력하라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endParaRPr lang="en-US" altLang="ko-KR" sz="1800" b="0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5F1FA4E-87F5-E4BA-223F-3803A514A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004" y="4111890"/>
            <a:ext cx="5477991" cy="245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93FCF-3F08-E0F4-5108-31984F441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818B47-20D8-CDD6-F074-07282F3BE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비밀지도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https://school.programmers.co.kr/learn/courses/30/lessons/17681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124102-0D47-DB9A-6FB9-A656E4472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EF56E33-8E2E-3D60-30E3-B02A001EC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87" y="1484784"/>
            <a:ext cx="4350961" cy="47471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03FED87-D4EA-BD72-0524-A1D507CA3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7592" y="2708920"/>
            <a:ext cx="2236637" cy="2257094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6D9EB52F-1E06-CFB4-EBC1-C044FD36702A}"/>
              </a:ext>
            </a:extLst>
          </p:cNvPr>
          <p:cNvSpPr/>
          <p:nvPr/>
        </p:nvSpPr>
        <p:spPr>
          <a:xfrm>
            <a:off x="5364088" y="3573016"/>
            <a:ext cx="504056" cy="5760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102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C85E7-3CF8-67B9-A10A-EE026569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3BD85-67F7-DB37-CA40-0BD36E03B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94122"/>
          </a:xfrm>
        </p:spPr>
        <p:txBody>
          <a:bodyPr/>
          <a:lstStyle/>
          <a:p>
            <a:r>
              <a:rPr lang="en-US" altLang="ko-KR" sz="3200" dirty="0"/>
              <a:t>5. </a:t>
            </a:r>
            <a:r>
              <a:rPr lang="ko-KR" altLang="en-US" sz="3200" dirty="0"/>
              <a:t>어두운 굴다리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/>
              <a:t>이분탐색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2000" dirty="0">
                <a:solidFill>
                  <a:srgbClr val="0000FF"/>
                </a:solidFill>
              </a:rPr>
              <a:t>https://www.acmicpc.net/problem/17266</a:t>
            </a:r>
            <a:br>
              <a:rPr lang="en-US" altLang="ko-KR" sz="1600" dirty="0">
                <a:solidFill>
                  <a:srgbClr val="0000FF"/>
                </a:solidFill>
              </a:rPr>
            </a:br>
            <a:endParaRPr lang="ko-KR" altLang="en-US" sz="1600" dirty="0">
              <a:solidFill>
                <a:srgbClr val="0000FF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03ADC-4566-9C05-FA6F-37E1FF24D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4857403"/>
          </a:xfrm>
        </p:spPr>
        <p:txBody>
          <a:bodyPr/>
          <a:lstStyle/>
          <a:p>
            <a:pPr algn="just"/>
            <a:r>
              <a:rPr lang="ko-KR" altLang="en-US" sz="2000" b="1" dirty="0">
                <a:latin typeface="Open Sans" panose="020F0502020204030204" pitchFamily="34" charset="0"/>
              </a:rPr>
              <a:t>굴다리 모든 길 </a:t>
            </a:r>
            <a:r>
              <a:rPr lang="en-US" altLang="ko-KR" sz="2000" b="1" dirty="0">
                <a:latin typeface="Open Sans" panose="020F0502020204030204" pitchFamily="34" charset="0"/>
              </a:rPr>
              <a:t>0~N</a:t>
            </a:r>
            <a:r>
              <a:rPr lang="ko-KR" altLang="en-US" sz="2000" dirty="0">
                <a:latin typeface="Open Sans" panose="020F0502020204030204" pitchFamily="34" charset="0"/>
              </a:rPr>
              <a:t>을 밝히게 가로등을 설치 한다</a:t>
            </a:r>
            <a:r>
              <a:rPr lang="en-US" altLang="ko-KR" sz="2000" dirty="0">
                <a:latin typeface="Open Sans" panose="020F0502020204030204" pitchFamily="34" charset="0"/>
              </a:rPr>
              <a:t>. (1 ≤ N ≤ 100,000)</a:t>
            </a:r>
          </a:p>
          <a:p>
            <a:pPr algn="just"/>
            <a:r>
              <a:rPr lang="ko-KR" altLang="en-US" sz="2000" b="1" dirty="0">
                <a:latin typeface="Open Sans" panose="020F0502020204030204" pitchFamily="34" charset="0"/>
              </a:rPr>
              <a:t>가로등 개수 </a:t>
            </a:r>
            <a:r>
              <a:rPr lang="en-US" altLang="ko-KR" sz="2000" b="1" dirty="0">
                <a:latin typeface="Open Sans" panose="020F0502020204030204" pitchFamily="34" charset="0"/>
              </a:rPr>
              <a:t>M</a:t>
            </a:r>
            <a:r>
              <a:rPr lang="ko-KR" altLang="en-US" sz="2000" b="1" dirty="0">
                <a:latin typeface="Open Sans" panose="020F0502020204030204" pitchFamily="34" charset="0"/>
              </a:rPr>
              <a:t>과 각 가로등의 위치 </a:t>
            </a:r>
            <a:r>
              <a:rPr lang="en-US" altLang="ko-KR" sz="2000" b="1" dirty="0">
                <a:latin typeface="Open Sans" panose="020F0502020204030204" pitchFamily="34" charset="0"/>
              </a:rPr>
              <a:t>x</a:t>
            </a:r>
            <a:r>
              <a:rPr lang="ko-KR" altLang="en-US" sz="2000" dirty="0">
                <a:latin typeface="Open Sans" panose="020F0502020204030204" pitchFamily="34" charset="0"/>
              </a:rPr>
              <a:t>가 주어진다</a:t>
            </a:r>
            <a:r>
              <a:rPr lang="en-US" altLang="ko-KR" sz="2000" dirty="0">
                <a:latin typeface="Open Sans" panose="020F0502020204030204" pitchFamily="34" charset="0"/>
              </a:rPr>
              <a:t>. (1 ≤ M ≤ N) (0 ≤ x ≤ N)</a:t>
            </a:r>
          </a:p>
          <a:p>
            <a:pPr algn="just"/>
            <a:r>
              <a:rPr lang="ko-KR" altLang="en-US" sz="2000" dirty="0">
                <a:latin typeface="Open Sans" panose="020F0502020204030204" pitchFamily="34" charset="0"/>
              </a:rPr>
              <a:t>가로등은 높이만큼 주위를 비출 수 있다</a:t>
            </a:r>
            <a:r>
              <a:rPr lang="en-US" altLang="ko-KR" sz="2000" dirty="0"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2000" dirty="0">
                <a:latin typeface="Open Sans" panose="020F0502020204030204" pitchFamily="34" charset="0"/>
              </a:rPr>
              <a:t>가로등의 </a:t>
            </a:r>
            <a:r>
              <a:rPr lang="ko-KR" altLang="en-US" sz="2000" b="1" dirty="0">
                <a:latin typeface="Open Sans" panose="020F0502020204030204" pitchFamily="34" charset="0"/>
              </a:rPr>
              <a:t>최소한의 높이로 굴다리 모든 길 </a:t>
            </a:r>
            <a:r>
              <a:rPr lang="en-US" altLang="ko-KR" sz="2000" b="1" dirty="0">
                <a:latin typeface="Open Sans" panose="020F0502020204030204" pitchFamily="34" charset="0"/>
              </a:rPr>
              <a:t>0~N</a:t>
            </a:r>
            <a:r>
              <a:rPr lang="ko-KR" altLang="en-US" sz="2000" b="1" dirty="0">
                <a:latin typeface="Open Sans" panose="020F0502020204030204" pitchFamily="34" charset="0"/>
              </a:rPr>
              <a:t>을 밝히고자 한다</a:t>
            </a:r>
            <a:r>
              <a:rPr lang="en-US" altLang="ko-KR" sz="2000" dirty="0"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2000" dirty="0">
                <a:latin typeface="Open Sans" panose="020F0502020204030204" pitchFamily="34" charset="0"/>
              </a:rPr>
              <a:t>최소한의 예산이 들 높이를 구하자</a:t>
            </a:r>
            <a:r>
              <a:rPr lang="en-US" altLang="ko-KR" sz="2000" dirty="0">
                <a:latin typeface="Open Sans" panose="020F0502020204030204" pitchFamily="34" charset="0"/>
              </a:rPr>
              <a:t>. </a:t>
            </a:r>
            <a:r>
              <a:rPr lang="ko-KR" altLang="en-US" sz="2000" dirty="0">
                <a:latin typeface="Open Sans" panose="020F0502020204030204" pitchFamily="34" charset="0"/>
              </a:rPr>
              <a:t>단 가로등은 모두 높이가 같아야 하고</a:t>
            </a:r>
            <a:r>
              <a:rPr lang="en-US" altLang="ko-KR" sz="2000" dirty="0">
                <a:latin typeface="Open Sans" panose="020F0502020204030204" pitchFamily="34" charset="0"/>
              </a:rPr>
              <a:t>, </a:t>
            </a:r>
            <a:r>
              <a:rPr lang="ko-KR" altLang="en-US" sz="2000" dirty="0">
                <a:latin typeface="Open Sans" panose="020F0502020204030204" pitchFamily="34" charset="0"/>
              </a:rPr>
              <a:t>정수이다</a:t>
            </a:r>
            <a:r>
              <a:rPr lang="en-US" altLang="ko-KR" sz="2000" dirty="0"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36FE90-6B8C-ACA4-E1F1-D5ABAAB50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  <p:pic>
        <p:nvPicPr>
          <p:cNvPr id="1026" name="Picture 2" descr="https://upload.acmicpc.net/a1f0fc3c-7c16-4108-bb18-31fe9ff3bbe4/-/preview/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401" y="3446977"/>
            <a:ext cx="8429625" cy="294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0110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4600</TotalTime>
  <Words>660</Words>
  <Application>Microsoft Office PowerPoint</Application>
  <PresentationFormat>화면 슬라이드 쇼(4:3)</PresentationFormat>
  <Paragraphs>53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굴림</vt:lpstr>
      <vt:lpstr>맑은 고딕</vt:lpstr>
      <vt:lpstr>맑은 고딕</vt:lpstr>
      <vt:lpstr>Arial</vt:lpstr>
      <vt:lpstr>Open Sans</vt:lpstr>
      <vt:lpstr>Office 테마</vt:lpstr>
      <vt:lpstr>숙제5. 이진탐색 알고리즘</vt:lpstr>
      <vt:lpstr>백준 온라인저지  https://www.acmicpc.net/</vt:lpstr>
      <vt:lpstr>TUKorea 온라인저지  http://210.93.60.51/</vt:lpstr>
      <vt:lpstr>Programmers https://school.programmers.co.kr/</vt:lpstr>
      <vt:lpstr>1. 나무 자르기 (백준, 이분탐색) https://www.acmicpc.net/problem/2805 https://www.youtube.com/watch?v=aVBCcJ8Ypzg&amp;list=PLg0hsGjqxAUZimgPzzUdTjrV0bn5ALtAl&amp;index=18 https://www.youtube.com/watch?v=ujQ96TkAHA8&amp;list=PLg0hsGjqxAUZimgPzzUdTjrV0bn5ALtAl&amp;index=38</vt:lpstr>
      <vt:lpstr>2. 사칙연산 (백준, 구현) https://www.acmicpc.net/problem/13420</vt:lpstr>
      <vt:lpstr>3. Postfix 표현식 (TUKorea, 스택)  http://210.93.60.51/problem/0059</vt:lpstr>
      <vt:lpstr>4. 비밀지도(Programmers, 구현)  https://school.programmers.co.kr/learn/courses/30/lessons/17681</vt:lpstr>
      <vt:lpstr>4. 비밀지도(Programmers, 구현)  https://school.programmers.co.kr/learn/courses/30/lessons/17681</vt:lpstr>
      <vt:lpstr>5. 어두운 굴다리(백준, 이분탐색) https://www.acmicpc.net/problem/17266 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Youngsik Kim</cp:lastModifiedBy>
  <cp:revision>246</cp:revision>
  <cp:lastPrinted>2023-07-23T09:30:34Z</cp:lastPrinted>
  <dcterms:created xsi:type="dcterms:W3CDTF">2008-03-02T04:39:19Z</dcterms:created>
  <dcterms:modified xsi:type="dcterms:W3CDTF">2026-03-01T02:40:33Z</dcterms:modified>
</cp:coreProperties>
</file>