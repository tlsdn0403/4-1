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1"/>
  </p:sldMasterIdLst>
  <p:notesMasterIdLst>
    <p:notesMasterId r:id="rId21"/>
  </p:notesMasterIdLst>
  <p:sldIdLst>
    <p:sldId id="258" r:id="rId2"/>
    <p:sldId id="269" r:id="rId3"/>
    <p:sldId id="335" r:id="rId4"/>
    <p:sldId id="259" r:id="rId5"/>
    <p:sldId id="336" r:id="rId6"/>
    <p:sldId id="346" r:id="rId7"/>
    <p:sldId id="337" r:id="rId8"/>
    <p:sldId id="347" r:id="rId9"/>
    <p:sldId id="339" r:id="rId10"/>
    <p:sldId id="348" r:id="rId11"/>
    <p:sldId id="341" r:id="rId12"/>
    <p:sldId id="342" r:id="rId13"/>
    <p:sldId id="349" r:id="rId14"/>
    <p:sldId id="343" r:id="rId15"/>
    <p:sldId id="350" r:id="rId16"/>
    <p:sldId id="344" r:id="rId17"/>
    <p:sldId id="351" r:id="rId18"/>
    <p:sldId id="345" r:id="rId19"/>
    <p:sldId id="352" r:id="rId20"/>
  </p:sldIdLst>
  <p:sldSz cx="9144000" cy="6858000" type="screen4x3"/>
  <p:notesSz cx="6796088" cy="99266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1" autoAdjust="0"/>
    <p:restoredTop sz="94660"/>
  </p:normalViewPr>
  <p:slideViewPr>
    <p:cSldViewPr>
      <p:cViewPr varScale="1">
        <p:scale>
          <a:sx n="96" d="100"/>
          <a:sy n="96" d="100"/>
        </p:scale>
        <p:origin x="45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4812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D755AD21-19C0-49A3-8C7F-3EE70D30FEBF}" type="datetimeFigureOut">
              <a:rPr lang="ko-KR" altLang="en-US"/>
              <a:pPr>
                <a:defRPr/>
              </a:pPr>
              <a:t>2026-04-29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7188" cy="44672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4813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8163"/>
            <a:ext cx="2944812" cy="4968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 smtClean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F8CEB46D-9B0E-47D1-8684-1DB50B81E07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5364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399BD248-42D7-44D8-991C-BF0E4233C8AD}" type="slidenum">
              <a:rPr lang="ko-KR" altLang="en-US"/>
              <a:pPr>
                <a:spcBef>
                  <a:spcPct val="0"/>
                </a:spcBef>
              </a:pPr>
              <a:t>1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CE528-7F58-8114-7800-EFA490682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301D9848-AD40-DF15-D243-28D631A9CD5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091CA6EA-ABB6-24D8-9BAE-97421D8EE25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937960F0-1989-1616-5FDB-55CF6FAE06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83386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8FF79-6E0B-4FCD-4276-D4CAA1B9B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2C6B5741-4F6C-4D1A-EEF6-369E9297ED6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73D3F1C7-091C-1E87-193D-1AF1F221AD6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6F198135-18B5-ED7B-0127-7B81C3306D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73985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4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688F8-5F87-5720-444A-1721D475D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D00004F-D8EA-614A-3DBC-3E425426DA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B41AE31-036B-30BC-DCF7-1F84F0D2C2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3BF956-C273-78EE-309C-C157A256EC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8550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332295-AB65-DAB2-4B2B-6214B5399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72FE399-1B8E-044C-8145-04FF4C8EB9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ACEA629-1B19-2CFA-FC0C-97ED8A476A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876750F-CB33-8A29-A3EA-4DE2D502A5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48602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AF4A5-5617-2BA3-1998-B43431DBB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067605B-0E30-2C3F-90AB-0349812CBD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A6FCDA3-DE81-C79D-7CFA-90D64473B9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5E7FB2C-EF50-069C-CDBF-B40305EF9A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42299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D8154-5674-3592-043C-ED5B85D56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4196531-8DAF-7C4B-C085-A0F72FDF03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F11258C-00BC-693E-9655-C702C0AED5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FE7B02C-31F7-C577-64B6-706B91BEEA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12291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07839-46E3-9788-520A-030053B1C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07C368E-9491-166D-0869-CC59E8967B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37959BA-8496-E419-64AD-9C50FD6297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57E75ED-A3A6-CB01-D60A-7A8A5CB8B0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35829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688F8-5F87-5720-444A-1721D475D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D00004F-D8EA-614A-3DBC-3E425426DA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B41AE31-036B-30BC-DCF7-1F84F0D2C2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3BF956-C273-78EE-309C-C157A256EC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71813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02078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48637D-675F-5E32-690D-2281BE8B8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2C354D7-5F9A-CAAF-D089-3BD4E3E507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748C64C-D027-757A-464D-693B0467B3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D2D41C9-60F7-A235-5B84-DBC200EF3F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71091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214313" y="6356350"/>
            <a:ext cx="2643187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  <a:endParaRPr lang="ko-KR" altLang="en-US" dirty="0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29CDB7A-47E2-4059-8EF4-A0640D1BC94E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9203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46"/>
          </a:xfrm>
        </p:spPr>
        <p:txBody>
          <a:bodyPr/>
          <a:lstStyle>
            <a:lvl1pPr>
              <a:defRPr sz="36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285860"/>
            <a:ext cx="8229600" cy="484030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266700" y="6356350"/>
            <a:ext cx="3733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2</a:t>
            </a:r>
            <a:r>
              <a:rPr lang="ko-KR" altLang="en-US"/>
              <a:t>학기 </a:t>
            </a:r>
            <a:r>
              <a:rPr lang="en-US" altLang="ko-KR"/>
              <a:t>3D</a:t>
            </a:r>
            <a:r>
              <a:rPr lang="ko-KR" altLang="en-US"/>
              <a:t>게임프로그래밍</a:t>
            </a:r>
            <a:r>
              <a:rPr lang="en-US" altLang="ko-KR"/>
              <a:t>II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A268DA64-E15D-4814-A1DA-86D92D550423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5784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26670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D6C9443-308F-41EB-9403-36E994EE3C1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39374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4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날짜 개체 틀 4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  <a:endParaRPr lang="ko-KR" altLang="en-US" dirty="0"/>
          </a:p>
        </p:txBody>
      </p:sp>
      <p:sp>
        <p:nvSpPr>
          <p:cNvPr id="7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354F6A4-0517-45C2-862F-B475182F4386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64194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모서리가 둥근 직사각형 6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8" name="날짜 개체 틀 6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  <a:endParaRPr lang="ko-KR" altLang="en-US" dirty="0"/>
          </a:p>
        </p:txBody>
      </p:sp>
      <p:sp>
        <p:nvSpPr>
          <p:cNvPr id="9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0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666478B-8FBF-4F39-8AAE-C744841EBA91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3322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모서리가 둥근 직사각형 2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4" name="날짜 개체 틀 2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  <a:endParaRPr lang="ko-KR" altLang="en-US" dirty="0"/>
          </a:p>
        </p:txBody>
      </p:sp>
      <p:sp>
        <p:nvSpPr>
          <p:cNvPr id="5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E7DB5AE-6182-458A-9442-7D0E5621EC3C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772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3" name="날짜 개체 틀 1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4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DF7FABC-72A3-4036-B860-C8EA1438AE6D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1744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4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날짜 개체 틀 4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7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B92AEAB-351F-4F89-A116-7A44E83E55A2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6088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4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날짜 개체 틀 4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7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3EE7A7B-3993-47B6-A1BC-0275495E6D5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1376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72FCFE9-07D1-4516-8BF2-C49BDADA48E1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6791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4C30A18C-D925-420F-814E-C2D3F93C5265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8378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214313" y="6356350"/>
            <a:ext cx="25717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 smtClean="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0749D700-1C6B-4D65-B91E-BEEB48FB19C7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  <p:sp>
        <p:nvSpPr>
          <p:cNvPr id="7" name="모서리가 둥근 직사각형 6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57" r:id="rId1"/>
    <p:sldLayoutId id="2147484158" r:id="rId2"/>
    <p:sldLayoutId id="2147484159" r:id="rId3"/>
    <p:sldLayoutId id="2147484160" r:id="rId4"/>
    <p:sldLayoutId id="2147484161" r:id="rId5"/>
    <p:sldLayoutId id="2147484162" r:id="rId6"/>
    <p:sldLayoutId id="2147484163" r:id="rId7"/>
    <p:sldLayoutId id="2147484164" r:id="rId8"/>
    <p:sldLayoutId id="2147484165" r:id="rId9"/>
    <p:sldLayoutId id="2147484166" r:id="rId10"/>
    <p:sldLayoutId id="2147484167" r:id="rId11"/>
  </p:sldLayoutIdLst>
  <p:hf hdr="0" ftr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3600" kern="1200">
          <a:solidFill>
            <a:srgbClr val="C00000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C00000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C00000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C00000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C00000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ko-KR" altLang="en-US" b="1" dirty="0">
                <a:solidFill>
                  <a:srgbClr val="0000FF"/>
                </a:solidFill>
              </a:rPr>
              <a:t>숙제</a:t>
            </a:r>
            <a:r>
              <a:rPr lang="en-US" altLang="ko-KR" b="1" dirty="0">
                <a:solidFill>
                  <a:srgbClr val="0000FF"/>
                </a:solidFill>
              </a:rPr>
              <a:t>5. </a:t>
            </a:r>
            <a:r>
              <a:rPr lang="ko-KR" altLang="en-US" b="1" dirty="0">
                <a:solidFill>
                  <a:srgbClr val="0000FF"/>
                </a:solidFill>
              </a:rPr>
              <a:t>이진탐색 알고리즘</a:t>
            </a:r>
            <a:endParaRPr lang="en-US" altLang="ko-KR" b="1" dirty="0">
              <a:solidFill>
                <a:srgbClr val="0000FF"/>
              </a:solidFill>
            </a:endParaRP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67544" y="3886200"/>
            <a:ext cx="8424936" cy="406896"/>
          </a:xfrm>
        </p:spPr>
        <p:txBody>
          <a:bodyPr/>
          <a:lstStyle/>
          <a:p>
            <a:pPr lvl="1" eaLnBrk="1" hangingPunct="1"/>
            <a:r>
              <a:rPr lang="ko-KR" altLang="en-US" dirty="0">
                <a:solidFill>
                  <a:schemeClr val="tx1"/>
                </a:solidFill>
              </a:rPr>
              <a:t>담당교수 </a:t>
            </a:r>
            <a:r>
              <a:rPr lang="en-US" altLang="ko-KR" dirty="0">
                <a:solidFill>
                  <a:schemeClr val="tx1"/>
                </a:solidFill>
              </a:rPr>
              <a:t>: </a:t>
            </a:r>
            <a:r>
              <a:rPr lang="ko-KR" altLang="en-US" dirty="0">
                <a:solidFill>
                  <a:schemeClr val="tx1"/>
                </a:solidFill>
              </a:rPr>
              <a:t>김영식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7E377-6501-AC88-60CF-FFCD8D9C8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149552DC-4336-108F-9F09-35F2F4EDA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2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7E901156-3666-1D61-B9AB-A579345EDEE0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ko-KR" altLang="en-US" sz="2800" b="1" dirty="0">
                <a:solidFill>
                  <a:srgbClr val="0000FF"/>
                </a:solidFill>
              </a:rPr>
              <a:t>백준 온라인저지</a:t>
            </a:r>
            <a:br>
              <a:rPr lang="en-US" altLang="ko-KR" sz="2800" b="1" dirty="0">
                <a:solidFill>
                  <a:srgbClr val="0000FF"/>
                </a:solidFill>
              </a:rPr>
            </a:br>
            <a:r>
              <a:rPr lang="en-US" altLang="ko-KR" sz="2800" b="1" dirty="0">
                <a:solidFill>
                  <a:srgbClr val="0000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 https://www.acmicpc.net/</a:t>
            </a:r>
            <a:endParaRPr lang="ko-KR" altLang="en-US" sz="2800" b="1" dirty="0">
              <a:solidFill>
                <a:srgbClr val="0000FF"/>
              </a:solidFill>
            </a:endParaRP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C570ED1C-A34A-AF1E-D534-A3DA190C18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1520" y="1214439"/>
            <a:ext cx="8892480" cy="1278458"/>
          </a:xfrm>
        </p:spPr>
        <p:txBody>
          <a:bodyPr/>
          <a:lstStyle/>
          <a:p>
            <a:pPr algn="l"/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백준 온라인저지</a:t>
            </a:r>
            <a:r>
              <a:rPr lang="en-US" altLang="ko-KR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회원가입하고 </a:t>
            </a:r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문제를 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해결</a:t>
            </a:r>
            <a:endParaRPr lang="en-US" altLang="ko-KR" b="0" i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pPr algn="l"/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해당 문제 </a:t>
            </a:r>
            <a:r>
              <a:rPr lang="ko-KR" altLang="en-US" b="1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소스코드와 </a:t>
            </a:r>
            <a:r>
              <a:rPr lang="en-US" altLang="ko-KR" b="1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“</a:t>
            </a:r>
            <a:r>
              <a:rPr lang="ko-KR" altLang="en-US" b="1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맞았습니다</a:t>
            </a:r>
            <a:r>
              <a:rPr lang="en-US" altLang="ko-KR" b="1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!!”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스크린 샷 제출</a:t>
            </a:r>
            <a:endParaRPr lang="en-US" altLang="ko-KR" b="0" i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885" y="4725144"/>
            <a:ext cx="8268915" cy="144016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516" y="2223976"/>
            <a:ext cx="4722093" cy="250116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097186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C8DD9-884D-A67C-7FF6-BE2052E40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0900215C-78E8-FFC3-D66F-318826C1B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3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15DEA275-57E7-EE18-C236-75AE335D57B0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en-US" altLang="ko-KR" sz="2800" b="1" dirty="0" err="1">
                <a:solidFill>
                  <a:srgbClr val="0000FF"/>
                </a:solidFill>
              </a:rPr>
              <a:t>TUKorea</a:t>
            </a:r>
            <a:r>
              <a:rPr lang="ko-KR" altLang="en-US" sz="2800" b="1" dirty="0">
                <a:solidFill>
                  <a:srgbClr val="0000FF"/>
                </a:solidFill>
              </a:rPr>
              <a:t> 온라인저지</a:t>
            </a:r>
            <a:br>
              <a:rPr lang="en-US" altLang="ko-KR" sz="2800" b="1" dirty="0">
                <a:solidFill>
                  <a:srgbClr val="0000FF"/>
                </a:solidFill>
              </a:rPr>
            </a:br>
            <a:r>
              <a:rPr lang="en-US" altLang="ko-KR" sz="2800" b="1" dirty="0">
                <a:solidFill>
                  <a:srgbClr val="0000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 http://210.93.60.51/</a:t>
            </a:r>
            <a:endParaRPr lang="ko-KR" altLang="en-US" sz="2800" b="1" dirty="0">
              <a:solidFill>
                <a:srgbClr val="0000FF"/>
              </a:solidFill>
            </a:endParaRP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5E7D3A3B-FF86-CC36-AECA-71BBAFB925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1520" y="1214439"/>
            <a:ext cx="8892480" cy="1062433"/>
          </a:xfrm>
        </p:spPr>
        <p:txBody>
          <a:bodyPr/>
          <a:lstStyle/>
          <a:p>
            <a:pPr algn="l"/>
            <a:r>
              <a:rPr lang="en-US" altLang="ko-KR" b="0" i="0" dirty="0" err="1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TUKorea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온라인저지는 </a:t>
            </a:r>
            <a:r>
              <a:rPr lang="ko-KR" altLang="en-US" b="1" i="0" dirty="0">
                <a:solidFill>
                  <a:srgbClr val="FF0000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반드시 학번으로</a:t>
            </a:r>
            <a:r>
              <a:rPr lang="en-US" altLang="ko-KR" b="1" i="0" dirty="0">
                <a:solidFill>
                  <a:srgbClr val="FF0000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회원가입</a:t>
            </a:r>
            <a:endParaRPr lang="en-US" altLang="ko-KR" b="0" i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pPr algn="l"/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해당 문제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</a:t>
            </a:r>
            <a:r>
              <a:rPr lang="ko-KR" altLang="en-US" b="1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소스코드와 </a:t>
            </a:r>
            <a:r>
              <a:rPr lang="en-US" altLang="ko-KR" b="1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Accepted </a:t>
            </a:r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스크린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샷 제출</a:t>
            </a:r>
            <a:endParaRPr lang="en-US" altLang="ko-KR" b="0" i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FD442A2-9A74-208C-4235-0D0C2DBF94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5513" y="2132856"/>
            <a:ext cx="5972973" cy="4522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7889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/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4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en-US" altLang="ko-KR" sz="2800" b="1" dirty="0">
                <a:solidFill>
                  <a:srgbClr val="0000FF"/>
                </a:solidFill>
              </a:rPr>
              <a:t>Programmers</a:t>
            </a:r>
            <a:br>
              <a:rPr lang="en-US" altLang="ko-KR" sz="2800" b="1" dirty="0">
                <a:solidFill>
                  <a:srgbClr val="0000FF"/>
                </a:solidFill>
              </a:rPr>
            </a:br>
            <a:r>
              <a:rPr lang="en-US" altLang="ko-KR" sz="2800" b="1" dirty="0">
                <a:solidFill>
                  <a:srgbClr val="0000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https://school.programmers.co.kr/</a:t>
            </a:r>
            <a:endParaRPr lang="ko-KR" altLang="en-US" sz="2800" b="1" dirty="0">
              <a:solidFill>
                <a:srgbClr val="0000FF"/>
              </a:solidFill>
            </a:endParaRPr>
          </a:p>
        </p:txBody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1214439"/>
            <a:ext cx="8892480" cy="1278458"/>
          </a:xfrm>
        </p:spPr>
        <p:txBody>
          <a:bodyPr/>
          <a:lstStyle/>
          <a:p>
            <a:pPr algn="l"/>
            <a:r>
              <a:rPr lang="en-US" altLang="ko-KR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Programmers 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회원가입하고 </a:t>
            </a:r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문제를 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해결</a:t>
            </a:r>
            <a:endParaRPr lang="en-US" altLang="ko-KR" b="0" i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해당 문제 </a:t>
            </a:r>
            <a:r>
              <a:rPr lang="ko-KR" altLang="en-US" b="1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소스코드와 통과</a:t>
            </a:r>
            <a:r>
              <a:rPr lang="en-US" altLang="ko-KR" b="1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 </a:t>
            </a:r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스크린 샷 제출</a:t>
            </a:r>
            <a:endParaRPr lang="en-US" altLang="ko-KR" dirty="0"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pPr algn="l"/>
            <a:endParaRPr lang="en-US" altLang="ko-KR" b="0" i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757046F-BA5C-9133-150D-0D37D08227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9116" y="2204864"/>
            <a:ext cx="5845767" cy="437849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AC85E7-3CF8-67B9-A10A-EE026569C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03BD85-67F7-DB37-CA40-0BD36E03B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04" y="274638"/>
            <a:ext cx="8579296" cy="1642194"/>
          </a:xfrm>
        </p:spPr>
        <p:txBody>
          <a:bodyPr/>
          <a:lstStyle/>
          <a:p>
            <a:r>
              <a:rPr lang="en-US" altLang="ko-KR" sz="3200" dirty="0"/>
              <a:t>1. </a:t>
            </a:r>
            <a:r>
              <a:rPr lang="ko-KR" altLang="en-US" sz="3200" dirty="0"/>
              <a:t>나무 자르기 </a:t>
            </a:r>
            <a:r>
              <a:rPr lang="en-US" altLang="ko-KR" sz="3200" dirty="0"/>
              <a:t>(TUKorea0070,</a:t>
            </a:r>
            <a:r>
              <a:rPr lang="ko-KR" altLang="en-US" sz="3200" dirty="0"/>
              <a:t>백준</a:t>
            </a:r>
            <a:r>
              <a:rPr lang="en-US" altLang="ko-KR" sz="3200" dirty="0"/>
              <a:t>, </a:t>
            </a:r>
            <a:r>
              <a:rPr lang="ko-KR" altLang="en-US" sz="3200" dirty="0"/>
              <a:t>이분탐색</a:t>
            </a:r>
            <a:r>
              <a:rPr lang="en-US" altLang="ko-KR" sz="3200" dirty="0"/>
              <a:t>)</a:t>
            </a:r>
            <a:br>
              <a:rPr lang="en-US" altLang="ko-KR" sz="3200" dirty="0"/>
            </a:br>
            <a:r>
              <a:rPr lang="en-US" altLang="ko-KR" sz="1600" dirty="0">
                <a:solidFill>
                  <a:srgbClr val="0000FF"/>
                </a:solidFill>
              </a:rPr>
              <a:t>http://210.93.60.51/problem/0070</a:t>
            </a:r>
            <a:br>
              <a:rPr lang="en-US" altLang="ko-KR" sz="1600" dirty="0">
                <a:solidFill>
                  <a:srgbClr val="0000FF"/>
                </a:solidFill>
              </a:rPr>
            </a:br>
            <a:r>
              <a:rPr lang="en-US" altLang="ko-KR" sz="1600" dirty="0">
                <a:solidFill>
                  <a:srgbClr val="0000FF"/>
                </a:solidFill>
              </a:rPr>
              <a:t>https://www.acmicpc.net/problem/2805</a:t>
            </a:r>
            <a:br>
              <a:rPr lang="en-US" altLang="ko-KR" sz="1600" dirty="0">
                <a:solidFill>
                  <a:srgbClr val="0000FF"/>
                </a:solidFill>
              </a:rPr>
            </a:br>
            <a:r>
              <a:rPr lang="en-US" altLang="ko-KR" sz="1600" dirty="0">
                <a:solidFill>
                  <a:srgbClr val="0000FF"/>
                </a:solidFill>
              </a:rPr>
              <a:t>https://www.youtube.com/watch?v=aVBCcJ8Ypzg&amp;list=PLg0hsGjqxAUZimgPzzUdTjrV0bn5ALtAl&amp;index=18</a:t>
            </a:r>
            <a:br>
              <a:rPr lang="en-US" altLang="ko-KR" sz="1600" dirty="0">
                <a:solidFill>
                  <a:srgbClr val="0000FF"/>
                </a:solidFill>
              </a:rPr>
            </a:br>
            <a:r>
              <a:rPr lang="en-US" altLang="ko-KR" sz="1600" dirty="0">
                <a:solidFill>
                  <a:srgbClr val="0000FF"/>
                </a:solidFill>
              </a:rPr>
              <a:t>https://www.youtube.com/watch?v=ujQ96TkAHA8&amp;list=PLg0hsGjqxAUZimgPzzUdTjrV0bn5ALtAl&amp;index=38</a:t>
            </a:r>
            <a:endParaRPr lang="ko-KR" altLang="en-US" sz="1600" dirty="0">
              <a:solidFill>
                <a:srgbClr val="0000FF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9203ADC-4566-9C05-FA6F-37E1FF24D5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060848"/>
            <a:ext cx="8229600" cy="4065315"/>
          </a:xfrm>
        </p:spPr>
        <p:txBody>
          <a:bodyPr/>
          <a:lstStyle/>
          <a:p>
            <a:pPr algn="just"/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절단기 높이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H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를 지정하면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, 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높이가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H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보다 큰 나무는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H 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위의 부분이 잘릴 것이고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, 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낮은 나무는 잘리지 않을 것이다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. </a:t>
            </a:r>
          </a:p>
          <a:p>
            <a:pPr algn="just"/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예를 들어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, 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한 줄에 연속해 있는 나무의 높이가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20, 15, 10, 17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이라고 하자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. 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상근이가 높이를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15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로 지정했다면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, 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나무를 자른 뒤의 높이는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15, 15, 10, 15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가 될 것이고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, 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상근이는 길이가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5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인 나무와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2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인 나무를 들고 집에 갈 것이다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r>
              <a:rPr lang="ko-KR" altLang="en-US" sz="2000" dirty="0"/>
              <a:t>적어도 </a:t>
            </a:r>
            <a:r>
              <a:rPr lang="en-US" altLang="ko-KR" sz="2000" dirty="0"/>
              <a:t>M</a:t>
            </a:r>
            <a:r>
              <a:rPr lang="ko-KR" altLang="en-US" sz="2000" dirty="0"/>
              <a:t>미터의 나무를 집에 가져가기 위해서 절단기에 설정할 수 있는 높이의 최댓값을 구하는 프로그램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336FE90-6B8C-ACA4-E1F1-D5ABAAB50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5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D570FF4-D45B-4300-EF64-24DFC094F1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848" y="4715909"/>
            <a:ext cx="7308304" cy="1737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3708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A02887-B7A7-5FA9-8E3E-04DE5F3D8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45950083-BEF4-932B-9868-14228DEA2A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539552" y="296815"/>
            <a:ext cx="8064896" cy="169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96F0174-3598-BEDB-EA46-1D0E03024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2</a:t>
            </a:r>
            <a:r>
              <a:rPr lang="ko-KR" altLang="en-US"/>
              <a:t>학기 </a:t>
            </a:r>
            <a:r>
              <a:rPr lang="en-US" altLang="ko-KR"/>
              <a:t>3D</a:t>
            </a:r>
            <a:r>
              <a:rPr lang="ko-KR" altLang="en-US"/>
              <a:t>게임프로그래밍</a:t>
            </a:r>
            <a:r>
              <a:rPr lang="en-US" altLang="ko-KR"/>
              <a:t>II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D5A829A-C19F-C769-3420-0DDD554D4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6</a:t>
            </a:fld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B8F9DDE-E595-957A-D135-6C9C965B6C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8450" y="2011017"/>
            <a:ext cx="3016959" cy="4432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4784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3F4E60-3252-0419-2091-13B8382AD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BE1D5C-3F84-77F4-B8C1-55E4EABC3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94122"/>
          </a:xfrm>
        </p:spPr>
        <p:txBody>
          <a:bodyPr/>
          <a:lstStyle/>
          <a:p>
            <a:r>
              <a:rPr lang="en-US" altLang="ko-KR" sz="3200" dirty="0"/>
              <a:t>2. </a:t>
            </a:r>
            <a:r>
              <a:rPr lang="ko-KR" altLang="en-US" sz="3200" dirty="0"/>
              <a:t>사칙연산 </a:t>
            </a:r>
            <a:r>
              <a:rPr lang="en-US" altLang="ko-KR" sz="3200" dirty="0"/>
              <a:t>(</a:t>
            </a:r>
            <a:r>
              <a:rPr lang="en-US" altLang="ko-KR" sz="3200" dirty="0" err="1"/>
              <a:t>TUKorea</a:t>
            </a:r>
            <a:r>
              <a:rPr lang="en-US" altLang="ko-KR" sz="3200" dirty="0"/>
              <a:t>, </a:t>
            </a:r>
            <a:r>
              <a:rPr lang="ko-KR" altLang="en-US" sz="3200" dirty="0"/>
              <a:t>백준</a:t>
            </a:r>
            <a:r>
              <a:rPr lang="en-US" altLang="ko-KR" sz="3200" dirty="0"/>
              <a:t>, </a:t>
            </a:r>
            <a:r>
              <a:rPr lang="ko-KR" altLang="en-US" sz="3200" dirty="0"/>
              <a:t>구현</a:t>
            </a:r>
            <a:r>
              <a:rPr lang="en-US" altLang="ko-KR" sz="3200" dirty="0"/>
              <a:t>)</a:t>
            </a:r>
            <a:br>
              <a:rPr lang="en-US" altLang="ko-KR" sz="3200" dirty="0"/>
            </a:br>
            <a:r>
              <a:rPr lang="en-US" altLang="ko-KR" sz="2000" dirty="0">
                <a:solidFill>
                  <a:srgbClr val="0000FF"/>
                </a:solidFill>
              </a:rPr>
              <a:t>http://210.93.60.51/problem/0181</a:t>
            </a:r>
            <a:br>
              <a:rPr lang="en-US" altLang="ko-KR" sz="2000" dirty="0">
                <a:solidFill>
                  <a:srgbClr val="0000FF"/>
                </a:solidFill>
              </a:rPr>
            </a:br>
            <a:r>
              <a:rPr lang="en-US" altLang="ko-KR" sz="2000" dirty="0">
                <a:solidFill>
                  <a:srgbClr val="0000FF"/>
                </a:solidFill>
              </a:rPr>
              <a:t>https://www.acmicpc.net/problem/13420</a:t>
            </a:r>
            <a:endParaRPr lang="ko-KR" altLang="en-US" sz="32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543403D-C1EA-3FA9-2534-69D55DD42E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pPr algn="just"/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사칙연산은 덧셈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,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뺄셈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,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곱셈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,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나눗셈으로 이루어져 있으며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,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컴퓨터 프로그램에서 이를 표현하는 기호는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+, -, *, /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와 같다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 </a:t>
            </a:r>
          </a:p>
          <a:p>
            <a:pPr algn="just"/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문제와 답이 주어졌을 때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,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이를 계산하여 올바른 수식인지 계산하는 프로그램을 만들려고 한다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 </a:t>
            </a:r>
          </a:p>
          <a:p>
            <a:pPr algn="just"/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만약 주어진 데이터가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3 * 2 = 6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이라면 정답으로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, 3 * 2 = 7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이면 오답으로 채점을 하면 된다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문제와 답이 주어졌을 때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,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이를 채점하는 프로그램을 </a:t>
            </a:r>
            <a:r>
              <a:rPr lang="ko-KR" altLang="en-US" sz="1800" b="0" i="0" dirty="0" err="1">
                <a:effectLst/>
                <a:latin typeface="Open Sans" panose="020F0502020204030204" pitchFamily="34" charset="0"/>
              </a:rPr>
              <a:t>작성하시오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</a:t>
            </a:r>
            <a:endParaRPr lang="ko-KR" altLang="en-US" sz="18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8C6C31A-B43C-7BA1-2990-42B676EF3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7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9D4F87B-DD99-5F87-BBF2-DBBA413322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173" y="3510807"/>
            <a:ext cx="7812360" cy="2942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953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C1C441-3A75-8510-CC27-25BD88E06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1053C13C-D3F5-8FF2-21DF-DA6CC1D240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457200" y="378248"/>
            <a:ext cx="8229600" cy="6611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75C02F-6213-F236-122D-3A1F0E6E7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2</a:t>
            </a:r>
            <a:r>
              <a:rPr lang="ko-KR" altLang="en-US"/>
              <a:t>학기 </a:t>
            </a:r>
            <a:r>
              <a:rPr lang="en-US" altLang="ko-KR"/>
              <a:t>3D</a:t>
            </a:r>
            <a:r>
              <a:rPr lang="ko-KR" altLang="en-US"/>
              <a:t>게임프로그래밍</a:t>
            </a:r>
            <a:r>
              <a:rPr lang="en-US" altLang="ko-KR"/>
              <a:t>II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6CE5A28-4CD8-76C1-9E36-1FE3FA1B7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8</a:t>
            </a:fld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920F34B-BBB5-DC42-7A77-02F18A7095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616" y="1113871"/>
            <a:ext cx="3028161" cy="5157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5885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BDCB5-7F53-214B-6C61-C92019CB9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EFEF50-ACBE-B55A-3CD9-ECD0968B9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/>
              <a:t>3. </a:t>
            </a:r>
            <a:r>
              <a:rPr lang="fr-FR" altLang="ko-KR" sz="2800" dirty="0"/>
              <a:t>Postfix </a:t>
            </a:r>
            <a:r>
              <a:rPr lang="ko-KR" altLang="fr-FR" sz="2800" dirty="0"/>
              <a:t>표현식 </a:t>
            </a:r>
            <a:r>
              <a:rPr lang="fr-FR" altLang="ko-KR" sz="2800" dirty="0"/>
              <a:t>(TUKorea, </a:t>
            </a:r>
            <a:r>
              <a:rPr lang="ko-KR" altLang="en-US" sz="2800" dirty="0"/>
              <a:t>스택</a:t>
            </a:r>
            <a:r>
              <a:rPr lang="fr-FR" altLang="ko-KR" sz="2800" dirty="0"/>
              <a:t>) </a:t>
            </a:r>
            <a:br>
              <a:rPr lang="fr-FR" altLang="ko-KR" sz="2800" dirty="0"/>
            </a:br>
            <a:r>
              <a:rPr lang="fr-FR" altLang="ko-KR" sz="2800" dirty="0"/>
              <a:t>http://210.93.60.51/problem/0059</a:t>
            </a:r>
            <a:endParaRPr lang="ko-KR" altLang="en-US" sz="28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ABA8CA-B1A0-8B3D-CAB9-27BB454F48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pPr algn="just"/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+,- 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및 문자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a, b,…, z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가 포함된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,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 접미사로 표현되는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postfix 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표현식을 괄호로 잘 묶인 원래 표현식으로 재구성해야 합니다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.</a:t>
            </a:r>
            <a:endParaRPr lang="ko-KR" altLang="en-US" sz="20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345AAE8-FF1A-38EE-FB83-8DBB91949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9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A62AD9A-333A-6106-E7D5-6A6BF2B4AE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820" y="2780928"/>
            <a:ext cx="7812360" cy="1656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5405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FBED75-208C-57E7-8ACF-227A76676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AB9F9786-1DBB-B944-CD40-E6914B0EE7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539552" y="136525"/>
            <a:ext cx="6336704" cy="23779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D5AB2B-A330-A9E8-EBF1-E8EA50B85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2</a:t>
            </a:r>
            <a:r>
              <a:rPr lang="ko-KR" altLang="en-US"/>
              <a:t>학기 </a:t>
            </a:r>
            <a:r>
              <a:rPr lang="en-US" altLang="ko-KR"/>
              <a:t>3D</a:t>
            </a:r>
            <a:r>
              <a:rPr lang="ko-KR" altLang="en-US"/>
              <a:t>게임프로그래밍</a:t>
            </a:r>
            <a:r>
              <a:rPr lang="en-US" altLang="ko-KR"/>
              <a:t>II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F1652B2-C685-92BB-6A67-EB5040495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10</a:t>
            </a:fld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0AE61E85-3E4B-6CB3-3410-2C8A2B9FED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2080" y="1376705"/>
            <a:ext cx="3498034" cy="4817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5638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182D6-7C3A-1450-0957-073622899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FC0AAC-B616-D4EC-909C-ECC3F2A8B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/>
              <a:t>4. </a:t>
            </a:r>
            <a:r>
              <a:rPr lang="ko-KR" altLang="en-US" sz="2800" dirty="0"/>
              <a:t>비밀지도</a:t>
            </a:r>
            <a:r>
              <a:rPr lang="en-US" altLang="ko-KR" sz="2800" dirty="0"/>
              <a:t>(Programmers, </a:t>
            </a:r>
            <a:r>
              <a:rPr lang="ko-KR" altLang="en-US" sz="2800" dirty="0"/>
              <a:t>구현</a:t>
            </a:r>
            <a:r>
              <a:rPr lang="en-US" altLang="ko-KR" sz="2800" dirty="0"/>
              <a:t>) </a:t>
            </a:r>
            <a:br>
              <a:rPr lang="en-US" altLang="ko-KR" sz="2800" dirty="0"/>
            </a:br>
            <a:r>
              <a:rPr lang="en-US" altLang="ko-KR" sz="2000" dirty="0"/>
              <a:t>https://school.programmers.co.kr/learn/courses/30/lessons/17681</a:t>
            </a:r>
            <a:endParaRPr lang="ko-KR" altLang="en-US" sz="20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1099AAD-C6EA-CB4B-F77E-8434C7D5E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11</a:t>
            </a:fld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8C86E8-5349-F7B3-AFB6-B10A83FC02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pPr algn="just"/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지도는 한 변의 길이가 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n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인 정사각형 배열 형태로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,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각 칸은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"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공백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"(" ")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또는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"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벽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"("#")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두 종류로 이루어져 있다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전체 지도는 두 장의 지도를 겹쳐서 얻을 수 있다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각각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"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지도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1"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과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"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지도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2"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라고 하자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지도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1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또는 지도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2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중 어느 하나라도 벽인 부분은 전체 지도에서도 벽이다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지도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1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과 지도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2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에서 모두 공백인 부분은 전체 지도에서도 공백이다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"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지도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1"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과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"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지도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2"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는 각각 정수 배열로 암호화되어 있다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암호화된 배열은 지도의 각 가로줄에서 벽 부분을 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1,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공백 부분을 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0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으로 </a:t>
            </a:r>
            <a:r>
              <a:rPr lang="ko-KR" altLang="en-US" sz="1800" b="0" i="0" dirty="0" err="1">
                <a:effectLst/>
                <a:latin typeface="Open Sans" panose="020F0502020204030204" pitchFamily="34" charset="0"/>
              </a:rPr>
              <a:t>부호화했을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 때 얻어지는 이진수에 해당하는 값의 배열이다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원래의 비밀지도를 해독하여 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'#', 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공백으로 구성된 문자열 배열로 출력하라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 </a:t>
            </a:r>
          </a:p>
          <a:p>
            <a:pPr algn="just"/>
            <a:endParaRPr lang="en-US" altLang="ko-KR" sz="1800" b="0" i="0" dirty="0">
              <a:effectLst/>
              <a:latin typeface="Open Sans" panose="020F0502020204030204" pitchFamily="34" charset="0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45F1FA4E-87F5-E4BA-223F-3803A514AF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3004" y="4111890"/>
            <a:ext cx="5477991" cy="2451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2145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93FCF-3F08-E0F4-5108-31984F441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818B47-20D8-CDD6-F074-07282F3BE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/>
              <a:t>4. </a:t>
            </a:r>
            <a:r>
              <a:rPr lang="ko-KR" altLang="en-US" sz="2800" dirty="0"/>
              <a:t>비밀지도</a:t>
            </a:r>
            <a:r>
              <a:rPr lang="en-US" altLang="ko-KR" sz="2800" dirty="0"/>
              <a:t>(Programmers, </a:t>
            </a:r>
            <a:r>
              <a:rPr lang="ko-KR" altLang="en-US" sz="2800" dirty="0"/>
              <a:t>구현</a:t>
            </a:r>
            <a:r>
              <a:rPr lang="en-US" altLang="ko-KR" sz="2800" dirty="0"/>
              <a:t>) </a:t>
            </a:r>
            <a:br>
              <a:rPr lang="en-US" altLang="ko-KR" sz="2800" dirty="0"/>
            </a:br>
            <a:r>
              <a:rPr lang="en-US" altLang="ko-KR" sz="2000" dirty="0"/>
              <a:t>https://school.programmers.co.kr/learn/courses/30/lessons/17681</a:t>
            </a:r>
            <a:endParaRPr lang="ko-KR" altLang="en-US" sz="20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E124102-0D47-DB9A-6FB9-A656E4472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12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EF56E33-8E2E-3D60-30E3-B02A001EC9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087" y="1484784"/>
            <a:ext cx="4350961" cy="474714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103FED87-D4EA-BD72-0524-A1D507CA3E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7592" y="2708920"/>
            <a:ext cx="2236637" cy="2257094"/>
          </a:xfrm>
          <a:prstGeom prst="rect">
            <a:avLst/>
          </a:prstGeom>
        </p:spPr>
      </p:pic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6D9EB52F-1E06-CFB4-EBC1-C044FD36702A}"/>
              </a:ext>
            </a:extLst>
          </p:cNvPr>
          <p:cNvSpPr/>
          <p:nvPr/>
        </p:nvSpPr>
        <p:spPr>
          <a:xfrm>
            <a:off x="5364088" y="3573016"/>
            <a:ext cx="504056" cy="57606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31028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651BAE-EE93-7099-957F-A0B1DF89C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5536F280-1895-6CF4-C7A5-A1A646E7E8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269675" y="1416671"/>
            <a:ext cx="3866739" cy="40246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4650B27-A67B-726B-1A51-F0D950843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2</a:t>
            </a:r>
            <a:r>
              <a:rPr lang="ko-KR" altLang="en-US"/>
              <a:t>학기 </a:t>
            </a:r>
            <a:r>
              <a:rPr lang="en-US" altLang="ko-KR"/>
              <a:t>3D</a:t>
            </a:r>
            <a:r>
              <a:rPr lang="ko-KR" altLang="en-US"/>
              <a:t>게임프로그래밍</a:t>
            </a:r>
            <a:r>
              <a:rPr lang="en-US" altLang="ko-KR"/>
              <a:t>II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9D01B24-DE00-8C2B-5040-8CB587372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13</a:t>
            </a:fld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7CEC811-9EC9-8FF4-CCEF-DC39A601CF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2033" y="1916832"/>
            <a:ext cx="4392488" cy="3401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023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AC85E7-3CF8-67B9-A10A-EE026569C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03BD85-67F7-DB37-CA40-0BD36E03B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94122"/>
          </a:xfrm>
        </p:spPr>
        <p:txBody>
          <a:bodyPr/>
          <a:lstStyle/>
          <a:p>
            <a:r>
              <a:rPr lang="en-US" altLang="ko-KR" sz="3200" dirty="0"/>
              <a:t>5. </a:t>
            </a:r>
            <a:r>
              <a:rPr lang="ko-KR" altLang="en-US" sz="3200" dirty="0"/>
              <a:t>어두운 굴다리</a:t>
            </a:r>
            <a:r>
              <a:rPr lang="en-US" altLang="ko-KR" sz="3200" dirty="0"/>
              <a:t>(</a:t>
            </a:r>
            <a:r>
              <a:rPr lang="en-US" altLang="ko-KR" sz="3200" dirty="0" err="1"/>
              <a:t>TUKorea</a:t>
            </a:r>
            <a:r>
              <a:rPr lang="en-US" altLang="ko-KR" sz="3200" dirty="0"/>
              <a:t>, </a:t>
            </a:r>
            <a:r>
              <a:rPr lang="ko-KR" altLang="en-US" sz="3200" dirty="0"/>
              <a:t>백준</a:t>
            </a:r>
            <a:r>
              <a:rPr lang="en-US" altLang="ko-KR" sz="3200" dirty="0"/>
              <a:t>, </a:t>
            </a:r>
            <a:r>
              <a:rPr lang="ko-KR" altLang="en-US" sz="3200" dirty="0"/>
              <a:t>이분탐색</a:t>
            </a:r>
            <a:r>
              <a:rPr lang="en-US" altLang="ko-KR" sz="3200" dirty="0"/>
              <a:t>)</a:t>
            </a:r>
            <a:br>
              <a:rPr lang="en-US" altLang="ko-KR" sz="3200" dirty="0"/>
            </a:br>
            <a:r>
              <a:rPr lang="en-US" altLang="ko-KR" sz="2000" dirty="0">
                <a:solidFill>
                  <a:srgbClr val="0000FF"/>
                </a:solidFill>
              </a:rPr>
              <a:t>http://210.93.60.51/problem/0180</a:t>
            </a:r>
            <a:br>
              <a:rPr lang="en-US" altLang="ko-KR" sz="2000" dirty="0">
                <a:solidFill>
                  <a:srgbClr val="0000FF"/>
                </a:solidFill>
              </a:rPr>
            </a:br>
            <a:r>
              <a:rPr lang="en-US" altLang="ko-KR" sz="2000" dirty="0">
                <a:solidFill>
                  <a:srgbClr val="0000FF"/>
                </a:solidFill>
              </a:rPr>
              <a:t>https://www.acmicpc.net/problem/17266</a:t>
            </a:r>
            <a:br>
              <a:rPr lang="en-US" altLang="ko-KR" sz="1600" dirty="0">
                <a:solidFill>
                  <a:srgbClr val="0000FF"/>
                </a:solidFill>
              </a:rPr>
            </a:br>
            <a:endParaRPr lang="ko-KR" altLang="en-US" sz="1600" dirty="0">
              <a:solidFill>
                <a:srgbClr val="0000FF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9203ADC-4566-9C05-FA6F-37E1FF24D5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857403"/>
          </a:xfrm>
        </p:spPr>
        <p:txBody>
          <a:bodyPr/>
          <a:lstStyle/>
          <a:p>
            <a:pPr algn="just"/>
            <a:r>
              <a:rPr lang="ko-KR" altLang="en-US" sz="2000" b="1" dirty="0">
                <a:latin typeface="Open Sans" panose="020F0502020204030204" pitchFamily="34" charset="0"/>
              </a:rPr>
              <a:t>굴다리 모든 길 </a:t>
            </a:r>
            <a:r>
              <a:rPr lang="en-US" altLang="ko-KR" sz="2000" b="1" dirty="0">
                <a:latin typeface="Open Sans" panose="020F0502020204030204" pitchFamily="34" charset="0"/>
              </a:rPr>
              <a:t>0~N</a:t>
            </a:r>
            <a:r>
              <a:rPr lang="ko-KR" altLang="en-US" sz="2000" dirty="0">
                <a:latin typeface="Open Sans" panose="020F0502020204030204" pitchFamily="34" charset="0"/>
              </a:rPr>
              <a:t>을 밝히게 가로등을 설치 한다</a:t>
            </a:r>
            <a:r>
              <a:rPr lang="en-US" altLang="ko-KR" sz="2000" dirty="0">
                <a:latin typeface="Open Sans" panose="020F0502020204030204" pitchFamily="34" charset="0"/>
              </a:rPr>
              <a:t>. (1 ≤ N ≤ 100,000)</a:t>
            </a:r>
          </a:p>
          <a:p>
            <a:pPr algn="just"/>
            <a:r>
              <a:rPr lang="ko-KR" altLang="en-US" sz="2000" b="1" dirty="0">
                <a:latin typeface="Open Sans" panose="020F0502020204030204" pitchFamily="34" charset="0"/>
              </a:rPr>
              <a:t>가로등 개수 </a:t>
            </a:r>
            <a:r>
              <a:rPr lang="en-US" altLang="ko-KR" sz="2000" b="1" dirty="0">
                <a:latin typeface="Open Sans" panose="020F0502020204030204" pitchFamily="34" charset="0"/>
              </a:rPr>
              <a:t>M</a:t>
            </a:r>
            <a:r>
              <a:rPr lang="ko-KR" altLang="en-US" sz="2000" b="1" dirty="0">
                <a:latin typeface="Open Sans" panose="020F0502020204030204" pitchFamily="34" charset="0"/>
              </a:rPr>
              <a:t>과 각 가로등의 위치 </a:t>
            </a:r>
            <a:r>
              <a:rPr lang="en-US" altLang="ko-KR" sz="2000" b="1" dirty="0">
                <a:latin typeface="Open Sans" panose="020F0502020204030204" pitchFamily="34" charset="0"/>
              </a:rPr>
              <a:t>x</a:t>
            </a:r>
            <a:r>
              <a:rPr lang="ko-KR" altLang="en-US" sz="2000" dirty="0">
                <a:latin typeface="Open Sans" panose="020F0502020204030204" pitchFamily="34" charset="0"/>
              </a:rPr>
              <a:t>가 주어진다</a:t>
            </a:r>
            <a:r>
              <a:rPr lang="en-US" altLang="ko-KR" sz="2000" dirty="0">
                <a:latin typeface="Open Sans" panose="020F0502020204030204" pitchFamily="34" charset="0"/>
              </a:rPr>
              <a:t>. (1 ≤ M ≤ N) (0 ≤ x ≤ N)</a:t>
            </a:r>
          </a:p>
          <a:p>
            <a:pPr algn="just"/>
            <a:r>
              <a:rPr lang="ko-KR" altLang="en-US" sz="2000" dirty="0">
                <a:latin typeface="Open Sans" panose="020F0502020204030204" pitchFamily="34" charset="0"/>
              </a:rPr>
              <a:t>가로등은 높이만큼 주위를 비출 수 있다</a:t>
            </a:r>
            <a:r>
              <a:rPr lang="en-US" altLang="ko-KR" sz="2000" dirty="0">
                <a:latin typeface="Open Sans" panose="020F0502020204030204" pitchFamily="34" charset="0"/>
              </a:rPr>
              <a:t>. </a:t>
            </a:r>
          </a:p>
          <a:p>
            <a:pPr algn="just"/>
            <a:r>
              <a:rPr lang="ko-KR" altLang="en-US" sz="2000" dirty="0">
                <a:latin typeface="Open Sans" panose="020F0502020204030204" pitchFamily="34" charset="0"/>
              </a:rPr>
              <a:t>가로등의 </a:t>
            </a:r>
            <a:r>
              <a:rPr lang="ko-KR" altLang="en-US" sz="2000" b="1" dirty="0">
                <a:latin typeface="Open Sans" panose="020F0502020204030204" pitchFamily="34" charset="0"/>
              </a:rPr>
              <a:t>최소한의 높이로 굴다리 모든 길 </a:t>
            </a:r>
            <a:r>
              <a:rPr lang="en-US" altLang="ko-KR" sz="2000" b="1" dirty="0">
                <a:latin typeface="Open Sans" panose="020F0502020204030204" pitchFamily="34" charset="0"/>
              </a:rPr>
              <a:t>0~N</a:t>
            </a:r>
            <a:r>
              <a:rPr lang="ko-KR" altLang="en-US" sz="2000" b="1" dirty="0">
                <a:latin typeface="Open Sans" panose="020F0502020204030204" pitchFamily="34" charset="0"/>
              </a:rPr>
              <a:t>을 밝히고자 한다</a:t>
            </a:r>
            <a:r>
              <a:rPr lang="en-US" altLang="ko-KR" sz="2000" dirty="0">
                <a:latin typeface="Open Sans" panose="020F0502020204030204" pitchFamily="34" charset="0"/>
              </a:rPr>
              <a:t>. </a:t>
            </a:r>
          </a:p>
          <a:p>
            <a:pPr algn="just"/>
            <a:r>
              <a:rPr lang="ko-KR" altLang="en-US" sz="2000" dirty="0">
                <a:latin typeface="Open Sans" panose="020F0502020204030204" pitchFamily="34" charset="0"/>
              </a:rPr>
              <a:t>최소한의 예산이 들 높이를 구하자</a:t>
            </a:r>
            <a:r>
              <a:rPr lang="en-US" altLang="ko-KR" sz="2000" dirty="0">
                <a:latin typeface="Open Sans" panose="020F0502020204030204" pitchFamily="34" charset="0"/>
              </a:rPr>
              <a:t>. </a:t>
            </a:r>
            <a:r>
              <a:rPr lang="ko-KR" altLang="en-US" sz="2000" dirty="0">
                <a:latin typeface="Open Sans" panose="020F0502020204030204" pitchFamily="34" charset="0"/>
              </a:rPr>
              <a:t>단 가로등은 모두 높이가 같아야 하고</a:t>
            </a:r>
            <a:r>
              <a:rPr lang="en-US" altLang="ko-KR" sz="2000" dirty="0">
                <a:latin typeface="Open Sans" panose="020F0502020204030204" pitchFamily="34" charset="0"/>
              </a:rPr>
              <a:t>, </a:t>
            </a:r>
            <a:r>
              <a:rPr lang="ko-KR" altLang="en-US" sz="2000" dirty="0">
                <a:latin typeface="Open Sans" panose="020F0502020204030204" pitchFamily="34" charset="0"/>
              </a:rPr>
              <a:t>정수이다</a:t>
            </a:r>
            <a:r>
              <a:rPr lang="en-US" altLang="ko-KR" sz="2000" dirty="0">
                <a:latin typeface="Open Sans" panose="020F0502020204030204" pitchFamily="34" charset="0"/>
              </a:rPr>
              <a:t>.</a:t>
            </a:r>
            <a:endParaRPr lang="ko-KR" altLang="en-US" sz="20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336FE90-6B8C-ACA4-E1F1-D5ABAAB50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14</a:t>
            </a:fld>
            <a:endParaRPr lang="ko-KR" altLang="en-US"/>
          </a:p>
        </p:txBody>
      </p:sp>
      <p:pic>
        <p:nvPicPr>
          <p:cNvPr id="1026" name="Picture 2" descr="https://upload.acmicpc.net/a1f0fc3c-7c16-4108-bb18-31fe9ff3bbe4/-/preview/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401" y="3446977"/>
            <a:ext cx="8429625" cy="2943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01100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039C39-0DDE-E230-6FB3-76D864F3D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E42BB373-2E0F-DA62-EE5E-9439D31A03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457200" y="238668"/>
            <a:ext cx="8229600" cy="11972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84053A9-7A20-0F6F-F7E7-33152DAB4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2</a:t>
            </a:r>
            <a:r>
              <a:rPr lang="ko-KR" altLang="en-US"/>
              <a:t>학기 </a:t>
            </a:r>
            <a:r>
              <a:rPr lang="en-US" altLang="ko-KR"/>
              <a:t>3D</a:t>
            </a:r>
            <a:r>
              <a:rPr lang="ko-KR" altLang="en-US"/>
              <a:t>게임프로그래밍</a:t>
            </a:r>
            <a:r>
              <a:rPr lang="en-US" altLang="ko-KR"/>
              <a:t>II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966E921-C72C-735A-06A5-6712F2416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15</a:t>
            </a:fld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6B03F7CD-79D2-B54C-0675-997CBE2B29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60" y="1857346"/>
            <a:ext cx="3731569" cy="4077587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6166731D-A53E-BB6C-FC9B-E9F6D9CC76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6016" y="1856930"/>
            <a:ext cx="3439847" cy="4078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8047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>
                <a:ea typeface="맑은 고딕"/>
              </a:rPr>
              <a:t>6. </a:t>
            </a:r>
            <a:r>
              <a:rPr lang="ko-KR" altLang="en-US" sz="2800" dirty="0">
                <a:ea typeface="맑은 고딕"/>
              </a:rPr>
              <a:t>공유기 설치 </a:t>
            </a:r>
            <a:r>
              <a:rPr lang="en-US" altLang="ko-KR" sz="2800" dirty="0">
                <a:ea typeface="맑은 고딕"/>
              </a:rPr>
              <a:t>(</a:t>
            </a:r>
            <a:r>
              <a:rPr lang="ko-KR" altLang="en-US" sz="2800" dirty="0">
                <a:ea typeface="맑은 고딕"/>
              </a:rPr>
              <a:t>이분탐색</a:t>
            </a:r>
            <a:r>
              <a:rPr lang="en-US" altLang="ko-KR" sz="2800" dirty="0">
                <a:ea typeface="맑은 고딕"/>
              </a:rPr>
              <a:t>)</a:t>
            </a:r>
            <a:br>
              <a:rPr lang="en-US" altLang="ko-KR" sz="2800" dirty="0"/>
            </a:br>
            <a:r>
              <a:rPr lang="en-US" altLang="ko-KR" sz="2000" dirty="0">
                <a:solidFill>
                  <a:srgbClr val="0000FF"/>
                </a:solidFill>
                <a:ea typeface="맑은 고딕"/>
              </a:rPr>
              <a:t>http://210.93.60.51/problem/0259</a:t>
            </a:r>
            <a:br>
              <a:rPr lang="en-US" altLang="ko-KR" sz="2000" dirty="0">
                <a:solidFill>
                  <a:srgbClr val="0000FF"/>
                </a:solidFill>
                <a:ea typeface="맑은 고딕"/>
              </a:rPr>
            </a:br>
            <a:r>
              <a:rPr lang="en-US" altLang="ko-KR" sz="2000" dirty="0">
                <a:solidFill>
                  <a:srgbClr val="0000FF"/>
                </a:solidFill>
                <a:ea typeface="맑은 고딕"/>
              </a:rPr>
              <a:t>https://www.acmicpc.net/problem/2110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340768"/>
            <a:ext cx="8363272" cy="4785395"/>
          </a:xfrm>
        </p:spPr>
        <p:txBody>
          <a:bodyPr/>
          <a:lstStyle/>
          <a:p>
            <a:r>
              <a:rPr lang="ko-KR" altLang="en-US" sz="2000" dirty="0"/>
              <a:t>집 </a:t>
            </a:r>
            <a:r>
              <a:rPr lang="en-US" altLang="ko-KR" sz="2000" dirty="0"/>
              <a:t>N</a:t>
            </a:r>
            <a:r>
              <a:rPr lang="ko-KR" altLang="en-US" sz="2000" dirty="0"/>
              <a:t>개가 수직선 위에 있다</a:t>
            </a:r>
            <a:r>
              <a:rPr lang="en-US" altLang="ko-KR" sz="2000" dirty="0"/>
              <a:t>. </a:t>
            </a:r>
            <a:r>
              <a:rPr lang="ko-KR" altLang="en-US" sz="2000" dirty="0"/>
              <a:t>각각의 집의 좌표는 </a:t>
            </a:r>
            <a:r>
              <a:rPr lang="en-US" altLang="ko-KR" sz="2000" dirty="0"/>
              <a:t>x1, ..., </a:t>
            </a:r>
            <a:r>
              <a:rPr lang="en-US" altLang="ko-KR" sz="2000" dirty="0" err="1"/>
              <a:t>xN</a:t>
            </a:r>
            <a:r>
              <a:rPr lang="ko-KR" altLang="en-US" sz="2000" dirty="0"/>
              <a:t>이고</a:t>
            </a:r>
            <a:r>
              <a:rPr lang="en-US" altLang="ko-KR" sz="2000" dirty="0"/>
              <a:t>, </a:t>
            </a:r>
            <a:r>
              <a:rPr lang="ko-KR" altLang="en-US" sz="2000" dirty="0"/>
              <a:t>집 </a:t>
            </a:r>
            <a:r>
              <a:rPr lang="ko-KR" altLang="en-US" sz="2000" dirty="0" err="1"/>
              <a:t>여러개가</a:t>
            </a:r>
            <a:r>
              <a:rPr lang="ko-KR" altLang="en-US" sz="2000" dirty="0"/>
              <a:t> 같은 좌표를 가지는 일은 없다</a:t>
            </a:r>
            <a:r>
              <a:rPr lang="en-US" altLang="ko-KR" sz="2000" dirty="0"/>
              <a:t>.</a:t>
            </a:r>
          </a:p>
          <a:p>
            <a:endParaRPr lang="en-US" altLang="ko-KR" sz="2000" dirty="0"/>
          </a:p>
          <a:p>
            <a:r>
              <a:rPr lang="ko-KR" altLang="en-US" sz="2000" dirty="0"/>
              <a:t>공유기 </a:t>
            </a:r>
            <a:r>
              <a:rPr lang="en-US" altLang="ko-KR" sz="2000" dirty="0"/>
              <a:t>C</a:t>
            </a:r>
            <a:r>
              <a:rPr lang="ko-KR" altLang="en-US" sz="2000" dirty="0"/>
              <a:t>개를 설치하려고 한다</a:t>
            </a:r>
            <a:r>
              <a:rPr lang="en-US" altLang="ko-KR" sz="2000" dirty="0"/>
              <a:t>. </a:t>
            </a:r>
            <a:r>
              <a:rPr lang="ko-KR" altLang="en-US" sz="2000" dirty="0"/>
              <a:t>한 집에는 공유기를 하나만 설치</a:t>
            </a:r>
            <a:r>
              <a:rPr lang="en-US" altLang="ko-KR" sz="2000" dirty="0"/>
              <a:t> </a:t>
            </a:r>
          </a:p>
          <a:p>
            <a:endParaRPr lang="en-US" altLang="ko-KR" sz="2000" dirty="0"/>
          </a:p>
          <a:p>
            <a:r>
              <a:rPr lang="en-US" altLang="ko-KR" sz="2000" b="1" dirty="0"/>
              <a:t>C</a:t>
            </a:r>
            <a:r>
              <a:rPr lang="ko-KR" altLang="en-US" sz="2000" b="1" dirty="0"/>
              <a:t>개의 공유기를 </a:t>
            </a:r>
            <a:r>
              <a:rPr lang="en-US" altLang="ko-KR" sz="2000" b="1" dirty="0"/>
              <a:t>N</a:t>
            </a:r>
            <a:r>
              <a:rPr lang="ko-KR" altLang="en-US" sz="2000" b="1" dirty="0"/>
              <a:t>개의 집에 적당히 설치해서</a:t>
            </a:r>
            <a:r>
              <a:rPr lang="en-US" altLang="ko-KR" sz="2000" b="1" dirty="0"/>
              <a:t>, </a:t>
            </a:r>
            <a:r>
              <a:rPr lang="ko-KR" altLang="en-US" sz="2000" b="1" dirty="0"/>
              <a:t>가장 인접한 두 공유기 사이의 거리를 최대로 하는 프로그램을 작성하시오</a:t>
            </a:r>
            <a:r>
              <a:rPr lang="en-US" altLang="ko-KR" sz="2000" b="1" dirty="0"/>
              <a:t>.</a:t>
            </a:r>
          </a:p>
          <a:p>
            <a:endParaRPr lang="en-US" altLang="ko-KR" sz="2000" dirty="0"/>
          </a:p>
          <a:p>
            <a:r>
              <a:rPr lang="ko-KR" altLang="en-US" sz="2000" dirty="0"/>
              <a:t>첫째 줄에 </a:t>
            </a:r>
            <a:r>
              <a:rPr lang="ko-KR" altLang="en-US" sz="2000" b="1" dirty="0"/>
              <a:t>집의 개수 </a:t>
            </a:r>
            <a:r>
              <a:rPr lang="en-US" altLang="ko-KR" sz="2000" b="1" dirty="0"/>
              <a:t>N (2 ≤ N ≤ 200,000)</a:t>
            </a:r>
            <a:r>
              <a:rPr lang="ko-KR" altLang="en-US" sz="2000" dirty="0"/>
              <a:t>과 </a:t>
            </a:r>
            <a:r>
              <a:rPr lang="ko-KR" altLang="en-US" sz="2000" b="1" dirty="0"/>
              <a:t>공유기의 개수 </a:t>
            </a:r>
            <a:r>
              <a:rPr lang="en-US" altLang="ko-KR" sz="2000" b="1" dirty="0"/>
              <a:t>C (2 ≤ C ≤ N)</a:t>
            </a:r>
            <a:r>
              <a:rPr lang="ko-KR" altLang="en-US" sz="2000" dirty="0"/>
              <a:t>이 하나 이상의 빈 칸을 사이에 두고 주어진다</a:t>
            </a:r>
            <a:r>
              <a:rPr lang="en-US" altLang="ko-KR" sz="2000" dirty="0"/>
              <a:t>. </a:t>
            </a:r>
          </a:p>
          <a:p>
            <a:r>
              <a:rPr lang="ko-KR" altLang="en-US" sz="2000" dirty="0"/>
              <a:t>둘째 줄부터 </a:t>
            </a:r>
            <a:r>
              <a:rPr lang="en-US" altLang="ko-KR" sz="2000" dirty="0"/>
              <a:t>N</a:t>
            </a:r>
            <a:r>
              <a:rPr lang="ko-KR" altLang="en-US" sz="2000" dirty="0"/>
              <a:t>개의 줄에는 </a:t>
            </a:r>
            <a:r>
              <a:rPr lang="ko-KR" altLang="en-US" sz="2000" b="1" dirty="0"/>
              <a:t>집의 좌표 </a:t>
            </a:r>
            <a:r>
              <a:rPr lang="en-US" altLang="ko-KR" sz="2000" b="1" dirty="0"/>
              <a:t>xi (0 ≤ xi ≤ 1,000,000,000)</a:t>
            </a:r>
          </a:p>
          <a:p>
            <a:endParaRPr lang="en-US" altLang="ko-KR" sz="2000" dirty="0"/>
          </a:p>
          <a:p>
            <a:r>
              <a:rPr lang="ko-KR" altLang="en-US" sz="2000" b="1" dirty="0">
                <a:solidFill>
                  <a:srgbClr val="FF0000"/>
                </a:solidFill>
              </a:rPr>
              <a:t>공유기가 모든 집을 커버하는 하는 것 아님</a:t>
            </a:r>
            <a:endParaRPr lang="en-US" altLang="ko-KR" sz="2000" b="1" dirty="0">
              <a:solidFill>
                <a:srgbClr val="FF0000"/>
              </a:solidFill>
            </a:endParaRPr>
          </a:p>
          <a:p>
            <a:r>
              <a:rPr lang="en-US" altLang="ko-KR" sz="2000" b="1" dirty="0">
                <a:solidFill>
                  <a:srgbClr val="FF0000"/>
                </a:solidFill>
              </a:rPr>
              <a:t>C</a:t>
            </a:r>
            <a:r>
              <a:rPr lang="ko-KR" altLang="en-US" sz="2000" b="1" dirty="0">
                <a:solidFill>
                  <a:srgbClr val="FF0000"/>
                </a:solidFill>
              </a:rPr>
              <a:t>개 공유기를 다 설치할 수 있는가</a:t>
            </a:r>
            <a:r>
              <a:rPr lang="en-US" altLang="ko-KR" sz="2000" b="1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3415DAC-B125-B7C1-4D98-E7D689F9C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/>
              <a:pPr>
                <a:defRPr/>
              </a:pPr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64574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998A1D-159D-41B3-1CEC-BD3E8030E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26DB5318-8192-1B17-D06A-3EA8715B4E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611560" y="155781"/>
            <a:ext cx="5040560" cy="19245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5418B6-A3EF-9EBB-41B1-9D55157D3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2</a:t>
            </a:r>
            <a:r>
              <a:rPr lang="ko-KR" altLang="en-US"/>
              <a:t>학기 </a:t>
            </a:r>
            <a:r>
              <a:rPr lang="en-US" altLang="ko-KR"/>
              <a:t>3D</a:t>
            </a:r>
            <a:r>
              <a:rPr lang="ko-KR" altLang="en-US"/>
              <a:t>게임프로그래밍</a:t>
            </a:r>
            <a:r>
              <a:rPr lang="en-US" altLang="ko-KR"/>
              <a:t>II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80963A3-57B7-F09B-5D6A-6899BE8C6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17</a:t>
            </a:fld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2ED8CF4-0CAE-6212-7F17-DD3520268F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999" y="2170750"/>
            <a:ext cx="4032448" cy="4159718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9A458237-7BF9-700A-643D-78E107174C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3848" y="2420888"/>
            <a:ext cx="5519357" cy="3240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1792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D7F08C-91EF-051A-AB9F-2B47FC820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F9F781-F201-C003-C8C9-534B815D1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>
                <a:ea typeface="맑은 고딕"/>
              </a:rPr>
              <a:t>7. </a:t>
            </a:r>
            <a:r>
              <a:rPr lang="ko-KR" altLang="en-US" sz="2800" dirty="0">
                <a:ea typeface="맑은 고딕"/>
              </a:rPr>
              <a:t>예산 </a:t>
            </a:r>
            <a:r>
              <a:rPr lang="en-US" altLang="ko-KR" sz="2800" dirty="0">
                <a:ea typeface="맑은 고딕"/>
              </a:rPr>
              <a:t>(</a:t>
            </a:r>
            <a:r>
              <a:rPr lang="ko-KR" altLang="en-US" sz="2800" dirty="0">
                <a:ea typeface="맑은 고딕"/>
              </a:rPr>
              <a:t>이분탐색</a:t>
            </a:r>
            <a:r>
              <a:rPr lang="en-US" altLang="ko-KR" sz="2800" dirty="0">
                <a:ea typeface="맑은 고딕"/>
              </a:rPr>
              <a:t>)</a:t>
            </a:r>
            <a:br>
              <a:rPr lang="en-US" altLang="ko-KR" sz="2800" dirty="0"/>
            </a:br>
            <a:r>
              <a:rPr lang="en-US" altLang="ko-KR" sz="2000" dirty="0">
                <a:solidFill>
                  <a:srgbClr val="0000FF"/>
                </a:solidFill>
                <a:ea typeface="맑은 고딕"/>
              </a:rPr>
              <a:t>http://210.93.60.51/problem/0260</a:t>
            </a:r>
            <a:br>
              <a:rPr lang="en-US" altLang="ko-KR" sz="2000" dirty="0">
                <a:solidFill>
                  <a:srgbClr val="0000FF"/>
                </a:solidFill>
                <a:ea typeface="맑은 고딕"/>
              </a:rPr>
            </a:br>
            <a:r>
              <a:rPr lang="en-US" altLang="ko-KR" sz="2000" dirty="0">
                <a:solidFill>
                  <a:srgbClr val="0000FF"/>
                </a:solidFill>
                <a:ea typeface="맑은 고딕"/>
              </a:rPr>
              <a:t>https://www.acmicpc.net/problem/2512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716C5B9-5616-A340-2F5A-42443FFAA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363272" cy="4785395"/>
          </a:xfrm>
        </p:spPr>
        <p:txBody>
          <a:bodyPr/>
          <a:lstStyle/>
          <a:p>
            <a:r>
              <a:rPr lang="ko-KR" altLang="en-US" sz="2000" dirty="0"/>
              <a:t>정해진 총액 이하에서 가능한 한 </a:t>
            </a:r>
            <a:r>
              <a:rPr lang="ko-KR" altLang="en-US" sz="2000" b="1" dirty="0"/>
              <a:t>최대의 총 예산</a:t>
            </a:r>
            <a:r>
              <a:rPr lang="ko-KR" altLang="en-US" sz="2000" dirty="0"/>
              <a:t>을 다음과 같은 방법으로 배정한다</a:t>
            </a:r>
            <a:r>
              <a:rPr lang="en-US" altLang="ko-KR" sz="2000" dirty="0"/>
              <a:t>.</a:t>
            </a:r>
          </a:p>
          <a:p>
            <a:endParaRPr lang="en-US" altLang="ko-KR" sz="2000" dirty="0"/>
          </a:p>
          <a:p>
            <a:r>
              <a:rPr lang="ko-KR" altLang="en-US" sz="1800" dirty="0"/>
              <a:t>모든 요청이 배정될 수 있는 경우에는 요청한 금액을 그대로 배정한다</a:t>
            </a:r>
            <a:r>
              <a:rPr lang="en-US" altLang="ko-KR" sz="1800" dirty="0"/>
              <a:t>.</a:t>
            </a:r>
          </a:p>
          <a:p>
            <a:r>
              <a:rPr lang="ko-KR" altLang="en-US" sz="1800" dirty="0"/>
              <a:t>모든 요청이 배정될 수 없는 경우에는 특정한 </a:t>
            </a:r>
            <a:r>
              <a:rPr lang="ko-KR" altLang="en-US" sz="1800" b="1" dirty="0"/>
              <a:t>정수 상한액</a:t>
            </a:r>
            <a:r>
              <a:rPr lang="ko-KR" altLang="en-US" sz="1800" dirty="0"/>
              <a:t>을 계산하여 그 이상인 예산요청에는 모두 상한액을 배정한다</a:t>
            </a:r>
            <a:r>
              <a:rPr lang="en-US" altLang="ko-KR" sz="1800" dirty="0"/>
              <a:t>. </a:t>
            </a:r>
            <a:r>
              <a:rPr lang="ko-KR" altLang="en-US" sz="1800" dirty="0" err="1"/>
              <a:t>상한액</a:t>
            </a:r>
            <a:r>
              <a:rPr lang="ko-KR" altLang="en-US" sz="1800" dirty="0"/>
              <a:t> 이하의 예산요청에 대해서는 요청한 금액을 그대로 배정한다</a:t>
            </a:r>
            <a:r>
              <a:rPr lang="en-US" altLang="ko-KR" sz="1800" dirty="0"/>
              <a:t>. </a:t>
            </a:r>
          </a:p>
          <a:p>
            <a:endParaRPr lang="en-US" altLang="ko-KR" sz="1800" b="1" dirty="0">
              <a:solidFill>
                <a:srgbClr val="FF0000"/>
              </a:solidFill>
            </a:endParaRPr>
          </a:p>
          <a:p>
            <a:r>
              <a:rPr lang="ko-KR" altLang="en-US" sz="2000" dirty="0"/>
              <a:t>첫째 줄에는 지방의 수 </a:t>
            </a:r>
            <a:r>
              <a:rPr lang="en-US" altLang="ko-KR" sz="2000" dirty="0"/>
              <a:t>N</a:t>
            </a:r>
            <a:r>
              <a:rPr lang="ko-KR" altLang="en-US" sz="2000" dirty="0"/>
              <a:t>이 주어진다</a:t>
            </a:r>
            <a:r>
              <a:rPr lang="en-US" altLang="ko-KR" sz="2000" dirty="0"/>
              <a:t>. N</a:t>
            </a:r>
            <a:r>
              <a:rPr lang="ko-KR" altLang="en-US" sz="2000" dirty="0"/>
              <a:t>은 </a:t>
            </a:r>
            <a:r>
              <a:rPr lang="en-US" altLang="ko-KR" sz="2000" dirty="0"/>
              <a:t>3 </a:t>
            </a:r>
            <a:r>
              <a:rPr lang="ko-KR" altLang="en-US" sz="2000" dirty="0"/>
              <a:t>이상 </a:t>
            </a:r>
            <a:r>
              <a:rPr lang="en-US" altLang="ko-KR" sz="2000" dirty="0"/>
              <a:t>10,000 </a:t>
            </a:r>
            <a:r>
              <a:rPr lang="ko-KR" altLang="en-US" sz="2000" dirty="0"/>
              <a:t>이하이다</a:t>
            </a:r>
            <a:r>
              <a:rPr lang="en-US" altLang="ko-KR" sz="2000" dirty="0"/>
              <a:t>. </a:t>
            </a:r>
          </a:p>
          <a:p>
            <a:r>
              <a:rPr lang="ko-KR" altLang="en-US" sz="2000" dirty="0"/>
              <a:t>다음 줄에는 각 지방의 예산요청 </a:t>
            </a:r>
            <a:r>
              <a:rPr lang="en-US" altLang="ko-KR" sz="2000" dirty="0"/>
              <a:t>N</a:t>
            </a:r>
            <a:r>
              <a:rPr lang="ko-KR" altLang="en-US" sz="2000" dirty="0"/>
              <a:t>개의 정수 </a:t>
            </a:r>
            <a:r>
              <a:rPr lang="en-US" altLang="ko-KR" sz="2000" dirty="0"/>
              <a:t>1 </a:t>
            </a:r>
            <a:r>
              <a:rPr lang="ko-KR" altLang="en-US" sz="2000" dirty="0"/>
              <a:t>이상 </a:t>
            </a:r>
            <a:r>
              <a:rPr lang="en-US" altLang="ko-KR" sz="2000" dirty="0"/>
              <a:t>100,000 </a:t>
            </a:r>
            <a:r>
              <a:rPr lang="ko-KR" altLang="en-US" sz="2000" dirty="0"/>
              <a:t>이하</a:t>
            </a:r>
            <a:endParaRPr lang="en-US" altLang="ko-KR" sz="2000" dirty="0"/>
          </a:p>
          <a:p>
            <a:r>
              <a:rPr lang="ko-KR" altLang="en-US" sz="2000" dirty="0"/>
              <a:t>그 다음 줄에는 총 예산 </a:t>
            </a:r>
            <a:r>
              <a:rPr lang="en-US" altLang="ko-KR" sz="2000" dirty="0"/>
              <a:t>M. M</a:t>
            </a:r>
            <a:r>
              <a:rPr lang="ko-KR" altLang="en-US" sz="2000" dirty="0"/>
              <a:t>은 </a:t>
            </a:r>
            <a:r>
              <a:rPr lang="en-US" altLang="ko-KR" sz="2000" dirty="0"/>
              <a:t>N </a:t>
            </a:r>
            <a:r>
              <a:rPr lang="ko-KR" altLang="en-US" sz="2000" dirty="0"/>
              <a:t>이상 </a:t>
            </a:r>
            <a:r>
              <a:rPr lang="en-US" altLang="ko-KR" sz="2000" dirty="0"/>
              <a:t>1,000,000,000 </a:t>
            </a:r>
            <a:r>
              <a:rPr lang="ko-KR" altLang="en-US" sz="2000" dirty="0"/>
              <a:t>이하이다</a:t>
            </a:r>
            <a:r>
              <a:rPr lang="en-US" altLang="ko-KR" sz="2000" dirty="0"/>
              <a:t>. </a:t>
            </a:r>
          </a:p>
          <a:p>
            <a:pPr marL="0" indent="0">
              <a:buNone/>
            </a:pPr>
            <a:endParaRPr lang="ko-KR" altLang="en-US" sz="2000" dirty="0"/>
          </a:p>
          <a:p>
            <a:r>
              <a:rPr lang="ko-KR" altLang="en-US" sz="2000" dirty="0"/>
              <a:t>첫째 줄에는 </a:t>
            </a:r>
            <a:r>
              <a:rPr lang="ko-KR" altLang="en-US" sz="2000" b="1" dirty="0"/>
              <a:t>배정된 예산들 중 최댓값인 정수를 출력</a:t>
            </a:r>
            <a:r>
              <a:rPr lang="ko-KR" altLang="en-US" sz="2000" dirty="0"/>
              <a:t>한다</a:t>
            </a:r>
            <a:r>
              <a:rPr lang="en-US" altLang="ko-KR" sz="2000" dirty="0"/>
              <a:t>. 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FD788ED-87C1-E636-93CE-C6D5F6D18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/>
              <a:pPr>
                <a:defRPr/>
              </a:pPr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65172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2DD8B4-67C7-1593-9DE7-94CFBBB1E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25835E44-1D42-3D5A-A540-F292E9F83F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395536" y="239547"/>
            <a:ext cx="8229600" cy="11806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ACA9EB6-6FD4-7F23-D57C-6F52272EE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2</a:t>
            </a:r>
            <a:r>
              <a:rPr lang="ko-KR" altLang="en-US"/>
              <a:t>학기 </a:t>
            </a:r>
            <a:r>
              <a:rPr lang="en-US" altLang="ko-KR"/>
              <a:t>3D</a:t>
            </a:r>
            <a:r>
              <a:rPr lang="ko-KR" altLang="en-US"/>
              <a:t>게임프로그래밍</a:t>
            </a:r>
            <a:r>
              <a:rPr lang="en-US" altLang="ko-KR"/>
              <a:t>II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0B227E6-6568-23FB-2D54-D6C2D2E55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19</a:t>
            </a:fld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6CE65B80-5E1B-7E38-9453-1A952EAD88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52" y="1703214"/>
            <a:ext cx="3889487" cy="430436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002A3077-6B2D-735F-58B7-76D8399D65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8024" y="1494012"/>
            <a:ext cx="3278713" cy="4722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20779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풍요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4649</TotalTime>
  <Words>1041</Words>
  <Application>Microsoft Office PowerPoint</Application>
  <PresentationFormat>화면 슬라이드 쇼(4:3)</PresentationFormat>
  <Paragraphs>94</Paragraphs>
  <Slides>19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5" baseType="lpstr">
      <vt:lpstr>굴림</vt:lpstr>
      <vt:lpstr>malgun gothic</vt:lpstr>
      <vt:lpstr>malgun gothic</vt:lpstr>
      <vt:lpstr>Arial</vt:lpstr>
      <vt:lpstr>Open Sans</vt:lpstr>
      <vt:lpstr>Office 테마</vt:lpstr>
      <vt:lpstr>숙제5. 이진탐색 알고리즘</vt:lpstr>
      <vt:lpstr>백준 온라인저지  https://www.acmicpc.net/</vt:lpstr>
      <vt:lpstr>TUKorea 온라인저지  http://210.93.60.51/</vt:lpstr>
      <vt:lpstr>Programmers https://school.programmers.co.kr/</vt:lpstr>
      <vt:lpstr>1. 나무 자르기 (TUKorea0070,백준, 이분탐색) http://210.93.60.51/problem/0070 https://www.acmicpc.net/problem/2805 https://www.youtube.com/watch?v=aVBCcJ8Ypzg&amp;list=PLg0hsGjqxAUZimgPzzUdTjrV0bn5ALtAl&amp;index=18 https://www.youtube.com/watch?v=ujQ96TkAHA8&amp;list=PLg0hsGjqxAUZimgPzzUdTjrV0bn5ALtAl&amp;index=38</vt:lpstr>
      <vt:lpstr>PowerPoint 프레젠테이션</vt:lpstr>
      <vt:lpstr>2. 사칙연산 (TUKorea, 백준, 구현) http://210.93.60.51/problem/0181 https://www.acmicpc.net/problem/13420</vt:lpstr>
      <vt:lpstr>PowerPoint 프레젠테이션</vt:lpstr>
      <vt:lpstr>3. Postfix 표현식 (TUKorea, 스택)  http://210.93.60.51/problem/0059</vt:lpstr>
      <vt:lpstr>PowerPoint 프레젠테이션</vt:lpstr>
      <vt:lpstr>4. 비밀지도(Programmers, 구현)  https://school.programmers.co.kr/learn/courses/30/lessons/17681</vt:lpstr>
      <vt:lpstr>4. 비밀지도(Programmers, 구현)  https://school.programmers.co.kr/learn/courses/30/lessons/17681</vt:lpstr>
      <vt:lpstr>PowerPoint 프레젠테이션</vt:lpstr>
      <vt:lpstr>5. 어두운 굴다리(TUKorea, 백준, 이분탐색) http://210.93.60.51/problem/0180 https://www.acmicpc.net/problem/17266 </vt:lpstr>
      <vt:lpstr>PowerPoint 프레젠테이션</vt:lpstr>
      <vt:lpstr>6. 공유기 설치 (이분탐색) http://210.93.60.51/problem/0259 https://www.acmicpc.net/problem/2110</vt:lpstr>
      <vt:lpstr>PowerPoint 프레젠테이션</vt:lpstr>
      <vt:lpstr>7. 예산 (이분탐색) http://210.93.60.51/problem/0260 https://www.acmicpc.net/problem/2512</vt:lpstr>
      <vt:lpstr>PowerPoint 프레젠테이션</vt:lpstr>
    </vt:vector>
  </TitlesOfParts>
  <Company>kpu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STL</dc:title>
  <dc:creator>kys</dc:creator>
  <cp:lastModifiedBy>신우 박</cp:lastModifiedBy>
  <cp:revision>253</cp:revision>
  <cp:lastPrinted>2023-07-23T09:30:34Z</cp:lastPrinted>
  <dcterms:created xsi:type="dcterms:W3CDTF">2008-03-02T04:39:19Z</dcterms:created>
  <dcterms:modified xsi:type="dcterms:W3CDTF">2026-04-29T05:01:03Z</dcterms:modified>
</cp:coreProperties>
</file>