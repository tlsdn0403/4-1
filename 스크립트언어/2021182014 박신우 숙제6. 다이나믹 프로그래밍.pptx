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SpecialPlsOnTitleSld="0" saveSubsetFonts="1">
  <p:sldMasterIdLst>
    <p:sldMasterId id="214748418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0293" autoAdjust="0"/>
    <p:restoredTop sz="94660"/>
  </p:normalViewPr>
  <p:slideViewPr>
    <p:cSldViewPr>
      <p:cViewPr varScale="1">
        <p:scale>
          <a:sx n="100" d="100"/>
          <a:sy n="100" d="100"/>
        </p:scale>
        <p:origin x="532" y="52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presProps" Target="presProps.xml"  /><Relationship Id="rId29" Type="http://schemas.openxmlformats.org/officeDocument/2006/relationships/viewProps" Target="viewProps.xml"  /><Relationship Id="rId3" Type="http://schemas.openxmlformats.org/officeDocument/2006/relationships/slide" Target="slides/slide1.xml"  /><Relationship Id="rId30" Type="http://schemas.openxmlformats.org/officeDocument/2006/relationships/theme" Target="theme/theme1.xml"  /><Relationship Id="rId31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1">
              <a:rPr lang="ko-KR" altLang="en-US"/>
              <a:pPr>
                <a:defRPr/>
              </a:pPr>
              <a:t>2026-05-16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noFill/>
          <a:ln>
            <a:solidFill>
              <a:srgbClr val="000000"/>
            </a:solidFill>
            <a:miter/>
          </a:ln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wrap="square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>
              <a:spcBef>
                <a:spcPct val="0"/>
              </a:spcBef>
              <a:defRPr/>
            </a:pPr>
            <a:fld id="{399BD248-42D7-44D8-991C-BF0E4233C8AD}" type="slidenum">
              <a:rPr lang="en-US" altLang="en-US"/>
              <a:pPr>
                <a:spcBef>
                  <a:spcPct val="0"/>
                </a:spcBef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noFill/>
          <a:ln>
            <a:solidFill>
              <a:srgbClr val="000000"/>
            </a:solidFill>
            <a:miter/>
          </a:ln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wrap="square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>
              <a:spcBef>
                <a:spcPct val="0"/>
              </a:spcBef>
              <a:defRPr/>
            </a:pPr>
            <a:fld id="{AE97164F-AFE0-47CF-AE29-34AF6F04086E}" type="slidenum">
              <a:rPr lang="en-US" altLang="en-US"/>
              <a:pPr>
                <a:spcBef>
                  <a:spcPct val="0"/>
                </a:spcBef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noFill/>
          <a:ln>
            <a:solidFill>
              <a:srgbClr val="000000"/>
            </a:solidFill>
            <a:miter/>
          </a:ln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wrap="square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>
              <a:spcBef>
                <a:spcPct val="0"/>
              </a:spcBef>
              <a:defRPr/>
            </a:pPr>
            <a:fld id="{AE97164F-AFE0-47CF-AE29-34AF6F04086E}" type="slidenum">
              <a:rPr lang="en-US" altLang="en-US"/>
              <a:pPr>
                <a:spcBef>
                  <a:spcPct val="0"/>
                </a:spcBef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noFill/>
          <a:ln>
            <a:solidFill>
              <a:srgbClr val="000000"/>
            </a:solidFill>
            <a:miter/>
          </a:ln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wrap="square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>
              <a:spcBef>
                <a:spcPct val="0"/>
              </a:spcBef>
              <a:defRPr/>
            </a:pPr>
            <a:fld id="{AE97164F-AFE0-47CF-AE29-34AF6F04086E}" type="slidenum">
              <a:rPr lang="en-US" altLang="en-US"/>
              <a:pPr>
                <a:spcBef>
                  <a:spcPct val="0"/>
                </a:spcBef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5.xml"  /><Relationship Id="rId3" Type="http://schemas.openxmlformats.org/officeDocument/2006/relationships/hyperlink" Target="https://school.programmers.co.kr/learn/courses/30/lessons/43105" TargetMode="External" /><Relationship Id="rId4" Type="http://schemas.openxmlformats.org/officeDocument/2006/relationships/hyperlink" Target="https://www.youtube.com/watch?v=DEyTA-T1B1o&amp;list=PLg0hsGjqxAUZimgPzzUdTjrV0bn5ALtAl&amp;index=3" TargetMode="External" /><Relationship Id="rId5" Type="http://schemas.openxmlformats.org/officeDocument/2006/relationships/hyperlink" Target="https://www.youtube.com/watch?v=EO90NY1ltrg&amp;list=PLg0hsGjqxAUZimgPzzUdTjrV0bn5ALtAl&amp;index=21" TargetMode="External" /><Relationship Id="rId6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7.xml"  /><Relationship Id="rId3" Type="http://schemas.openxmlformats.org/officeDocument/2006/relationships/hyperlink" Target="https://school.programmers.co.kr/learn/courses/30/lessons/42898" TargetMode="External" /><Relationship Id="rId4" Type="http://schemas.openxmlformats.org/officeDocument/2006/relationships/hyperlink" Target="https://www.youtube.com/watch?v=UbTRCHdpflA&amp;list=PLg0hsGjqxAUZimgPzzUdTjrV0bn5ALtAl&amp;index=1" TargetMode="External" /><Relationship Id="rId5" Type="http://schemas.openxmlformats.org/officeDocument/2006/relationships/hyperlink" Target="https://www.youtube.com/watch?v=SYmza_IHs9c&amp;list=PLg0hsGjqxAUZimgPzzUdTjrV0bn5ALtAl&amp;index=22" TargetMode="External" /><Relationship Id="rId6" Type="http://schemas.openxmlformats.org/officeDocument/2006/relationships/image" Target="../media/image9.png"  /><Relationship Id="rId7" Type="http://schemas.openxmlformats.org/officeDocument/2006/relationships/image" Target="../media/image10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Relationship Id="rId5" Type="http://schemas.openxmlformats.org/officeDocument/2006/relationships/image" Target="../media/image11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14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0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png"  /><Relationship Id="rId3" Type="http://schemas.openxmlformats.org/officeDocument/2006/relationships/image" Target="../media/image21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22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3.png"  /><Relationship Id="rId3" Type="http://schemas.openxmlformats.org/officeDocument/2006/relationships/image" Target="../media/image24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25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image" Target="../media/image27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28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9.png"  /><Relationship Id="rId3" Type="http://schemas.openxmlformats.org/officeDocument/2006/relationships/image" Target="../media/image30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5.xml"  /><Relationship Id="rId3" Type="http://schemas.openxmlformats.org/officeDocument/2006/relationships/image" Target="../media/image31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2.png"  /><Relationship Id="rId3" Type="http://schemas.openxmlformats.org/officeDocument/2006/relationships/image" Target="../media/image33.png"  /><Relationship Id="rId4" Type="http://schemas.openxmlformats.org/officeDocument/2006/relationships/image" Target="../media/image34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6.xml"  /><Relationship Id="rId3" Type="http://schemas.openxmlformats.org/officeDocument/2006/relationships/image" Target="../media/image35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7.xml"  /><Relationship Id="rId3" Type="http://schemas.openxmlformats.org/officeDocument/2006/relationships/image" Target="../media/image36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6. </a:t>
            </a:r>
            <a:r>
              <a:rPr lang="ko-KR" altLang="en-US" b="1" dirty="0">
                <a:solidFill>
                  <a:srgbClr val="0000FF"/>
                </a:solidFill>
              </a:rPr>
              <a:t>다이나믹 프로그래밍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정수삼각형 </a:t>
            </a:r>
            <a:r>
              <a:rPr lang="en-US" altLang="ko-KR" dirty="0"/>
              <a:t>(Programmers, DP)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r>
              <a:rPr lang="en-US" altLang="ko-KR" sz="16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https://school.programmers.co.kr/learn/courses/30/lessons/43105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en-US" altLang="ko-KR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https://www.youtube.com/watch?v=DEyTA-T1B1o&amp;list=PLg0hsGjqxAUZimgPzzUdTjrV0bn5ALtAl&amp;index=3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en-US" altLang="ko-KR" sz="1600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https://www.youtube.com/watch?v=EO90NY1ltrg&amp;list=PLg0hsGjqxAUZimgPzzUdTjrV0bn5ALtAl&amp;index=21</a:t>
            </a:r>
            <a:endParaRPr lang="en-US" altLang="ko-KR" sz="1600" dirty="0">
              <a:solidFill>
                <a:srgbClr val="0000FF"/>
              </a:solidFill>
            </a:endParaRPr>
          </a:p>
          <a:p>
            <a:endParaRPr lang="ko-KR" altLang="en-US" sz="20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1026" name="Picture 2" descr="스크린샷 2018-09-14 오후 5.44.19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3589449"/>
            <a:ext cx="35052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971600" y="2786898"/>
            <a:ext cx="7344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495060"/>
                </a:solidFill>
                <a:latin typeface="Helvetica Neue"/>
              </a:rPr>
              <a:t>삼각형의 꼭대기에서 바닥까지 이어지는 경로 중</a:t>
            </a:r>
            <a:r>
              <a:rPr lang="en-US" altLang="ko-KR" dirty="0">
                <a:solidFill>
                  <a:srgbClr val="495060"/>
                </a:solidFill>
                <a:latin typeface="Helvetica Neue"/>
              </a:rPr>
              <a:t>, </a:t>
            </a:r>
            <a:r>
              <a:rPr lang="ko-KR" altLang="en-US" dirty="0">
                <a:solidFill>
                  <a:srgbClr val="495060"/>
                </a:solidFill>
                <a:latin typeface="Helvetica Neue"/>
              </a:rPr>
              <a:t>거쳐간 숫자의 합이 가장 큰 경우를 찾아보려고 한다</a:t>
            </a:r>
            <a:r>
              <a:rPr lang="en-US" altLang="ko-KR" dirty="0">
                <a:solidFill>
                  <a:srgbClr val="495060"/>
                </a:solidFill>
                <a:latin typeface="Helvetica Neue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6616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정수삼각형 </a:t>
            </a:r>
            <a:r>
              <a:rPr lang="en-US" altLang="ko-KR" dirty="0"/>
              <a:t>(Programmers, DP)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1026" name="Picture 2" descr="스크린샷 2018-09-14 오후 5.44.1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546695"/>
            <a:ext cx="35052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1268760"/>
            <a:ext cx="8058125" cy="9706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4977" y="281630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FFC000"/>
                </a:solidFill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4977" y="3313905"/>
            <a:ext cx="576064" cy="34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0"/>
              </a:lnSpc>
            </a:pPr>
            <a:r>
              <a:rPr lang="en-US" altLang="ko-KR" sz="2000" b="1" dirty="0">
                <a:solidFill>
                  <a:srgbClr val="FFC000"/>
                </a:solidFill>
              </a:rPr>
              <a:t>.</a:t>
            </a:r>
          </a:p>
          <a:p>
            <a:pPr algn="ctr">
              <a:lnSpc>
                <a:spcPts val="1000"/>
              </a:lnSpc>
            </a:pPr>
            <a:r>
              <a:rPr lang="en-US" altLang="ko-KR" sz="2000" b="1" dirty="0">
                <a:solidFill>
                  <a:srgbClr val="FFC000"/>
                </a:solidFill>
              </a:rPr>
              <a:t>.</a:t>
            </a:r>
          </a:p>
          <a:p>
            <a:pPr algn="ctr">
              <a:lnSpc>
                <a:spcPts val="1000"/>
              </a:lnSpc>
            </a:pPr>
            <a:r>
              <a:rPr lang="en-US" altLang="ko-KR" sz="2000" b="1" dirty="0">
                <a:solidFill>
                  <a:srgbClr val="FFC000"/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4977" y="3740315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>
                <a:solidFill>
                  <a:srgbClr val="FFC000"/>
                </a:solidFill>
              </a:rPr>
              <a:t>i</a:t>
            </a:r>
            <a:endParaRPr lang="en-US" altLang="ko-KR" sz="2000" b="1" dirty="0">
              <a:solidFill>
                <a:srgbClr val="FFC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15173" y="421171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FFC000"/>
                </a:solidFill>
              </a:rPr>
              <a:t>i+1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8104" y="4720215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FFC000"/>
                </a:solidFill>
              </a:rPr>
              <a:t>L-1</a:t>
            </a:r>
          </a:p>
        </p:txBody>
      </p:sp>
      <p:sp>
        <p:nvSpPr>
          <p:cNvPr id="9" name="자유형 8"/>
          <p:cNvSpPr/>
          <p:nvPr/>
        </p:nvSpPr>
        <p:spPr>
          <a:xfrm>
            <a:off x="3766206" y="3265090"/>
            <a:ext cx="486137" cy="1655180"/>
          </a:xfrm>
          <a:custGeom>
            <a:avLst/>
            <a:gdLst>
              <a:gd name="connsiteX0" fmla="*/ 486137 w 486137"/>
              <a:gd name="connsiteY0" fmla="*/ 0 h 1655180"/>
              <a:gd name="connsiteX1" fmla="*/ 445626 w 486137"/>
              <a:gd name="connsiteY1" fmla="*/ 52086 h 1655180"/>
              <a:gd name="connsiteX2" fmla="*/ 428264 w 486137"/>
              <a:gd name="connsiteY2" fmla="*/ 63661 h 1655180"/>
              <a:gd name="connsiteX3" fmla="*/ 399327 w 486137"/>
              <a:gd name="connsiteY3" fmla="*/ 115747 h 1655180"/>
              <a:gd name="connsiteX4" fmla="*/ 347241 w 486137"/>
              <a:gd name="connsiteY4" fmla="*/ 173621 h 1655180"/>
              <a:gd name="connsiteX5" fmla="*/ 324091 w 486137"/>
              <a:gd name="connsiteY5" fmla="*/ 214132 h 1655180"/>
              <a:gd name="connsiteX6" fmla="*/ 277793 w 486137"/>
              <a:gd name="connsiteY6" fmla="*/ 272005 h 1655180"/>
              <a:gd name="connsiteX7" fmla="*/ 254643 w 486137"/>
              <a:gd name="connsiteY7" fmla="*/ 300942 h 1655180"/>
              <a:gd name="connsiteX8" fmla="*/ 243069 w 486137"/>
              <a:gd name="connsiteY8" fmla="*/ 324091 h 1655180"/>
              <a:gd name="connsiteX9" fmla="*/ 219919 w 486137"/>
              <a:gd name="connsiteY9" fmla="*/ 341454 h 1655180"/>
              <a:gd name="connsiteX10" fmla="*/ 214132 w 486137"/>
              <a:gd name="connsiteY10" fmla="*/ 364603 h 1655180"/>
              <a:gd name="connsiteX11" fmla="*/ 196770 w 486137"/>
              <a:gd name="connsiteY11" fmla="*/ 381965 h 1655180"/>
              <a:gd name="connsiteX12" fmla="*/ 185195 w 486137"/>
              <a:gd name="connsiteY12" fmla="*/ 399327 h 1655180"/>
              <a:gd name="connsiteX13" fmla="*/ 179408 w 486137"/>
              <a:gd name="connsiteY13" fmla="*/ 416689 h 1655180"/>
              <a:gd name="connsiteX14" fmla="*/ 150471 w 486137"/>
              <a:gd name="connsiteY14" fmla="*/ 462988 h 1655180"/>
              <a:gd name="connsiteX15" fmla="*/ 138897 w 486137"/>
              <a:gd name="connsiteY15" fmla="*/ 486137 h 1655180"/>
              <a:gd name="connsiteX16" fmla="*/ 115747 w 486137"/>
              <a:gd name="connsiteY16" fmla="*/ 503499 h 1655180"/>
              <a:gd name="connsiteX17" fmla="*/ 92598 w 486137"/>
              <a:gd name="connsiteY17" fmla="*/ 538223 h 1655180"/>
              <a:gd name="connsiteX18" fmla="*/ 75236 w 486137"/>
              <a:gd name="connsiteY18" fmla="*/ 561372 h 1655180"/>
              <a:gd name="connsiteX19" fmla="*/ 63661 w 486137"/>
              <a:gd name="connsiteY19" fmla="*/ 584522 h 1655180"/>
              <a:gd name="connsiteX20" fmla="*/ 46299 w 486137"/>
              <a:gd name="connsiteY20" fmla="*/ 601884 h 1655180"/>
              <a:gd name="connsiteX21" fmla="*/ 40512 w 486137"/>
              <a:gd name="connsiteY21" fmla="*/ 619246 h 1655180"/>
              <a:gd name="connsiteX22" fmla="*/ 28937 w 486137"/>
              <a:gd name="connsiteY22" fmla="*/ 636608 h 1655180"/>
              <a:gd name="connsiteX23" fmla="*/ 5788 w 486137"/>
              <a:gd name="connsiteY23" fmla="*/ 688694 h 1655180"/>
              <a:gd name="connsiteX24" fmla="*/ 0 w 486137"/>
              <a:gd name="connsiteY24" fmla="*/ 740780 h 1655180"/>
              <a:gd name="connsiteX25" fmla="*/ 5788 w 486137"/>
              <a:gd name="connsiteY25" fmla="*/ 868102 h 1655180"/>
              <a:gd name="connsiteX26" fmla="*/ 28937 w 486137"/>
              <a:gd name="connsiteY26" fmla="*/ 949124 h 1655180"/>
              <a:gd name="connsiteX27" fmla="*/ 57874 w 486137"/>
              <a:gd name="connsiteY27" fmla="*/ 983848 h 1655180"/>
              <a:gd name="connsiteX28" fmla="*/ 92598 w 486137"/>
              <a:gd name="connsiteY28" fmla="*/ 1024360 h 1655180"/>
              <a:gd name="connsiteX29" fmla="*/ 109960 w 486137"/>
              <a:gd name="connsiteY29" fmla="*/ 1035935 h 1655180"/>
              <a:gd name="connsiteX30" fmla="*/ 127322 w 486137"/>
              <a:gd name="connsiteY30" fmla="*/ 1053297 h 1655180"/>
              <a:gd name="connsiteX31" fmla="*/ 150471 w 486137"/>
              <a:gd name="connsiteY31" fmla="*/ 1070659 h 1655180"/>
              <a:gd name="connsiteX32" fmla="*/ 167833 w 486137"/>
              <a:gd name="connsiteY32" fmla="*/ 1082233 h 1655180"/>
              <a:gd name="connsiteX33" fmla="*/ 202557 w 486137"/>
              <a:gd name="connsiteY33" fmla="*/ 1105383 h 1655180"/>
              <a:gd name="connsiteX34" fmla="*/ 214132 w 486137"/>
              <a:gd name="connsiteY34" fmla="*/ 1128532 h 1655180"/>
              <a:gd name="connsiteX35" fmla="*/ 219919 w 486137"/>
              <a:gd name="connsiteY35" fmla="*/ 1151681 h 1655180"/>
              <a:gd name="connsiteX36" fmla="*/ 225707 w 486137"/>
              <a:gd name="connsiteY36" fmla="*/ 1169043 h 1655180"/>
              <a:gd name="connsiteX37" fmla="*/ 231494 w 486137"/>
              <a:gd name="connsiteY37" fmla="*/ 1197980 h 1655180"/>
              <a:gd name="connsiteX38" fmla="*/ 243069 w 486137"/>
              <a:gd name="connsiteY38" fmla="*/ 1273216 h 1655180"/>
              <a:gd name="connsiteX39" fmla="*/ 231494 w 486137"/>
              <a:gd name="connsiteY39" fmla="*/ 1354238 h 1655180"/>
              <a:gd name="connsiteX40" fmla="*/ 219919 w 486137"/>
              <a:gd name="connsiteY40" fmla="*/ 1371600 h 1655180"/>
              <a:gd name="connsiteX41" fmla="*/ 190983 w 486137"/>
              <a:gd name="connsiteY41" fmla="*/ 1423686 h 1655180"/>
              <a:gd name="connsiteX42" fmla="*/ 167833 w 486137"/>
              <a:gd name="connsiteY42" fmla="*/ 1464198 h 1655180"/>
              <a:gd name="connsiteX43" fmla="*/ 150471 w 486137"/>
              <a:gd name="connsiteY43" fmla="*/ 1475772 h 1655180"/>
              <a:gd name="connsiteX44" fmla="*/ 138897 w 486137"/>
              <a:gd name="connsiteY44" fmla="*/ 1498922 h 1655180"/>
              <a:gd name="connsiteX45" fmla="*/ 98385 w 486137"/>
              <a:gd name="connsiteY45" fmla="*/ 1539433 h 1655180"/>
              <a:gd name="connsiteX46" fmla="*/ 75236 w 486137"/>
              <a:gd name="connsiteY46" fmla="*/ 1574157 h 1655180"/>
              <a:gd name="connsiteX47" fmla="*/ 63661 w 486137"/>
              <a:gd name="connsiteY47" fmla="*/ 1591519 h 1655180"/>
              <a:gd name="connsiteX48" fmla="*/ 46299 w 486137"/>
              <a:gd name="connsiteY48" fmla="*/ 1608881 h 1655180"/>
              <a:gd name="connsiteX49" fmla="*/ 23150 w 486137"/>
              <a:gd name="connsiteY49" fmla="*/ 1649393 h 1655180"/>
              <a:gd name="connsiteX50" fmla="*/ 11575 w 486137"/>
              <a:gd name="connsiteY50" fmla="*/ 1655180 h 165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486137" h="1655180">
                <a:moveTo>
                  <a:pt x="486137" y="0"/>
                </a:moveTo>
                <a:cubicBezTo>
                  <a:pt x="472633" y="17362"/>
                  <a:pt x="460421" y="35811"/>
                  <a:pt x="445626" y="52086"/>
                </a:cubicBezTo>
                <a:cubicBezTo>
                  <a:pt x="440947" y="57233"/>
                  <a:pt x="432791" y="58380"/>
                  <a:pt x="428264" y="63661"/>
                </a:cubicBezTo>
                <a:cubicBezTo>
                  <a:pt x="406693" y="88828"/>
                  <a:pt x="415757" y="91102"/>
                  <a:pt x="399327" y="115747"/>
                </a:cubicBezTo>
                <a:cubicBezTo>
                  <a:pt x="376179" y="150469"/>
                  <a:pt x="375501" y="141324"/>
                  <a:pt x="347241" y="173621"/>
                </a:cubicBezTo>
                <a:cubicBezTo>
                  <a:pt x="325978" y="197921"/>
                  <a:pt x="344857" y="185060"/>
                  <a:pt x="324091" y="214132"/>
                </a:cubicBezTo>
                <a:cubicBezTo>
                  <a:pt x="309732" y="234235"/>
                  <a:pt x="293226" y="252714"/>
                  <a:pt x="277793" y="272005"/>
                </a:cubicBezTo>
                <a:cubicBezTo>
                  <a:pt x="270076" y="281651"/>
                  <a:pt x="260167" y="289893"/>
                  <a:pt x="254643" y="300942"/>
                </a:cubicBezTo>
                <a:cubicBezTo>
                  <a:pt x="250785" y="308658"/>
                  <a:pt x="248683" y="317541"/>
                  <a:pt x="243069" y="324091"/>
                </a:cubicBezTo>
                <a:cubicBezTo>
                  <a:pt x="236792" y="331415"/>
                  <a:pt x="227636" y="335666"/>
                  <a:pt x="219919" y="341454"/>
                </a:cubicBezTo>
                <a:cubicBezTo>
                  <a:pt x="217990" y="349170"/>
                  <a:pt x="218078" y="357697"/>
                  <a:pt x="214132" y="364603"/>
                </a:cubicBezTo>
                <a:cubicBezTo>
                  <a:pt x="210071" y="371709"/>
                  <a:pt x="202010" y="375678"/>
                  <a:pt x="196770" y="381965"/>
                </a:cubicBezTo>
                <a:cubicBezTo>
                  <a:pt x="192317" y="387308"/>
                  <a:pt x="189053" y="393540"/>
                  <a:pt x="185195" y="399327"/>
                </a:cubicBezTo>
                <a:cubicBezTo>
                  <a:pt x="183266" y="405114"/>
                  <a:pt x="182136" y="411233"/>
                  <a:pt x="179408" y="416689"/>
                </a:cubicBezTo>
                <a:cubicBezTo>
                  <a:pt x="157574" y="460358"/>
                  <a:pt x="168838" y="430845"/>
                  <a:pt x="150471" y="462988"/>
                </a:cubicBezTo>
                <a:cubicBezTo>
                  <a:pt x="146191" y="470478"/>
                  <a:pt x="144511" y="479587"/>
                  <a:pt x="138897" y="486137"/>
                </a:cubicBezTo>
                <a:cubicBezTo>
                  <a:pt x="132620" y="493461"/>
                  <a:pt x="122155" y="496290"/>
                  <a:pt x="115747" y="503499"/>
                </a:cubicBezTo>
                <a:cubicBezTo>
                  <a:pt x="106505" y="513896"/>
                  <a:pt x="100945" y="527094"/>
                  <a:pt x="92598" y="538223"/>
                </a:cubicBezTo>
                <a:cubicBezTo>
                  <a:pt x="86811" y="545939"/>
                  <a:pt x="80348" y="553193"/>
                  <a:pt x="75236" y="561372"/>
                </a:cubicBezTo>
                <a:cubicBezTo>
                  <a:pt x="70663" y="568688"/>
                  <a:pt x="68676" y="577502"/>
                  <a:pt x="63661" y="584522"/>
                </a:cubicBezTo>
                <a:cubicBezTo>
                  <a:pt x="58904" y="591182"/>
                  <a:pt x="52086" y="596097"/>
                  <a:pt x="46299" y="601884"/>
                </a:cubicBezTo>
                <a:cubicBezTo>
                  <a:pt x="44370" y="607671"/>
                  <a:pt x="43240" y="613790"/>
                  <a:pt x="40512" y="619246"/>
                </a:cubicBezTo>
                <a:cubicBezTo>
                  <a:pt x="37401" y="625467"/>
                  <a:pt x="31762" y="630252"/>
                  <a:pt x="28937" y="636608"/>
                </a:cubicBezTo>
                <a:cubicBezTo>
                  <a:pt x="1386" y="698597"/>
                  <a:pt x="31983" y="649399"/>
                  <a:pt x="5788" y="688694"/>
                </a:cubicBezTo>
                <a:cubicBezTo>
                  <a:pt x="3859" y="706056"/>
                  <a:pt x="0" y="723311"/>
                  <a:pt x="0" y="740780"/>
                </a:cubicBezTo>
                <a:cubicBezTo>
                  <a:pt x="0" y="783264"/>
                  <a:pt x="1561" y="825828"/>
                  <a:pt x="5788" y="868102"/>
                </a:cubicBezTo>
                <a:cubicBezTo>
                  <a:pt x="6242" y="872644"/>
                  <a:pt x="23130" y="940413"/>
                  <a:pt x="28937" y="949124"/>
                </a:cubicBezTo>
                <a:cubicBezTo>
                  <a:pt x="54522" y="987501"/>
                  <a:pt x="24450" y="944853"/>
                  <a:pt x="57874" y="983848"/>
                </a:cubicBezTo>
                <a:cubicBezTo>
                  <a:pt x="77035" y="1006203"/>
                  <a:pt x="71056" y="1006408"/>
                  <a:pt x="92598" y="1024360"/>
                </a:cubicBezTo>
                <a:cubicBezTo>
                  <a:pt x="97941" y="1028813"/>
                  <a:pt x="104617" y="1031482"/>
                  <a:pt x="109960" y="1035935"/>
                </a:cubicBezTo>
                <a:cubicBezTo>
                  <a:pt x="116247" y="1041175"/>
                  <a:pt x="121108" y="1047971"/>
                  <a:pt x="127322" y="1053297"/>
                </a:cubicBezTo>
                <a:cubicBezTo>
                  <a:pt x="134645" y="1059574"/>
                  <a:pt x="142622" y="1065053"/>
                  <a:pt x="150471" y="1070659"/>
                </a:cubicBezTo>
                <a:cubicBezTo>
                  <a:pt x="156131" y="1074702"/>
                  <a:pt x="162490" y="1077780"/>
                  <a:pt x="167833" y="1082233"/>
                </a:cubicBezTo>
                <a:cubicBezTo>
                  <a:pt x="196736" y="1106318"/>
                  <a:pt x="172044" y="1095211"/>
                  <a:pt x="202557" y="1105383"/>
                </a:cubicBezTo>
                <a:cubicBezTo>
                  <a:pt x="206415" y="1113099"/>
                  <a:pt x="211103" y="1120454"/>
                  <a:pt x="214132" y="1128532"/>
                </a:cubicBezTo>
                <a:cubicBezTo>
                  <a:pt x="216925" y="1135979"/>
                  <a:pt x="217734" y="1144033"/>
                  <a:pt x="219919" y="1151681"/>
                </a:cubicBezTo>
                <a:cubicBezTo>
                  <a:pt x="221595" y="1157547"/>
                  <a:pt x="224227" y="1163125"/>
                  <a:pt x="225707" y="1169043"/>
                </a:cubicBezTo>
                <a:cubicBezTo>
                  <a:pt x="228093" y="1178586"/>
                  <a:pt x="229734" y="1188302"/>
                  <a:pt x="231494" y="1197980"/>
                </a:cubicBezTo>
                <a:cubicBezTo>
                  <a:pt x="236845" y="1227413"/>
                  <a:pt x="238735" y="1242880"/>
                  <a:pt x="243069" y="1273216"/>
                </a:cubicBezTo>
                <a:cubicBezTo>
                  <a:pt x="242224" y="1280820"/>
                  <a:pt x="237312" y="1338724"/>
                  <a:pt x="231494" y="1354238"/>
                </a:cubicBezTo>
                <a:cubicBezTo>
                  <a:pt x="229052" y="1360751"/>
                  <a:pt x="223777" y="1365813"/>
                  <a:pt x="219919" y="1371600"/>
                </a:cubicBezTo>
                <a:cubicBezTo>
                  <a:pt x="209525" y="1423573"/>
                  <a:pt x="223824" y="1379897"/>
                  <a:pt x="190983" y="1423686"/>
                </a:cubicBezTo>
                <a:cubicBezTo>
                  <a:pt x="177366" y="1441842"/>
                  <a:pt x="183332" y="1448699"/>
                  <a:pt x="167833" y="1464198"/>
                </a:cubicBezTo>
                <a:cubicBezTo>
                  <a:pt x="162915" y="1469116"/>
                  <a:pt x="156258" y="1471914"/>
                  <a:pt x="150471" y="1475772"/>
                </a:cubicBezTo>
                <a:cubicBezTo>
                  <a:pt x="146613" y="1483489"/>
                  <a:pt x="144360" y="1492245"/>
                  <a:pt x="138897" y="1498922"/>
                </a:cubicBezTo>
                <a:cubicBezTo>
                  <a:pt x="126804" y="1513703"/>
                  <a:pt x="108978" y="1523543"/>
                  <a:pt x="98385" y="1539433"/>
                </a:cubicBezTo>
                <a:lnTo>
                  <a:pt x="75236" y="1574157"/>
                </a:lnTo>
                <a:cubicBezTo>
                  <a:pt x="71378" y="1579944"/>
                  <a:pt x="68579" y="1586601"/>
                  <a:pt x="63661" y="1591519"/>
                </a:cubicBezTo>
                <a:cubicBezTo>
                  <a:pt x="57874" y="1597306"/>
                  <a:pt x="51056" y="1602221"/>
                  <a:pt x="46299" y="1608881"/>
                </a:cubicBezTo>
                <a:cubicBezTo>
                  <a:pt x="34955" y="1624762"/>
                  <a:pt x="36815" y="1635728"/>
                  <a:pt x="23150" y="1649393"/>
                </a:cubicBezTo>
                <a:cubicBezTo>
                  <a:pt x="20100" y="1652443"/>
                  <a:pt x="15433" y="1653251"/>
                  <a:pt x="11575" y="1655180"/>
                </a:cubicBezTo>
              </a:path>
            </a:pathLst>
          </a:custGeom>
          <a:noFill/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C000"/>
              </a:solidFill>
            </a:endParaRPr>
          </a:p>
        </p:txBody>
      </p:sp>
      <p:sp>
        <p:nvSpPr>
          <p:cNvPr id="3" name="이등변 삼각형 2"/>
          <p:cNvSpPr/>
          <p:nvPr/>
        </p:nvSpPr>
        <p:spPr>
          <a:xfrm>
            <a:off x="2555776" y="2636912"/>
            <a:ext cx="3312368" cy="2520280"/>
          </a:xfrm>
          <a:prstGeom prst="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이등변 삼각형 13"/>
          <p:cNvSpPr/>
          <p:nvPr/>
        </p:nvSpPr>
        <p:spPr>
          <a:xfrm>
            <a:off x="2699792" y="3265090"/>
            <a:ext cx="2376264" cy="1818132"/>
          </a:xfrm>
          <a:prstGeom prst="triangl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이등변 삼각형 14"/>
          <p:cNvSpPr/>
          <p:nvPr/>
        </p:nvSpPr>
        <p:spPr>
          <a:xfrm>
            <a:off x="3347864" y="3297596"/>
            <a:ext cx="2376264" cy="1818132"/>
          </a:xfrm>
          <a:prstGeom prst="triangl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933465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en-US" altLang="en-US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15651" y="1249966"/>
            <a:ext cx="4904420" cy="3187145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932040" y="346348"/>
            <a:ext cx="3743220" cy="61653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등굣길</a:t>
            </a:r>
            <a:r>
              <a:rPr lang="en-US" altLang="ko-KR" dirty="0"/>
              <a:t>(Programmers, DP)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r>
              <a:rPr lang="en-US" altLang="ko-KR" sz="16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https://school.programmers.co.kr/learn/courses/30/lessons/42898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en-US" altLang="ko-KR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https://www.youtube.com/watch?v=UbTRCHdpflA&amp;list=PLg0hsGjqxAUZimgPzzUdTjrV0bn5ALtAl&amp;index=1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en-US" altLang="ko-KR" sz="1600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https://www.youtube.com/watch?v=SYmza_IHs9c&amp;list=PLg0hsGjqxAUZimgPzzUdTjrV0bn5ALtAl&amp;index=22</a:t>
            </a:r>
            <a:endParaRPr lang="en-US" altLang="ko-KR" sz="1600" dirty="0">
              <a:solidFill>
                <a:srgbClr val="0000FF"/>
              </a:solidFill>
            </a:endParaRPr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755576" y="5590981"/>
            <a:ext cx="7344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계속되는 폭우로 일부 지역이 물에 잠겼습니다</a:t>
            </a:r>
            <a:r>
              <a:rPr lang="en-US" altLang="ko-KR" dirty="0"/>
              <a:t>. </a:t>
            </a:r>
            <a:r>
              <a:rPr lang="ko-KR" altLang="en-US" dirty="0"/>
              <a:t>물에 잠기지 않은 지역을 통해 학교를 가려고 합니다</a:t>
            </a:r>
            <a:r>
              <a:rPr lang="en-US" altLang="ko-KR" dirty="0"/>
              <a:t>. 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380" y="2913524"/>
            <a:ext cx="3002221" cy="2314295"/>
          </a:xfrm>
          <a:prstGeom prst="rect">
            <a:avLst/>
          </a:prstGeom>
        </p:spPr>
      </p:pic>
      <p:pic>
        <p:nvPicPr>
          <p:cNvPr id="1026" name="Picture 2" descr="image1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913524"/>
            <a:ext cx="3052458" cy="2306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0092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등굣길</a:t>
            </a:r>
            <a:r>
              <a:rPr lang="en-US" altLang="ko-KR" dirty="0"/>
              <a:t>(Programmers, DP)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065804" y="5206124"/>
            <a:ext cx="7344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계속되는 폭우로 일부 지역이 물에 잠겼습니다</a:t>
            </a:r>
            <a:r>
              <a:rPr lang="en-US" altLang="ko-KR" dirty="0"/>
              <a:t>. </a:t>
            </a:r>
            <a:r>
              <a:rPr lang="ko-KR" altLang="en-US" dirty="0"/>
              <a:t>물에 잠기지 않은 지역을 통해 학교를 가려고 합니다</a:t>
            </a:r>
            <a:r>
              <a:rPr lang="en-US" altLang="ko-KR" dirty="0"/>
              <a:t>. 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80" y="2420888"/>
            <a:ext cx="3002221" cy="2314295"/>
          </a:xfrm>
          <a:prstGeom prst="rect">
            <a:avLst/>
          </a:prstGeom>
        </p:spPr>
      </p:pic>
      <p:pic>
        <p:nvPicPr>
          <p:cNvPr id="1026" name="Picture 2" descr="image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420888"/>
            <a:ext cx="3052458" cy="2306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76" y="1178827"/>
            <a:ext cx="7279016" cy="9361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1520" y="2507893"/>
            <a:ext cx="941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00FF"/>
                </a:solidFill>
              </a:rPr>
              <a:t>(0,0)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1061" y="4702229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00FF"/>
                </a:solidFill>
              </a:rPr>
              <a:t>(m-1,n-1)</a:t>
            </a:r>
          </a:p>
        </p:txBody>
      </p:sp>
    </p:spTree>
    <p:extLst>
      <p:ext uri="{BB962C8B-B14F-4D97-AF65-F5344CB8AC3E}">
        <p14:creationId xmlns:p14="http://schemas.microsoft.com/office/powerpoint/2010/main" val="1106719515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en-US" altLang="en-US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3528" y="1413062"/>
            <a:ext cx="4738517" cy="3528105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364088" y="178566"/>
            <a:ext cx="3067478" cy="6058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3. </a:t>
            </a:r>
            <a:r>
              <a:rPr lang="ko-KR" altLang="en-US" sz="2800" dirty="0"/>
              <a:t>베스트 앨범 </a:t>
            </a:r>
            <a:r>
              <a:rPr lang="fr-FR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fr-FR" altLang="ko-KR" sz="2800" dirty="0"/>
              <a:t>) </a:t>
            </a:r>
            <a:br>
              <a:rPr lang="fr-FR" altLang="ko-KR" sz="2800" dirty="0"/>
            </a:br>
            <a:r>
              <a:rPr lang="fr-FR" altLang="ko-KR" sz="2000" dirty="0"/>
              <a:t>https://school.programmers.co.kr/learn/courses/30/lessons/42579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장르 별로 가장 많이 재생된 노래를 두 개씩 모아 베스트 앨범을 출시하려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노래는 고유 번호로 구분하며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노래를 수록하는 기준은 다음과 같습니다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속한 노래가 많이 재생된 장르를 먼저 수록합니다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장르 내에서 많이 재생된 노래를 먼저 수록합니다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장르 내에서 재생 횟수가 같은 노래 중에서는 고유 번호가 낮은 노래를 먼저 수록합니다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dirty="0"/>
              <a:t>장르에 속한 곡이 하나라면</a:t>
            </a:r>
            <a:r>
              <a:rPr lang="en-US" altLang="ko-KR" sz="2000" dirty="0"/>
              <a:t>, </a:t>
            </a:r>
            <a:r>
              <a:rPr lang="ko-KR" altLang="en-US" sz="2000" dirty="0"/>
              <a:t>하나의 곡만 선택합니다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4F4C0D-968A-79CF-8CAD-DC1110870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59" y="4365104"/>
            <a:ext cx="7884368" cy="137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2957480" y="1213851"/>
            <a:ext cx="3229040" cy="5095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2339752" y="4648051"/>
            <a:ext cx="2133600" cy="365125"/>
          </a:xfrm>
        </p:spPr>
        <p:txBody>
          <a:bodyPr/>
          <a:lstStyle/>
          <a:p>
            <a:pPr>
              <a:defRPr/>
            </a:pPr>
            <a:fld id="{A268DA64-E15D-4814-A1DA-86D92D550423}" type="slidenum">
              <a:rPr lang="en-US" altLang="en-US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9512" y="1022762"/>
            <a:ext cx="2736304" cy="5070534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244219" y="1268760"/>
            <a:ext cx="2736606" cy="38884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 err="1"/>
              <a:t>신고결과받기</a:t>
            </a:r>
            <a:r>
              <a:rPr lang="ko-KR" altLang="en-US" sz="2800" dirty="0"/>
              <a:t> 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https://school.programmers.co.kr/learn/courses/30/lessons/92334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각 유저는 한 번에 한 명의 유저를 신고할 수 있습니다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신고 횟수에 제한은 없다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서로 다른 유저를 계속해서 신고할 수 있습니다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한 유저를 여러 번 신고할 수도 있지만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동일한 유저에 대한 신고 횟수는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회로 처리됩니다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k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이상 신고된 유저는 게시판 이용이 정지되며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해당 유저를 신고한 모든 유저에게 정지 사실을 메일로 발송합니다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유저가 신고한 모든 내용을 취합하여 마지막에 한꺼번에 게시판 이용 정지를 시키면서 정지 메일을 발송합니다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B2B20-4B16-B621-1878-D805E707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A739D-B2C9-7045-1763-959F8AD6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 err="1"/>
              <a:t>신고결과받기</a:t>
            </a:r>
            <a:r>
              <a:rPr lang="ko-KR" altLang="en-US" sz="2800" dirty="0"/>
              <a:t> 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https://school.programmers.co.kr/learn/courses/30/lessons/92334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72360B-F912-2D91-961D-82AA60C5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7422AF-D135-5DEC-B715-D2D68C5B44DF}"/>
              </a:ext>
            </a:extLst>
          </p:cNvPr>
          <p:cNvSpPr txBox="1"/>
          <p:nvPr/>
        </p:nvSpPr>
        <p:spPr>
          <a:xfrm>
            <a:off x="539552" y="1172404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다음은 전체 유저 목록이 </a:t>
            </a:r>
            <a:r>
              <a:rPr lang="en-US" altLang="ko-KR" dirty="0"/>
              <a:t>["</a:t>
            </a:r>
            <a:r>
              <a:rPr lang="en-US" altLang="ko-KR" dirty="0" err="1"/>
              <a:t>muzi</a:t>
            </a:r>
            <a:r>
              <a:rPr lang="en-US" altLang="ko-KR" dirty="0"/>
              <a:t>", "</a:t>
            </a:r>
            <a:r>
              <a:rPr lang="en-US" altLang="ko-KR" dirty="0" err="1"/>
              <a:t>frodo</a:t>
            </a:r>
            <a:r>
              <a:rPr lang="en-US" altLang="ko-KR" dirty="0"/>
              <a:t>", "</a:t>
            </a:r>
            <a:r>
              <a:rPr lang="en-US" altLang="ko-KR" dirty="0" err="1"/>
              <a:t>apeach</a:t>
            </a:r>
            <a:r>
              <a:rPr lang="en-US" altLang="ko-KR" dirty="0"/>
              <a:t>", "neo"]</a:t>
            </a:r>
            <a:r>
              <a:rPr lang="ko-KR" altLang="en-US" dirty="0"/>
              <a:t>이고</a:t>
            </a:r>
            <a:r>
              <a:rPr lang="en-US" altLang="ko-KR" dirty="0"/>
              <a:t>, k = 2 (</a:t>
            </a:r>
            <a:r>
              <a:rPr lang="ko-KR" altLang="en-US" dirty="0"/>
              <a:t>즉</a:t>
            </a:r>
            <a:r>
              <a:rPr lang="en-US" altLang="ko-KR" dirty="0"/>
              <a:t>, 2</a:t>
            </a:r>
            <a:r>
              <a:rPr lang="ko-KR" altLang="en-US" dirty="0"/>
              <a:t>번 이상 신고 당하면 이용 정지</a:t>
            </a:r>
            <a:r>
              <a:rPr lang="en-US" altLang="ko-KR" dirty="0"/>
              <a:t>)</a:t>
            </a:r>
            <a:r>
              <a:rPr lang="ko-KR" altLang="en-US" dirty="0"/>
              <a:t>인 경우의 예시입니다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6C0E967-254F-2353-E033-7331025E8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848155"/>
            <a:ext cx="4708574" cy="40783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AD9180E-4305-4D57-1938-1188050C7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4473614"/>
            <a:ext cx="6238490" cy="203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92357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6156176" y="1196752"/>
            <a:ext cx="2456758" cy="484030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en-US" altLang="en-US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1520" y="265780"/>
            <a:ext cx="5896798" cy="659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AA785-4BEF-D354-B21E-97C9FD59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351175-74DB-2FD0-F7D9-3E025897F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5. </a:t>
            </a:r>
            <a:r>
              <a:rPr lang="ko-KR" altLang="en-US" sz="2800" dirty="0"/>
              <a:t>도둑질 </a:t>
            </a:r>
            <a:r>
              <a:rPr lang="en-US" altLang="ko-KR" sz="2800" dirty="0"/>
              <a:t>(Programmers, DP)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https://school.programmers.co.kr/learn/courses/30/lessons/42897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5F90F1-B0CB-34F0-6142-72BE31FE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80585A-805F-CA58-170C-D3B6E5DA5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도둑이 어느 마을을 털 계획을 하고 있습니다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이 마을의 모든 집들은 아래 그림과 같이 </a:t>
            </a:r>
            <a:r>
              <a:rPr lang="ko-KR" altLang="en-US" sz="1800" b="1" dirty="0">
                <a:latin typeface="Open Sans" panose="020F0502020204030204" pitchFamily="34" charset="0"/>
              </a:rPr>
              <a:t>동그랗게 배치</a:t>
            </a:r>
            <a:r>
              <a:rPr lang="ko-KR" altLang="en-US" sz="1800" dirty="0">
                <a:latin typeface="Open Sans" panose="020F0502020204030204" pitchFamily="34" charset="0"/>
              </a:rPr>
              <a:t>되어 있습니다</a:t>
            </a:r>
            <a:r>
              <a:rPr lang="en-US" altLang="ko-KR" sz="1800" dirty="0">
                <a:latin typeface="Open Sans" panose="020F0502020204030204" pitchFamily="34" charset="0"/>
              </a:rPr>
              <a:t>. </a:t>
            </a: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각 집들은 서로 인접한 집들과 방범장치가 연결되어 있기 때문에 </a:t>
            </a:r>
            <a:r>
              <a:rPr lang="ko-KR" altLang="en-US" sz="1800" b="1" dirty="0">
                <a:latin typeface="Open Sans" panose="020F0502020204030204" pitchFamily="34" charset="0"/>
              </a:rPr>
              <a:t>인접한 두 집을 털면 경보</a:t>
            </a:r>
            <a:r>
              <a:rPr lang="ko-KR" altLang="en-US" sz="1800" dirty="0">
                <a:latin typeface="Open Sans" panose="020F0502020204030204" pitchFamily="34" charset="0"/>
              </a:rPr>
              <a:t>가 울립니다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각 집에 있는 돈이 담긴 배열 </a:t>
            </a:r>
            <a:r>
              <a:rPr lang="en-US" altLang="ko-KR" sz="1800" dirty="0">
                <a:latin typeface="Open Sans" panose="020F0502020204030204" pitchFamily="34" charset="0"/>
              </a:rPr>
              <a:t>money</a:t>
            </a:r>
            <a:r>
              <a:rPr lang="ko-KR" altLang="en-US" sz="1800" dirty="0">
                <a:latin typeface="Open Sans" panose="020F0502020204030204" pitchFamily="34" charset="0"/>
              </a:rPr>
              <a:t>가 주어질 때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도둑이 훔칠 수 있는 돈의 최댓값을 </a:t>
            </a:r>
            <a:r>
              <a:rPr lang="en-US" altLang="ko-KR" sz="1800" dirty="0">
                <a:latin typeface="Open Sans" panose="020F0502020204030204" pitchFamily="34" charset="0"/>
              </a:rPr>
              <a:t>return </a:t>
            </a:r>
            <a:r>
              <a:rPr lang="ko-KR" altLang="en-US" sz="1800" dirty="0">
                <a:latin typeface="Open Sans" panose="020F0502020204030204" pitchFamily="34" charset="0"/>
              </a:rPr>
              <a:t>하도록 </a:t>
            </a:r>
            <a:r>
              <a:rPr lang="en-US" altLang="ko-KR" sz="1800" dirty="0">
                <a:latin typeface="Open Sans" panose="020F0502020204030204" pitchFamily="34" charset="0"/>
              </a:rPr>
              <a:t>solution </a:t>
            </a:r>
            <a:r>
              <a:rPr lang="ko-KR" altLang="en-US" sz="1800" dirty="0">
                <a:latin typeface="Open Sans" panose="020F0502020204030204" pitchFamily="34" charset="0"/>
              </a:rPr>
              <a:t>함수를 작성하세요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1A6CA3-633F-B289-C6C7-BA46FCF43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99" y="3284984"/>
            <a:ext cx="3285925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128870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5076056" y="404664"/>
            <a:ext cx="3356435" cy="6335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en-US" altLang="en-US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40733" y="764703"/>
            <a:ext cx="4347290" cy="53285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6. </a:t>
            </a:r>
            <a:r>
              <a:rPr lang="ko-KR" altLang="en-US" sz="2800" dirty="0"/>
              <a:t>설탕배달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2839, DP) </a:t>
            </a:r>
            <a:br>
              <a:rPr lang="en-US" altLang="ko-KR" sz="2800" dirty="0"/>
            </a:br>
            <a:r>
              <a:rPr lang="en-US" altLang="ko-KR" sz="2000" dirty="0"/>
              <a:t>http://210.93.60.51/problem/0182</a:t>
            </a:r>
            <a:br>
              <a:rPr lang="en-US" altLang="ko-KR" sz="2000" dirty="0"/>
            </a:br>
            <a:r>
              <a:rPr lang="en-US" altLang="ko-KR" sz="2000" dirty="0"/>
              <a:t>https://www.acmicpc.net/problem/2839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설탕을 정확하게 </a:t>
            </a:r>
            <a:r>
              <a:rPr lang="en-US" altLang="ko-KR" sz="1800" b="1" dirty="0">
                <a:latin typeface="Open Sans" panose="020F0502020204030204" pitchFamily="34" charset="0"/>
              </a:rPr>
              <a:t>N</a:t>
            </a:r>
            <a:r>
              <a:rPr lang="ko-KR" altLang="en-US" sz="1800" b="1" dirty="0">
                <a:latin typeface="Open Sans" panose="020F0502020204030204" pitchFamily="34" charset="0"/>
              </a:rPr>
              <a:t>킬로그램을 배달해야 한다</a:t>
            </a:r>
            <a:r>
              <a:rPr lang="en-US" altLang="ko-KR" sz="1800" b="1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설탕공장에서 만드는 설탕은 봉지에 담겨져 있다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봉지는 </a:t>
            </a:r>
            <a:r>
              <a:rPr lang="en-US" altLang="ko-KR" sz="1800" b="1" dirty="0">
                <a:latin typeface="Open Sans" panose="020F0502020204030204" pitchFamily="34" charset="0"/>
              </a:rPr>
              <a:t>3</a:t>
            </a:r>
            <a:r>
              <a:rPr lang="ko-KR" altLang="en-US" sz="1800" b="1" dirty="0">
                <a:latin typeface="Open Sans" panose="020F0502020204030204" pitchFamily="34" charset="0"/>
              </a:rPr>
              <a:t>킬로그램 봉지와 </a:t>
            </a:r>
            <a:r>
              <a:rPr lang="en-US" altLang="ko-KR" sz="1800" b="1" dirty="0">
                <a:latin typeface="Open Sans" panose="020F0502020204030204" pitchFamily="34" charset="0"/>
              </a:rPr>
              <a:t>5</a:t>
            </a:r>
            <a:r>
              <a:rPr lang="ko-KR" altLang="en-US" sz="1800" b="1" dirty="0">
                <a:latin typeface="Open Sans" panose="020F0502020204030204" pitchFamily="34" charset="0"/>
              </a:rPr>
              <a:t>킬로그램 봉지</a:t>
            </a:r>
            <a:r>
              <a:rPr lang="ko-KR" altLang="en-US" sz="1800" dirty="0">
                <a:latin typeface="Open Sans" panose="020F0502020204030204" pitchFamily="34" charset="0"/>
              </a:rPr>
              <a:t>가 있다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상근이는 귀찮기 때문에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b="1" dirty="0">
                <a:latin typeface="Open Sans" panose="020F0502020204030204" pitchFamily="34" charset="0"/>
              </a:rPr>
              <a:t>최대한 적은 봉지를 들고 가려고 한다</a:t>
            </a:r>
            <a:r>
              <a:rPr lang="en-US" altLang="ko-KR" sz="1800" b="1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예를 들어</a:t>
            </a:r>
            <a:r>
              <a:rPr lang="en-US" altLang="ko-KR" sz="1800" dirty="0">
                <a:latin typeface="Open Sans" panose="020F0502020204030204" pitchFamily="34" charset="0"/>
              </a:rPr>
              <a:t>, 18</a:t>
            </a:r>
            <a:r>
              <a:rPr lang="ko-KR" altLang="en-US" sz="1800" dirty="0">
                <a:latin typeface="Open Sans" panose="020F0502020204030204" pitchFamily="34" charset="0"/>
              </a:rPr>
              <a:t>킬로그램 설탕을 배달해야 할 때</a:t>
            </a:r>
            <a:r>
              <a:rPr lang="en-US" altLang="ko-KR" sz="1800" dirty="0">
                <a:latin typeface="Open Sans" panose="020F0502020204030204" pitchFamily="34" charset="0"/>
              </a:rPr>
              <a:t>, 3</a:t>
            </a:r>
            <a:r>
              <a:rPr lang="ko-KR" altLang="en-US" sz="1800" dirty="0">
                <a:latin typeface="Open Sans" panose="020F0502020204030204" pitchFamily="34" charset="0"/>
              </a:rPr>
              <a:t>킬로그램 봉지 </a:t>
            </a:r>
            <a:r>
              <a:rPr lang="en-US" altLang="ko-KR" sz="1800" dirty="0">
                <a:latin typeface="Open Sans" panose="020F0502020204030204" pitchFamily="34" charset="0"/>
              </a:rPr>
              <a:t>6</a:t>
            </a:r>
            <a:r>
              <a:rPr lang="ko-KR" altLang="en-US" sz="1800" dirty="0">
                <a:latin typeface="Open Sans" panose="020F0502020204030204" pitchFamily="34" charset="0"/>
              </a:rPr>
              <a:t>개를 가져가도 되지만</a:t>
            </a:r>
            <a:r>
              <a:rPr lang="en-US" altLang="ko-KR" sz="1800" dirty="0">
                <a:latin typeface="Open Sans" panose="020F0502020204030204" pitchFamily="34" charset="0"/>
              </a:rPr>
              <a:t>, 5</a:t>
            </a:r>
            <a:r>
              <a:rPr lang="ko-KR" altLang="en-US" sz="1800" dirty="0">
                <a:latin typeface="Open Sans" panose="020F0502020204030204" pitchFamily="34" charset="0"/>
              </a:rPr>
              <a:t>킬로그램 </a:t>
            </a:r>
            <a:r>
              <a:rPr lang="en-US" altLang="ko-KR" sz="1800" dirty="0">
                <a:latin typeface="Open Sans" panose="020F0502020204030204" pitchFamily="34" charset="0"/>
              </a:rPr>
              <a:t>3</a:t>
            </a:r>
            <a:r>
              <a:rPr lang="ko-KR" altLang="en-US" sz="1800" dirty="0">
                <a:latin typeface="Open Sans" panose="020F0502020204030204" pitchFamily="34" charset="0"/>
              </a:rPr>
              <a:t>개와 </a:t>
            </a:r>
            <a:r>
              <a:rPr lang="en-US" altLang="ko-KR" sz="1800" dirty="0">
                <a:latin typeface="Open Sans" panose="020F0502020204030204" pitchFamily="34" charset="0"/>
              </a:rPr>
              <a:t>3</a:t>
            </a:r>
            <a:r>
              <a:rPr lang="ko-KR" altLang="en-US" sz="1800" dirty="0">
                <a:latin typeface="Open Sans" panose="020F0502020204030204" pitchFamily="34" charset="0"/>
              </a:rPr>
              <a:t>킬로그램 </a:t>
            </a:r>
            <a:r>
              <a:rPr lang="en-US" altLang="ko-KR" sz="1800" dirty="0">
                <a:latin typeface="Open Sans" panose="020F0502020204030204" pitchFamily="34" charset="0"/>
              </a:rPr>
              <a:t>1</a:t>
            </a:r>
            <a:r>
              <a:rPr lang="ko-KR" altLang="en-US" sz="1800" dirty="0">
                <a:latin typeface="Open Sans" panose="020F0502020204030204" pitchFamily="34" charset="0"/>
              </a:rPr>
              <a:t>개를 배달하면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더 적은 개수의 봉지를 배달할 수 있다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상근이가 설탕을 정확하게 </a:t>
            </a:r>
            <a:r>
              <a:rPr lang="en-US" altLang="ko-KR" sz="1800" b="1" dirty="0">
                <a:latin typeface="Open Sans" panose="020F0502020204030204" pitchFamily="34" charset="0"/>
              </a:rPr>
              <a:t>N</a:t>
            </a:r>
            <a:r>
              <a:rPr lang="ko-KR" altLang="en-US" sz="1800" b="1" dirty="0">
                <a:latin typeface="Open Sans" panose="020F0502020204030204" pitchFamily="34" charset="0"/>
              </a:rPr>
              <a:t>킬로그램 배달해야 할 때</a:t>
            </a:r>
            <a:r>
              <a:rPr lang="en-US" altLang="ko-KR" sz="1800" b="1" dirty="0">
                <a:latin typeface="Open Sans" panose="020F0502020204030204" pitchFamily="34" charset="0"/>
              </a:rPr>
              <a:t>, </a:t>
            </a:r>
            <a:r>
              <a:rPr lang="ko-KR" altLang="en-US" sz="1800" b="1" dirty="0">
                <a:latin typeface="Open Sans" panose="020F0502020204030204" pitchFamily="34" charset="0"/>
              </a:rPr>
              <a:t>봉지 몇 개를 가져가면 되는지 그 수를 구하는 프로그램을 작성하시오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  <a:endParaRPr lang="en-US" altLang="ko-KR" sz="1800" b="1" i="0" dirty="0">
              <a:effectLst/>
              <a:latin typeface="Open Sans" panose="020F050202020403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37" y="4885528"/>
            <a:ext cx="7861126" cy="14384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51026716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en-US" altLang="en-US"/>
              <a:pPr>
                <a:defRPr/>
              </a:pPr>
              <a:t>19</a:t>
            </a:fld>
            <a:endParaRPr lang="en-US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83568" y="260648"/>
            <a:ext cx="3333377" cy="5877272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59832" y="4509120"/>
            <a:ext cx="5847898" cy="15725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7. 1</a:t>
            </a:r>
            <a:r>
              <a:rPr lang="ko-KR" altLang="en-US" sz="2800" dirty="0"/>
              <a:t>로 만들기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1463, DP) </a:t>
            </a:r>
            <a:br>
              <a:rPr lang="en-US" altLang="ko-KR" sz="2800" dirty="0"/>
            </a:br>
            <a:r>
              <a:rPr lang="en-US" altLang="ko-KR" sz="2000" dirty="0"/>
              <a:t>http://210.93.60.51/problem/0183</a:t>
            </a:r>
            <a:br>
              <a:rPr lang="en-US" altLang="ko-KR" sz="2000" dirty="0"/>
            </a:br>
            <a:r>
              <a:rPr lang="en-US" altLang="ko-KR" sz="2000" dirty="0"/>
              <a:t>https://www.acmicpc.net/problem/1463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정수 </a:t>
            </a:r>
            <a:r>
              <a:rPr lang="en-US" altLang="ko-KR" sz="1800" dirty="0">
                <a:latin typeface="Open Sans" panose="020F0502020204030204" pitchFamily="34" charset="0"/>
              </a:rPr>
              <a:t>X</a:t>
            </a:r>
            <a:r>
              <a:rPr lang="ko-KR" altLang="en-US" sz="1800" dirty="0">
                <a:latin typeface="Open Sans" panose="020F0502020204030204" pitchFamily="34" charset="0"/>
              </a:rPr>
              <a:t>에 사용할 수 있는 연산은 다음과 같이 세 가지 이다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dirty="0">
                <a:latin typeface="Open Sans" panose="020F0502020204030204" pitchFamily="34" charset="0"/>
              </a:rPr>
              <a:t>X</a:t>
            </a:r>
            <a:r>
              <a:rPr lang="ko-KR" altLang="en-US" sz="1800" b="1" dirty="0">
                <a:latin typeface="Open Sans" panose="020F0502020204030204" pitchFamily="34" charset="0"/>
              </a:rPr>
              <a:t>가 </a:t>
            </a:r>
            <a:r>
              <a:rPr lang="en-US" altLang="ko-KR" sz="1800" b="1" dirty="0">
                <a:latin typeface="Open Sans" panose="020F0502020204030204" pitchFamily="34" charset="0"/>
              </a:rPr>
              <a:t>3</a:t>
            </a:r>
            <a:r>
              <a:rPr lang="ko-KR" altLang="en-US" sz="1800" b="1" dirty="0">
                <a:latin typeface="Open Sans" panose="020F0502020204030204" pitchFamily="34" charset="0"/>
              </a:rPr>
              <a:t>으로 나누어 떨어지면</a:t>
            </a:r>
            <a:r>
              <a:rPr lang="en-US" altLang="ko-KR" sz="1800" b="1" dirty="0">
                <a:latin typeface="Open Sans" panose="020F0502020204030204" pitchFamily="34" charset="0"/>
              </a:rPr>
              <a:t>, 3</a:t>
            </a:r>
            <a:r>
              <a:rPr lang="ko-KR" altLang="en-US" sz="1800" b="1" dirty="0">
                <a:latin typeface="Open Sans" panose="020F0502020204030204" pitchFamily="34" charset="0"/>
              </a:rPr>
              <a:t>으로 나눈다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1" dirty="0">
                <a:latin typeface="Open Sans" panose="020F0502020204030204" pitchFamily="34" charset="0"/>
              </a:rPr>
              <a:t>X</a:t>
            </a:r>
            <a:r>
              <a:rPr lang="ko-KR" altLang="en-US" sz="1800" b="1" dirty="0">
                <a:latin typeface="Open Sans" panose="020F0502020204030204" pitchFamily="34" charset="0"/>
              </a:rPr>
              <a:t>가 </a:t>
            </a:r>
            <a:r>
              <a:rPr lang="en-US" altLang="ko-KR" sz="1800" b="1" dirty="0">
                <a:latin typeface="Open Sans" panose="020F0502020204030204" pitchFamily="34" charset="0"/>
              </a:rPr>
              <a:t>2</a:t>
            </a:r>
            <a:r>
              <a:rPr lang="ko-KR" altLang="en-US" sz="1800" b="1" dirty="0">
                <a:latin typeface="Open Sans" panose="020F0502020204030204" pitchFamily="34" charset="0"/>
              </a:rPr>
              <a:t>로 나누어 떨어지면</a:t>
            </a:r>
            <a:r>
              <a:rPr lang="en-US" altLang="ko-KR" sz="1800" b="1" dirty="0">
                <a:latin typeface="Open Sans" panose="020F0502020204030204" pitchFamily="34" charset="0"/>
              </a:rPr>
              <a:t>, 2</a:t>
            </a:r>
            <a:r>
              <a:rPr lang="ko-KR" altLang="en-US" sz="1800" b="1" dirty="0">
                <a:latin typeface="Open Sans" panose="020F0502020204030204" pitchFamily="34" charset="0"/>
              </a:rPr>
              <a:t>로 나눈다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1" dirty="0">
                <a:latin typeface="Open Sans" panose="020F0502020204030204" pitchFamily="34" charset="0"/>
              </a:rPr>
              <a:t>1</a:t>
            </a:r>
            <a:r>
              <a:rPr lang="ko-KR" altLang="en-US" sz="1800" b="1" dirty="0">
                <a:latin typeface="Open Sans" panose="020F0502020204030204" pitchFamily="34" charset="0"/>
              </a:rPr>
              <a:t>을 뺀다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1" dirty="0">
                <a:latin typeface="Open Sans" panose="020F0502020204030204" pitchFamily="34" charset="0"/>
              </a:rPr>
              <a:t>정수 </a:t>
            </a:r>
            <a:r>
              <a:rPr lang="en-US" altLang="ko-KR" sz="1800" b="1" dirty="0">
                <a:latin typeface="Open Sans" panose="020F0502020204030204" pitchFamily="34" charset="0"/>
              </a:rPr>
              <a:t>N</a:t>
            </a:r>
            <a:r>
              <a:rPr lang="ko-KR" altLang="en-US" sz="1800" b="1" dirty="0">
                <a:latin typeface="Open Sans" panose="020F0502020204030204" pitchFamily="34" charset="0"/>
              </a:rPr>
              <a:t>이 주어졌을 때</a:t>
            </a:r>
            <a:r>
              <a:rPr lang="en-US" altLang="ko-KR" sz="1800" b="1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위와 같은 연산 세 개를 적절히 사용해서 </a:t>
            </a:r>
            <a:r>
              <a:rPr lang="en-US" altLang="ko-KR" sz="1800" dirty="0">
                <a:latin typeface="Open Sans" panose="020F0502020204030204" pitchFamily="34" charset="0"/>
              </a:rPr>
              <a:t>1</a:t>
            </a:r>
            <a:r>
              <a:rPr lang="ko-KR" altLang="en-US" sz="1800" dirty="0">
                <a:latin typeface="Open Sans" panose="020F0502020204030204" pitchFamily="34" charset="0"/>
              </a:rPr>
              <a:t>을 만들려고 한다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b="1" dirty="0">
                <a:latin typeface="Open Sans" panose="020F0502020204030204" pitchFamily="34" charset="0"/>
              </a:rPr>
              <a:t>연산을 사용하는 횟수의 최솟값을 </a:t>
            </a:r>
            <a:r>
              <a:rPr lang="ko-KR" altLang="en-US" sz="1800" b="1" dirty="0" err="1">
                <a:latin typeface="Open Sans" panose="020F0502020204030204" pitchFamily="34" charset="0"/>
              </a:rPr>
              <a:t>출력하시오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  <a:endParaRPr lang="en-US" altLang="ko-KR" sz="1800" b="1" i="0" dirty="0">
              <a:effectLst/>
              <a:latin typeface="Open Sans" panose="020F0502020204030204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3" y="4437112"/>
            <a:ext cx="8014667" cy="13442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9443502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en-US" altLang="en-US"/>
              <a:pPr>
                <a:defRPr/>
              </a:pPr>
              <a:t>21</a:t>
            </a:fld>
            <a:endParaRPr lang="en-US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54703" y="1268760"/>
            <a:ext cx="3269224" cy="4913784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483768" y="1357024"/>
            <a:ext cx="6633154" cy="1711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8. </a:t>
            </a:r>
            <a:r>
              <a:rPr lang="ko-KR" altLang="en-US" sz="2800" dirty="0"/>
              <a:t>내려가기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2096, DP) </a:t>
            </a:r>
            <a:br>
              <a:rPr lang="en-US" altLang="ko-KR" sz="2800" dirty="0"/>
            </a:br>
            <a:r>
              <a:rPr lang="en-US" altLang="ko-KR" sz="2000" dirty="0"/>
              <a:t>http://210.93.60.51/problem/0184</a:t>
            </a:r>
            <a:br>
              <a:rPr lang="en-US" altLang="ko-KR" sz="2000" dirty="0"/>
            </a:br>
            <a:r>
              <a:rPr lang="en-US" altLang="ko-KR" sz="2000" dirty="0"/>
              <a:t>https://www.acmicpc.net/problem/2096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1800" b="1" dirty="0">
                <a:latin typeface="Open Sans" panose="020F0502020204030204" pitchFamily="34" charset="0"/>
              </a:rPr>
              <a:t>N</a:t>
            </a:r>
            <a:r>
              <a:rPr lang="ko-KR" altLang="en-US" sz="1800" b="1" dirty="0">
                <a:latin typeface="Open Sans" panose="020F0502020204030204" pitchFamily="34" charset="0"/>
              </a:rPr>
              <a:t>줄에 </a:t>
            </a:r>
            <a:r>
              <a:rPr lang="en-US" altLang="ko-KR" sz="1800" b="1" dirty="0">
                <a:latin typeface="Open Sans" panose="020F0502020204030204" pitchFamily="34" charset="0"/>
              </a:rPr>
              <a:t>0 </a:t>
            </a:r>
            <a:r>
              <a:rPr lang="ko-KR" altLang="en-US" sz="1800" b="1" dirty="0">
                <a:latin typeface="Open Sans" panose="020F0502020204030204" pitchFamily="34" charset="0"/>
              </a:rPr>
              <a:t>이상 </a:t>
            </a:r>
            <a:r>
              <a:rPr lang="en-US" altLang="ko-KR" sz="1800" b="1" dirty="0">
                <a:latin typeface="Open Sans" panose="020F0502020204030204" pitchFamily="34" charset="0"/>
              </a:rPr>
              <a:t>9 </a:t>
            </a:r>
            <a:r>
              <a:rPr lang="ko-KR" altLang="en-US" sz="1800" b="1" dirty="0">
                <a:latin typeface="Open Sans" panose="020F0502020204030204" pitchFamily="34" charset="0"/>
              </a:rPr>
              <a:t>이하의 숫자가 세 개씩 적혀 있다</a:t>
            </a:r>
            <a:r>
              <a:rPr lang="en-US" altLang="ko-KR" sz="1800" b="1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내려가기 게임을 하고 있는데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이 게임은 </a:t>
            </a:r>
            <a:r>
              <a:rPr lang="ko-KR" altLang="en-US" sz="1800" b="1" dirty="0">
                <a:latin typeface="Open Sans" panose="020F0502020204030204" pitchFamily="34" charset="0"/>
              </a:rPr>
              <a:t>첫 줄에서 시작해서 마지막 줄에서 끝나게 되는 놀이이다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먼저 처음에 적혀 있는 세 개의 숫자 중에서 하나를 골라서 시작하게 된다</a:t>
            </a:r>
            <a:r>
              <a:rPr lang="en-US" altLang="ko-KR" sz="1800" dirty="0">
                <a:latin typeface="Open Sans" panose="020F0502020204030204" pitchFamily="34" charset="0"/>
              </a:rPr>
              <a:t>.  </a:t>
            </a:r>
            <a:r>
              <a:rPr lang="ko-KR" altLang="en-US" sz="1800" dirty="0">
                <a:latin typeface="Open Sans" panose="020F0502020204030204" pitchFamily="34" charset="0"/>
              </a:rPr>
              <a:t>다음 줄로 내려갈 때에는 </a:t>
            </a:r>
            <a:r>
              <a:rPr lang="ko-KR" altLang="en-US" sz="1800" b="1" dirty="0">
                <a:latin typeface="Open Sans" panose="020F0502020204030204" pitchFamily="34" charset="0"/>
              </a:rPr>
              <a:t>다음과 같은 제약 조건이 있다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별표는 현재 위치이고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그 </a:t>
            </a:r>
            <a:r>
              <a:rPr lang="ko-KR" altLang="en-US" sz="1800" dirty="0" err="1">
                <a:latin typeface="Open Sans" panose="020F0502020204030204" pitchFamily="34" charset="0"/>
              </a:rPr>
              <a:t>아랫</a:t>
            </a:r>
            <a:r>
              <a:rPr lang="ko-KR" altLang="en-US" sz="1800" dirty="0">
                <a:latin typeface="Open Sans" panose="020F0502020204030204" pitchFamily="34" charset="0"/>
              </a:rPr>
              <a:t> 줄의 </a:t>
            </a:r>
            <a:r>
              <a:rPr lang="ko-KR" altLang="en-US" sz="1800" b="1" dirty="0">
                <a:latin typeface="Open Sans" panose="020F0502020204030204" pitchFamily="34" charset="0"/>
              </a:rPr>
              <a:t>파란 동그라미는 </a:t>
            </a:r>
            <a:r>
              <a:rPr lang="ko-KR" altLang="en-US" sz="1800" b="1" dirty="0" err="1">
                <a:latin typeface="Open Sans" panose="020F0502020204030204" pitchFamily="34" charset="0"/>
              </a:rPr>
              <a:t>원룡이가</a:t>
            </a:r>
            <a:r>
              <a:rPr lang="ko-KR" altLang="en-US" sz="1800" b="1" dirty="0">
                <a:latin typeface="Open Sans" panose="020F0502020204030204" pitchFamily="34" charset="0"/>
              </a:rPr>
              <a:t> 다음 줄로 내려갈 수 있는 위치이며</a:t>
            </a:r>
            <a:r>
              <a:rPr lang="en-US" altLang="ko-KR" sz="1800" b="1" dirty="0">
                <a:latin typeface="Open Sans" panose="020F0502020204030204" pitchFamily="34" charset="0"/>
              </a:rPr>
              <a:t>, </a:t>
            </a:r>
            <a:r>
              <a:rPr lang="ko-KR" altLang="en-US" sz="1800" b="1" dirty="0">
                <a:latin typeface="Open Sans" panose="020F0502020204030204" pitchFamily="34" charset="0"/>
              </a:rPr>
              <a:t>빨간 </a:t>
            </a:r>
            <a:r>
              <a:rPr lang="ko-KR" altLang="en-US" sz="1800" b="1" dirty="0" err="1">
                <a:latin typeface="Open Sans" panose="020F0502020204030204" pitchFamily="34" charset="0"/>
              </a:rPr>
              <a:t>가위표는</a:t>
            </a:r>
            <a:r>
              <a:rPr lang="ko-KR" altLang="en-US" sz="1800" b="1" dirty="0">
                <a:latin typeface="Open Sans" panose="020F0502020204030204" pitchFamily="34" charset="0"/>
              </a:rPr>
              <a:t> </a:t>
            </a:r>
            <a:r>
              <a:rPr lang="ko-KR" altLang="en-US" sz="1800" b="1" dirty="0" err="1">
                <a:latin typeface="Open Sans" panose="020F0502020204030204" pitchFamily="34" charset="0"/>
              </a:rPr>
              <a:t>원룡이가</a:t>
            </a:r>
            <a:r>
              <a:rPr lang="ko-KR" altLang="en-US" sz="1800" b="1" dirty="0">
                <a:latin typeface="Open Sans" panose="020F0502020204030204" pitchFamily="34" charset="0"/>
              </a:rPr>
              <a:t> 내려갈 수 없는 위치가 </a:t>
            </a:r>
            <a:r>
              <a:rPr lang="ko-KR" altLang="en-US" sz="1800" dirty="0">
                <a:latin typeface="Open Sans" panose="020F0502020204030204" pitchFamily="34" charset="0"/>
              </a:rPr>
              <a:t>된다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 err="1">
                <a:latin typeface="Open Sans" panose="020F0502020204030204" pitchFamily="34" charset="0"/>
              </a:rPr>
              <a:t>숫자표가</a:t>
            </a:r>
            <a:r>
              <a:rPr lang="ko-KR" altLang="en-US" sz="1800" dirty="0">
                <a:latin typeface="Open Sans" panose="020F0502020204030204" pitchFamily="34" charset="0"/>
              </a:rPr>
              <a:t> 주어져 있을 때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얻을 수 있는 </a:t>
            </a:r>
            <a:r>
              <a:rPr lang="ko-KR" altLang="en-US" sz="1800" b="1" dirty="0">
                <a:latin typeface="Open Sans" panose="020F0502020204030204" pitchFamily="34" charset="0"/>
              </a:rPr>
              <a:t>최대 점수</a:t>
            </a:r>
            <a:r>
              <a:rPr lang="en-US" altLang="ko-KR" sz="1800" b="1" dirty="0">
                <a:latin typeface="Open Sans" panose="020F0502020204030204" pitchFamily="34" charset="0"/>
              </a:rPr>
              <a:t>, </a:t>
            </a:r>
            <a:r>
              <a:rPr lang="ko-KR" altLang="en-US" sz="1800" b="1" dirty="0">
                <a:latin typeface="Open Sans" panose="020F0502020204030204" pitchFamily="34" charset="0"/>
              </a:rPr>
              <a:t>최소 점수를 구하는 프로그램을 작성하시오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  <a:endParaRPr lang="en-US" altLang="ko-KR" sz="1800" b="1" i="0" dirty="0">
              <a:effectLst/>
              <a:latin typeface="Open Sans" panose="020F050202020403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2881312"/>
            <a:ext cx="803910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906298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en-US" altLang="en-US"/>
              <a:pPr>
                <a:defRPr/>
              </a:pPr>
              <a:t>24</a:t>
            </a:fld>
            <a:endParaRPr lang="en-US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24231" y="1268760"/>
            <a:ext cx="3603753" cy="4556557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585274" y="3627658"/>
            <a:ext cx="4803150" cy="2825678"/>
          </a:xfrm>
          <a:prstGeom prst="rect">
            <a:avLst/>
          </a:prstGeom>
        </p:spPr>
      </p:pic>
      <p:pic>
        <p:nvPicPr>
          <p:cNvPr id="8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23528" y="114209"/>
            <a:ext cx="7056784" cy="1087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sz="2800" dirty="0"/>
              <a:t>9. </a:t>
            </a:r>
            <a:r>
              <a:rPr lang="ko-KR" altLang="en-US" sz="2800" dirty="0"/>
              <a:t>가장 큰 증가하는 부분 수열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</a:t>
            </a:r>
            <a:r>
              <a:rPr lang="ko-KR" altLang="en-US" sz="2800" dirty="0"/>
              <a:t>백준</a:t>
            </a:r>
            <a:r>
              <a:rPr lang="en-US" altLang="ko-KR" sz="2800" dirty="0"/>
              <a:t>11055,DP)</a:t>
            </a:r>
            <a:r>
              <a:rPr lang="en-US" altLang="ko-KR" sz="2400" dirty="0"/>
              <a:t> </a:t>
            </a:r>
            <a:br>
              <a:rPr lang="en-US" altLang="ko-KR" sz="2400" dirty="0"/>
            </a:br>
            <a:r>
              <a:rPr lang="en-US" altLang="ko-KR" sz="1800" dirty="0"/>
              <a:t>http://210.93.60.51/problem/0185</a:t>
            </a:r>
            <a:br>
              <a:rPr lang="en-US" altLang="ko-KR" sz="1800" dirty="0"/>
            </a:br>
            <a:r>
              <a:rPr lang="en-US" altLang="ko-KR" sz="1800" dirty="0"/>
              <a:t>https://www.acmicpc.net/problem/11055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수열 </a:t>
            </a:r>
            <a:r>
              <a:rPr lang="en-US" altLang="ko-KR" sz="1800" dirty="0">
                <a:latin typeface="Open Sans" panose="020F0502020204030204" pitchFamily="34" charset="0"/>
              </a:rPr>
              <a:t>A</a:t>
            </a:r>
            <a:r>
              <a:rPr lang="ko-KR" altLang="en-US" sz="1800" dirty="0">
                <a:latin typeface="Open Sans" panose="020F0502020204030204" pitchFamily="34" charset="0"/>
              </a:rPr>
              <a:t>가 주어졌을 때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그 </a:t>
            </a:r>
            <a:r>
              <a:rPr lang="ko-KR" altLang="en-US" sz="1800" b="1" dirty="0">
                <a:latin typeface="Open Sans" panose="020F0502020204030204" pitchFamily="34" charset="0"/>
              </a:rPr>
              <a:t>수열의 증가하는 부분 수열 중에서 합이 가장 큰 것을 구하는 프로그램을 작성하시오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예를 들어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수열 </a:t>
            </a:r>
            <a:r>
              <a:rPr lang="en-US" altLang="ko-KR" sz="1800" dirty="0">
                <a:latin typeface="Open Sans" panose="020F0502020204030204" pitchFamily="34" charset="0"/>
              </a:rPr>
              <a:t>A = {1, 100, 2, 50, 60, 3, 5, 6, 7, 8} </a:t>
            </a:r>
            <a:r>
              <a:rPr lang="ko-KR" altLang="en-US" sz="1800" dirty="0">
                <a:latin typeface="Open Sans" panose="020F0502020204030204" pitchFamily="34" charset="0"/>
              </a:rPr>
              <a:t>인 경우에 합이 가장 큰 증가하는 부분 수열은 </a:t>
            </a:r>
            <a:r>
              <a:rPr lang="en-US" altLang="ko-KR" sz="1800" dirty="0">
                <a:latin typeface="Open Sans" panose="020F0502020204030204" pitchFamily="34" charset="0"/>
              </a:rPr>
              <a:t>A = {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1</a:t>
            </a:r>
            <a:r>
              <a:rPr lang="en-US" altLang="ko-KR" sz="1800" dirty="0">
                <a:latin typeface="Open Sans" panose="020F0502020204030204" pitchFamily="34" charset="0"/>
              </a:rPr>
              <a:t>, 100, 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2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50, 60, </a:t>
            </a:r>
            <a:r>
              <a:rPr lang="en-US" altLang="ko-KR" sz="1800" dirty="0">
                <a:latin typeface="Open Sans" panose="020F0502020204030204" pitchFamily="34" charset="0"/>
              </a:rPr>
              <a:t>3, 5, 6, 7, 8} </a:t>
            </a:r>
            <a:r>
              <a:rPr lang="ko-KR" altLang="en-US" sz="1800" dirty="0">
                <a:latin typeface="Open Sans" panose="020F0502020204030204" pitchFamily="34" charset="0"/>
              </a:rPr>
              <a:t>이고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합은 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113</a:t>
            </a:r>
            <a:r>
              <a:rPr lang="ko-KR" altLang="en-US" sz="1800" dirty="0">
                <a:latin typeface="Open Sans" panose="020F0502020204030204" pitchFamily="34" charset="0"/>
              </a:rPr>
              <a:t>이다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429000"/>
            <a:ext cx="7711777" cy="16409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7533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F8DE6-BFC4-7515-24A8-A8AC87EFB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3A519-F783-50A8-ED79-D702E6644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sz="2800" dirty="0"/>
              <a:t>10. RGB</a:t>
            </a:r>
            <a:r>
              <a:rPr lang="ko-KR" altLang="en-US" sz="2800" dirty="0"/>
              <a:t>거리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</a:t>
            </a:r>
            <a:r>
              <a:rPr lang="ko-KR" altLang="en-US" sz="2800" dirty="0"/>
              <a:t>백준</a:t>
            </a:r>
            <a:r>
              <a:rPr lang="en-US" altLang="ko-KR" sz="2800" dirty="0"/>
              <a:t>1149, DP)</a:t>
            </a:r>
            <a:r>
              <a:rPr lang="en-US" altLang="ko-KR" sz="2400" dirty="0"/>
              <a:t> </a:t>
            </a:r>
            <a:br>
              <a:rPr lang="en-US" altLang="ko-KR" sz="2400" dirty="0"/>
            </a:br>
            <a:r>
              <a:rPr lang="en-US" altLang="ko-KR" sz="1800" dirty="0"/>
              <a:t>http://210.93.60.51/problem/0141</a:t>
            </a:r>
            <a:br>
              <a:rPr lang="en-US" altLang="ko-KR" sz="1800" dirty="0"/>
            </a:br>
            <a:r>
              <a:rPr lang="en-US" altLang="ko-KR" sz="1800" dirty="0"/>
              <a:t>https://www.acmicpc.net/problem/1149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D5EF35-03CF-3E4F-F1EE-1D0130E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E3D03-50DE-7CB9-0A1E-409973ECD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1800" dirty="0">
                <a:latin typeface="Open Sans" panose="020F0502020204030204" pitchFamily="34" charset="0"/>
              </a:rPr>
              <a:t>RGB</a:t>
            </a:r>
            <a:r>
              <a:rPr lang="ko-KR" altLang="en-US" sz="1800" dirty="0">
                <a:latin typeface="Open Sans" panose="020F0502020204030204" pitchFamily="34" charset="0"/>
              </a:rPr>
              <a:t>거리에는 집이 </a:t>
            </a:r>
            <a:r>
              <a:rPr lang="en-US" altLang="ko-KR" sz="1800" dirty="0">
                <a:latin typeface="Open Sans" panose="020F0502020204030204" pitchFamily="34" charset="0"/>
              </a:rPr>
              <a:t>1</a:t>
            </a:r>
            <a:r>
              <a:rPr lang="ko-KR" altLang="en-US" sz="1800" dirty="0">
                <a:latin typeface="Open Sans" panose="020F0502020204030204" pitchFamily="34" charset="0"/>
              </a:rPr>
              <a:t>번 집부터 </a:t>
            </a:r>
            <a:r>
              <a:rPr lang="en-US" altLang="ko-KR" sz="1800" dirty="0">
                <a:latin typeface="Open Sans" panose="020F0502020204030204" pitchFamily="34" charset="0"/>
              </a:rPr>
              <a:t>N</a:t>
            </a:r>
            <a:r>
              <a:rPr lang="ko-KR" altLang="en-US" sz="1800" dirty="0">
                <a:latin typeface="Open Sans" panose="020F0502020204030204" pitchFamily="34" charset="0"/>
              </a:rPr>
              <a:t>번 집이 순서대로 있다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집은 빨강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초록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파랑 중 하나의 색으로 칠해야 한다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아래 규칙을 만족하면서 모든 집을 칠하는 비용의 최솟값을 구해보자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dirty="0" err="1"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latin typeface="Open Sans" panose="020F0502020204030204" pitchFamily="34" charset="0"/>
              </a:rPr>
              <a:t>(2 ≤ </a:t>
            </a:r>
            <a:r>
              <a:rPr lang="en-US" altLang="ko-KR" sz="1800" b="1" dirty="0" err="1"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latin typeface="Open Sans" panose="020F0502020204030204" pitchFamily="34" charset="0"/>
              </a:rPr>
              <a:t> ≤ N-1)</a:t>
            </a:r>
            <a:r>
              <a:rPr lang="ko-KR" altLang="en-US" sz="1800" b="1" dirty="0">
                <a:latin typeface="Open Sans" panose="020F0502020204030204" pitchFamily="34" charset="0"/>
              </a:rPr>
              <a:t>번 집의 색은 </a:t>
            </a:r>
            <a:r>
              <a:rPr lang="en-US" altLang="ko-KR" sz="1800" b="1" dirty="0">
                <a:latin typeface="Open Sans" panose="020F0502020204030204" pitchFamily="34" charset="0"/>
              </a:rPr>
              <a:t>i-1</a:t>
            </a:r>
            <a:r>
              <a:rPr lang="ko-KR" altLang="en-US" sz="1800" b="1" dirty="0">
                <a:latin typeface="Open Sans" panose="020F0502020204030204" pitchFamily="34" charset="0"/>
              </a:rPr>
              <a:t>번</a:t>
            </a:r>
            <a:r>
              <a:rPr lang="en-US" altLang="ko-KR" sz="1800" b="1" dirty="0">
                <a:latin typeface="Open Sans" panose="020F0502020204030204" pitchFamily="34" charset="0"/>
              </a:rPr>
              <a:t>, i+1</a:t>
            </a:r>
            <a:r>
              <a:rPr lang="ko-KR" altLang="en-US" sz="1800" b="1" dirty="0">
                <a:latin typeface="Open Sans" panose="020F0502020204030204" pitchFamily="34" charset="0"/>
              </a:rPr>
              <a:t>번 집의 색과 같지 않아야 한다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첫째 줄에 집의 수 </a:t>
            </a:r>
            <a:r>
              <a:rPr lang="en-US" altLang="ko-KR" sz="1800" dirty="0">
                <a:latin typeface="Open Sans" panose="020F0502020204030204" pitchFamily="34" charset="0"/>
              </a:rPr>
              <a:t>N(2 ≤ N ≤ 1,000)</a:t>
            </a:r>
            <a:r>
              <a:rPr lang="ko-KR" altLang="en-US" sz="1800" dirty="0">
                <a:latin typeface="Open Sans" panose="020F0502020204030204" pitchFamily="34" charset="0"/>
              </a:rPr>
              <a:t>이 주어진다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둘째 줄부터 </a:t>
            </a:r>
            <a:r>
              <a:rPr lang="en-US" altLang="ko-KR" sz="1800" dirty="0">
                <a:latin typeface="Open Sans" panose="020F0502020204030204" pitchFamily="34" charset="0"/>
              </a:rPr>
              <a:t>N</a:t>
            </a:r>
            <a:r>
              <a:rPr lang="ko-KR" altLang="en-US" sz="1800" dirty="0">
                <a:latin typeface="Open Sans" panose="020F0502020204030204" pitchFamily="34" charset="0"/>
              </a:rPr>
              <a:t>개의 줄에는 각 집을 빨강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초록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파랑으로 칠하는 비용이 </a:t>
            </a:r>
            <a:r>
              <a:rPr lang="en-US" altLang="ko-KR" sz="1800" dirty="0">
                <a:latin typeface="Open Sans" panose="020F0502020204030204" pitchFamily="34" charset="0"/>
              </a:rPr>
              <a:t>1</a:t>
            </a:r>
            <a:r>
              <a:rPr lang="ko-KR" altLang="en-US" sz="1800" dirty="0">
                <a:latin typeface="Open Sans" panose="020F0502020204030204" pitchFamily="34" charset="0"/>
              </a:rPr>
              <a:t>번 집부터 한 줄에 하나씩 주어진다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marL="0" indent="0" algn="just">
              <a:buNone/>
            </a:pPr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D63AAAA-9140-84C1-1554-069F1D551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908" y="4656504"/>
            <a:ext cx="6228184" cy="172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14786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kpu</ep:Company>
  <ep:Words>1301</ep:Words>
  <ep:PresentationFormat>화면 슬라이드 쇼(4:3)</ep:PresentationFormat>
  <ep:Paragraphs>139</ep:Paragraphs>
  <ep:Slides>25</ep:Slides>
  <ep:Notes>17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ep:HeadingPairs>
  <ep:TitlesOfParts>
    <vt:vector size="26" baseType="lpstr">
      <vt:lpstr>Office 테마</vt:lpstr>
      <vt:lpstr>4. 신고결과받기 (Programmers, 구현)  https://school.programmers.co.kr/learn/courses/30/lessons/92334</vt:lpstr>
      <vt:lpstr>5. 도둑질 (Programmers, DP)  https://school.programmers.co.kr/learn/courses/30/lessons/42897</vt:lpstr>
      <vt:lpstr>6. 설탕배달 (TUKorea, 백준2839, DP)  http://210.93.60.51/problem/0182 https://www.acmicpc.net/problem/2839</vt:lpstr>
      <vt:lpstr>7. 1로 만들기 (TUKorea, 백준1463, DP)  http://210.93.60.51/problem/0183 https://www.acmicpc.net/problem/1463</vt:lpstr>
      <vt:lpstr>8. 내려가기 (TUKorea, 백준2096, DP)  http://210.93.60.51/problem/0184 https://www.acmicpc.net/problem/2096</vt:lpstr>
      <vt:lpstr>9. 가장 큰 증가하는 부분 수열 (TUKorea,백준11055,DP)  http://210.93.60.51/problem/0185 https://www.acmicpc.net/problem/11055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2008-03-02T04:39:19.000</dcterms:created>
  <dc:creator>kys</dc:creator>
  <cp:lastModifiedBy>Administrator</cp:lastModifiedBy>
  <dcterms:modified xsi:type="dcterms:W3CDTF">2026-05-16T14:40:13.002</dcterms:modified>
  <cp:revision>278</cp:revision>
  <dc:title>STL</dc:title>
  <cp:version>1000.0000.01</cp:version>
</cp:coreProperties>
</file>