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6"/>
  </p:notesMasterIdLst>
  <p:sldIdLst>
    <p:sldId id="258" r:id="rId2"/>
    <p:sldId id="269" r:id="rId3"/>
    <p:sldId id="335" r:id="rId4"/>
    <p:sldId id="259" r:id="rId5"/>
    <p:sldId id="339" r:id="rId6"/>
    <p:sldId id="346" r:id="rId7"/>
    <p:sldId id="341" r:id="rId8"/>
    <p:sldId id="347" r:id="rId9"/>
    <p:sldId id="345" r:id="rId10"/>
    <p:sldId id="348" r:id="rId11"/>
    <p:sldId id="342" r:id="rId12"/>
    <p:sldId id="349" r:id="rId13"/>
    <p:sldId id="343" r:id="rId14"/>
    <p:sldId id="350" r:id="rId15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95094" autoAdjust="0"/>
  </p:normalViewPr>
  <p:slideViewPr>
    <p:cSldViewPr>
      <p:cViewPr varScale="1">
        <p:scale>
          <a:sx n="91" d="100"/>
          <a:sy n="91" d="100"/>
        </p:scale>
        <p:origin x="59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2026-06-06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A431-2035-7ED7-C62F-1DC8F303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73C1B6-21C7-2EDF-6AB2-2315B8C18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3B87E5-073B-582A-EE31-BCFAB2D45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F7A824-DA6C-02E6-334D-9472DB415C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761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5905-9421-8F95-57D2-36A21A95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9D7F44-93D4-55D4-C4B5-E8CB43B06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B5A0B7-CC05-CA92-0DCA-2BC1E4427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AE5C7-F6D1-7CDC-FB04-7BE88DECB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0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13E0-95E8-C9AE-1AC5-E0464998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0A6035-B30A-F988-0FB4-4479EEC8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88B05B-634E-BBF5-4B84-E0D66BBFC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0BA3A-EC41-2F69-0726-4BA264EDA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78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7544" y="2130425"/>
            <a:ext cx="8424936" cy="1470025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8. </a:t>
            </a:r>
            <a:r>
              <a:rPr lang="ko-KR" altLang="en-US" b="1" dirty="0">
                <a:solidFill>
                  <a:srgbClr val="0000FF"/>
                </a:solidFill>
              </a:rPr>
              <a:t>기타 그래프 이론</a:t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(Union-Find</a:t>
            </a:r>
            <a:r>
              <a:rPr lang="ko-KR" altLang="en-US" b="1" dirty="0">
                <a:solidFill>
                  <a:srgbClr val="0000FF"/>
                </a:solidFill>
              </a:rPr>
              <a:t> 자료구조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최소신장트리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위상정렬</a:t>
            </a:r>
            <a:r>
              <a:rPr lang="en-US" altLang="ko-KR" b="1" dirty="0">
                <a:solidFill>
                  <a:srgbClr val="0000FF"/>
                </a:solidFill>
              </a:rPr>
              <a:t>)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도시분할계획 </a:t>
            </a:r>
            <a:r>
              <a:rPr lang="en-US" altLang="ko-KR" sz="2400" dirty="0"/>
              <a:t>(</a:t>
            </a:r>
            <a:r>
              <a:rPr lang="en-US" altLang="ko-KR" sz="2400" dirty="0" err="1"/>
              <a:t>TUKorea</a:t>
            </a:r>
            <a:r>
              <a:rPr lang="en-US" altLang="ko-KR" sz="2400" dirty="0"/>
              <a:t>, </a:t>
            </a:r>
            <a:r>
              <a:rPr lang="ko-KR" altLang="en-US" sz="2400" dirty="0"/>
              <a:t>백준</a:t>
            </a:r>
            <a:r>
              <a:rPr lang="en-US" altLang="ko-KR" sz="2400" dirty="0"/>
              <a:t>, </a:t>
            </a:r>
            <a:r>
              <a:rPr lang="ko-KR" altLang="en-US" sz="2400" dirty="0"/>
              <a:t>최소신장트리</a:t>
            </a:r>
            <a:r>
              <a:rPr lang="en-US" altLang="ko-KR" sz="2400" dirty="0"/>
              <a:t>)</a:t>
            </a:r>
            <a:br>
              <a:rPr lang="en-US" altLang="ko-KR" sz="2400" dirty="0"/>
            </a:br>
            <a:r>
              <a:rPr lang="en-US" altLang="ko-KR" sz="2400" dirty="0"/>
              <a:t>hhttp://210.93.60.51/problem/0189</a:t>
            </a:r>
            <a:br>
              <a:rPr lang="en-US" altLang="ko-KR" sz="2400" dirty="0"/>
            </a:br>
            <a:r>
              <a:rPr lang="en-US" altLang="ko-KR" sz="2400" dirty="0"/>
              <a:t>https://www.acmicpc.net/problem/1647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마을은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집과 그 집들을 연결하는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길로 이루어져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각 길마다 길을 유지하는데 드는 유지비가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임의의 두 집 사이에 경로가 항상 존재한다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마을을 두 개의 분리된 마을로 분할하려고 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조건을 만족하도록 길들을 모두 없애고 나머지 길의 유지비의 합을 최소로 하고 싶다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dirty="0">
                <a:solidFill>
                  <a:srgbClr val="0000FF"/>
                </a:solidFill>
              </a:rPr>
              <a:t>사이클을 형성하지 않는 최소 신장 트리에서 최대 비용 간선 하나를 제거하면 </a:t>
            </a:r>
            <a:r>
              <a:rPr lang="en-US" altLang="ko-KR" sz="2000" dirty="0">
                <a:solidFill>
                  <a:srgbClr val="0000FF"/>
                </a:solidFill>
              </a:rPr>
              <a:t>2</a:t>
            </a:r>
            <a:r>
              <a:rPr lang="ko-KR" altLang="en-US" sz="2000" dirty="0">
                <a:solidFill>
                  <a:srgbClr val="0000FF"/>
                </a:solidFill>
              </a:rPr>
              <a:t>마을이 된다</a:t>
            </a:r>
            <a:r>
              <a:rPr lang="en-US" altLang="ko-KR" sz="2000" dirty="0">
                <a:solidFill>
                  <a:srgbClr val="0000FF"/>
                </a:solidFill>
              </a:rPr>
              <a:t>.</a:t>
            </a:r>
            <a:endParaRPr lang="ko-KR" altLang="en-US" sz="2000" dirty="0">
              <a:solidFill>
                <a:srgbClr val="0000FF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000A51-72B8-CD58-5809-8D5F5A298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1F65D26-7169-0332-1DB2-97AED1E8E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95536" y="344203"/>
            <a:ext cx="8229600" cy="1597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5E488B-66AA-C82F-6B34-DEDA1035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DD99E-D668-4376-B66F-2C364460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997FF5-9686-31BC-B6C2-650DA23EC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69" y="2388085"/>
            <a:ext cx="3907078" cy="35428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50C3E7B-DEBB-59D0-9B01-6FD85FADB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145" y="2060848"/>
            <a:ext cx="2652724" cy="433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35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2. </a:t>
            </a:r>
            <a:r>
              <a:rPr lang="ko-KR" altLang="en-US" sz="2800" dirty="0"/>
              <a:t>선수과목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, DAG </a:t>
            </a:r>
            <a:r>
              <a:rPr lang="ko-KR" altLang="en-US" sz="2800" dirty="0" err="1"/>
              <a:t>위상정렬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http://210.93.60.51/problem/0190</a:t>
            </a:r>
            <a:br>
              <a:rPr lang="en-US" altLang="ko-KR" sz="2000" dirty="0"/>
            </a:br>
            <a:r>
              <a:rPr lang="en-US" altLang="ko-KR" sz="2000" dirty="0"/>
              <a:t>https://www.acmicpc.net/problem/14567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첫 번째 줄에 과목의 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N(1 ≤ N ≤ 1000)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선수 조건의 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M(0 ≤ M ≤ 500000)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선수과목 조건은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개의 줄에 걸쳐 한 줄에 정수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A B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형태로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A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과목의 선수과목이다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A &lt; 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인 입력만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(1 ≤ A &lt; B ≤ N)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과목부터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과목까지 차례대로 최소 몇 학기에 이수할 수 있는지를 한 줄에 공백으로 구분하여 출력한다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 err="1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위상정렬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 알고리즘 수행하면서 처음 </a:t>
            </a:r>
            <a:r>
              <a:rPr lang="ko-KR" altLang="en-US" sz="1800" b="0" i="0" dirty="0" err="1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진입차수가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0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인 과목은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학기에 수강함</a:t>
            </a:r>
            <a:endParaRPr lang="en-US" altLang="ko-KR" sz="1800" b="0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새롭게 </a:t>
            </a:r>
            <a:r>
              <a:rPr lang="ko-KR" altLang="en-US" sz="1800" b="0" i="0" dirty="0" err="1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진입차수가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0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이 된 과목은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now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과목 수강학기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+ 1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에 수강</a:t>
            </a:r>
          </a:p>
          <a:p>
            <a:pPr algn="just"/>
            <a:endParaRPr lang="ko-KR" altLang="en-US" sz="1800" b="0" i="0" dirty="0"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ADF436-68FC-63AF-4F61-67E7A416F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60" y="4221088"/>
            <a:ext cx="6732240" cy="23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9D5164-94FC-7212-C495-C779A922B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3FAE056-F8A6-2D4E-A1DA-89F127F2D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95536" y="274638"/>
            <a:ext cx="8229600" cy="994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7AAA5A-94F8-5B82-EAB5-DBF4A483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3D90E4-2EB8-ABBD-DE05-E3AD7F70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DB5FD4-1D44-1FEE-1DD4-859644170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46" y="1457468"/>
            <a:ext cx="3024336" cy="51258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CDFB566-2B71-E9EC-DF93-6FA9C6682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328" y="2060848"/>
            <a:ext cx="4220164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06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BB38D-BADF-4D67-DA0B-2B937EC8E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8F553-E326-0AC7-F5D2-5582DC6D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작업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위상정렬</a:t>
            </a:r>
            <a:r>
              <a:rPr lang="en-US" altLang="ko-KR" sz="2800" dirty="0"/>
              <a:t>, DP)</a:t>
            </a:r>
            <a:br>
              <a:rPr lang="en-US" altLang="ko-KR" sz="2800" dirty="0"/>
            </a:br>
            <a:r>
              <a:rPr lang="en-US" altLang="ko-KR" sz="2000" dirty="0"/>
              <a:t>http://210.93.60.51/problem/0191</a:t>
            </a:r>
            <a:br>
              <a:rPr lang="en-US" altLang="ko-KR" sz="2000" dirty="0"/>
            </a:br>
            <a:r>
              <a:rPr lang="en-US" altLang="ko-KR" sz="2000" dirty="0"/>
              <a:t>https://www.acmicpc.net/problem/2056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27ADE0-5112-4515-A7E9-0E9634BC8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FFB81C-ABC9-33ED-B61B-DFB8988D3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작업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(3 ≤ N ≤ 10000)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각각의 작업마다 걸리는 시간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(1 ≤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시간 ≤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정수로 주어진다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작업에 대해 선행 관계에 있는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즉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K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작업을 시작하기 전에 반드시 먼저 완료되어야 하는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작업들의 번호는 모두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이상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(K-1)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이하이다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작업들 중에는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그것에 대해 선행 관계에 있는 작업이 하나도 없는 작업이 반드시 하나 이상 존재한다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(1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작업이 항상 그러하다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모든 작업을 완료하기 위해 필요한 최소 시간을 구하여라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물론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서로 선행 관계가 없는 작업들은 동시에 수행 가능하다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다이나믹 프로그래밍 </a:t>
            </a:r>
            <a:endParaRPr lang="en-US" altLang="ko-KR" sz="1800" b="1" dirty="0">
              <a:solidFill>
                <a:srgbClr val="0000FF"/>
              </a:solidFill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 = 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작업의 수행시간</a:t>
            </a:r>
            <a:endParaRPr lang="en-US" altLang="ko-KR" sz="1800" b="1" dirty="0">
              <a:solidFill>
                <a:srgbClr val="0000FF"/>
              </a:solidFill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점화식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 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 = max(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], 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dp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[now]+T[</a:t>
            </a:r>
            <a:r>
              <a:rPr lang="en-US" altLang="ko-KR" sz="1800" b="1" dirty="0" err="1">
                <a:solidFill>
                  <a:srgbClr val="0000FF"/>
                </a:solidFill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]) 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각 작업의 수행 시간</a:t>
            </a:r>
            <a:endParaRPr lang="ko-KR" altLang="en-US" sz="1800" b="1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307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6DAA4-767A-E2AF-8581-A6EC67A47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8668FB2-1EFF-7A35-6A69-67FABC083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119960"/>
            <a:ext cx="7416824" cy="240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B81D1A-B819-92F1-4D1B-EF7D4A0B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7DFA15-378B-B870-C83A-083A42596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2C6099-6F46-9AA4-C392-4DF9AAEEB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636912"/>
            <a:ext cx="2512725" cy="355407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39989B-A074-F2FB-F7A2-E81E6015D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20" y="2636912"/>
            <a:ext cx="3189120" cy="350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8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개인정보수집유효기간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800" dirty="0"/>
              <a:t> </a:t>
            </a:r>
            <a:r>
              <a:rPr lang="en-US" altLang="ko-KR" sz="2000" dirty="0"/>
              <a:t>https://school.programmers.co.kr/learn/courses/30/lessons/150370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F3B8B4-350A-50A3-AE91-CB80AA09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오늘 날짜를 의미하는 문자열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today,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약관의 유효기간을 담은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문자열 배열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terms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수집된 개인정보의 정보를 담은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문자열 배열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privacies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매개변수로 주어집니다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이때 파기해야 할 개인정보의 번호를 오름차순으로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정수 배열에 담아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return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하도록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solution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함수를 완성해 주세요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2000 ≤ YYYY ≤ 2022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≤ MM ≤ 12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≤ DD ≤ 28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266035-7E61-F4D4-060E-1BCAEE4D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41A8AD8-BAEF-98DF-9728-F40C150AC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3284983"/>
            <a:ext cx="6590192" cy="303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D735E-4E3F-0286-4BD4-5140EC6C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4575A88-687D-F454-CAE0-EC20D7D78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9512" y="980728"/>
            <a:ext cx="2385355" cy="4245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B56EA-FD00-0066-E2C7-834CCA5B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CFBF05-C52B-D4CB-4FA4-B9E5ACEA0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6B2795-6A27-55A6-674F-3889D4150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867" y="354657"/>
            <a:ext cx="3252065" cy="54368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379E26C-866E-5128-DA57-CDCA2983F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1703049"/>
            <a:ext cx="2850546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00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D464-ABF4-2534-91B9-7A4E1C34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699D2-E1C4-C3CB-3E1E-95ED4F07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82154"/>
          </a:xfrm>
        </p:spPr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신규 아이디어 추천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https://school.programmers.co.kr/learn/courses/30/lessons/72410</a:t>
            </a:r>
            <a:br>
              <a:rPr lang="en-US" altLang="ko-KR" sz="2800" dirty="0"/>
            </a:b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C0934D-9D8D-8BDD-1B5F-8368C579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D1FCD0-6DD4-9CA7-B754-4B5A8AD17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D1A740D-35B8-5DF0-0995-BB402FE01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12776"/>
            <a:ext cx="8640960" cy="4713387"/>
          </a:xfrm>
        </p:spPr>
        <p:txBody>
          <a:bodyPr/>
          <a:lstStyle/>
          <a:p>
            <a:r>
              <a:rPr lang="en-US" altLang="ko-KR" sz="2000" b="1" dirty="0">
                <a:solidFill>
                  <a:srgbClr val="0000FF"/>
                </a:solidFill>
              </a:rPr>
              <a:t>1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모든 대문자를 대응되는 소문자로 치환합니다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2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에서 알파벳 소문자</a:t>
            </a:r>
            <a:r>
              <a:rPr lang="en-US" altLang="ko-KR" sz="2000" dirty="0"/>
              <a:t>, </a:t>
            </a:r>
            <a:r>
              <a:rPr lang="ko-KR" altLang="en-US" sz="2000" dirty="0"/>
              <a:t>숫자</a:t>
            </a:r>
            <a:r>
              <a:rPr lang="en-US" altLang="ko-KR" sz="2000" dirty="0"/>
              <a:t>, </a:t>
            </a:r>
            <a:r>
              <a:rPr lang="ko-KR" altLang="en-US" sz="2000" dirty="0"/>
              <a:t>빼기</a:t>
            </a:r>
            <a:r>
              <a:rPr lang="en-US" altLang="ko-KR" sz="2000" dirty="0"/>
              <a:t>(-), </a:t>
            </a:r>
            <a:r>
              <a:rPr lang="ko-KR" altLang="en-US" sz="2000" dirty="0"/>
              <a:t>밑줄</a:t>
            </a:r>
            <a:r>
              <a:rPr lang="en-US" altLang="ko-KR" sz="2000" dirty="0"/>
              <a:t>(_), </a:t>
            </a:r>
            <a:r>
              <a:rPr lang="ko-KR" altLang="en-US" sz="2000" dirty="0"/>
              <a:t>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를 제외한 모든 문자를 제거합니다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3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에서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가 </a:t>
            </a:r>
            <a:r>
              <a:rPr lang="en-US" altLang="ko-KR" sz="2000" dirty="0"/>
              <a:t>2</a:t>
            </a:r>
            <a:r>
              <a:rPr lang="ko-KR" altLang="en-US" sz="2000" dirty="0"/>
              <a:t>번 이상 연속된 부분을 하나의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로 치환합니다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4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에서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가 처음이나 끝에 위치한다면 제거합니다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5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가 빈 문자열이라면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에 </a:t>
            </a:r>
            <a:r>
              <a:rPr lang="en-US" altLang="ko-KR" sz="2000" dirty="0"/>
              <a:t>"a"</a:t>
            </a:r>
            <a:r>
              <a:rPr lang="ko-KR" altLang="en-US" sz="2000" dirty="0"/>
              <a:t>를 대입합니다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6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길이가 </a:t>
            </a:r>
            <a:r>
              <a:rPr lang="en-US" altLang="ko-KR" sz="2000" dirty="0"/>
              <a:t>16</a:t>
            </a:r>
            <a:r>
              <a:rPr lang="ko-KR" altLang="en-US" sz="2000" dirty="0"/>
              <a:t>자 이상이면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첫 </a:t>
            </a:r>
            <a:r>
              <a:rPr lang="en-US" altLang="ko-KR" sz="2000" dirty="0"/>
              <a:t>15</a:t>
            </a:r>
            <a:r>
              <a:rPr lang="ko-KR" altLang="en-US" sz="2000" dirty="0"/>
              <a:t>개의 문자를 제외한 나머지 문자들을 모두 제거합니다</a:t>
            </a:r>
            <a:r>
              <a:rPr lang="en-US" altLang="ko-KR" sz="2000" dirty="0"/>
              <a:t>. </a:t>
            </a:r>
            <a:r>
              <a:rPr lang="ko-KR" altLang="en-US" sz="2000" dirty="0"/>
              <a:t>만약 제거 후 마침표</a:t>
            </a:r>
            <a:r>
              <a:rPr lang="en-US" altLang="ko-KR" sz="2000" dirty="0"/>
              <a:t>(.)</a:t>
            </a:r>
            <a:r>
              <a:rPr lang="ko-KR" altLang="en-US" sz="2000" dirty="0"/>
              <a:t>가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끝에 위치한다면 끝에 위치한 마침표</a:t>
            </a:r>
            <a:r>
              <a:rPr lang="en-US" altLang="ko-KR" sz="2000" dirty="0"/>
              <a:t>(.) </a:t>
            </a:r>
            <a:r>
              <a:rPr lang="ko-KR" altLang="en-US" sz="2000" dirty="0"/>
              <a:t>문자를 제거합니다</a:t>
            </a:r>
            <a:r>
              <a:rPr lang="en-US" altLang="ko-KR" sz="2000" dirty="0"/>
              <a:t>. </a:t>
            </a:r>
          </a:p>
          <a:p>
            <a:r>
              <a:rPr lang="en-US" altLang="ko-KR" sz="2000" b="1" dirty="0">
                <a:solidFill>
                  <a:srgbClr val="0000FF"/>
                </a:solidFill>
              </a:rPr>
              <a:t>7</a:t>
            </a:r>
            <a:r>
              <a:rPr lang="ko-KR" altLang="en-US" sz="2000" b="1" dirty="0">
                <a:solidFill>
                  <a:srgbClr val="0000FF"/>
                </a:solidFill>
              </a:rPr>
              <a:t>단계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길이가 </a:t>
            </a:r>
            <a:r>
              <a:rPr lang="en-US" altLang="ko-KR" sz="2000" dirty="0"/>
              <a:t>2</a:t>
            </a:r>
            <a:r>
              <a:rPr lang="ko-KR" altLang="en-US" sz="2000" dirty="0"/>
              <a:t>자 이하라면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마지막 문자를 </a:t>
            </a:r>
            <a:r>
              <a:rPr lang="en-US" altLang="ko-KR" sz="2000" dirty="0" err="1"/>
              <a:t>new_id</a:t>
            </a:r>
            <a:r>
              <a:rPr lang="ko-KR" altLang="en-US" sz="2000" dirty="0"/>
              <a:t>의 길이가 </a:t>
            </a:r>
            <a:r>
              <a:rPr lang="en-US" altLang="ko-KR" sz="2000" dirty="0"/>
              <a:t>3</a:t>
            </a:r>
            <a:r>
              <a:rPr lang="ko-KR" altLang="en-US" sz="2000" dirty="0"/>
              <a:t>이 될 때까지 반복해서 끝에 붙입니다</a:t>
            </a:r>
            <a:r>
              <a:rPr lang="en-US" altLang="ko-KR" sz="2000" dirty="0"/>
              <a:t>.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02753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32B032-4223-3710-DBF8-68111552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772A329-4F16-2A27-7279-2D6EBBA59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7504" y="908720"/>
            <a:ext cx="2212394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CA4898-ADCC-AC3B-A4BC-D820E996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D1D747-FEAB-919C-2019-9C132ACE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4E07983-B95E-1FB1-DFED-8B481BF2E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899" y="563923"/>
            <a:ext cx="3415452" cy="545736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58A620A-510F-B87F-3F75-D05F3183C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7" y="1837814"/>
            <a:ext cx="3485807" cy="391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72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4800</TotalTime>
  <Words>845</Words>
  <Application>Microsoft Office PowerPoint</Application>
  <PresentationFormat>화면 슬라이드 쇼(4:3)</PresentationFormat>
  <Paragraphs>74</Paragraphs>
  <Slides>14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굴림</vt:lpstr>
      <vt:lpstr>맑은 고딕</vt:lpstr>
      <vt:lpstr>맑은 고딕</vt:lpstr>
      <vt:lpstr>Arial</vt:lpstr>
      <vt:lpstr>Open Sans</vt:lpstr>
      <vt:lpstr>Office 테마</vt:lpstr>
      <vt:lpstr>숙제8. 기타 그래프 이론 (Union-Find 자료구조, 최소신장트리, 위상정렬) </vt:lpstr>
      <vt:lpstr>백준 온라인저지  https://www.acmicpc.net/</vt:lpstr>
      <vt:lpstr>TUKorea 온라인저지  http://210.93.60.51/</vt:lpstr>
      <vt:lpstr>Programmers https://school.programmers.co.kr/</vt:lpstr>
      <vt:lpstr>1. 도시분할계획 (TUKorea, 백준, 최소신장트리) hhttp://210.93.60.51/problem/0189 https://www.acmicpc.net/problem/1647</vt:lpstr>
      <vt:lpstr>PowerPoint 프레젠테이션</vt:lpstr>
      <vt:lpstr>2. 선수과목(TUKorea, 백준, DAG 위상정렬) http://210.93.60.51/problem/0190 https://www.acmicpc.net/problem/14567</vt:lpstr>
      <vt:lpstr>PowerPoint 프레젠테이션</vt:lpstr>
      <vt:lpstr>3. 작업 (TUKorea, 백준, 위상정렬, DP) http://210.93.60.51/problem/0191 https://www.acmicpc.net/problem/2056</vt:lpstr>
      <vt:lpstr>PowerPoint 프레젠테이션</vt:lpstr>
      <vt:lpstr>4. 개인정보수집유효기간 (Programmers, 구현)  https://school.programmers.co.kr/learn/courses/30/lessons/150370</vt:lpstr>
      <vt:lpstr>PowerPoint 프레젠테이션</vt:lpstr>
      <vt:lpstr>5. 신규 아이디어 추천(Programmers, 구현)  https://school.programmers.co.kr/learn/courses/30/lessons/72410 </vt:lpstr>
      <vt:lpstr>PowerPoint 프레젠테이션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280</cp:revision>
  <cp:lastPrinted>2023-07-23T09:30:34Z</cp:lastPrinted>
  <dcterms:created xsi:type="dcterms:W3CDTF">2008-03-02T04:39:19Z</dcterms:created>
  <dcterms:modified xsi:type="dcterms:W3CDTF">2026-06-06T06:45:34Z</dcterms:modified>
</cp:coreProperties>
</file>