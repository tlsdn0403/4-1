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84" r:id="rId1"/>
  </p:sldMasterIdLst>
  <p:notesMasterIdLst>
    <p:notesMasterId r:id="rId13"/>
  </p:notesMasterIdLst>
  <p:sldIdLst>
    <p:sldId id="258" r:id="rId2"/>
    <p:sldId id="334" r:id="rId3"/>
    <p:sldId id="335" r:id="rId4"/>
    <p:sldId id="259" r:id="rId5"/>
    <p:sldId id="336" r:id="rId6"/>
    <p:sldId id="337" r:id="rId7"/>
    <p:sldId id="338" r:id="rId8"/>
    <p:sldId id="339" r:id="rId9"/>
    <p:sldId id="340" r:id="rId10"/>
    <p:sldId id="341" r:id="rId11"/>
    <p:sldId id="342" r:id="rId12"/>
  </p:sldIdLst>
  <p:sldSz cx="9144000" cy="6858000" type="screen4x3"/>
  <p:notesSz cx="6796088" cy="9926638"/>
  <p:defaultTextStyle>
    <a:defPPr>
      <a:defRPr lang="ko-KR"/>
    </a:defPPr>
    <a:lvl1pPr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11" autoAdjust="0"/>
    <p:restoredTop sz="94660"/>
  </p:normalViewPr>
  <p:slideViewPr>
    <p:cSldViewPr>
      <p:cViewPr varScale="1">
        <p:scale>
          <a:sx n="94" d="100"/>
          <a:sy n="94" d="100"/>
        </p:scale>
        <p:origin x="60" y="32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4813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latinLnBrk="1" hangingPunct="1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49688" y="0"/>
            <a:ext cx="2944812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latinLnBrk="1" hangingPunct="1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D755AD21-19C0-49A3-8C7F-3EE70D30FEBF}" type="datetimeFigureOut">
              <a:rPr lang="ko-KR" altLang="en-US"/>
              <a:pPr>
                <a:defRPr/>
              </a:pPr>
              <a:t>2025-02-12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917575" y="744538"/>
            <a:ext cx="4962525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ko-KR" altLang="en-US" noProof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9450" y="4714875"/>
            <a:ext cx="5437188" cy="44672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noProof="0"/>
              <a:t>마스터 텍스트 스타일을 편집합니다</a:t>
            </a:r>
          </a:p>
          <a:p>
            <a:pPr lvl="1"/>
            <a:r>
              <a:rPr lang="ko-KR" altLang="en-US" noProof="0"/>
              <a:t>둘째 수준</a:t>
            </a:r>
          </a:p>
          <a:p>
            <a:pPr lvl="2"/>
            <a:r>
              <a:rPr lang="ko-KR" altLang="en-US" noProof="0"/>
              <a:t>셋째 수준</a:t>
            </a:r>
          </a:p>
          <a:p>
            <a:pPr lvl="3"/>
            <a:r>
              <a:rPr lang="ko-KR" altLang="en-US" noProof="0"/>
              <a:t>넷째 수준</a:t>
            </a:r>
          </a:p>
          <a:p>
            <a:pPr lvl="4"/>
            <a:r>
              <a:rPr lang="ko-KR" altLang="en-US" noProof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28163"/>
            <a:ext cx="2944813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latinLnBrk="1" hangingPunct="1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49688" y="9428163"/>
            <a:ext cx="2944812" cy="496887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latinLnBrk="1" hangingPunct="1">
              <a:defRPr kumimoji="0" sz="1200" smtClean="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F8CEB46D-9B0E-47D1-8684-1DB50B81E07A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363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5364" name="슬라이드 번호 개체 틀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399BD248-42D7-44D8-991C-BF0E4233C8AD}" type="slidenum">
              <a:rPr lang="ko-KR" altLang="en-US"/>
              <a:pPr>
                <a:spcBef>
                  <a:spcPct val="0"/>
                </a:spcBef>
              </a:pPr>
              <a:t>1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ECE528-7F58-8114-7800-EFA4906820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슬라이드 이미지 개체 틀 1">
            <a:extLst>
              <a:ext uri="{FF2B5EF4-FFF2-40B4-BE49-F238E27FC236}">
                <a16:creationId xmlns:a16="http://schemas.microsoft.com/office/drawing/2014/main" id="{301D9848-AD40-DF15-D243-28D631A9CD52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7411" name="슬라이드 노트 개체 틀 2">
            <a:extLst>
              <a:ext uri="{FF2B5EF4-FFF2-40B4-BE49-F238E27FC236}">
                <a16:creationId xmlns:a16="http://schemas.microsoft.com/office/drawing/2014/main" id="{091CA6EA-ABB6-24D8-9BAE-97421D8EE256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7412" name="슬라이드 번호 개체 틀 3">
            <a:extLst>
              <a:ext uri="{FF2B5EF4-FFF2-40B4-BE49-F238E27FC236}">
                <a16:creationId xmlns:a16="http://schemas.microsoft.com/office/drawing/2014/main" id="{937960F0-1989-1616-5FDB-55CF6FAE061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AE97164F-AFE0-47CF-AE29-34AF6F04086E}" type="slidenum">
              <a:rPr lang="ko-KR" altLang="en-US"/>
              <a:pPr>
                <a:spcBef>
                  <a:spcPct val="0"/>
                </a:spcBef>
              </a:pPr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3221267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08FF79-6E0B-4FCD-4276-D4CAA1B9B7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슬라이드 이미지 개체 틀 1">
            <a:extLst>
              <a:ext uri="{FF2B5EF4-FFF2-40B4-BE49-F238E27FC236}">
                <a16:creationId xmlns:a16="http://schemas.microsoft.com/office/drawing/2014/main" id="{2C6B5741-4F6C-4D1A-EEF6-369E9297ED61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7411" name="슬라이드 노트 개체 틀 2">
            <a:extLst>
              <a:ext uri="{FF2B5EF4-FFF2-40B4-BE49-F238E27FC236}">
                <a16:creationId xmlns:a16="http://schemas.microsoft.com/office/drawing/2014/main" id="{73D3F1C7-091C-1E87-193D-1AF1F221AD6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7412" name="슬라이드 번호 개체 틀 3">
            <a:extLst>
              <a:ext uri="{FF2B5EF4-FFF2-40B4-BE49-F238E27FC236}">
                <a16:creationId xmlns:a16="http://schemas.microsoft.com/office/drawing/2014/main" id="{6F198135-18B5-ED7B-0127-7B81C3306D7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AE97164F-AFE0-47CF-AE29-34AF6F04086E}" type="slidenum">
              <a:rPr lang="ko-KR" altLang="en-US"/>
              <a:pPr>
                <a:spcBef>
                  <a:spcPct val="0"/>
                </a:spcBef>
              </a:pPr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9739858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7411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7412" name="슬라이드 번호 개체 틀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AE97164F-AFE0-47CF-AE29-34AF6F04086E}" type="slidenum">
              <a:rPr lang="ko-KR" altLang="en-US"/>
              <a:pPr>
                <a:spcBef>
                  <a:spcPct val="0"/>
                </a:spcBef>
              </a:pPr>
              <a:t>4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1688F8-5F87-5720-444A-1721D475DE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D00004F-D8EA-614A-3DBC-3E425426DAD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B41AE31-036B-30BC-DCF7-1F84F0D2C2F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53BF956-C273-78EE-309C-C157A256EC9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8CEB46D-9B0E-47D1-8684-1DB50B81E07A}" type="slidenum">
              <a:rPr lang="ko-KR" altLang="en-US" smtClean="0"/>
              <a:pPr>
                <a:defRPr/>
              </a:pPr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385503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332295-AB65-DAB2-4B2B-6214B5399D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72FE399-1B8E-044C-8145-04FF4C8EB96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ACEA629-1B19-2CFA-FC0C-97ED8A476A7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876750F-CB33-8A29-A3EA-4DE2D502A5A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8CEB46D-9B0E-47D1-8684-1DB50B81E07A}" type="slidenum">
              <a:rPr lang="ko-KR" altLang="en-US" smtClean="0"/>
              <a:pPr>
                <a:defRPr/>
              </a:pPr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2486028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F56792-832E-13FA-94BC-7ACEE22FBB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616441A-2C0D-A261-B3C1-D8F2246E47A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D21E873-B002-D055-8458-EB40E83D935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C00073A-DE3E-052D-1B07-084635D8C4F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8CEB46D-9B0E-47D1-8684-1DB50B81E07A}" type="slidenum">
              <a:rPr lang="ko-KR" altLang="en-US" smtClean="0"/>
              <a:pPr>
                <a:defRPr/>
              </a:pPr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6444983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4AF4A5-5617-2BA3-1998-B43431DBBA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067605B-0E30-2C3F-90AB-0349812CBDA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A6FCDA3-DE81-C79D-7CFA-90D64473B97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5E7FB2C-EF50-069C-CDBF-B40305EF9A5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8CEB46D-9B0E-47D1-8684-1DB50B81E07A}" type="slidenum">
              <a:rPr lang="ko-KR" altLang="en-US" smtClean="0"/>
              <a:pPr>
                <a:defRPr/>
              </a:pPr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3422993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751EF1-E9DF-8DD8-6BD7-C8A34CB167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B111B76-D485-1E66-9285-3C6CA801F78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39C60FE-910F-FE1F-EBB4-4A99E1F3A74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B627192-1C93-BADE-3D34-02904F58F73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8CEB46D-9B0E-47D1-8684-1DB50B81E07A}" type="slidenum">
              <a:rPr lang="ko-KR" altLang="en-US" smtClean="0"/>
              <a:pPr>
                <a:defRPr/>
              </a:pPr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5147423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8D8154-5674-3592-043C-ED5B85D562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4196531-8DAF-7C4B-C085-A0F72FDF03D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F11258C-00BC-693E-9655-C702C0AED59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FE7B02C-31F7-C577-64B6-706B91BEEA2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8CEB46D-9B0E-47D1-8684-1DB50B81E07A}" type="slidenum">
              <a:rPr lang="ko-KR" altLang="en-US" smtClean="0"/>
              <a:pPr>
                <a:defRPr/>
              </a:pPr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3122915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D52332-AAF9-4FC3-27D4-FF387BB51D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72EC88A-24FD-3F5A-F762-347726538DF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AFB67B0-C1D0-FE4B-D478-FD17D37F26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2984D97-01B7-B86F-9FFA-852F30D9A86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8CEB46D-9B0E-47D1-8684-1DB50B81E07A}" type="slidenum">
              <a:rPr lang="ko-KR" altLang="en-US" smtClean="0"/>
              <a:pPr>
                <a:defRPr/>
              </a:pPr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4554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모서리가 둥근 직사각형 3"/>
          <p:cNvSpPr/>
          <p:nvPr userDrawn="1"/>
        </p:nvSpPr>
        <p:spPr>
          <a:xfrm>
            <a:off x="142875" y="142875"/>
            <a:ext cx="8858250" cy="6572250"/>
          </a:xfrm>
          <a:prstGeom prst="roundRect">
            <a:avLst>
              <a:gd name="adj" fmla="val 7328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5" name="날짜 개체 틀 3"/>
          <p:cNvSpPr>
            <a:spLocks noGrp="1"/>
          </p:cNvSpPr>
          <p:nvPr>
            <p:ph type="dt" sz="half" idx="10"/>
          </p:nvPr>
        </p:nvSpPr>
        <p:spPr>
          <a:xfrm>
            <a:off x="214313" y="6356350"/>
            <a:ext cx="2643187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2008</a:t>
            </a:r>
            <a:r>
              <a:rPr lang="ko-KR" altLang="en-US"/>
              <a:t>년</a:t>
            </a:r>
            <a:r>
              <a:rPr lang="en-US" altLang="ko-KR"/>
              <a:t>1</a:t>
            </a:r>
            <a:r>
              <a:rPr lang="ko-KR" altLang="en-US"/>
              <a:t>학기 </a:t>
            </a:r>
            <a:r>
              <a:rPr lang="en-US" altLang="ko-KR"/>
              <a:t>STL </a:t>
            </a:r>
            <a:r>
              <a:rPr lang="ko-KR" altLang="en-US"/>
              <a:t>담당교수</a:t>
            </a:r>
            <a:r>
              <a:rPr lang="en-US" altLang="ko-KR"/>
              <a:t>:</a:t>
            </a:r>
            <a:r>
              <a:rPr lang="ko-KR" altLang="en-US"/>
              <a:t>김영식</a:t>
            </a:r>
            <a:endParaRPr lang="ko-KR" altLang="en-US" dirty="0"/>
          </a:p>
        </p:txBody>
      </p:sp>
      <p:sp>
        <p:nvSpPr>
          <p:cNvPr id="6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729CDB7A-47E2-4059-8EF4-A0640D1BC94E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092036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모서리가 둥근 직사각형 3"/>
          <p:cNvSpPr/>
          <p:nvPr userDrawn="1"/>
        </p:nvSpPr>
        <p:spPr>
          <a:xfrm>
            <a:off x="142875" y="142875"/>
            <a:ext cx="8858250" cy="6572250"/>
          </a:xfrm>
          <a:prstGeom prst="roundRect">
            <a:avLst>
              <a:gd name="adj" fmla="val 7328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68346"/>
          </a:xfrm>
        </p:spPr>
        <p:txBody>
          <a:bodyPr/>
          <a:lstStyle>
            <a:lvl1pPr>
              <a:defRPr sz="3600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57200" y="1285860"/>
            <a:ext cx="8229600" cy="484030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5" name="날짜 개체 틀 3"/>
          <p:cNvSpPr>
            <a:spLocks noGrp="1"/>
          </p:cNvSpPr>
          <p:nvPr>
            <p:ph type="dt" sz="half" idx="10"/>
          </p:nvPr>
        </p:nvSpPr>
        <p:spPr>
          <a:xfrm>
            <a:off x="266700" y="6356350"/>
            <a:ext cx="37338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2008</a:t>
            </a:r>
            <a:r>
              <a:rPr lang="ko-KR" altLang="en-US"/>
              <a:t>년</a:t>
            </a:r>
            <a:r>
              <a:rPr lang="en-US" altLang="ko-KR"/>
              <a:t>2</a:t>
            </a:r>
            <a:r>
              <a:rPr lang="ko-KR" altLang="en-US"/>
              <a:t>학기 </a:t>
            </a:r>
            <a:r>
              <a:rPr lang="en-US" altLang="ko-KR"/>
              <a:t>3D</a:t>
            </a:r>
            <a:r>
              <a:rPr lang="ko-KR" altLang="en-US"/>
              <a:t>게임프로그래밍</a:t>
            </a:r>
            <a:r>
              <a:rPr lang="en-US" altLang="ko-KR"/>
              <a:t>II </a:t>
            </a:r>
            <a:r>
              <a:rPr lang="ko-KR" altLang="en-US"/>
              <a:t>담당교수</a:t>
            </a:r>
            <a:r>
              <a:rPr lang="en-US" altLang="ko-KR"/>
              <a:t>:</a:t>
            </a:r>
            <a:r>
              <a:rPr lang="ko-KR" altLang="en-US"/>
              <a:t>김영식</a:t>
            </a:r>
          </a:p>
        </p:txBody>
      </p:sp>
      <p:sp>
        <p:nvSpPr>
          <p:cNvPr id="6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A268DA64-E15D-4814-A1DA-86D92D550423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657845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모서리가 둥근 직사각형 3"/>
          <p:cNvSpPr/>
          <p:nvPr userDrawn="1"/>
        </p:nvSpPr>
        <p:spPr>
          <a:xfrm>
            <a:off x="142875" y="142875"/>
            <a:ext cx="8858250" cy="6572250"/>
          </a:xfrm>
          <a:prstGeom prst="roundRect">
            <a:avLst>
              <a:gd name="adj" fmla="val 7328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3"/>
          <p:cNvSpPr>
            <a:spLocks noGrp="1"/>
          </p:cNvSpPr>
          <p:nvPr>
            <p:ph type="dt" sz="half" idx="10"/>
          </p:nvPr>
        </p:nvSpPr>
        <p:spPr>
          <a:xfrm>
            <a:off x="266700" y="6356350"/>
            <a:ext cx="25908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2008</a:t>
            </a:r>
            <a:r>
              <a:rPr lang="ko-KR" altLang="en-US"/>
              <a:t>년</a:t>
            </a:r>
            <a:r>
              <a:rPr lang="en-US" altLang="ko-KR"/>
              <a:t>1</a:t>
            </a:r>
            <a:r>
              <a:rPr lang="ko-KR" altLang="en-US"/>
              <a:t>학기 </a:t>
            </a:r>
            <a:r>
              <a:rPr lang="en-US" altLang="ko-KR"/>
              <a:t>STL </a:t>
            </a:r>
            <a:r>
              <a:rPr lang="ko-KR" altLang="en-US"/>
              <a:t>담당교수</a:t>
            </a:r>
            <a:r>
              <a:rPr lang="en-US" altLang="ko-KR"/>
              <a:t>:</a:t>
            </a:r>
            <a:r>
              <a:rPr lang="ko-KR" altLang="en-US"/>
              <a:t>김영식</a:t>
            </a:r>
          </a:p>
        </p:txBody>
      </p:sp>
      <p:sp>
        <p:nvSpPr>
          <p:cNvPr id="6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9D6C9443-308F-41EB-9403-36E994EE3C1A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039374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모서리가 둥근 직사각형 4"/>
          <p:cNvSpPr/>
          <p:nvPr userDrawn="1"/>
        </p:nvSpPr>
        <p:spPr>
          <a:xfrm>
            <a:off x="142875" y="142875"/>
            <a:ext cx="8858250" cy="6572250"/>
          </a:xfrm>
          <a:prstGeom prst="roundRect">
            <a:avLst>
              <a:gd name="adj" fmla="val 7328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날짜 개체 틀 4"/>
          <p:cNvSpPr>
            <a:spLocks noGrp="1"/>
          </p:cNvSpPr>
          <p:nvPr>
            <p:ph type="dt" sz="half" idx="10"/>
          </p:nvPr>
        </p:nvSpPr>
        <p:spPr>
          <a:xfrm>
            <a:off x="0" y="6356350"/>
            <a:ext cx="25908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2008</a:t>
            </a:r>
            <a:r>
              <a:rPr lang="ko-KR" altLang="en-US"/>
              <a:t>년</a:t>
            </a:r>
            <a:r>
              <a:rPr lang="en-US" altLang="ko-KR"/>
              <a:t>1</a:t>
            </a:r>
            <a:r>
              <a:rPr lang="ko-KR" altLang="en-US"/>
              <a:t>학기 </a:t>
            </a:r>
            <a:r>
              <a:rPr lang="en-US" altLang="ko-KR"/>
              <a:t>STL </a:t>
            </a:r>
            <a:r>
              <a:rPr lang="ko-KR" altLang="en-US"/>
              <a:t>담당교수</a:t>
            </a:r>
            <a:r>
              <a:rPr lang="en-US" altLang="ko-KR"/>
              <a:t>:</a:t>
            </a:r>
            <a:r>
              <a:rPr lang="ko-KR" altLang="en-US"/>
              <a:t>김영식</a:t>
            </a:r>
            <a:endParaRPr lang="ko-KR" altLang="en-US" dirty="0"/>
          </a:p>
        </p:txBody>
      </p:sp>
      <p:sp>
        <p:nvSpPr>
          <p:cNvPr id="7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8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D354F6A4-0517-45C2-862F-B475182F4386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064194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모서리가 둥근 직사각형 6"/>
          <p:cNvSpPr/>
          <p:nvPr userDrawn="1"/>
        </p:nvSpPr>
        <p:spPr>
          <a:xfrm>
            <a:off x="142875" y="142875"/>
            <a:ext cx="8858250" cy="6572250"/>
          </a:xfrm>
          <a:prstGeom prst="roundRect">
            <a:avLst>
              <a:gd name="adj" fmla="val 7328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8" name="날짜 개체 틀 6"/>
          <p:cNvSpPr>
            <a:spLocks noGrp="1"/>
          </p:cNvSpPr>
          <p:nvPr>
            <p:ph type="dt" sz="half" idx="10"/>
          </p:nvPr>
        </p:nvSpPr>
        <p:spPr>
          <a:xfrm>
            <a:off x="0" y="6356350"/>
            <a:ext cx="25908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2008</a:t>
            </a:r>
            <a:r>
              <a:rPr lang="ko-KR" altLang="en-US"/>
              <a:t>년</a:t>
            </a:r>
            <a:r>
              <a:rPr lang="en-US" altLang="ko-KR"/>
              <a:t>1</a:t>
            </a:r>
            <a:r>
              <a:rPr lang="ko-KR" altLang="en-US"/>
              <a:t>학기 </a:t>
            </a:r>
            <a:r>
              <a:rPr lang="en-US" altLang="ko-KR"/>
              <a:t>STL </a:t>
            </a:r>
            <a:r>
              <a:rPr lang="ko-KR" altLang="en-US"/>
              <a:t>담당교수</a:t>
            </a:r>
            <a:r>
              <a:rPr lang="en-US" altLang="ko-KR"/>
              <a:t>:</a:t>
            </a:r>
            <a:r>
              <a:rPr lang="ko-KR" altLang="en-US"/>
              <a:t>김영식</a:t>
            </a:r>
            <a:endParaRPr lang="ko-KR" altLang="en-US" dirty="0"/>
          </a:p>
        </p:txBody>
      </p:sp>
      <p:sp>
        <p:nvSpPr>
          <p:cNvPr id="9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10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1666478B-8FBF-4F39-8AAE-C744841EBA91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433225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모서리가 둥근 직사각형 2"/>
          <p:cNvSpPr/>
          <p:nvPr userDrawn="1"/>
        </p:nvSpPr>
        <p:spPr>
          <a:xfrm>
            <a:off x="142875" y="142875"/>
            <a:ext cx="8858250" cy="6572250"/>
          </a:xfrm>
          <a:prstGeom prst="roundRect">
            <a:avLst>
              <a:gd name="adj" fmla="val 7328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4" name="날짜 개체 틀 2"/>
          <p:cNvSpPr>
            <a:spLocks noGrp="1"/>
          </p:cNvSpPr>
          <p:nvPr>
            <p:ph type="dt" sz="half" idx="10"/>
          </p:nvPr>
        </p:nvSpPr>
        <p:spPr>
          <a:xfrm>
            <a:off x="0" y="6356350"/>
            <a:ext cx="25908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2008</a:t>
            </a:r>
            <a:r>
              <a:rPr lang="ko-KR" altLang="en-US"/>
              <a:t>년</a:t>
            </a:r>
            <a:r>
              <a:rPr lang="en-US" altLang="ko-KR"/>
              <a:t>1</a:t>
            </a:r>
            <a:r>
              <a:rPr lang="ko-KR" altLang="en-US"/>
              <a:t>학기 </a:t>
            </a:r>
            <a:r>
              <a:rPr lang="en-US" altLang="ko-KR"/>
              <a:t>STL </a:t>
            </a:r>
            <a:r>
              <a:rPr lang="ko-KR" altLang="en-US"/>
              <a:t>담당교수</a:t>
            </a:r>
            <a:r>
              <a:rPr lang="en-US" altLang="ko-KR"/>
              <a:t>:</a:t>
            </a:r>
            <a:r>
              <a:rPr lang="ko-KR" altLang="en-US"/>
              <a:t>김영식</a:t>
            </a:r>
            <a:endParaRPr lang="ko-KR" altLang="en-US" dirty="0"/>
          </a:p>
        </p:txBody>
      </p:sp>
      <p:sp>
        <p:nvSpPr>
          <p:cNvPr id="5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2E7DB5AE-6182-458A-9442-7D0E5621EC3C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87727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모서리가 둥근 직사각형 1"/>
          <p:cNvSpPr/>
          <p:nvPr userDrawn="1"/>
        </p:nvSpPr>
        <p:spPr>
          <a:xfrm>
            <a:off x="142875" y="142875"/>
            <a:ext cx="8858250" cy="6572250"/>
          </a:xfrm>
          <a:prstGeom prst="roundRect">
            <a:avLst>
              <a:gd name="adj" fmla="val 7328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sp>
        <p:nvSpPr>
          <p:cNvPr id="3" name="날짜 개체 틀 1"/>
          <p:cNvSpPr>
            <a:spLocks noGrp="1"/>
          </p:cNvSpPr>
          <p:nvPr>
            <p:ph type="dt" sz="half" idx="10"/>
          </p:nvPr>
        </p:nvSpPr>
        <p:spPr>
          <a:xfrm>
            <a:off x="0" y="6356350"/>
            <a:ext cx="25908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2008</a:t>
            </a:r>
            <a:r>
              <a:rPr lang="ko-KR" altLang="en-US"/>
              <a:t>년</a:t>
            </a:r>
            <a:r>
              <a:rPr lang="en-US" altLang="ko-KR"/>
              <a:t>1</a:t>
            </a:r>
            <a:r>
              <a:rPr lang="ko-KR" altLang="en-US"/>
              <a:t>학기 </a:t>
            </a:r>
            <a:r>
              <a:rPr lang="en-US" altLang="ko-KR"/>
              <a:t>STL </a:t>
            </a:r>
            <a:r>
              <a:rPr lang="ko-KR" altLang="en-US"/>
              <a:t>담당교수</a:t>
            </a:r>
            <a:r>
              <a:rPr lang="en-US" altLang="ko-KR"/>
              <a:t>:</a:t>
            </a:r>
            <a:r>
              <a:rPr lang="ko-KR" altLang="en-US"/>
              <a:t>김영식</a:t>
            </a:r>
          </a:p>
        </p:txBody>
      </p:sp>
      <p:sp>
        <p:nvSpPr>
          <p:cNvPr id="4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5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2DF7FABC-72A3-4036-B860-C8EA1438AE6D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317440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모서리가 둥근 직사각형 4"/>
          <p:cNvSpPr/>
          <p:nvPr userDrawn="1"/>
        </p:nvSpPr>
        <p:spPr>
          <a:xfrm>
            <a:off x="142875" y="142875"/>
            <a:ext cx="8858250" cy="6572250"/>
          </a:xfrm>
          <a:prstGeom prst="roundRect">
            <a:avLst>
              <a:gd name="adj" fmla="val 7328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날짜 개체 틀 4"/>
          <p:cNvSpPr>
            <a:spLocks noGrp="1"/>
          </p:cNvSpPr>
          <p:nvPr>
            <p:ph type="dt" sz="half" idx="10"/>
          </p:nvPr>
        </p:nvSpPr>
        <p:spPr>
          <a:xfrm>
            <a:off x="0" y="6356350"/>
            <a:ext cx="25908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2008</a:t>
            </a:r>
            <a:r>
              <a:rPr lang="ko-KR" altLang="en-US"/>
              <a:t>년</a:t>
            </a:r>
            <a:r>
              <a:rPr lang="en-US" altLang="ko-KR"/>
              <a:t>1</a:t>
            </a:r>
            <a:r>
              <a:rPr lang="ko-KR" altLang="en-US"/>
              <a:t>학기 </a:t>
            </a:r>
            <a:r>
              <a:rPr lang="en-US" altLang="ko-KR"/>
              <a:t>STL </a:t>
            </a:r>
            <a:r>
              <a:rPr lang="ko-KR" altLang="en-US"/>
              <a:t>담당교수</a:t>
            </a:r>
            <a:r>
              <a:rPr lang="en-US" altLang="ko-KR"/>
              <a:t>:</a:t>
            </a:r>
            <a:r>
              <a:rPr lang="ko-KR" altLang="en-US"/>
              <a:t>김영식</a:t>
            </a:r>
          </a:p>
        </p:txBody>
      </p:sp>
      <p:sp>
        <p:nvSpPr>
          <p:cNvPr id="7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8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2B92AEAB-351F-4F89-A116-7A44E83E55A2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360881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모서리가 둥근 직사각형 4"/>
          <p:cNvSpPr/>
          <p:nvPr userDrawn="1"/>
        </p:nvSpPr>
        <p:spPr>
          <a:xfrm>
            <a:off x="142875" y="142875"/>
            <a:ext cx="8858250" cy="6572250"/>
          </a:xfrm>
          <a:prstGeom prst="roundRect">
            <a:avLst>
              <a:gd name="adj" fmla="val 7328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날짜 개체 틀 4"/>
          <p:cNvSpPr>
            <a:spLocks noGrp="1"/>
          </p:cNvSpPr>
          <p:nvPr>
            <p:ph type="dt" sz="half" idx="10"/>
          </p:nvPr>
        </p:nvSpPr>
        <p:spPr>
          <a:xfrm>
            <a:off x="0" y="6356350"/>
            <a:ext cx="25908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2008</a:t>
            </a:r>
            <a:r>
              <a:rPr lang="ko-KR" altLang="en-US"/>
              <a:t>년</a:t>
            </a:r>
            <a:r>
              <a:rPr lang="en-US" altLang="ko-KR"/>
              <a:t>1</a:t>
            </a:r>
            <a:r>
              <a:rPr lang="ko-KR" altLang="en-US"/>
              <a:t>학기 </a:t>
            </a:r>
            <a:r>
              <a:rPr lang="en-US" altLang="ko-KR"/>
              <a:t>STL </a:t>
            </a:r>
            <a:r>
              <a:rPr lang="ko-KR" altLang="en-US"/>
              <a:t>담당교수</a:t>
            </a:r>
            <a:r>
              <a:rPr lang="en-US" altLang="ko-KR"/>
              <a:t>:</a:t>
            </a:r>
            <a:r>
              <a:rPr lang="ko-KR" altLang="en-US"/>
              <a:t>김영식</a:t>
            </a:r>
          </a:p>
        </p:txBody>
      </p:sp>
      <p:sp>
        <p:nvSpPr>
          <p:cNvPr id="7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8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03EE7A7B-3993-47B6-A1BC-0275495E6D5A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613763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모서리가 둥근 직사각형 3"/>
          <p:cNvSpPr/>
          <p:nvPr userDrawn="1"/>
        </p:nvSpPr>
        <p:spPr>
          <a:xfrm>
            <a:off x="142875" y="142875"/>
            <a:ext cx="8858250" cy="6572250"/>
          </a:xfrm>
          <a:prstGeom prst="roundRect">
            <a:avLst>
              <a:gd name="adj" fmla="val 7328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3"/>
          <p:cNvSpPr>
            <a:spLocks noGrp="1"/>
          </p:cNvSpPr>
          <p:nvPr>
            <p:ph type="dt" sz="half" idx="10"/>
          </p:nvPr>
        </p:nvSpPr>
        <p:spPr>
          <a:xfrm>
            <a:off x="0" y="6356350"/>
            <a:ext cx="25908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2008</a:t>
            </a:r>
            <a:r>
              <a:rPr lang="ko-KR" altLang="en-US"/>
              <a:t>년</a:t>
            </a:r>
            <a:r>
              <a:rPr lang="en-US" altLang="ko-KR"/>
              <a:t>1</a:t>
            </a:r>
            <a:r>
              <a:rPr lang="ko-KR" altLang="en-US"/>
              <a:t>학기 </a:t>
            </a:r>
            <a:r>
              <a:rPr lang="en-US" altLang="ko-KR"/>
              <a:t>STL </a:t>
            </a:r>
            <a:r>
              <a:rPr lang="ko-KR" altLang="en-US"/>
              <a:t>담당교수</a:t>
            </a:r>
            <a:r>
              <a:rPr lang="en-US" altLang="ko-KR"/>
              <a:t>:</a:t>
            </a:r>
            <a:r>
              <a:rPr lang="ko-KR" altLang="en-US"/>
              <a:t>김영식</a:t>
            </a:r>
          </a:p>
        </p:txBody>
      </p:sp>
      <p:sp>
        <p:nvSpPr>
          <p:cNvPr id="6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C72FCFE9-07D1-4516-8BF2-C49BDADA48E1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667918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모서리가 둥근 직사각형 3"/>
          <p:cNvSpPr/>
          <p:nvPr userDrawn="1"/>
        </p:nvSpPr>
        <p:spPr>
          <a:xfrm>
            <a:off x="142875" y="142875"/>
            <a:ext cx="8858250" cy="6572250"/>
          </a:xfrm>
          <a:prstGeom prst="roundRect">
            <a:avLst>
              <a:gd name="adj" fmla="val 7328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3"/>
          <p:cNvSpPr>
            <a:spLocks noGrp="1"/>
          </p:cNvSpPr>
          <p:nvPr>
            <p:ph type="dt" sz="half" idx="10"/>
          </p:nvPr>
        </p:nvSpPr>
        <p:spPr>
          <a:xfrm>
            <a:off x="0" y="6356350"/>
            <a:ext cx="25908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2008</a:t>
            </a:r>
            <a:r>
              <a:rPr lang="ko-KR" altLang="en-US"/>
              <a:t>년</a:t>
            </a:r>
            <a:r>
              <a:rPr lang="en-US" altLang="ko-KR"/>
              <a:t>1</a:t>
            </a:r>
            <a:r>
              <a:rPr lang="ko-KR" altLang="en-US"/>
              <a:t>학기 </a:t>
            </a:r>
            <a:r>
              <a:rPr lang="en-US" altLang="ko-KR"/>
              <a:t>STL </a:t>
            </a:r>
            <a:r>
              <a:rPr lang="ko-KR" altLang="en-US"/>
              <a:t>담당교수</a:t>
            </a:r>
            <a:r>
              <a:rPr lang="en-US" altLang="ko-KR"/>
              <a:t>:</a:t>
            </a:r>
            <a:r>
              <a:rPr lang="ko-KR" altLang="en-US"/>
              <a:t>김영식</a:t>
            </a:r>
          </a:p>
        </p:txBody>
      </p:sp>
      <p:sp>
        <p:nvSpPr>
          <p:cNvPr id="6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4C30A18C-D925-420F-814E-C2D3F93C5265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683783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제목 개체 틀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1027" name="텍스트 개체 틀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214313" y="6356350"/>
            <a:ext cx="25717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latinLnBrk="1" hangingPunct="1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r>
              <a:rPr lang="en-US" altLang="ko-KR"/>
              <a:t>2008</a:t>
            </a:r>
            <a:r>
              <a:rPr lang="ko-KR" altLang="en-US"/>
              <a:t>년</a:t>
            </a:r>
            <a:r>
              <a:rPr lang="en-US" altLang="ko-KR"/>
              <a:t>1</a:t>
            </a:r>
            <a:r>
              <a:rPr lang="ko-KR" altLang="en-US"/>
              <a:t>학기 </a:t>
            </a:r>
            <a:r>
              <a:rPr lang="en-US" altLang="ko-KR"/>
              <a:t>STL </a:t>
            </a:r>
            <a:r>
              <a:rPr lang="ko-KR" altLang="en-US"/>
              <a:t>담당교수</a:t>
            </a:r>
            <a:r>
              <a:rPr lang="en-US" altLang="ko-KR"/>
              <a:t>:</a:t>
            </a:r>
            <a:r>
              <a:rPr lang="ko-KR" altLang="en-US"/>
              <a:t>김영식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latinLnBrk="1" hangingPunct="1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latinLnBrk="1" hangingPunct="1">
              <a:defRPr kumimoji="0" sz="1200" smtClean="0">
                <a:solidFill>
                  <a:srgbClr val="898989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0749D700-1C6B-4D65-B91E-BEEB48FB19C7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  <p:sp>
        <p:nvSpPr>
          <p:cNvPr id="7" name="모서리가 둥근 직사각형 6"/>
          <p:cNvSpPr/>
          <p:nvPr userDrawn="1"/>
        </p:nvSpPr>
        <p:spPr>
          <a:xfrm>
            <a:off x="142875" y="142875"/>
            <a:ext cx="8858250" cy="6572250"/>
          </a:xfrm>
          <a:prstGeom prst="roundRect">
            <a:avLst>
              <a:gd name="adj" fmla="val 7328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157" r:id="rId1"/>
    <p:sldLayoutId id="2147484158" r:id="rId2"/>
    <p:sldLayoutId id="2147484159" r:id="rId3"/>
    <p:sldLayoutId id="2147484160" r:id="rId4"/>
    <p:sldLayoutId id="2147484161" r:id="rId5"/>
    <p:sldLayoutId id="2147484162" r:id="rId6"/>
    <p:sldLayoutId id="2147484163" r:id="rId7"/>
    <p:sldLayoutId id="2147484164" r:id="rId8"/>
    <p:sldLayoutId id="2147484165" r:id="rId9"/>
    <p:sldLayoutId id="2147484166" r:id="rId10"/>
    <p:sldLayoutId id="2147484167" r:id="rId11"/>
  </p:sldLayoutIdLst>
  <p:hf hdr="0" ftr="0"/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sz="3600" kern="1200">
          <a:solidFill>
            <a:srgbClr val="C00000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sz="3600">
          <a:solidFill>
            <a:srgbClr val="C00000"/>
          </a:solidFill>
          <a:latin typeface="맑은 고딕" pitchFamily="50" charset="-127"/>
          <a:ea typeface="맑은 고딕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sz="3600">
          <a:solidFill>
            <a:srgbClr val="C00000"/>
          </a:solidFill>
          <a:latin typeface="맑은 고딕" pitchFamily="50" charset="-127"/>
          <a:ea typeface="맑은 고딕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sz="3600">
          <a:solidFill>
            <a:srgbClr val="C00000"/>
          </a:solidFill>
          <a:latin typeface="맑은 고딕" pitchFamily="50" charset="-127"/>
          <a:ea typeface="맑은 고딕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sz="3600">
          <a:solidFill>
            <a:srgbClr val="C00000"/>
          </a:solidFill>
          <a:latin typeface="맑은 고딕" pitchFamily="50" charset="-127"/>
          <a:ea typeface="맑은 고딕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sz="4400">
          <a:solidFill>
            <a:srgbClr val="C00000"/>
          </a:solidFill>
          <a:latin typeface="맑은 고딕" pitchFamily="50" charset="-127"/>
          <a:ea typeface="맑은 고딕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sz="4400">
          <a:solidFill>
            <a:srgbClr val="C00000"/>
          </a:solidFill>
          <a:latin typeface="맑은 고딕" pitchFamily="50" charset="-127"/>
          <a:ea typeface="맑은 고딕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sz="4400">
          <a:solidFill>
            <a:srgbClr val="C00000"/>
          </a:solidFill>
          <a:latin typeface="맑은 고딕" pitchFamily="50" charset="-127"/>
          <a:ea typeface="맑은 고딕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sz="4400">
          <a:solidFill>
            <a:srgbClr val="C00000"/>
          </a:solidFill>
          <a:latin typeface="맑은 고딕" pitchFamily="50" charset="-127"/>
          <a:ea typeface="맑은 고딕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ko-KR" altLang="en-US" b="1" dirty="0">
                <a:solidFill>
                  <a:srgbClr val="0000FF"/>
                </a:solidFill>
              </a:rPr>
              <a:t>숙제</a:t>
            </a:r>
            <a:r>
              <a:rPr lang="en-US" altLang="ko-KR" b="1" dirty="0">
                <a:solidFill>
                  <a:srgbClr val="0000FF"/>
                </a:solidFill>
              </a:rPr>
              <a:t>1. </a:t>
            </a:r>
            <a:r>
              <a:rPr lang="ko-KR" altLang="en-US" b="1" dirty="0">
                <a:solidFill>
                  <a:srgbClr val="0000FF"/>
                </a:solidFill>
              </a:rPr>
              <a:t>파이썬 문법</a:t>
            </a:r>
            <a:endParaRPr lang="en-US" altLang="ko-KR" b="1" dirty="0">
              <a:solidFill>
                <a:srgbClr val="0000FF"/>
              </a:solidFill>
            </a:endParaRPr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467544" y="3886200"/>
            <a:ext cx="8424936" cy="406896"/>
          </a:xfrm>
        </p:spPr>
        <p:txBody>
          <a:bodyPr/>
          <a:lstStyle/>
          <a:p>
            <a:pPr lvl="1" eaLnBrk="1" hangingPunct="1"/>
            <a:r>
              <a:rPr lang="ko-KR" altLang="en-US" dirty="0">
                <a:solidFill>
                  <a:schemeClr val="tx1"/>
                </a:solidFill>
              </a:rPr>
              <a:t>담당교수 </a:t>
            </a:r>
            <a:r>
              <a:rPr lang="en-US" altLang="ko-KR" dirty="0">
                <a:solidFill>
                  <a:schemeClr val="tx1"/>
                </a:solidFill>
              </a:rPr>
              <a:t>: </a:t>
            </a:r>
            <a:r>
              <a:rPr lang="ko-KR" altLang="en-US" dirty="0">
                <a:solidFill>
                  <a:schemeClr val="tx1"/>
                </a:solidFill>
              </a:rPr>
              <a:t>김영식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07E377-6501-AC88-60CF-FFCD8D9C88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슬라이드 번호 개체 틀 4">
            <a:extLst>
              <a:ext uri="{FF2B5EF4-FFF2-40B4-BE49-F238E27FC236}">
                <a16:creationId xmlns:a16="http://schemas.microsoft.com/office/drawing/2014/main" id="{149552DC-4336-108F-9F09-35F2F4EDAE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8572500" y="6357938"/>
            <a:ext cx="233363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fld id="{BC3C6B57-3855-4E64-AEE7-8610084F94D2}" type="slidenum">
              <a:rPr lang="en-US" altLang="ko-KR" sz="1200">
                <a:solidFill>
                  <a:srgbClr val="898989"/>
                </a:solidFill>
              </a:rPr>
              <a:pPr algn="ctr">
                <a:spcBef>
                  <a:spcPct val="0"/>
                </a:spcBef>
                <a:buFontTx/>
                <a:buNone/>
              </a:pPr>
              <a:t>2</a:t>
            </a:fld>
            <a:endParaRPr lang="en-US" altLang="ko-KR" sz="1200">
              <a:solidFill>
                <a:srgbClr val="898989"/>
              </a:solidFill>
            </a:endParaRPr>
          </a:p>
        </p:txBody>
      </p:sp>
      <p:sp>
        <p:nvSpPr>
          <p:cNvPr id="16387" name="Rectangle 2">
            <a:extLst>
              <a:ext uri="{FF2B5EF4-FFF2-40B4-BE49-F238E27FC236}">
                <a16:creationId xmlns:a16="http://schemas.microsoft.com/office/drawing/2014/main" id="{7E901156-3666-1D61-B9AB-A579345EDEE0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457200" y="274638"/>
            <a:ext cx="8229600" cy="868362"/>
          </a:xfrm>
        </p:spPr>
        <p:txBody>
          <a:bodyPr/>
          <a:lstStyle/>
          <a:p>
            <a:pPr eaLnBrk="1" hangingPunct="1"/>
            <a:r>
              <a:rPr lang="ko-KR" altLang="en-US" sz="2800" b="1" dirty="0">
                <a:solidFill>
                  <a:srgbClr val="0000FF"/>
                </a:solidFill>
              </a:rPr>
              <a:t>백준 온라인저지</a:t>
            </a:r>
            <a:br>
              <a:rPr lang="en-US" altLang="ko-KR" sz="2800" b="1" dirty="0">
                <a:solidFill>
                  <a:srgbClr val="0000FF"/>
                </a:solidFill>
              </a:rPr>
            </a:br>
            <a:r>
              <a:rPr lang="en-US" altLang="ko-KR" sz="2800" b="1" dirty="0">
                <a:solidFill>
                  <a:srgbClr val="0000FF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 https://www.acmicpc.net/</a:t>
            </a:r>
            <a:endParaRPr lang="ko-KR" altLang="en-US" sz="2800" b="1" dirty="0">
              <a:solidFill>
                <a:srgbClr val="0000FF"/>
              </a:solidFill>
            </a:endParaRPr>
          </a:p>
        </p:txBody>
      </p:sp>
      <p:sp>
        <p:nvSpPr>
          <p:cNvPr id="16388" name="Rectangle 3">
            <a:extLst>
              <a:ext uri="{FF2B5EF4-FFF2-40B4-BE49-F238E27FC236}">
                <a16:creationId xmlns:a16="http://schemas.microsoft.com/office/drawing/2014/main" id="{C570ED1C-A34A-AF1E-D534-A3DA190C182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51520" y="1214439"/>
            <a:ext cx="8892480" cy="1278458"/>
          </a:xfrm>
        </p:spPr>
        <p:txBody>
          <a:bodyPr/>
          <a:lstStyle/>
          <a:p>
            <a:pPr algn="l"/>
            <a:r>
              <a:rPr lang="ko-KR" altLang="en-US" b="0" i="0" dirty="0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백준 온라인저지</a:t>
            </a:r>
            <a:r>
              <a:rPr lang="en-US" altLang="ko-KR" b="0" i="0" dirty="0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 </a:t>
            </a:r>
            <a:r>
              <a:rPr lang="ko-KR" altLang="en-US" b="0" i="0" dirty="0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회원가입하고 </a:t>
            </a:r>
            <a:r>
              <a:rPr lang="ko-KR" altLang="en-US" dirty="0">
                <a:latin typeface="malgun gothic" panose="020B0503020000020004" pitchFamily="50" charset="-127"/>
                <a:ea typeface="malgun gothic" panose="020B0503020000020004" pitchFamily="50" charset="-127"/>
              </a:rPr>
              <a:t>문제를 </a:t>
            </a:r>
            <a:r>
              <a:rPr lang="ko-KR" altLang="en-US" b="0" i="0" dirty="0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해결한 후 자신의 푼 문제 리스트를 아래와 같이 스크린 </a:t>
            </a:r>
            <a:r>
              <a:rPr lang="ko-KR" altLang="en-US" b="0" i="0" dirty="0" err="1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캡쳐해서</a:t>
            </a:r>
            <a:r>
              <a:rPr lang="ko-KR" altLang="en-US" b="0" i="0" dirty="0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 </a:t>
            </a:r>
            <a:r>
              <a:rPr lang="ko-KR" altLang="en-US" b="0" i="0" dirty="0" err="1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제출하시오</a:t>
            </a:r>
            <a:r>
              <a:rPr lang="en-US" altLang="ko-KR" b="0" i="0" dirty="0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.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23A12EF8-8C97-CC9F-9000-36CB6B9186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3648" y="1988839"/>
            <a:ext cx="6264696" cy="4676423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0668252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FC8DD9-884D-A67C-7FF6-BE2052E406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슬라이드 번호 개체 틀 4">
            <a:extLst>
              <a:ext uri="{FF2B5EF4-FFF2-40B4-BE49-F238E27FC236}">
                <a16:creationId xmlns:a16="http://schemas.microsoft.com/office/drawing/2014/main" id="{0900215C-78E8-FFC3-D66F-318826C1BE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8572500" y="6357938"/>
            <a:ext cx="233363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fld id="{BC3C6B57-3855-4E64-AEE7-8610084F94D2}" type="slidenum">
              <a:rPr lang="en-US" altLang="ko-KR" sz="1200">
                <a:solidFill>
                  <a:srgbClr val="898989"/>
                </a:solidFill>
              </a:rPr>
              <a:pPr algn="ctr">
                <a:spcBef>
                  <a:spcPct val="0"/>
                </a:spcBef>
                <a:buFontTx/>
                <a:buNone/>
              </a:pPr>
              <a:t>3</a:t>
            </a:fld>
            <a:endParaRPr lang="en-US" altLang="ko-KR" sz="1200">
              <a:solidFill>
                <a:srgbClr val="898989"/>
              </a:solidFill>
            </a:endParaRPr>
          </a:p>
        </p:txBody>
      </p:sp>
      <p:sp>
        <p:nvSpPr>
          <p:cNvPr id="16387" name="Rectangle 2">
            <a:extLst>
              <a:ext uri="{FF2B5EF4-FFF2-40B4-BE49-F238E27FC236}">
                <a16:creationId xmlns:a16="http://schemas.microsoft.com/office/drawing/2014/main" id="{15DEA275-57E7-EE18-C236-75AE335D57B0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457200" y="274638"/>
            <a:ext cx="8229600" cy="868362"/>
          </a:xfrm>
        </p:spPr>
        <p:txBody>
          <a:bodyPr/>
          <a:lstStyle/>
          <a:p>
            <a:pPr eaLnBrk="1" hangingPunct="1"/>
            <a:r>
              <a:rPr lang="en-US" altLang="ko-KR" sz="2800" b="1" dirty="0" err="1">
                <a:solidFill>
                  <a:srgbClr val="0000FF"/>
                </a:solidFill>
              </a:rPr>
              <a:t>TUKorea</a:t>
            </a:r>
            <a:r>
              <a:rPr lang="ko-KR" altLang="en-US" sz="2800" b="1" dirty="0">
                <a:solidFill>
                  <a:srgbClr val="0000FF"/>
                </a:solidFill>
              </a:rPr>
              <a:t> 온라인저지</a:t>
            </a:r>
            <a:br>
              <a:rPr lang="en-US" altLang="ko-KR" sz="2800" b="1" dirty="0">
                <a:solidFill>
                  <a:srgbClr val="0000FF"/>
                </a:solidFill>
              </a:rPr>
            </a:br>
            <a:r>
              <a:rPr lang="en-US" altLang="ko-KR" sz="2800" b="1" dirty="0">
                <a:solidFill>
                  <a:srgbClr val="0000FF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 http://210.93.60.51/</a:t>
            </a:r>
            <a:endParaRPr lang="ko-KR" altLang="en-US" sz="2800" b="1" dirty="0">
              <a:solidFill>
                <a:srgbClr val="0000FF"/>
              </a:solidFill>
            </a:endParaRPr>
          </a:p>
        </p:txBody>
      </p:sp>
      <p:sp>
        <p:nvSpPr>
          <p:cNvPr id="16388" name="Rectangle 3">
            <a:extLst>
              <a:ext uri="{FF2B5EF4-FFF2-40B4-BE49-F238E27FC236}">
                <a16:creationId xmlns:a16="http://schemas.microsoft.com/office/drawing/2014/main" id="{5E7D3A3B-FF86-CC36-AECA-71BBAFB9252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51520" y="1214439"/>
            <a:ext cx="8892480" cy="1278458"/>
          </a:xfrm>
        </p:spPr>
        <p:txBody>
          <a:bodyPr/>
          <a:lstStyle/>
          <a:p>
            <a:pPr algn="l"/>
            <a:r>
              <a:rPr lang="en-US" altLang="ko-KR" b="0" i="0" dirty="0" err="1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TUKorea</a:t>
            </a:r>
            <a:r>
              <a:rPr lang="ko-KR" altLang="en-US" b="0" i="0" dirty="0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 온라인저지는 </a:t>
            </a:r>
            <a:r>
              <a:rPr lang="ko-KR" altLang="en-US" b="1" i="0" dirty="0">
                <a:solidFill>
                  <a:srgbClr val="FF0000"/>
                </a:solidFill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반드시 학번으로</a:t>
            </a:r>
            <a:r>
              <a:rPr lang="en-US" altLang="ko-KR" b="1" i="0" dirty="0">
                <a:solidFill>
                  <a:srgbClr val="FF0000"/>
                </a:solidFill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 </a:t>
            </a:r>
            <a:r>
              <a:rPr lang="ko-KR" altLang="en-US" b="0" i="0" dirty="0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회원가입하고 </a:t>
            </a:r>
            <a:r>
              <a:rPr lang="ko-KR" altLang="en-US" dirty="0">
                <a:latin typeface="malgun gothic" panose="020B0503020000020004" pitchFamily="50" charset="-127"/>
                <a:ea typeface="malgun gothic" panose="020B0503020000020004" pitchFamily="50" charset="-127"/>
              </a:rPr>
              <a:t>문제를 </a:t>
            </a:r>
            <a:r>
              <a:rPr lang="ko-KR" altLang="en-US" b="0" i="0" dirty="0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해결한 후 아래와 같이 스크린 </a:t>
            </a:r>
            <a:r>
              <a:rPr lang="ko-KR" altLang="en-US" b="0" i="0" dirty="0" err="1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캡쳐해서</a:t>
            </a:r>
            <a:r>
              <a:rPr lang="ko-KR" altLang="en-US" b="0" i="0" dirty="0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 </a:t>
            </a:r>
            <a:r>
              <a:rPr lang="ko-KR" altLang="en-US" b="0" i="0" dirty="0" err="1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제출하시오</a:t>
            </a:r>
            <a:r>
              <a:rPr lang="en-US" altLang="ko-KR" b="0" i="0" dirty="0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.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077FBC01-38E2-A6AA-A467-7806493F0A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40407" y="2164261"/>
            <a:ext cx="5914705" cy="4460857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6467889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슬라이드 번호 개체 틀 4"/>
          <p:cNvSpPr>
            <a:spLocks noGrp="1"/>
          </p:cNvSpPr>
          <p:nvPr>
            <p:ph type="sldNum" sz="quarter" idx="12"/>
          </p:nvPr>
        </p:nvSpPr>
        <p:spPr bwMode="auto">
          <a:xfrm>
            <a:off x="8572500" y="6357938"/>
            <a:ext cx="233363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fld id="{BC3C6B57-3855-4E64-AEE7-8610084F94D2}" type="slidenum">
              <a:rPr lang="en-US" altLang="ko-KR" sz="1200">
                <a:solidFill>
                  <a:srgbClr val="898989"/>
                </a:solidFill>
              </a:rPr>
              <a:pPr algn="ctr">
                <a:spcBef>
                  <a:spcPct val="0"/>
                </a:spcBef>
                <a:buFontTx/>
                <a:buNone/>
              </a:pPr>
              <a:t>4</a:t>
            </a:fld>
            <a:endParaRPr lang="en-US" altLang="ko-KR" sz="1200">
              <a:solidFill>
                <a:srgbClr val="898989"/>
              </a:solidFill>
            </a:endParaRPr>
          </a:p>
        </p:txBody>
      </p:sp>
      <p:sp>
        <p:nvSpPr>
          <p:cNvPr id="16387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457200" y="274638"/>
            <a:ext cx="8229600" cy="868362"/>
          </a:xfrm>
        </p:spPr>
        <p:txBody>
          <a:bodyPr/>
          <a:lstStyle/>
          <a:p>
            <a:pPr eaLnBrk="1" hangingPunct="1"/>
            <a:r>
              <a:rPr lang="en-US" altLang="ko-KR" sz="2800" b="1" dirty="0">
                <a:solidFill>
                  <a:srgbClr val="0000FF"/>
                </a:solidFill>
              </a:rPr>
              <a:t>Programmers</a:t>
            </a:r>
            <a:br>
              <a:rPr lang="en-US" altLang="ko-KR" sz="2800" b="1" dirty="0">
                <a:solidFill>
                  <a:srgbClr val="0000FF"/>
                </a:solidFill>
              </a:rPr>
            </a:br>
            <a:r>
              <a:rPr lang="en-US" altLang="ko-KR" sz="2800" b="1" dirty="0">
                <a:solidFill>
                  <a:srgbClr val="0000FF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https://school.programmers.co.kr/</a:t>
            </a:r>
            <a:endParaRPr lang="ko-KR" altLang="en-US" sz="2800" b="1" dirty="0">
              <a:solidFill>
                <a:srgbClr val="0000FF"/>
              </a:solidFill>
            </a:endParaRPr>
          </a:p>
        </p:txBody>
      </p:sp>
      <p:sp>
        <p:nvSpPr>
          <p:cNvPr id="1638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51520" y="1214439"/>
            <a:ext cx="8892480" cy="1278458"/>
          </a:xfrm>
        </p:spPr>
        <p:txBody>
          <a:bodyPr/>
          <a:lstStyle/>
          <a:p>
            <a:pPr algn="l"/>
            <a:r>
              <a:rPr lang="en-US" altLang="ko-KR" b="0" i="0" dirty="0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Programmers </a:t>
            </a:r>
            <a:r>
              <a:rPr lang="ko-KR" altLang="en-US" b="0" i="0" dirty="0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회원가입하고 </a:t>
            </a:r>
            <a:r>
              <a:rPr lang="ko-KR" altLang="en-US" dirty="0">
                <a:latin typeface="malgun gothic" panose="020B0503020000020004" pitchFamily="50" charset="-127"/>
                <a:ea typeface="malgun gothic" panose="020B0503020000020004" pitchFamily="50" charset="-127"/>
              </a:rPr>
              <a:t>문제를 </a:t>
            </a:r>
            <a:r>
              <a:rPr lang="ko-KR" altLang="en-US" b="0" i="0" dirty="0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해결한 후 자신의 푼 문제 리스트를 아래와 같이 스크린 </a:t>
            </a:r>
            <a:r>
              <a:rPr lang="ko-KR" altLang="en-US" b="0" i="0" dirty="0" err="1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캡쳐해서</a:t>
            </a:r>
            <a:r>
              <a:rPr lang="ko-KR" altLang="en-US" b="0" i="0" dirty="0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 </a:t>
            </a:r>
            <a:r>
              <a:rPr lang="ko-KR" altLang="en-US" b="0" i="0" dirty="0" err="1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제출하시오</a:t>
            </a:r>
            <a:r>
              <a:rPr lang="en-US" altLang="ko-KR" b="0" i="0" dirty="0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.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F061C8CB-9CCB-405D-55E7-581CC08523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7704" y="1977846"/>
            <a:ext cx="5040561" cy="4617308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AC85E7-3CF8-67B9-A10A-EE026569C9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903BD85-67F7-DB37-CA40-0BD36E03BF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3200" dirty="0"/>
              <a:t>1. </a:t>
            </a:r>
            <a:r>
              <a:rPr lang="ko-KR" altLang="en-US" sz="3200" dirty="0" err="1"/>
              <a:t>하얀칸</a:t>
            </a:r>
            <a:r>
              <a:rPr lang="en-US" altLang="ko-KR" sz="3200" dirty="0"/>
              <a:t>(</a:t>
            </a:r>
            <a:r>
              <a:rPr lang="ko-KR" altLang="en-US" sz="3200" dirty="0"/>
              <a:t>백준</a:t>
            </a:r>
            <a:r>
              <a:rPr lang="en-US" altLang="ko-KR" sz="3200" dirty="0"/>
              <a:t>)</a:t>
            </a:r>
            <a:br>
              <a:rPr lang="en-US" altLang="ko-KR" sz="3200" dirty="0"/>
            </a:br>
            <a:r>
              <a:rPr lang="en-US" altLang="ko-KR" sz="3200" dirty="0"/>
              <a:t>https://www.acmicpc.net/problem/1100</a:t>
            </a:r>
            <a:endParaRPr lang="ko-KR" altLang="en-US" sz="3200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9203ADC-4566-9C05-FA6F-37E1FF24D5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40768"/>
            <a:ext cx="8229600" cy="4785395"/>
          </a:xfrm>
        </p:spPr>
        <p:txBody>
          <a:bodyPr/>
          <a:lstStyle/>
          <a:p>
            <a:pPr algn="just"/>
            <a:r>
              <a:rPr lang="ko-KR" altLang="en-US" sz="2000" b="0" i="0" dirty="0">
                <a:effectLst/>
                <a:latin typeface="Open Sans" panose="020F0502020204030204" pitchFamily="34" charset="0"/>
              </a:rPr>
              <a:t>체스판은 </a:t>
            </a:r>
            <a:r>
              <a:rPr lang="en-US" altLang="ko-KR" sz="2000" b="0" i="0" dirty="0">
                <a:effectLst/>
                <a:latin typeface="Open Sans" panose="020F0502020204030204" pitchFamily="34" charset="0"/>
              </a:rPr>
              <a:t>8×8</a:t>
            </a:r>
            <a:r>
              <a:rPr lang="ko-KR" altLang="en-US" sz="2000" b="0" i="0" dirty="0">
                <a:effectLst/>
                <a:latin typeface="Open Sans" panose="020F0502020204030204" pitchFamily="34" charset="0"/>
              </a:rPr>
              <a:t>크기이고</a:t>
            </a:r>
            <a:r>
              <a:rPr lang="en-US" altLang="ko-KR" sz="2000" b="0" i="0" dirty="0">
                <a:effectLst/>
                <a:latin typeface="Open Sans" panose="020F0502020204030204" pitchFamily="34" charset="0"/>
              </a:rPr>
              <a:t>, </a:t>
            </a:r>
            <a:r>
              <a:rPr lang="ko-KR" altLang="en-US" sz="2000" b="0" i="0" dirty="0">
                <a:effectLst/>
                <a:latin typeface="Open Sans" panose="020F0502020204030204" pitchFamily="34" charset="0"/>
              </a:rPr>
              <a:t>검정 칸과 하얀 칸이 </a:t>
            </a:r>
            <a:r>
              <a:rPr lang="ko-KR" altLang="en-US" sz="2000" b="0" i="0" dirty="0" err="1">
                <a:effectLst/>
                <a:latin typeface="Open Sans" panose="020F0502020204030204" pitchFamily="34" charset="0"/>
              </a:rPr>
              <a:t>번갈아가면서</a:t>
            </a:r>
            <a:r>
              <a:rPr lang="ko-KR" altLang="en-US" sz="2000" b="0" i="0" dirty="0">
                <a:effectLst/>
                <a:latin typeface="Open Sans" panose="020F0502020204030204" pitchFamily="34" charset="0"/>
              </a:rPr>
              <a:t> 색칠되어 있다</a:t>
            </a:r>
            <a:r>
              <a:rPr lang="en-US" altLang="ko-KR" sz="2000" b="0" i="0" dirty="0">
                <a:effectLst/>
                <a:latin typeface="Open Sans" panose="020F0502020204030204" pitchFamily="34" charset="0"/>
              </a:rPr>
              <a:t>. </a:t>
            </a:r>
            <a:r>
              <a:rPr lang="ko-KR" altLang="en-US" sz="2000" b="0" i="0" dirty="0">
                <a:effectLst/>
                <a:latin typeface="Open Sans" panose="020F0502020204030204" pitchFamily="34" charset="0"/>
              </a:rPr>
              <a:t>가장 왼쪽 위칸 </a:t>
            </a:r>
            <a:r>
              <a:rPr lang="en-US" altLang="ko-KR" sz="2000" b="0" i="0" dirty="0">
                <a:effectLst/>
                <a:latin typeface="Open Sans" panose="020F0502020204030204" pitchFamily="34" charset="0"/>
              </a:rPr>
              <a:t>(0,0)</a:t>
            </a:r>
            <a:r>
              <a:rPr lang="ko-KR" altLang="en-US" sz="2000" b="0" i="0" dirty="0">
                <a:effectLst/>
                <a:latin typeface="Open Sans" panose="020F0502020204030204" pitchFamily="34" charset="0"/>
              </a:rPr>
              <a:t>은 하얀색이다</a:t>
            </a:r>
            <a:r>
              <a:rPr lang="en-US" altLang="ko-KR" sz="2000" b="0" i="0" dirty="0">
                <a:effectLst/>
                <a:latin typeface="Open Sans" panose="020F0502020204030204" pitchFamily="34" charset="0"/>
              </a:rPr>
              <a:t>. </a:t>
            </a:r>
            <a:r>
              <a:rPr lang="ko-KR" altLang="en-US" sz="2000" b="0" i="0" dirty="0">
                <a:effectLst/>
                <a:latin typeface="Open Sans" panose="020F0502020204030204" pitchFamily="34" charset="0"/>
              </a:rPr>
              <a:t>체스판의 상태가 주어졌을 때</a:t>
            </a:r>
            <a:r>
              <a:rPr lang="en-US" altLang="ko-KR" sz="2000" b="0" i="0" dirty="0">
                <a:effectLst/>
                <a:latin typeface="Open Sans" panose="020F0502020204030204" pitchFamily="34" charset="0"/>
              </a:rPr>
              <a:t>, </a:t>
            </a:r>
            <a:r>
              <a:rPr lang="ko-KR" altLang="en-US" sz="2000" b="0" i="0" dirty="0">
                <a:effectLst/>
                <a:latin typeface="Open Sans" panose="020F0502020204030204" pitchFamily="34" charset="0"/>
              </a:rPr>
              <a:t>하얀 칸 위에 말이 몇 개 있는지 출력하는 프로그램을 </a:t>
            </a:r>
            <a:r>
              <a:rPr lang="ko-KR" altLang="en-US" sz="2000" b="0" i="0" dirty="0" err="1">
                <a:effectLst/>
                <a:latin typeface="Open Sans" panose="020F0502020204030204" pitchFamily="34" charset="0"/>
              </a:rPr>
              <a:t>작성하시오</a:t>
            </a:r>
            <a:r>
              <a:rPr lang="en-US" altLang="ko-KR" sz="2000" b="0" i="0" dirty="0">
                <a:effectLst/>
                <a:latin typeface="Open Sans" panose="020F0502020204030204" pitchFamily="34" charset="0"/>
              </a:rPr>
              <a:t>.</a:t>
            </a:r>
            <a:endParaRPr lang="ko-KR" altLang="en-US" sz="2000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F336FE90-6B8C-ACA4-E1F1-D5ABAAB500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268DA64-E15D-4814-A1DA-86D92D550423}" type="slidenum">
              <a:rPr lang="ko-KR" altLang="en-US" smtClean="0"/>
              <a:pPr>
                <a:defRPr/>
              </a:pPr>
              <a:t>5</a:t>
            </a:fld>
            <a:endParaRPr lang="ko-KR" altLang="en-US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55299450-9973-519C-B3CC-7B9A11CCD0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7584" y="2755458"/>
            <a:ext cx="7668344" cy="35684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03708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3F4E60-3252-0419-2091-13B8382AD8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EBE1D5C-3F84-77F4-B8C1-55E4EABC36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3200" dirty="0"/>
              <a:t>2. ACM</a:t>
            </a:r>
            <a:r>
              <a:rPr lang="ko-KR" altLang="en-US" sz="3200" dirty="0"/>
              <a:t>호텔</a:t>
            </a:r>
            <a:r>
              <a:rPr lang="en-US" altLang="ko-KR" sz="3200" dirty="0"/>
              <a:t>(</a:t>
            </a:r>
            <a:r>
              <a:rPr lang="ko-KR" altLang="en-US" sz="3200" dirty="0"/>
              <a:t>백준</a:t>
            </a:r>
            <a:r>
              <a:rPr lang="en-US" altLang="ko-KR" sz="3200" dirty="0"/>
              <a:t>)</a:t>
            </a:r>
            <a:br>
              <a:rPr lang="en-US" altLang="ko-KR" sz="3200" dirty="0"/>
            </a:br>
            <a:r>
              <a:rPr lang="en-US" altLang="ko-KR" sz="3200" dirty="0"/>
              <a:t>https://www.acmicpc.net/problem/10250</a:t>
            </a:r>
            <a:endParaRPr lang="ko-KR" altLang="en-US" sz="3200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543403D-C1EA-3FA9-2534-69D55DD42E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40768"/>
            <a:ext cx="8229600" cy="4785395"/>
          </a:xfrm>
        </p:spPr>
        <p:txBody>
          <a:bodyPr/>
          <a:lstStyle/>
          <a:p>
            <a:pPr algn="just"/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손님들은 호텔 정문으로부터 걸어서 가장 짧은 거리에 있는 방을 선호한다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. </a:t>
            </a:r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호텔 정문으로부터 걷는 거리가 가장 짧도록 방을 배정하는 프로그램을 작성하고자 한다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.</a:t>
            </a:r>
          </a:p>
          <a:p>
            <a:pPr algn="just"/>
            <a:r>
              <a:rPr lang="ko-KR" altLang="en-US" sz="1800" dirty="0"/>
              <a:t>손님은 엘리베이터를 타고 이동하는 거리는 신경 쓰지 않는다</a:t>
            </a:r>
            <a:r>
              <a:rPr lang="en-US" altLang="ko-KR" sz="1800" dirty="0"/>
              <a:t>. </a:t>
            </a:r>
            <a:r>
              <a:rPr lang="ko-KR" altLang="en-US" sz="1800" dirty="0"/>
              <a:t>다만 걷는 거리가 같을 때에는 아래층의 방을 더 선호한다</a:t>
            </a:r>
            <a:r>
              <a:rPr lang="en-US" altLang="ko-KR" sz="1800" dirty="0"/>
              <a:t>. </a:t>
            </a:r>
            <a:r>
              <a:rPr lang="ko-KR" altLang="en-US" sz="1800" dirty="0"/>
              <a:t>예를 들면 </a:t>
            </a:r>
            <a:r>
              <a:rPr lang="en-US" altLang="ko-KR" sz="1800" dirty="0"/>
              <a:t>102 </a:t>
            </a:r>
            <a:r>
              <a:rPr lang="ko-KR" altLang="en-US" sz="1800" dirty="0"/>
              <a:t>호 방보다는 </a:t>
            </a:r>
            <a:r>
              <a:rPr lang="en-US" altLang="ko-KR" sz="1800" dirty="0"/>
              <a:t>301 </a:t>
            </a:r>
            <a:r>
              <a:rPr lang="ko-KR" altLang="en-US" sz="1800" dirty="0"/>
              <a:t>호 방을 더 선호한다</a:t>
            </a:r>
            <a:r>
              <a:rPr lang="en-US" altLang="ko-KR" sz="1800" dirty="0"/>
              <a:t>.</a:t>
            </a:r>
          </a:p>
          <a:p>
            <a:pPr algn="just"/>
            <a:r>
              <a:rPr lang="ko-KR" altLang="en-US" sz="1800" dirty="0"/>
              <a:t>초기에 모든 방이 </a:t>
            </a:r>
            <a:r>
              <a:rPr lang="ko-KR" altLang="en-US" sz="1800" dirty="0" err="1"/>
              <a:t>비어있다고</a:t>
            </a:r>
            <a:r>
              <a:rPr lang="ko-KR" altLang="en-US" sz="1800" dirty="0"/>
              <a:t> 가정하에 이 정책에 따라 </a:t>
            </a:r>
            <a:r>
              <a:rPr lang="en-US" altLang="ko-KR" sz="1800" dirty="0"/>
              <a:t>N </a:t>
            </a:r>
            <a:r>
              <a:rPr lang="ko-KR" altLang="en-US" sz="1800" dirty="0" err="1"/>
              <a:t>번째로</a:t>
            </a:r>
            <a:r>
              <a:rPr lang="ko-KR" altLang="en-US" sz="1800" dirty="0"/>
              <a:t> 도착한 손님에게 배정될 방 번호를 계산하는 프로그램이다</a:t>
            </a:r>
            <a:r>
              <a:rPr lang="en-US" altLang="ko-KR" sz="1800" dirty="0"/>
              <a:t>. </a:t>
            </a:r>
            <a:endParaRPr lang="ko-KR" altLang="en-US" sz="1800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8C6C31A-B43C-7BA1-2990-42B676EF36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268DA64-E15D-4814-A1DA-86D92D550423}" type="slidenum">
              <a:rPr lang="ko-KR" altLang="en-US" smtClean="0"/>
              <a:pPr>
                <a:defRPr/>
              </a:pPr>
              <a:t>6</a:t>
            </a:fld>
            <a:endParaRPr lang="ko-KR" altLang="en-US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B97717DD-F3CC-A96A-254D-1310788B35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1719" y="3674542"/>
            <a:ext cx="4558175" cy="29948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4953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14D1F8-E42C-6DA2-6354-AC27B04980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99CB53C-AC11-3DEF-DCA3-48F321FB43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3200" dirty="0"/>
              <a:t>3. </a:t>
            </a:r>
            <a:r>
              <a:rPr lang="ko-KR" altLang="en-US" sz="3200" dirty="0" err="1"/>
              <a:t>오셀로</a:t>
            </a:r>
            <a:r>
              <a:rPr lang="ko-KR" altLang="en-US" sz="3200" dirty="0"/>
              <a:t> 재배치</a:t>
            </a:r>
            <a:r>
              <a:rPr lang="en-US" altLang="ko-KR" sz="3200" dirty="0"/>
              <a:t>(</a:t>
            </a:r>
            <a:r>
              <a:rPr lang="ko-KR" altLang="en-US" sz="3200" dirty="0"/>
              <a:t>백준</a:t>
            </a:r>
            <a:r>
              <a:rPr lang="en-US" altLang="ko-KR" sz="3200" dirty="0"/>
              <a:t>)</a:t>
            </a:r>
            <a:br>
              <a:rPr lang="en-US" altLang="ko-KR" sz="3200" dirty="0"/>
            </a:br>
            <a:r>
              <a:rPr lang="en-US" altLang="ko-KR" sz="3200" dirty="0"/>
              <a:t>https://www.acmicpc.net/problem/13413</a:t>
            </a:r>
            <a:endParaRPr lang="ko-KR" altLang="en-US" sz="3200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E6667B7-AE75-ED9B-33A7-29E8838EA4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40768"/>
            <a:ext cx="8229600" cy="4785395"/>
          </a:xfrm>
        </p:spPr>
        <p:txBody>
          <a:bodyPr/>
          <a:lstStyle/>
          <a:p>
            <a:r>
              <a:rPr lang="ko-KR" altLang="en-US" sz="2000" b="0" i="0" dirty="0">
                <a:effectLst/>
                <a:latin typeface="Open Sans" panose="020F0502020204030204" pitchFamily="34" charset="0"/>
              </a:rPr>
              <a:t>초기 상태의 말과 목표 상태의 말이 주어질 때</a:t>
            </a:r>
            <a:r>
              <a:rPr lang="en-US" altLang="ko-KR" sz="2000" b="0" i="0" dirty="0">
                <a:effectLst/>
                <a:latin typeface="Open Sans" panose="020F0502020204030204" pitchFamily="34" charset="0"/>
              </a:rPr>
              <a:t>, </a:t>
            </a:r>
            <a:r>
              <a:rPr lang="ko-KR" altLang="en-US" sz="2000" b="0" i="0" dirty="0">
                <a:effectLst/>
                <a:latin typeface="Open Sans" panose="020F0502020204030204" pitchFamily="34" charset="0"/>
              </a:rPr>
              <a:t>목표 상태에 도달할 수 있는 최소 횟수를 구하는 프로그램을 </a:t>
            </a:r>
            <a:r>
              <a:rPr lang="ko-KR" altLang="en-US" sz="2000" b="0" i="0" dirty="0" err="1">
                <a:effectLst/>
                <a:latin typeface="Open Sans" panose="020F0502020204030204" pitchFamily="34" charset="0"/>
              </a:rPr>
              <a:t>작성하시오</a:t>
            </a:r>
            <a:r>
              <a:rPr lang="en-US" altLang="ko-KR" sz="2000" b="0" i="0" dirty="0">
                <a:effectLst/>
                <a:latin typeface="Open Sans" panose="020F0502020204030204" pitchFamily="34" charset="0"/>
              </a:rPr>
              <a:t>.</a:t>
            </a:r>
            <a:endParaRPr lang="ko-KR" altLang="en-US" sz="2000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66179AFA-5CB9-D6EF-0879-0B1FF389B7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268DA64-E15D-4814-A1DA-86D92D550423}" type="slidenum">
              <a:rPr lang="ko-KR" altLang="en-US" smtClean="0"/>
              <a:pPr>
                <a:defRPr/>
              </a:pPr>
              <a:t>7</a:t>
            </a:fld>
            <a:endParaRPr lang="ko-KR" altLang="en-US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CE108E21-D4E1-5CE2-0B47-85369D8C36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568" y="2276872"/>
            <a:ext cx="7668344" cy="2871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28706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1BDCB5-7F53-214B-6C61-C92019CB99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6EFEF50-ACBE-B55A-3CD9-ECD0968B96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3200" dirty="0"/>
              <a:t>4. </a:t>
            </a:r>
            <a:r>
              <a:rPr lang="ko-KR" altLang="en-US" sz="3200" dirty="0"/>
              <a:t>문자열 폭발 </a:t>
            </a:r>
            <a:r>
              <a:rPr lang="en-US" altLang="ko-KR" sz="3200" dirty="0"/>
              <a:t>(</a:t>
            </a:r>
            <a:r>
              <a:rPr lang="en-US" altLang="ko-KR" sz="3200" dirty="0" err="1"/>
              <a:t>TUKorea</a:t>
            </a:r>
            <a:r>
              <a:rPr lang="en-US" altLang="ko-KR" sz="3200" dirty="0"/>
              <a:t>) </a:t>
            </a:r>
            <a:br>
              <a:rPr lang="en-US" altLang="ko-KR" sz="3200" dirty="0"/>
            </a:br>
            <a:r>
              <a:rPr lang="en-US" altLang="ko-KR" sz="3200" dirty="0"/>
              <a:t>http://210.93.60.51/problem/0079</a:t>
            </a:r>
            <a:endParaRPr lang="ko-KR" altLang="en-US" sz="3200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6ABA8CA-B1A0-8B3D-CAB9-27BB454F48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40768"/>
            <a:ext cx="8229600" cy="4785395"/>
          </a:xfrm>
        </p:spPr>
        <p:txBody>
          <a:bodyPr/>
          <a:lstStyle/>
          <a:p>
            <a:pPr algn="just"/>
            <a:r>
              <a:rPr lang="ko-KR" altLang="en-US" sz="2000" b="0" i="0" dirty="0">
                <a:effectLst/>
                <a:latin typeface="Open Sans" panose="020F0502020204030204" pitchFamily="34" charset="0"/>
              </a:rPr>
              <a:t>문자열이 폭발 문자열을 포함하고 있는 경우에</a:t>
            </a:r>
            <a:r>
              <a:rPr lang="en-US" altLang="ko-KR" sz="2000" b="0" i="0" dirty="0">
                <a:effectLst/>
                <a:latin typeface="Open Sans" panose="020F0502020204030204" pitchFamily="34" charset="0"/>
              </a:rPr>
              <a:t>, </a:t>
            </a:r>
            <a:r>
              <a:rPr lang="ko-KR" altLang="en-US" sz="2000" b="0" i="0" dirty="0">
                <a:effectLst/>
                <a:latin typeface="Open Sans" panose="020F0502020204030204" pitchFamily="34" charset="0"/>
              </a:rPr>
              <a:t>모든 폭발 문자열이 폭발하게 된다</a:t>
            </a:r>
            <a:r>
              <a:rPr lang="en-US" altLang="ko-KR" sz="2000" b="0" i="0" dirty="0">
                <a:effectLst/>
                <a:latin typeface="Open Sans" panose="020F0502020204030204" pitchFamily="34" charset="0"/>
              </a:rPr>
              <a:t>. </a:t>
            </a:r>
            <a:r>
              <a:rPr lang="ko-KR" altLang="en-US" sz="2000" b="0" i="0" dirty="0">
                <a:effectLst/>
                <a:latin typeface="Open Sans" panose="020F0502020204030204" pitchFamily="34" charset="0"/>
              </a:rPr>
              <a:t>남은 문자열을 순서대로 이어 붙여 새로운 문자열을 만든다</a:t>
            </a:r>
            <a:r>
              <a:rPr lang="en-US" altLang="ko-KR" sz="2000" b="0" i="0" dirty="0">
                <a:effectLst/>
                <a:latin typeface="Open Sans" panose="020F0502020204030204" pitchFamily="34" charset="0"/>
              </a:rPr>
              <a:t>.</a:t>
            </a:r>
          </a:p>
          <a:p>
            <a:pPr algn="just"/>
            <a:r>
              <a:rPr lang="ko-KR" altLang="en-US" sz="2000" b="0" i="0" dirty="0">
                <a:effectLst/>
                <a:latin typeface="Open Sans" panose="020F0502020204030204" pitchFamily="34" charset="0"/>
              </a:rPr>
              <a:t>새로 생긴 문자열에 폭발 문자열이 포함되어 있을 수도 있다</a:t>
            </a:r>
            <a:r>
              <a:rPr lang="en-US" altLang="ko-KR" sz="2000" b="0" i="0" dirty="0">
                <a:effectLst/>
                <a:latin typeface="Open Sans" panose="020F0502020204030204" pitchFamily="34" charset="0"/>
              </a:rPr>
              <a:t>.</a:t>
            </a:r>
          </a:p>
          <a:p>
            <a:pPr algn="just"/>
            <a:r>
              <a:rPr lang="ko-KR" altLang="en-US" sz="2000" b="0" i="0" dirty="0">
                <a:effectLst/>
                <a:latin typeface="Open Sans" panose="020F0502020204030204" pitchFamily="34" charset="0"/>
              </a:rPr>
              <a:t>폭발은 폭발 문자열이 문자열에 없을 때까지 계속된다</a:t>
            </a:r>
            <a:r>
              <a:rPr lang="en-US" altLang="ko-KR" sz="2000" b="0" i="0" dirty="0">
                <a:effectLst/>
                <a:latin typeface="Open Sans" panose="020F0502020204030204" pitchFamily="34" charset="0"/>
              </a:rPr>
              <a:t>.</a:t>
            </a:r>
            <a:endParaRPr lang="ko-KR" altLang="en-US" sz="2000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345AAE8-FF1A-38EE-FB83-8DBB91949D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268DA64-E15D-4814-A1DA-86D92D550423}" type="slidenum">
              <a:rPr lang="ko-KR" altLang="en-US" smtClean="0"/>
              <a:pPr>
                <a:defRPr/>
              </a:pPr>
              <a:t>8</a:t>
            </a:fld>
            <a:endParaRPr lang="ko-KR" altLang="en-US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F242297D-EB5D-2636-D04A-C928B093BE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9592" y="3068960"/>
            <a:ext cx="7056784" cy="36158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95405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6A5642-9742-DB2E-8596-D53A2226E5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EE479E0-32A8-8019-C1E5-6961CFAA79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3200" dirty="0"/>
              <a:t>5. </a:t>
            </a:r>
            <a:r>
              <a:rPr lang="ko-KR" altLang="en-US" sz="3200" dirty="0" err="1"/>
              <a:t>십자말</a:t>
            </a:r>
            <a:r>
              <a:rPr lang="ko-KR" altLang="en-US" sz="3200" dirty="0"/>
              <a:t> 풀이 </a:t>
            </a:r>
            <a:r>
              <a:rPr lang="en-US" altLang="ko-KR" sz="3200" dirty="0"/>
              <a:t>(</a:t>
            </a:r>
            <a:r>
              <a:rPr lang="en-US" altLang="ko-KR" sz="3200" dirty="0" err="1"/>
              <a:t>TUKorea</a:t>
            </a:r>
            <a:r>
              <a:rPr lang="en-US" altLang="ko-KR" sz="3200" dirty="0"/>
              <a:t>) </a:t>
            </a:r>
            <a:br>
              <a:rPr lang="en-US" altLang="ko-KR" sz="3200" dirty="0"/>
            </a:br>
            <a:r>
              <a:rPr lang="en-US" altLang="ko-KR" sz="3200" dirty="0"/>
              <a:t>http://210.93.60.51/problem/0071</a:t>
            </a:r>
            <a:endParaRPr lang="ko-KR" altLang="en-US" sz="3200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2CB0224-82D0-B771-1585-7FB1EE0828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40768"/>
            <a:ext cx="8229600" cy="4785395"/>
          </a:xfrm>
        </p:spPr>
        <p:txBody>
          <a:bodyPr/>
          <a:lstStyle/>
          <a:p>
            <a:pPr algn="just"/>
            <a:r>
              <a:rPr lang="en-US" altLang="ko-KR" sz="2000" b="0" i="0" dirty="0">
                <a:effectLst/>
                <a:latin typeface="Open Sans" panose="020F0502020204030204" pitchFamily="34" charset="0"/>
              </a:rPr>
              <a:t>A</a:t>
            </a:r>
            <a:r>
              <a:rPr lang="ko-KR" altLang="en-US" sz="2000" b="0" i="0" dirty="0">
                <a:effectLst/>
                <a:latin typeface="Open Sans" panose="020F0502020204030204" pitchFamily="34" charset="0"/>
              </a:rPr>
              <a:t>와 </a:t>
            </a:r>
            <a:r>
              <a:rPr lang="en-US" altLang="ko-KR" sz="2000" b="0" i="0" dirty="0">
                <a:effectLst/>
                <a:latin typeface="Open Sans" panose="020F0502020204030204" pitchFamily="34" charset="0"/>
              </a:rPr>
              <a:t>B</a:t>
            </a:r>
            <a:r>
              <a:rPr lang="ko-KR" altLang="en-US" sz="2000" b="0" i="0" dirty="0">
                <a:effectLst/>
                <a:latin typeface="Open Sans" panose="020F0502020204030204" pitchFamily="34" charset="0"/>
              </a:rPr>
              <a:t>라는 두 단어가 주어집니다</a:t>
            </a:r>
            <a:r>
              <a:rPr lang="en-US" altLang="ko-KR" sz="2000" b="0" i="0" dirty="0">
                <a:effectLst/>
                <a:latin typeface="Open Sans" panose="020F0502020204030204" pitchFamily="34" charset="0"/>
              </a:rPr>
              <a:t>.</a:t>
            </a:r>
          </a:p>
          <a:p>
            <a:pPr algn="just"/>
            <a:r>
              <a:rPr lang="ko-KR" altLang="en-US" sz="2000" b="0" i="0" dirty="0">
                <a:effectLst/>
                <a:latin typeface="Open Sans" panose="020F0502020204030204" pitchFamily="34" charset="0"/>
              </a:rPr>
              <a:t>단어 </a:t>
            </a:r>
            <a:r>
              <a:rPr lang="en-US" altLang="ko-KR" sz="2000" b="0" i="0" dirty="0">
                <a:effectLst/>
                <a:latin typeface="Open Sans" panose="020F0502020204030204" pitchFamily="34" charset="0"/>
              </a:rPr>
              <a:t>A</a:t>
            </a:r>
            <a:r>
              <a:rPr lang="ko-KR" altLang="en-US" sz="2000" b="0" i="0" dirty="0">
                <a:effectLst/>
                <a:latin typeface="Open Sans" panose="020F0502020204030204" pitchFamily="34" charset="0"/>
              </a:rPr>
              <a:t>는 가로로</a:t>
            </a:r>
            <a:r>
              <a:rPr lang="en-US" altLang="ko-KR" sz="2000" b="0" i="0" dirty="0">
                <a:effectLst/>
                <a:latin typeface="Open Sans" panose="020F0502020204030204" pitchFamily="34" charset="0"/>
              </a:rPr>
              <a:t>, </a:t>
            </a:r>
            <a:r>
              <a:rPr lang="ko-KR" altLang="en-US" sz="2000" b="0" i="0" dirty="0">
                <a:effectLst/>
                <a:latin typeface="Open Sans" panose="020F0502020204030204" pitchFamily="34" charset="0"/>
              </a:rPr>
              <a:t>단어 </a:t>
            </a:r>
            <a:r>
              <a:rPr lang="en-US" altLang="ko-KR" sz="2000" b="0" i="0" dirty="0">
                <a:effectLst/>
                <a:latin typeface="Open Sans" panose="020F0502020204030204" pitchFamily="34" charset="0"/>
              </a:rPr>
              <a:t>B</a:t>
            </a:r>
            <a:r>
              <a:rPr lang="ko-KR" altLang="en-US" sz="2000" b="0" i="0" dirty="0">
                <a:effectLst/>
                <a:latin typeface="Open Sans" panose="020F0502020204030204" pitchFamily="34" charset="0"/>
              </a:rPr>
              <a:t>는 세로로 출력해야 두 단어가 교차합니다</a:t>
            </a:r>
            <a:r>
              <a:rPr lang="en-US" altLang="ko-KR" sz="2000" b="0" i="0" dirty="0">
                <a:effectLst/>
                <a:latin typeface="Open Sans" panose="020F0502020204030204" pitchFamily="34" charset="0"/>
              </a:rPr>
              <a:t>(</a:t>
            </a:r>
            <a:r>
              <a:rPr lang="ko-KR" altLang="en-US" sz="2000" b="0" i="0" dirty="0">
                <a:effectLst/>
                <a:latin typeface="Open Sans" panose="020F0502020204030204" pitchFamily="34" charset="0"/>
              </a:rPr>
              <a:t>즉</a:t>
            </a:r>
            <a:r>
              <a:rPr lang="en-US" altLang="ko-KR" sz="2000" b="0" i="0" dirty="0">
                <a:effectLst/>
                <a:latin typeface="Open Sans" panose="020F0502020204030204" pitchFamily="34" charset="0"/>
              </a:rPr>
              <a:t>, </a:t>
            </a:r>
            <a:r>
              <a:rPr lang="ko-KR" altLang="en-US" sz="2000" b="0" i="0" dirty="0">
                <a:effectLst/>
                <a:latin typeface="Open Sans" panose="020F0502020204030204" pitchFamily="34" charset="0"/>
              </a:rPr>
              <a:t>정확히 하나의 문자를 공유해야 합니다</a:t>
            </a:r>
            <a:r>
              <a:rPr lang="en-US" altLang="ko-KR" sz="2000" b="0" i="0" dirty="0">
                <a:effectLst/>
                <a:latin typeface="Open Sans" panose="020F0502020204030204" pitchFamily="34" charset="0"/>
              </a:rPr>
              <a:t>.).</a:t>
            </a:r>
          </a:p>
          <a:p>
            <a:pPr algn="just"/>
            <a:r>
              <a:rPr lang="ko-KR" altLang="en-US" sz="2000" b="0" i="0" dirty="0">
                <a:effectLst/>
                <a:latin typeface="Open Sans" panose="020F0502020204030204" pitchFamily="34" charset="0"/>
              </a:rPr>
              <a:t>공유 문자는 </a:t>
            </a:r>
            <a:r>
              <a:rPr lang="en-US" altLang="ko-KR" sz="2000" b="0" i="0" dirty="0">
                <a:effectLst/>
                <a:latin typeface="Open Sans" panose="020F0502020204030204" pitchFamily="34" charset="0"/>
              </a:rPr>
              <a:t>A</a:t>
            </a:r>
            <a:r>
              <a:rPr lang="ko-KR" altLang="en-US" sz="2000" b="0" i="0" dirty="0">
                <a:effectLst/>
                <a:latin typeface="Open Sans" panose="020F0502020204030204" pitchFamily="34" charset="0"/>
              </a:rPr>
              <a:t>와 </a:t>
            </a:r>
            <a:r>
              <a:rPr lang="en-US" altLang="ko-KR" sz="2000" b="0" i="0" dirty="0">
                <a:effectLst/>
                <a:latin typeface="Open Sans" panose="020F0502020204030204" pitchFamily="34" charset="0"/>
              </a:rPr>
              <a:t>B</a:t>
            </a:r>
            <a:r>
              <a:rPr lang="ko-KR" altLang="en-US" sz="2000" b="0" i="0" dirty="0">
                <a:effectLst/>
                <a:latin typeface="Open Sans" panose="020F0502020204030204" pitchFamily="34" charset="0"/>
              </a:rPr>
              <a:t>에 모두 포함되어야 하며</a:t>
            </a:r>
            <a:r>
              <a:rPr lang="en-US" altLang="ko-KR" sz="2000" b="0" i="0" dirty="0">
                <a:effectLst/>
                <a:latin typeface="Open Sans" panose="020F0502020204030204" pitchFamily="34" charset="0"/>
              </a:rPr>
              <a:t>,  A</a:t>
            </a:r>
            <a:r>
              <a:rPr lang="ko-KR" altLang="en-US" sz="2000" b="0" i="0" dirty="0">
                <a:effectLst/>
                <a:latin typeface="Open Sans" panose="020F0502020204030204" pitchFamily="34" charset="0"/>
              </a:rPr>
              <a:t>와 </a:t>
            </a:r>
            <a:r>
              <a:rPr lang="en-US" altLang="ko-KR" sz="2000" b="0" i="0" dirty="0">
                <a:effectLst/>
                <a:latin typeface="Open Sans" panose="020F0502020204030204" pitchFamily="34" charset="0"/>
              </a:rPr>
              <a:t>B </a:t>
            </a:r>
            <a:r>
              <a:rPr lang="ko-KR" altLang="en-US" sz="2000" b="0" i="0" dirty="0">
                <a:effectLst/>
                <a:latin typeface="Open Sans" panose="020F0502020204030204" pitchFamily="34" charset="0"/>
              </a:rPr>
              <a:t>단어에서 공유 문자는 각각 처음 나타나야 합니다</a:t>
            </a:r>
            <a:r>
              <a:rPr lang="en-US" altLang="ko-KR" sz="2000" b="0" i="0" dirty="0">
                <a:effectLst/>
                <a:latin typeface="Open Sans" panose="020F0502020204030204" pitchFamily="34" charset="0"/>
              </a:rPr>
              <a:t>.</a:t>
            </a:r>
          </a:p>
          <a:p>
            <a:pPr algn="just"/>
            <a:r>
              <a:rPr lang="ko-KR" altLang="en-US" sz="2000" b="0" i="0" dirty="0">
                <a:effectLst/>
                <a:latin typeface="Open Sans" panose="020F0502020204030204" pitchFamily="34" charset="0"/>
              </a:rPr>
              <a:t>예를 들어 </a:t>
            </a:r>
            <a:r>
              <a:rPr lang="en-US" altLang="ko-KR" sz="2000" b="0" i="0" dirty="0">
                <a:effectLst/>
                <a:latin typeface="Open Sans" panose="020F0502020204030204" pitchFamily="34" charset="0"/>
              </a:rPr>
              <a:t>A = "ABBA" </a:t>
            </a:r>
            <a:r>
              <a:rPr lang="ko-KR" altLang="en-US" sz="2000" b="0" i="0" dirty="0">
                <a:effectLst/>
                <a:latin typeface="Open Sans" panose="020F0502020204030204" pitchFamily="34" charset="0"/>
              </a:rPr>
              <a:t>및 </a:t>
            </a:r>
            <a:r>
              <a:rPr lang="en-US" altLang="ko-KR" sz="2000" b="0" i="0" dirty="0">
                <a:effectLst/>
                <a:latin typeface="Open Sans" panose="020F0502020204030204" pitchFamily="34" charset="0"/>
              </a:rPr>
              <a:t>B = "CCBB"</a:t>
            </a:r>
            <a:r>
              <a:rPr lang="ko-KR" altLang="en-US" sz="2000" b="0" i="0" dirty="0">
                <a:effectLst/>
                <a:latin typeface="Open Sans" panose="020F0502020204030204" pitchFamily="34" charset="0"/>
              </a:rPr>
              <a:t>라는 단어가 주어지면 아래와 같이 </a:t>
            </a:r>
            <a:r>
              <a:rPr lang="en-US" altLang="ko-KR" sz="2000" b="0" i="0" dirty="0">
                <a:effectLst/>
                <a:latin typeface="Open Sans" panose="020F0502020204030204" pitchFamily="34" charset="0"/>
              </a:rPr>
              <a:t>4</a:t>
            </a:r>
            <a:r>
              <a:rPr lang="ko-KR" altLang="en-US" sz="2000" b="0" i="0" dirty="0">
                <a:effectLst/>
                <a:latin typeface="Open Sans" panose="020F0502020204030204" pitchFamily="34" charset="0"/>
              </a:rPr>
              <a:t>줄을 출력해야 합니다</a:t>
            </a:r>
            <a:r>
              <a:rPr lang="en-US" altLang="ko-KR" sz="2000" b="0" i="0" dirty="0">
                <a:effectLst/>
                <a:latin typeface="Open Sans" panose="020F0502020204030204" pitchFamily="34" charset="0"/>
              </a:rPr>
              <a:t>.</a:t>
            </a:r>
            <a:endParaRPr lang="ko-KR" altLang="en-US" sz="2000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8829A30-A769-2181-FA67-4E42B50CFD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268DA64-E15D-4814-A1DA-86D92D550423}" type="slidenum">
              <a:rPr lang="ko-KR" altLang="en-US" smtClean="0"/>
              <a:pPr>
                <a:defRPr/>
              </a:pPr>
              <a:t>9</a:t>
            </a:fld>
            <a:endParaRPr lang="ko-KR" altLang="en-US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6A159890-D6BF-9F50-21F7-5E79C6C112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31840" y="3738999"/>
            <a:ext cx="2016224" cy="28705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104054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2182D6-7C3A-1450-0957-0736228992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0FC0AAC-B616-D4EC-909C-ECC3F2A8B8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3200" dirty="0"/>
              <a:t>6. </a:t>
            </a:r>
            <a:r>
              <a:rPr lang="ko-KR" altLang="en-US" sz="3200" dirty="0"/>
              <a:t>다트게임</a:t>
            </a:r>
            <a:r>
              <a:rPr lang="en-US" altLang="ko-KR" sz="3200" dirty="0"/>
              <a:t>(Programmers) </a:t>
            </a:r>
            <a:br>
              <a:rPr lang="en-US" altLang="ko-KR" sz="3200" dirty="0"/>
            </a:br>
            <a:r>
              <a:rPr lang="en-US" altLang="ko-KR" sz="2000" dirty="0"/>
              <a:t>https://school.programmers.co.kr/learn/courses/30/lessons/17682</a:t>
            </a:r>
            <a:endParaRPr lang="ko-KR" altLang="en-US" sz="2000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1099AAD-C6EA-CB4B-F77E-8434C7D5EA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268DA64-E15D-4814-A1DA-86D92D550423}" type="slidenum">
              <a:rPr lang="ko-KR" altLang="en-US" smtClean="0"/>
              <a:pPr>
                <a:defRPr/>
              </a:pPr>
              <a:t>10</a:t>
            </a:fld>
            <a:endParaRPr lang="ko-KR" altLang="en-US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F016B6D-0C0F-157F-09D2-AC5521FD1D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276999"/>
            <a:ext cx="6475" cy="553998"/>
          </a:xfrm>
          <a:prstGeom prst="rect">
            <a:avLst/>
          </a:prstGeom>
          <a:solidFill>
            <a:srgbClr val="202B3D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6348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E79C9345-21DA-32CD-7689-AAE69EFFEF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8032" y="1200767"/>
            <a:ext cx="8604448" cy="51805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82145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E07BCB-D3AB-9CCD-7CE7-F76BD951FB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228ECF1-4E97-A15A-DAD8-0ABE3CAA92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3200" dirty="0"/>
              <a:t>6. </a:t>
            </a:r>
            <a:r>
              <a:rPr lang="ko-KR" altLang="en-US" sz="3200" dirty="0"/>
              <a:t>다트게임</a:t>
            </a:r>
            <a:r>
              <a:rPr lang="en-US" altLang="ko-KR" sz="3200" dirty="0"/>
              <a:t>(Programmers) </a:t>
            </a:r>
            <a:br>
              <a:rPr lang="en-US" altLang="ko-KR" sz="3200" dirty="0"/>
            </a:br>
            <a:r>
              <a:rPr lang="en-US" altLang="ko-KR" sz="2000" dirty="0"/>
              <a:t>https://school.programmers.co.kr/learn/courses/30/lessons/17682</a:t>
            </a:r>
            <a:endParaRPr lang="ko-KR" altLang="en-US" sz="2000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B66AC801-CA8F-FDB6-09CD-DD51D86F47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268DA64-E15D-4814-A1DA-86D92D550423}" type="slidenum">
              <a:rPr lang="ko-KR" altLang="en-US" smtClean="0"/>
              <a:pPr>
                <a:defRPr/>
              </a:pPr>
              <a:t>11</a:t>
            </a:fld>
            <a:endParaRPr lang="ko-KR" altLang="en-US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9CBCE4BB-1BED-535C-060B-7F090E6BAE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276999"/>
            <a:ext cx="6475" cy="553998"/>
          </a:xfrm>
          <a:prstGeom prst="rect">
            <a:avLst/>
          </a:prstGeom>
          <a:solidFill>
            <a:srgbClr val="202B3D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6348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DD973BE8-FD4D-5DE7-AA00-F938C12395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9592" y="1268760"/>
            <a:ext cx="7488832" cy="5174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75142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풍요">
      <a:dk1>
        <a:sysClr val="windowText" lastClr="000000"/>
      </a:dk1>
      <a:lt1>
        <a:sysClr val="window" lastClr="FFFFFF"/>
      </a:lt1>
      <a:dk2>
        <a:srgbClr val="B13F9A"/>
      </a:dk2>
      <a:lt2>
        <a:srgbClr val="F4E7ED"/>
      </a:lt2>
      <a:accent1>
        <a:srgbClr val="B83D68"/>
      </a:accent1>
      <a:accent2>
        <a:srgbClr val="AC66BB"/>
      </a:accent2>
      <a:accent3>
        <a:srgbClr val="DE6C36"/>
      </a:accent3>
      <a:accent4>
        <a:srgbClr val="F9B639"/>
      </a:accent4>
      <a:accent5>
        <a:srgbClr val="CF6DA4"/>
      </a:accent5>
      <a:accent6>
        <a:srgbClr val="FA8D3D"/>
      </a:accent6>
      <a:hlink>
        <a:srgbClr val="FFDE66"/>
      </a:hlink>
      <a:folHlink>
        <a:srgbClr val="D490C5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4459</TotalTime>
  <Words>486</Words>
  <Application>Microsoft Office PowerPoint</Application>
  <PresentationFormat>화면 슬라이드 쇼(4:3)</PresentationFormat>
  <Paragraphs>48</Paragraphs>
  <Slides>11</Slides>
  <Notes>11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11</vt:i4>
      </vt:variant>
    </vt:vector>
  </HeadingPairs>
  <TitlesOfParts>
    <vt:vector size="17" baseType="lpstr">
      <vt:lpstr>굴림</vt:lpstr>
      <vt:lpstr>malgun gothic</vt:lpstr>
      <vt:lpstr>malgun gothic</vt:lpstr>
      <vt:lpstr>Arial</vt:lpstr>
      <vt:lpstr>Open Sans</vt:lpstr>
      <vt:lpstr>Office 테마</vt:lpstr>
      <vt:lpstr>숙제1. 파이썬 문법</vt:lpstr>
      <vt:lpstr>백준 온라인저지  https://www.acmicpc.net/</vt:lpstr>
      <vt:lpstr>TUKorea 온라인저지  http://210.93.60.51/</vt:lpstr>
      <vt:lpstr>Programmers https://school.programmers.co.kr/</vt:lpstr>
      <vt:lpstr>1. 하얀칸(백준) https://www.acmicpc.net/problem/1100</vt:lpstr>
      <vt:lpstr>2. ACM호텔(백준) https://www.acmicpc.net/problem/10250</vt:lpstr>
      <vt:lpstr>3. 오셀로 재배치(백준) https://www.acmicpc.net/problem/13413</vt:lpstr>
      <vt:lpstr>4. 문자열 폭발 (TUKorea)  http://210.93.60.51/problem/0079</vt:lpstr>
      <vt:lpstr>5. 십자말 풀이 (TUKorea)  http://210.93.60.51/problem/0071</vt:lpstr>
      <vt:lpstr>6. 다트게임(Programmers)  https://school.programmers.co.kr/learn/courses/30/lessons/17682</vt:lpstr>
      <vt:lpstr>6. 다트게임(Programmers)  https://school.programmers.co.kr/learn/courses/30/lessons/17682</vt:lpstr>
    </vt:vector>
  </TitlesOfParts>
  <Company>kpu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STL</dc:title>
  <dc:creator>kys</dc:creator>
  <cp:lastModifiedBy>Youngsik Kim</cp:lastModifiedBy>
  <cp:revision>216</cp:revision>
  <cp:lastPrinted>2023-07-23T09:30:34Z</cp:lastPrinted>
  <dcterms:created xsi:type="dcterms:W3CDTF">2008-03-02T04:39:19Z</dcterms:created>
  <dcterms:modified xsi:type="dcterms:W3CDTF">2025-02-12T14:06:10Z</dcterms:modified>
</cp:coreProperties>
</file>