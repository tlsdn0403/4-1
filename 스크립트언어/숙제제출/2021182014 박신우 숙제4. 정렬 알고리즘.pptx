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16"/>
  </p:notesMasterIdLst>
  <p:sldIdLst>
    <p:sldId id="258" r:id="rId2"/>
    <p:sldId id="269" r:id="rId3"/>
    <p:sldId id="335" r:id="rId4"/>
    <p:sldId id="259" r:id="rId5"/>
    <p:sldId id="336" r:id="rId6"/>
    <p:sldId id="345" r:id="rId7"/>
    <p:sldId id="337" r:id="rId8"/>
    <p:sldId id="347" r:id="rId9"/>
    <p:sldId id="339" r:id="rId10"/>
    <p:sldId id="346" r:id="rId11"/>
    <p:sldId id="341" r:id="rId12"/>
    <p:sldId id="344" r:id="rId13"/>
    <p:sldId id="342" r:id="rId14"/>
    <p:sldId id="343" r:id="rId15"/>
  </p:sldIdLst>
  <p:sldSz cx="9144000" cy="6858000" type="screen4x3"/>
  <p:notesSz cx="6796088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1" autoAdjust="0"/>
    <p:restoredTop sz="94660"/>
  </p:normalViewPr>
  <p:slideViewPr>
    <p:cSldViewPr>
      <p:cViewPr varScale="1">
        <p:scale>
          <a:sx n="96" d="100"/>
          <a:sy n="96" d="100"/>
        </p:scale>
        <p:origin x="127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4812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755AD21-19C0-49A3-8C7F-3EE70D30FEBF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7188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4812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8CEB46D-9B0E-47D1-8684-1DB50B81E07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36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99BD248-42D7-44D8-991C-BF0E4233C8AD}" type="slidenum">
              <a:rPr lang="ko-KR" altLang="en-US"/>
              <a:pPr>
                <a:spcBef>
                  <a:spcPct val="0"/>
                </a:spcBef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CE528-7F58-8114-7800-EFA490682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301D9848-AD40-DF15-D243-28D631A9CD5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091CA6EA-ABB6-24D8-9BAE-97421D8EE25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937960F0-1989-1616-5FDB-55CF6FAE06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3386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FF79-6E0B-4FCD-4276-D4CAA1B9B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2C6B5741-4F6C-4D1A-EEF6-369E9297ED6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73D3F1C7-091C-1E87-193D-1AF1F221AD6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6F198135-18B5-ED7B-0127-7B81C3306D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398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688F8-5F87-5720-444A-1721D475D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00004F-D8EA-614A-3DBC-3E425426DA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41AE31-036B-30BC-DCF7-1F84F0D2C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3BF956-C273-78EE-309C-C157A256EC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855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32295-AB65-DAB2-4B2B-6214B5399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2FE399-1B8E-044C-8145-04FF4C8EB9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CEA629-1B19-2CFA-FC0C-97ED8A476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76750F-CB33-8A29-A3EA-4DE2D502A5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48602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AF4A5-5617-2BA3-1998-B43431DBB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67605B-0E30-2C3F-90AB-0349812CB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6FCDA3-DE81-C79D-7CFA-90D64473B9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E7FB2C-EF50-069C-CDBF-B40305EF9A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2299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D8154-5674-3592-043C-ED5B85D56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196531-8DAF-7C4B-C085-A0F72FDF0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11258C-00BC-693E-9655-C702C0AED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E7B02C-31F7-C577-64B6-706B91BEEA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2291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E1CF2-736F-24FC-6DE5-9E78DABAD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01BB27-5805-3280-F20D-1E3835A8EE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C912A7-0555-4A76-0F3D-6CE1F7CFD8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DEAB50-8456-6828-1AEE-0C46680410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2400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14313" y="6356350"/>
            <a:ext cx="26431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29CDB7A-47E2-4059-8EF4-A0640D1BC94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203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3733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268DA64-E15D-4814-A1DA-86D92D55042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784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D6C9443-308F-41EB-9403-36E994EE3C1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937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354F6A4-0517-45C2-862F-B475182F438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419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날짜 개체 틀 6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9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666478B-8FBF-4F39-8AAE-C744841EBA9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32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날짜 개체 틀 2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5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E7DB5AE-6182-458A-9442-7D0E5621EC3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2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3" name="날짜 개체 틀 1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4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F7FABC-72A3-4036-B860-C8EA1438AE6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744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B92AEAB-351F-4F89-A116-7A44E83E55A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088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3EE7A7B-3993-47B6-A1BC-0275495E6D5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376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72FCFE9-07D1-4516-8BF2-C49BDADA48E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791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C30A18C-D925-420F-814E-C2D3F93C526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378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214313" y="6356350"/>
            <a:ext cx="2571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0749D700-1C6B-4D65-B91E-BEEB48FB19C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7" r:id="rId1"/>
    <p:sldLayoutId id="2147484158" r:id="rId2"/>
    <p:sldLayoutId id="2147484159" r:id="rId3"/>
    <p:sldLayoutId id="2147484160" r:id="rId4"/>
    <p:sldLayoutId id="2147484161" r:id="rId5"/>
    <p:sldLayoutId id="2147484162" r:id="rId6"/>
    <p:sldLayoutId id="2147484163" r:id="rId7"/>
    <p:sldLayoutId id="2147484164" r:id="rId8"/>
    <p:sldLayoutId id="2147484165" r:id="rId9"/>
    <p:sldLayoutId id="2147484166" r:id="rId10"/>
    <p:sldLayoutId id="2147484167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600" kern="1200">
          <a:solidFill>
            <a:srgbClr val="C00000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ko-KR" altLang="en-US" b="1" dirty="0">
                <a:solidFill>
                  <a:srgbClr val="0000FF"/>
                </a:solidFill>
              </a:rPr>
              <a:t>숙제</a:t>
            </a:r>
            <a:r>
              <a:rPr lang="en-US" altLang="ko-KR" b="1" dirty="0">
                <a:solidFill>
                  <a:srgbClr val="0000FF"/>
                </a:solidFill>
              </a:rPr>
              <a:t>4. </a:t>
            </a:r>
            <a:r>
              <a:rPr lang="ko-KR" altLang="en-US" b="1" dirty="0">
                <a:solidFill>
                  <a:srgbClr val="0000FF"/>
                </a:solidFill>
              </a:rPr>
              <a:t>정렬 알고리즘</a:t>
            </a:r>
            <a:endParaRPr lang="en-US" altLang="ko-KR" b="1" dirty="0">
              <a:solidFill>
                <a:srgbClr val="0000FF"/>
              </a:solidFill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7544" y="3886200"/>
            <a:ext cx="8424936" cy="406896"/>
          </a:xfrm>
        </p:spPr>
        <p:txBody>
          <a:bodyPr/>
          <a:lstStyle/>
          <a:p>
            <a:pPr lvl="1" eaLnBrk="1" hangingPunct="1"/>
            <a:r>
              <a:rPr lang="ko-KR" altLang="en-US" dirty="0">
                <a:solidFill>
                  <a:schemeClr val="tx1"/>
                </a:solidFill>
              </a:rPr>
              <a:t>담당교수 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김영식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7E377-6501-AC88-60CF-FFCD8D9C8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149552DC-4336-108F-9F09-35F2F4EDA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E901156-3666-1D61-B9AB-A579345EDEE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백준 온라인저지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https://www.acmicpc.net/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C570ED1C-A34A-AF1E-D534-A3DA190C18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백준 온라인저지</a:t>
            </a:r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 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“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맞았습니다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!!”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스크린 샷 제출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5" y="4725144"/>
            <a:ext cx="8268915" cy="144016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16" y="2223976"/>
            <a:ext cx="4722093" cy="25011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09718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C8DD9-884D-A67C-7FF6-BE2052E40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0900215C-78E8-FFC3-D66F-318826C1B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15DEA275-57E7-EE18-C236-75AE335D57B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 err="1">
                <a:solidFill>
                  <a:srgbClr val="0000FF"/>
                </a:solidFill>
              </a:rPr>
              <a:t>TUKorea</a:t>
            </a:r>
            <a:r>
              <a:rPr lang="ko-KR" altLang="en-US" sz="2800" b="1" dirty="0">
                <a:solidFill>
                  <a:srgbClr val="0000FF"/>
                </a:solidFill>
              </a:rPr>
              <a:t> 온라인저지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http://210.93.60.51/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5E7D3A3B-FF86-CC36-AECA-71BBAFB925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062433"/>
          </a:xfrm>
        </p:spPr>
        <p:txBody>
          <a:bodyPr/>
          <a:lstStyle/>
          <a:p>
            <a:pPr algn="l"/>
            <a:r>
              <a:rPr lang="en-US" altLang="ko-KR" b="0" i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TUKorea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온라인저지는 </a:t>
            </a:r>
            <a:r>
              <a:rPr lang="ko-KR" altLang="en-US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반드시 학번으로</a:t>
            </a:r>
            <a:r>
              <a:rPr lang="en-US" altLang="ko-KR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Accepted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스크린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샷 제출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FD442A2-9A74-208C-4235-0D0C2DBF9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513" y="2132856"/>
            <a:ext cx="5972973" cy="452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788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/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solidFill>
                  <a:srgbClr val="0000FF"/>
                </a:solidFill>
              </a:rPr>
              <a:t>Programmers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https://school.programmers.co.kr/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Programmers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통과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스크린 샷 제출</a:t>
            </a:r>
            <a:endParaRPr lang="en-US" altLang="ko-KR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757046F-BA5C-9133-150D-0D37D0822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116" y="2204864"/>
            <a:ext cx="5845767" cy="43784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C85E7-3CF8-67B9-A10A-EE026569C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03BD85-67F7-DB37-CA40-0BD36E03B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1. </a:t>
            </a:r>
            <a:r>
              <a:rPr lang="ko-KR" altLang="en-US" sz="3200" dirty="0"/>
              <a:t>주식투자 </a:t>
            </a:r>
            <a:r>
              <a:rPr lang="en-US" altLang="ko-KR" sz="3200" dirty="0"/>
              <a:t>(</a:t>
            </a:r>
            <a:r>
              <a:rPr lang="ko-KR" altLang="en-US" sz="3200" dirty="0"/>
              <a:t>백준</a:t>
            </a:r>
            <a:r>
              <a:rPr lang="en-US" altLang="ko-KR" sz="3200" dirty="0"/>
              <a:t>, </a:t>
            </a:r>
            <a:r>
              <a:rPr lang="ko-KR" altLang="en-US" sz="3200" dirty="0"/>
              <a:t>구현</a:t>
            </a:r>
            <a:r>
              <a:rPr lang="en-US" altLang="ko-KR" sz="3200" dirty="0"/>
              <a:t>) </a:t>
            </a:r>
            <a:br>
              <a:rPr lang="en-US" altLang="ko-KR" sz="3200" dirty="0"/>
            </a:br>
            <a:r>
              <a:rPr lang="en-US" altLang="ko-KR" sz="3200" dirty="0"/>
              <a:t>https://www.acmicpc.net/problem/13416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203ADC-4566-9C05-FA6F-37E1FF24D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A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사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B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사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C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사 중에 장이 열릴 때 정한 회사의 주식을 산다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그 다음 장이 닫힐 때 그날 산 주식을 모두 판다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일 동안 규칙을 지키면서 매일 최적의 투자를 할 경우 최대 얼마를 벌 수 있었는지 궁금해졌다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표에서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1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일째에는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B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사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2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일째에는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A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사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또는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C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사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3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일째에는 어떤 주식을 사도 손해가 나므로 주식을 사지 않는다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4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일째에는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A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사</a:t>
            </a:r>
            <a:r>
              <a:rPr lang="en-US" altLang="ko-KR" sz="2000" dirty="0">
                <a:latin typeface="Open Sans" panose="020F0502020204030204" pitchFamily="34" charset="0"/>
              </a:rPr>
              <a:t>.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이렇게 주식 투자를 할 경우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800 + 300 + 0 + 600 = 1700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336FE90-6B8C-ACA4-E1F1-D5ABAAB50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CA61745-8AF5-CF19-CA73-0AE0FCDDE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7" y="3645024"/>
            <a:ext cx="7285191" cy="2938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370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941AC4-0081-8261-2046-79EB2D114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주식투자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E854ADC8-406B-4A56-B3AF-36AEDA4E99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57268" y="1268760"/>
            <a:ext cx="8229600" cy="1070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553BC0-7345-F107-80DD-43E0D8C26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212D2D5-A90F-B08C-9463-CE36CB1DF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9C81572-0FF2-F3A0-2072-382B012A0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1610" y="2319067"/>
            <a:ext cx="3003783" cy="436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262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F4E60-3252-0419-2091-13B8382AD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BE1D5C-3F84-77F4-B8C1-55E4EABC3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2. </a:t>
            </a:r>
            <a:r>
              <a:rPr lang="ko-KR" altLang="en-US" sz="3200" dirty="0"/>
              <a:t>회의실 배정</a:t>
            </a:r>
            <a:r>
              <a:rPr lang="en-US" altLang="ko-KR" sz="3200" dirty="0"/>
              <a:t>(</a:t>
            </a:r>
            <a:r>
              <a:rPr lang="ko-KR" altLang="en-US" sz="3200" dirty="0"/>
              <a:t>백준</a:t>
            </a:r>
            <a:r>
              <a:rPr lang="en-US" altLang="ko-KR" sz="3200" dirty="0"/>
              <a:t>, </a:t>
            </a:r>
            <a:r>
              <a:rPr lang="ko-KR" altLang="en-US" sz="3200" dirty="0"/>
              <a:t>정렬</a:t>
            </a:r>
            <a:r>
              <a:rPr lang="en-US" altLang="ko-KR" sz="3200" dirty="0"/>
              <a:t>,</a:t>
            </a:r>
            <a:r>
              <a:rPr lang="ko-KR" altLang="en-US" sz="3200" dirty="0"/>
              <a:t> </a:t>
            </a:r>
            <a:r>
              <a:rPr lang="ko-KR" altLang="en-US" sz="3200" dirty="0" err="1"/>
              <a:t>그리디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3200" dirty="0"/>
              <a:t>https://www.acmicpc.net/problem/1931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43403D-C1EA-3FA9-2534-69D55DD42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각 회의가 겹치지 않게 회의실을 사용할 수 있는 회의 최대 개수를 찾아보자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단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회의는 한번 시작하면 중간에 중단될 수 없으며 한 회의가 끝나는 것과 동시에 다음 회의가 시작될 수 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회의의 시작시간과 끝나는 시간이 같을 수도 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 경우에는 시작하자마자 끝나는 것으로 생각하면 된다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  <a:endParaRPr lang="ko-KR" altLang="en-US" sz="18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C6C31A-B43C-7BA1-2990-42B676EF3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A269FBB-3D49-578D-FE4F-675A6C62D6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2924944"/>
            <a:ext cx="7488832" cy="3665219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C7DC4043-D4BF-2CAD-0DFA-DE7318157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1616" y="4486930"/>
            <a:ext cx="4572000" cy="1169551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JetBrains Mono"/>
              </a:rPr>
              <a:t># // </a:t>
            </a:r>
            <a:r>
              <a:rPr kumimoji="0" lang="ko-KR" altLang="ko-KR" sz="1400" b="1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입력이 다음과 같은 경우 회의 끝나는 시간과 시작 시간 </a:t>
            </a:r>
            <a:r>
              <a:rPr kumimoji="0" lang="ko-KR" altLang="ko-KR" sz="1400" b="1" i="1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둘다</a:t>
            </a:r>
            <a:r>
              <a:rPr kumimoji="0" lang="ko-KR" altLang="ko-KR" sz="1400" b="1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적용해서 정렬해야 한다</a:t>
            </a:r>
            <a:r>
              <a:rPr kumimoji="0" lang="ko-KR" altLang="ko-KR" sz="1400" b="1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JetBrains Mono"/>
              </a:rPr>
              <a:t>.</a:t>
            </a:r>
            <a:br>
              <a:rPr kumimoji="0" lang="ko-KR" altLang="ko-KR" sz="1400" b="1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1400" b="1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JetBrains Mono"/>
              </a:rPr>
              <a:t># 2</a:t>
            </a:r>
            <a:br>
              <a:rPr kumimoji="0" lang="ko-KR" altLang="ko-KR" sz="1400" b="1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1400" b="1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JetBrains Mono"/>
              </a:rPr>
              <a:t># 2 2</a:t>
            </a:r>
            <a:br>
              <a:rPr kumimoji="0" lang="ko-KR" altLang="ko-KR" sz="1400" b="1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1400" b="1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JetBrains Mono"/>
              </a:rPr>
              <a:t># 1 2</a:t>
            </a: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495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F55B9B-C5B5-0884-643C-570B03A44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65125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회의실 배정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1FDB7C6C-140A-32E4-7136-A9A8CEAE4E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17335" y="903635"/>
            <a:ext cx="8229600" cy="1079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071F97-899E-2201-1F98-CB6AB2B31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41A4E3-3B74-25B7-DD61-1121B871E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C2412DC-3F29-E3EE-5C64-165D49223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637" y="1844824"/>
            <a:ext cx="2952328" cy="494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992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BDCB5-7F53-214B-6C61-C92019CB9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EFEF50-ACBE-B55A-3CD9-ECD0968B9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3. </a:t>
            </a:r>
            <a:r>
              <a:rPr lang="ko-KR" altLang="en-US" sz="2800" dirty="0"/>
              <a:t>행렬 게임</a:t>
            </a:r>
            <a:r>
              <a:rPr lang="en-US" altLang="ko-KR" sz="2800" dirty="0"/>
              <a:t>(</a:t>
            </a:r>
            <a:r>
              <a:rPr lang="en-US" altLang="ko-KR" sz="2800" dirty="0" err="1"/>
              <a:t>TUKorea</a:t>
            </a:r>
            <a:r>
              <a:rPr lang="en-US" altLang="ko-KR" sz="2800" dirty="0"/>
              <a:t>, </a:t>
            </a:r>
            <a:r>
              <a:rPr lang="ko-KR" altLang="en-US" sz="2800" dirty="0"/>
              <a:t>구현</a:t>
            </a:r>
            <a:r>
              <a:rPr lang="en-US" altLang="ko-KR" sz="2800" dirty="0"/>
              <a:t>) </a:t>
            </a:r>
            <a:br>
              <a:rPr lang="en-US" altLang="ko-KR" sz="2800" dirty="0"/>
            </a:br>
            <a:r>
              <a:rPr lang="en-US" altLang="ko-KR" sz="2800" dirty="0"/>
              <a:t>http://210.93.60.51/problem/0063</a:t>
            </a:r>
            <a:endParaRPr lang="ko-KR" altLang="en-US" sz="28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ABA8CA-B1A0-8B3D-CAB9-27BB454F4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우선 표준 입력으로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A, B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을 입력 받고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A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행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B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열 행렬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M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을 구성한 후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M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행렬을 오른쪽 회전한 행렬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R,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왼쪽 회전한 행렬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L,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전치행렬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T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를 각각 구해서 표준 출력한다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45AAE8-FF1A-38EE-FB83-8DBB91949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48F2AB5-7E77-36C7-2ABE-10F5FED98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2420888"/>
            <a:ext cx="7416824" cy="416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540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1D9C6A-37C3-482F-0F48-F4EB19D5B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65125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행렬 게임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A62A86BF-2571-BD67-5C49-902E5F1BB1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95536" y="1844824"/>
            <a:ext cx="2072073" cy="3500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047E73-2794-A6A3-8D50-5D10A45EB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2026ECD-1974-DA6D-5592-C2921DC88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10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BD20336-7B6D-175E-157F-100304129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760" y="1778789"/>
            <a:ext cx="3087748" cy="363233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DEA49EC-F1E3-4608-44F7-DCAD733B8E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3698" y="3355916"/>
            <a:ext cx="4561740" cy="1685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5633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82D6-7C3A-1450-0957-07362289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C0AAC-B616-D4EC-909C-ECC3F2A8B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4. </a:t>
            </a:r>
            <a:r>
              <a:rPr lang="ko-KR" altLang="en-US" sz="2800" dirty="0"/>
              <a:t>실패율 </a:t>
            </a:r>
            <a:r>
              <a:rPr lang="en-US" altLang="ko-KR" sz="2800" dirty="0"/>
              <a:t>(Programmers, </a:t>
            </a:r>
            <a:r>
              <a:rPr lang="ko-KR" altLang="en-US" sz="2800" dirty="0"/>
              <a:t>구현</a:t>
            </a:r>
            <a:r>
              <a:rPr lang="en-US" altLang="ko-KR" sz="2800" dirty="0"/>
              <a:t>, </a:t>
            </a:r>
            <a:r>
              <a:rPr lang="ko-KR" altLang="en-US" sz="2800" dirty="0"/>
              <a:t>정렬</a:t>
            </a:r>
            <a:r>
              <a:rPr lang="en-US" altLang="ko-KR" sz="2800" dirty="0"/>
              <a:t>) </a:t>
            </a:r>
            <a:br>
              <a:rPr lang="en-US" altLang="ko-KR" sz="2800" dirty="0"/>
            </a:br>
            <a:r>
              <a:rPr lang="en-US" altLang="ko-KR" sz="2000" dirty="0"/>
              <a:t>https://school.programmers.co.kr/learn/courses/30/lessons/42889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099AAD-C6EA-CB4B-F77E-8434C7D5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11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8C86E8-5349-F7B3-AFB6-B10A83FC0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실패율</a:t>
            </a:r>
            <a:r>
              <a:rPr lang="en-US" altLang="ko-KR" sz="1800" dirty="0">
                <a:latin typeface="Open Sans" panose="020F0502020204030204" pitchFamily="34" charset="0"/>
              </a:rPr>
              <a:t> =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스테이지에 도달했으나 아직 클리어하지 못한 플레이어의 수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/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스테이지에 도달한 플레이어 수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전체 스테이지의 개수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N,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게임을 이용하는 사용자가 현재 </a:t>
            </a:r>
            <a:r>
              <a:rPr lang="ko-KR" altLang="en-US" sz="1800" b="0" i="0" dirty="0" err="1">
                <a:effectLst/>
                <a:latin typeface="Open Sans" panose="020F0502020204030204" pitchFamily="34" charset="0"/>
              </a:rPr>
              <a:t>멈춰있는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 스테이지의 번호가 담긴 배열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stages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가 매개변수로 주어질 때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실패율이 높은 스테이지부터 내림차순으로 스테이지의 번호가 담겨있는 배열을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return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하도록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solution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함수를 완성하라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실패율이 같다면 작은 번호의 스테이지가 먼저 오도록 한다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스테이지에 도달한 유저가 없는 경우 해당 스테이지의 실패율은 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0.</a:t>
            </a:r>
          </a:p>
          <a:p>
            <a:pPr algn="just"/>
            <a:endParaRPr lang="en-US" altLang="ko-KR" sz="1800" b="0" i="0" dirty="0">
              <a:effectLst/>
              <a:latin typeface="Open Sans" panose="020F0502020204030204" pitchFamily="34" charset="0"/>
            </a:endParaRPr>
          </a:p>
          <a:p>
            <a:pPr algn="just"/>
            <a:endParaRPr lang="ko-KR" altLang="en-US" sz="18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9D5A20B-B007-FA87-3006-68BB93188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704" y="3938841"/>
            <a:ext cx="4905375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214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E6B047-9DF1-522D-86C2-CFA1C8454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실패율 </a:t>
            </a:r>
            <a:r>
              <a:rPr lang="en-US" altLang="ko-KR" dirty="0"/>
              <a:t>(Programmers, </a:t>
            </a:r>
            <a:r>
              <a:rPr lang="ko-KR" altLang="en-US" dirty="0"/>
              <a:t>구현</a:t>
            </a:r>
            <a:r>
              <a:rPr lang="en-US" altLang="ko-KR" dirty="0"/>
              <a:t>, </a:t>
            </a:r>
            <a:r>
              <a:rPr lang="ko-KR" altLang="en-US" dirty="0"/>
              <a:t>정렬</a:t>
            </a:r>
            <a:r>
              <a:rPr lang="en-US" altLang="ko-KR" dirty="0"/>
              <a:t>) 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CF2402D3-96A3-1A8C-2A52-F1EC9CD15D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826902" y="1377374"/>
            <a:ext cx="2353222" cy="1368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E2297D-D44E-C67D-E027-9E3C6C78F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755E7CE-58DA-DBAD-7214-87E4FAD18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12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301732F-18F3-C05C-EDF3-674BB81B2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930" y="2782131"/>
            <a:ext cx="3115340" cy="350100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08346D7-9D0B-16C4-C9DE-67534EB726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428" y="1063059"/>
            <a:ext cx="2987084" cy="5373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5491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2C708-8D69-B68B-A8D2-413FA3ED7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06BCCD-376D-CD69-322E-655C046A9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274638"/>
            <a:ext cx="8856984" cy="868346"/>
          </a:xfrm>
        </p:spPr>
        <p:txBody>
          <a:bodyPr/>
          <a:lstStyle/>
          <a:p>
            <a:r>
              <a:rPr lang="en-US" altLang="ko-KR" sz="3200" dirty="0"/>
              <a:t>5. </a:t>
            </a:r>
            <a:r>
              <a:rPr lang="ko-KR" altLang="en-US" sz="3200" dirty="0"/>
              <a:t>소가 길을 건너간 이유 </a:t>
            </a:r>
            <a:r>
              <a:rPr lang="en-US" altLang="ko-KR" sz="3200" dirty="0"/>
              <a:t>3(</a:t>
            </a:r>
            <a:r>
              <a:rPr lang="ko-KR" altLang="en-US" sz="3200" dirty="0"/>
              <a:t>백준</a:t>
            </a:r>
            <a:r>
              <a:rPr lang="en-US" altLang="ko-KR" sz="3200" dirty="0"/>
              <a:t>, </a:t>
            </a:r>
            <a:r>
              <a:rPr lang="ko-KR" altLang="en-US" sz="3200" dirty="0"/>
              <a:t>정렬</a:t>
            </a:r>
            <a:r>
              <a:rPr lang="en-US" altLang="ko-KR" sz="3200" dirty="0"/>
              <a:t>,</a:t>
            </a:r>
            <a:r>
              <a:rPr lang="ko-KR" altLang="en-US" sz="3200" dirty="0"/>
              <a:t> </a:t>
            </a:r>
            <a:r>
              <a:rPr lang="ko-KR" altLang="en-US" sz="3200" dirty="0" err="1"/>
              <a:t>그리디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3200" dirty="0"/>
              <a:t>https://www.acmicpc.net/problem/14469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5D3B15-6596-9F09-E67D-A230E350F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en-US" altLang="ko-KR" sz="1800" b="1" i="0" dirty="0"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1800" b="1" i="0" dirty="0">
                <a:effectLst/>
                <a:latin typeface="Open Sans" panose="020F0502020204030204" pitchFamily="34" charset="0"/>
              </a:rPr>
              <a:t>마리의 소가 이 농장에 방문하러 왔다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소가 도착한 시간과 </a:t>
            </a:r>
            <a:r>
              <a:rPr lang="ko-KR" altLang="en-US" sz="1800" b="0" i="0" dirty="0" err="1">
                <a:effectLst/>
                <a:latin typeface="Open Sans" panose="020F0502020204030204" pitchFamily="34" charset="0"/>
              </a:rPr>
              <a:t>검문받는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 데 걸리는 시간은 소마다 다르다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(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물론 같을 수도 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.)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두 소가 동시에 검문을 받을 수는 없다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예를 들어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1" i="0" dirty="0">
                <a:effectLst/>
                <a:latin typeface="Open Sans" panose="020F0502020204030204" pitchFamily="34" charset="0"/>
              </a:rPr>
              <a:t>한 소가 </a:t>
            </a:r>
            <a:r>
              <a:rPr lang="en-US" altLang="ko-KR" sz="1800" b="1" i="0" dirty="0">
                <a:effectLst/>
                <a:latin typeface="Open Sans" panose="020F0502020204030204" pitchFamily="34" charset="0"/>
              </a:rPr>
              <a:t>5</a:t>
            </a:r>
            <a:r>
              <a:rPr lang="ko-KR" altLang="en-US" sz="1800" b="1" i="0" dirty="0">
                <a:effectLst/>
                <a:latin typeface="Open Sans" panose="020F0502020204030204" pitchFamily="34" charset="0"/>
              </a:rPr>
              <a:t>초에 도착했고 </a:t>
            </a:r>
            <a:r>
              <a:rPr lang="en-US" altLang="ko-KR" sz="1800" b="1" i="0" dirty="0">
                <a:effectLst/>
                <a:latin typeface="Open Sans" panose="020F0502020204030204" pitchFamily="34" charset="0"/>
              </a:rPr>
              <a:t>7</a:t>
            </a:r>
            <a:r>
              <a:rPr lang="ko-KR" altLang="en-US" sz="1800" b="1" i="0" dirty="0">
                <a:effectLst/>
                <a:latin typeface="Open Sans" panose="020F0502020204030204" pitchFamily="34" charset="0"/>
              </a:rPr>
              <a:t>초 동안 검문을 받으면</a:t>
            </a:r>
            <a:r>
              <a:rPr lang="en-US" altLang="ko-KR" sz="1800" b="1" i="0" dirty="0">
                <a:effectLst/>
                <a:latin typeface="Open Sans" panose="020F0502020204030204" pitchFamily="34" charset="0"/>
              </a:rPr>
              <a:t>, 8</a:t>
            </a:r>
            <a:r>
              <a:rPr lang="ko-KR" altLang="en-US" sz="1800" b="1" i="0" dirty="0">
                <a:effectLst/>
                <a:latin typeface="Open Sans" panose="020F0502020204030204" pitchFamily="34" charset="0"/>
              </a:rPr>
              <a:t>초에 도착한 그 다음 소는 </a:t>
            </a:r>
            <a:r>
              <a:rPr lang="en-US" altLang="ko-KR" sz="1800" b="1" i="0" dirty="0">
                <a:effectLst/>
                <a:latin typeface="Open Sans" panose="020F0502020204030204" pitchFamily="34" charset="0"/>
              </a:rPr>
              <a:t>12</a:t>
            </a:r>
            <a:r>
              <a:rPr lang="ko-KR" altLang="en-US" sz="1800" b="1" i="0" dirty="0">
                <a:effectLst/>
                <a:latin typeface="Open Sans" panose="020F0502020204030204" pitchFamily="34" charset="0"/>
              </a:rPr>
              <a:t>초까지 줄을 서야 검문을 받을 수 있다</a:t>
            </a:r>
            <a:r>
              <a:rPr lang="en-US" altLang="ko-KR" sz="1800" b="1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b="0" i="0" dirty="0">
              <a:effectLst/>
              <a:latin typeface="Open Sans" panose="020F0502020204030204" pitchFamily="34" charset="0"/>
            </a:endParaRP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첫 줄에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100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이하의 양의 정수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 주어진다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다음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줄에는 한 줄에 하나씩 소의 도착 시각과 검문 시간이 주어진다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1800" dirty="0"/>
              <a:t>모든 소가 농장에 입장하는 데 걸리는 최소 시간을 출력한다</a:t>
            </a:r>
            <a:r>
              <a:rPr lang="en-US" altLang="ko-KR" sz="1800" dirty="0"/>
              <a:t>.</a:t>
            </a:r>
            <a:endParaRPr lang="ko-KR" altLang="en-US" sz="18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7EB0AF-2000-8613-E7E2-8699A333F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13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60C5E06-5E46-EFC8-BB9C-F45A8CD5C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4162611"/>
            <a:ext cx="6516216" cy="219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240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66D525-2C11-19BE-2F73-924EE623E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소가 길을 건너간 이유 </a:t>
            </a:r>
            <a:r>
              <a:rPr lang="en-US" altLang="ko-KR" dirty="0"/>
              <a:t>3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4C10B289-4563-7181-F8A6-3E024737A5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57200" y="1268760"/>
            <a:ext cx="8229600" cy="1115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620F67-42E9-2E9E-991D-6A4B95E5B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72F615-3CB0-4DDD-91FF-C01E7A18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14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E6FB4E9-1F09-F2E9-957D-0D22472E9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491" y="2386104"/>
            <a:ext cx="3148579" cy="397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809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풍요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4616</TotalTime>
  <Words>659</Words>
  <Application>Microsoft Office PowerPoint</Application>
  <PresentationFormat>화면 슬라이드 쇼(4:3)</PresentationFormat>
  <Paragraphs>65</Paragraphs>
  <Slides>14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1" baseType="lpstr">
      <vt:lpstr>Arial Unicode MS</vt:lpstr>
      <vt:lpstr>굴림</vt:lpstr>
      <vt:lpstr>맑은 고딕</vt:lpstr>
      <vt:lpstr>맑은 고딕</vt:lpstr>
      <vt:lpstr>Arial</vt:lpstr>
      <vt:lpstr>Open Sans</vt:lpstr>
      <vt:lpstr>Office 테마</vt:lpstr>
      <vt:lpstr>숙제4. 정렬 알고리즘</vt:lpstr>
      <vt:lpstr>백준 온라인저지  https://www.acmicpc.net/</vt:lpstr>
      <vt:lpstr>TUKorea 온라인저지  http://210.93.60.51/</vt:lpstr>
      <vt:lpstr>Programmers https://school.programmers.co.kr/</vt:lpstr>
      <vt:lpstr>1. 주식투자 (백준, 구현)  https://www.acmicpc.net/problem/13416</vt:lpstr>
      <vt:lpstr>1. 주식투자</vt:lpstr>
      <vt:lpstr>2. 회의실 배정(백준, 정렬, 그리디) https://www.acmicpc.net/problem/1931</vt:lpstr>
      <vt:lpstr>2. 회의실 배정</vt:lpstr>
      <vt:lpstr>3. 행렬 게임(TUKorea, 구현)  http://210.93.60.51/problem/0063</vt:lpstr>
      <vt:lpstr>3. 행렬 게임</vt:lpstr>
      <vt:lpstr>4. 실패율 (Programmers, 구현, 정렬)  https://school.programmers.co.kr/learn/courses/30/lessons/42889</vt:lpstr>
      <vt:lpstr>4. 실패율 (Programmers, 구현, 정렬) </vt:lpstr>
      <vt:lpstr>5. 소가 길을 건너간 이유 3(백준, 정렬, 그리디) https://www.acmicpc.net/problem/14469</vt:lpstr>
      <vt:lpstr>5. 소가 길을 건너간 이유 3</vt:lpstr>
    </vt:vector>
  </TitlesOfParts>
  <Company>kpu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STL</dc:title>
  <dc:creator>kys</dc:creator>
  <cp:lastModifiedBy>신우 박</cp:lastModifiedBy>
  <cp:revision>240</cp:revision>
  <cp:lastPrinted>2023-07-23T09:30:34Z</cp:lastPrinted>
  <dcterms:created xsi:type="dcterms:W3CDTF">2008-03-02T04:39:19Z</dcterms:created>
  <dcterms:modified xsi:type="dcterms:W3CDTF">2026-04-20T01:56:58Z</dcterms:modified>
</cp:coreProperties>
</file>