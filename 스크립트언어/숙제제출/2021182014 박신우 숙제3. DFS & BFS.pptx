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1"/>
  </p:notesMasterIdLst>
  <p:sldIdLst>
    <p:sldId id="258" r:id="rId2"/>
    <p:sldId id="269" r:id="rId3"/>
    <p:sldId id="335" r:id="rId4"/>
    <p:sldId id="259" r:id="rId5"/>
    <p:sldId id="336" r:id="rId6"/>
    <p:sldId id="350" r:id="rId7"/>
    <p:sldId id="337" r:id="rId8"/>
    <p:sldId id="351" r:id="rId9"/>
    <p:sldId id="339" r:id="rId10"/>
    <p:sldId id="345" r:id="rId11"/>
    <p:sldId id="346" r:id="rId12"/>
    <p:sldId id="341" r:id="rId13"/>
    <p:sldId id="347" r:id="rId14"/>
    <p:sldId id="343" r:id="rId15"/>
    <p:sldId id="348" r:id="rId16"/>
    <p:sldId id="344" r:id="rId17"/>
    <p:sldId id="352" r:id="rId18"/>
    <p:sldId id="342" r:id="rId19"/>
    <p:sldId id="349" r:id="rId20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660"/>
  </p:normalViewPr>
  <p:slideViewPr>
    <p:cSldViewPr>
      <p:cViewPr varScale="1">
        <p:scale>
          <a:sx n="96" d="100"/>
          <a:sy n="96" d="100"/>
        </p:scale>
        <p:origin x="127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2026-04-10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3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88F8-5F87-5720-444A-1721D475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00004F-D8EA-614A-3DBC-3E425426D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41AE31-036B-30BC-DCF7-1F84F0D2C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BF956-C273-78EE-309C-C157A256E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55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2295-AB65-DAB2-4B2B-6214B539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2FE399-1B8E-044C-8145-04FF4C8EB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CEA629-1B19-2CFA-FC0C-97ED8A476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76750F-CB33-8A29-A3EA-4DE2D502A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860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4AEE-7A0D-96F3-DC00-CD1982E99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57D1CC-D413-2624-3D37-F91AFB7E4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2FA2A9-8E56-659F-504C-F85BE8634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04232F-ADED-A902-AE9F-DE2B502B70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509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3124B-599C-5A9B-55F1-49BCC6924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513158-2355-0AA2-C25A-73B1481B6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D9D15D-D6D3-443E-D4BB-0EE666F91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4E741E-9D23-5E5B-30D8-2B51E1B6C0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3615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2295-AB65-DAB2-4B2B-6214B539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2FE399-1B8E-044C-8145-04FF4C8EB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CEA629-1B19-2CFA-FC0C-97ED8A476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76750F-CB33-8A29-A3EA-4DE2D502A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068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micpc.net/problem/1260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www.youtube.com/watch?v=uQ5oq802r9k&amp;list=PLg0hsGjqxAUZimgPzzUdTjrV0bn5ALtAl&amp;index=26" TargetMode="External"/><Relationship Id="rId4" Type="http://schemas.openxmlformats.org/officeDocument/2006/relationships/hyperlink" Target="https://www.youtube.com/watch?v=UQyUuiDRB1o&amp;list=PLg0hsGjqxAUZimgPzzUdTjrV0bn5ALtAl&amp;index=5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210.93.60.51/problem/0045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hyperlink" Target="https://www.youtube.com/watch?v=tjxW8sJf1Rg&amp;list=PLg0hsGjqxAUZimgPzzUdTjrV0bn5ALtAl&amp;index=28" TargetMode="External"/><Relationship Id="rId4" Type="http://schemas.openxmlformats.org/officeDocument/2006/relationships/hyperlink" Target="https://www.youtube.com/watch?v=_qNcHcGlp2s&amp;list=PLg0hsGjqxAUZimgPzzUdTjrV0bn5ALtAl&amp;index=7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ol.programmers.co.kr/learn/courses/30/lessons/43164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hyperlink" Target="https://www.youtube.com/watch?v=SPdMC1wNKDs&amp;list=PLg0hsGjqxAUZimgPzzUdTjrV0bn5ALtAl&amp;index=27" TargetMode="External"/><Relationship Id="rId4" Type="http://schemas.openxmlformats.org/officeDocument/2006/relationships/hyperlink" Target="https://www.youtube.com/watch?v=b1G0EsqOvr8&amp;list=PLg0hsGjqxAUZimgPzzUdTjrV0bn5ALtAl&amp;index=6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3. DFS</a:t>
            </a:r>
            <a:r>
              <a:rPr lang="ko-KR" altLang="en-US" b="1" dirty="0">
                <a:solidFill>
                  <a:srgbClr val="0000FF"/>
                </a:solidFill>
              </a:rPr>
              <a:t> </a:t>
            </a:r>
            <a:r>
              <a:rPr lang="en-US" altLang="ko-KR" b="1" dirty="0">
                <a:solidFill>
                  <a:srgbClr val="0000FF"/>
                </a:solidFill>
              </a:rPr>
              <a:t>&amp; BFS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C85E7-3CF8-67B9-A10A-EE026569C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3BD85-67F7-DB37-CA40-0BD36E03B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858218"/>
          </a:xfrm>
        </p:spPr>
        <p:txBody>
          <a:bodyPr/>
          <a:lstStyle/>
          <a:p>
            <a:r>
              <a:rPr lang="en-US" altLang="ko-KR" sz="3200" dirty="0"/>
              <a:t>1. DFS</a:t>
            </a:r>
            <a:r>
              <a:rPr lang="ko-KR" altLang="en-US" sz="3200" dirty="0"/>
              <a:t>와 </a:t>
            </a:r>
            <a:r>
              <a:rPr lang="en-US" altLang="ko-KR" sz="3200" dirty="0"/>
              <a:t>BFS (</a:t>
            </a:r>
            <a:r>
              <a:rPr lang="ko-KR" altLang="en-US" sz="3200" dirty="0"/>
              <a:t>백준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1600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https://www.acmicpc.net/problem/1260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https://www.youtube.com/watch?v=UQyUuiDRB1o&amp;list=PLg0hsGjqxAUZimgPzzUdTjrV0bn5ALtAl&amp;index=5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https://www.youtube.com/watch?v=uQ5oq802r9k&amp;list=PLg0hsGjqxAUZimgPzzUdTjrV0bn5ALtAl&amp;index=26</a:t>
            </a:r>
            <a:br>
              <a:rPr lang="en-US" altLang="ko-KR" sz="1600" dirty="0">
                <a:solidFill>
                  <a:srgbClr val="0000FF"/>
                </a:solidFill>
              </a:rPr>
            </a:br>
            <a:endParaRPr lang="ko-KR" altLang="en-US" sz="1600" dirty="0">
              <a:solidFill>
                <a:srgbClr val="0000F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03ADC-4566-9C05-FA6F-37E1FF24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그래프를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DFS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로 탐색한 결과와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BFS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로 탐색한 결과를 출력하는 프로그램을 </a:t>
            </a:r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단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방문할 수 있는 정점이 여러 개인 경우에는 정점 번호가 작은 것을 먼저 방문하고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더 이상 방문할 수 있는 점이 없는 경우 종료한다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정점 번호는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번부터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번까지이다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36FE90-6B8C-ACA4-E1F1-D5ABAAB5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51954E7-C108-EFB3-78D5-9D3A3FD3F7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528" y="4177939"/>
            <a:ext cx="8568952" cy="234740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6635B26-5451-17D8-CA6A-1A61ECBFB5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9712" y="3550448"/>
            <a:ext cx="6668351" cy="261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7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758AE8-7420-C006-47A9-9C976BEA1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DFS</a:t>
            </a:r>
            <a:r>
              <a:rPr lang="ko-KR" altLang="en-US" dirty="0"/>
              <a:t>와 </a:t>
            </a:r>
            <a:r>
              <a:rPr lang="en-US" altLang="ko-KR" dirty="0"/>
              <a:t>BFS (</a:t>
            </a:r>
            <a:r>
              <a:rPr lang="ko-KR" altLang="en-US" dirty="0"/>
              <a:t>백준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D3730013-E5B6-DB9B-B364-35FE964E93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629412" y="1189757"/>
            <a:ext cx="2120259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F1C19F-3977-7719-016D-EFF5AF94B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9BCD15-2094-02E3-178F-46E5B2759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A0F147D-E63E-7631-237D-B036A6A93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883" y="1052736"/>
            <a:ext cx="2245193" cy="416247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3D427B1-7253-82EF-EBBA-9A38EDE6F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044" y="5356023"/>
            <a:ext cx="8351912" cy="136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844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4E60-3252-0419-2091-13B8382AD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E1D5C-3F84-77F4-B8C1-55E4EABC3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2. </a:t>
            </a:r>
            <a:r>
              <a:rPr lang="ko-KR" altLang="en-US" sz="3200" dirty="0" err="1"/>
              <a:t>순박꼭질</a:t>
            </a:r>
            <a:r>
              <a:rPr lang="ko-KR" altLang="en-US" sz="3200" dirty="0"/>
              <a:t> 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, BFS</a:t>
            </a:r>
            <a:r>
              <a:rPr lang="ko-KR" altLang="en-US" sz="3200" dirty="0"/>
              <a:t>최단거리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https://www.acmicpc.net/problem/1697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43403D-C1EA-3FA9-2534-69D55DD4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수빈이는 동생과 숨바꼭질을 하고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수빈이는 현재 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N(0 ≤ N ≤ 100,000)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에 있고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동생은 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K(0 ≤ K ≤ 100,000)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에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수빈이는 걷거나 순간이동을 할 수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만약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수빈이의 위치가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X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일 때 걷는다면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초 후에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X-1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또는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X+1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로 이동하게 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순간이동을 하는 경우에는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초 후에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2*X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의 위치로 이동하게 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수빈이와 동생의 위치가 주어졌을 때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수빈이가 동생을 찾을 수 있는 가장 빠른 시간이 몇 초 후인지 구하는 프로그램을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C6C31A-B43C-7BA1-2990-42B676EF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897AE92-6E72-0BD7-C162-0A5E50A2B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04" y="3861048"/>
            <a:ext cx="7164288" cy="168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9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CFC283-0BA5-B0E3-1F74-29BB87ADA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A639570-79BA-63CD-2CFE-470B452F37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66700" y="1162659"/>
            <a:ext cx="8229600" cy="1039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80095D-4304-55D9-E94A-F35EBBB8C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E1F29BD-119F-3BB9-37CF-C6BCAC0E8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2293EBD-C3E7-352C-51AE-B16BB9EAC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406812"/>
            <a:ext cx="4111947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037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714202"/>
          </a:xfrm>
        </p:spPr>
        <p:txBody>
          <a:bodyPr/>
          <a:lstStyle/>
          <a:p>
            <a:r>
              <a:rPr lang="en-US" altLang="ko-KR" sz="2800" dirty="0"/>
              <a:t>3. </a:t>
            </a:r>
            <a:r>
              <a:rPr lang="ko-KR" altLang="en-US" sz="2800" dirty="0"/>
              <a:t>중요한 교차로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DFS/BFS</a:t>
            </a:r>
            <a:r>
              <a:rPr lang="ko-KR" altLang="en-US" sz="2800" dirty="0"/>
              <a:t>완전탐색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1600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http://210.93.60.51/problem/0045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https://www.youtube.com/watch?v=_qNcHcGlp2s&amp;list=PLg0hsGjqxAUZimgPzzUdTjrV0bn5ALtAl&amp;index=7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https://www.youtube.com/watch?v=tjxW8sJf1Rg&amp;list=PLg0hsGjqxAUZimgPzzUdTjrV0bn5ALtAl&amp;index=28</a:t>
            </a:r>
            <a:br>
              <a:rPr lang="en-US" altLang="ko-KR" sz="1600" dirty="0">
                <a:solidFill>
                  <a:srgbClr val="0000FF"/>
                </a:solidFill>
              </a:rPr>
            </a:br>
            <a:endParaRPr lang="ko-KR" altLang="en-US" sz="1600" dirty="0">
              <a:solidFill>
                <a:srgbClr val="0000F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137323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도로는 모두 양방향 통행이 가능하며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모든 교차로를 이용할 수 있다면 어느 교차로에서 든지 다른 교차로로 갈 수 있습니다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교차로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J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에서 교차로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K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를 가려면 반드시 교차로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I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를 통과해야 한다면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교차로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I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를 중요한 교차로 라고 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2000" dirty="0">
                <a:latin typeface="Open Sans" panose="020F0502020204030204" pitchFamily="34" charset="0"/>
              </a:rPr>
              <a:t>A </a:t>
            </a:r>
            <a:r>
              <a:rPr lang="ko-KR" altLang="en-US" sz="2000" dirty="0">
                <a:latin typeface="Open Sans" panose="020F0502020204030204" pitchFamily="34" charset="0"/>
              </a:rPr>
              <a:t>교차로가 중요한 교차로라면</a:t>
            </a:r>
            <a:r>
              <a:rPr lang="en-US" altLang="ko-KR" sz="2000" dirty="0">
                <a:latin typeface="Open Sans" panose="020F0502020204030204" pitchFamily="34" charset="0"/>
              </a:rPr>
              <a:t>, A </a:t>
            </a:r>
            <a:r>
              <a:rPr lang="ko-KR" altLang="en-US" sz="2000" dirty="0">
                <a:latin typeface="Open Sans" panose="020F0502020204030204" pitchFamily="34" charset="0"/>
              </a:rPr>
              <a:t>교차로를 제외한 다른 임의의 교차로에서 시작해서 나머지 모든 교차로들을 방문하려고 할 때 하나라도 방문하지 못하는 교차로가 존재한다</a:t>
            </a:r>
            <a:r>
              <a:rPr lang="en-US" altLang="ko-KR" sz="2000" dirty="0"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2000" dirty="0"/>
              <a:t>I2</a:t>
            </a:r>
            <a:r>
              <a:rPr lang="ko-KR" altLang="en-US" sz="2000" dirty="0"/>
              <a:t> </a:t>
            </a:r>
            <a:r>
              <a:rPr lang="en-US" altLang="ko-KR" sz="2000" dirty="0"/>
              <a:t>=</a:t>
            </a:r>
            <a:r>
              <a:rPr lang="ko-KR" altLang="en-US" sz="2000" dirty="0"/>
              <a:t> 중요한 교차로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F2C50E13-0EE7-BA83-B682-C8FE9E99B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3" y="4005064"/>
            <a:ext cx="3704411" cy="2564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6C94C4-8C86-4FEB-B781-E2CD83BCE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중요한 교차로 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 DFS/BFS</a:t>
            </a:r>
            <a:r>
              <a:rPr lang="ko-KR" altLang="en-US" dirty="0"/>
              <a:t>완전탐색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D356AC82-3574-ED61-0405-1E718D1B2F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48343" y="1340768"/>
            <a:ext cx="8229600" cy="2846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E2542F-7CFD-E261-BEDF-46F7CD2C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B13EC21-6148-E846-3280-3373FEF2B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582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E13D73-23DE-A052-A63D-D7AED4824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중요한 교차로 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, DFS/BFS</a:t>
            </a:r>
            <a:r>
              <a:rPr lang="ko-KR" altLang="en-US" dirty="0"/>
              <a:t>완전탐색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30F3F89-2BB6-B309-8B73-F52FA5140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971600" y="1142984"/>
            <a:ext cx="3474541" cy="484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267631-2A3D-06FE-9C3C-B2AA5B3A7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0E14D5-43FE-F8AE-47E9-6FEC757F6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FE143F9-B5B7-8985-67B3-A1FF53494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92" y="2132856"/>
            <a:ext cx="4336725" cy="372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326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642194"/>
          </a:xfrm>
        </p:spPr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/>
              <a:t>여행경로</a:t>
            </a:r>
            <a:r>
              <a:rPr lang="en-US" altLang="ko-KR" sz="2800" dirty="0"/>
              <a:t>(Programmers, DFS)</a:t>
            </a:r>
            <a:br>
              <a:rPr lang="en-US" altLang="ko-KR" sz="2800" dirty="0"/>
            </a:br>
            <a:r>
              <a:rPr lang="en-US" altLang="ko-KR" sz="1600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https://school.programmers.co.kr/learn/courses/30/lessons/43164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https://www.youtube.com/watch?v=b1G0EsqOvr8&amp;list=PLg0hsGjqxAUZimgPzzUdTjrV0bn5ALtAl&amp;index=6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https://www.youtube.com/watch?v=SPdMC1wNKDs&amp;list=PLg0hsGjqxAUZimgPzzUdTjrV0bn5ALtAl&amp;index=27</a:t>
            </a:r>
            <a:br>
              <a:rPr lang="en-US" altLang="ko-KR" sz="1600" dirty="0">
                <a:solidFill>
                  <a:srgbClr val="0000FF"/>
                </a:solidFill>
              </a:rPr>
            </a:br>
            <a:endParaRPr lang="ko-KR" altLang="en-US" sz="1600" dirty="0">
              <a:solidFill>
                <a:srgbClr val="0000FF"/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209331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주어진 항공권을 모두 이용하여 여행경로를 짜려고 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항상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"ICN"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공항에서 출발합니다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동일한 항공권이 여러 장 있을 수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항공권 정보가 담긴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차원 배열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tickets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가 매개변수로 주어질 때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방문하는 공항 경로를 배열에 담아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return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하도록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solution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함수를 작성해주세요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dirty="0"/>
              <a:t>가능한 경로가 </a:t>
            </a:r>
            <a:r>
              <a:rPr lang="en-US" altLang="ko-KR" sz="1800" dirty="0"/>
              <a:t>2</a:t>
            </a:r>
            <a:r>
              <a:rPr lang="ko-KR" altLang="en-US" sz="1800" dirty="0"/>
              <a:t>개 이상일 경우 알파벳 순서가 앞서는 경로를 </a:t>
            </a:r>
            <a:r>
              <a:rPr lang="en-US" altLang="ko-KR" sz="1800" dirty="0"/>
              <a:t>return </a:t>
            </a:r>
            <a:endParaRPr lang="ko-KR" altLang="en-US" sz="1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F8B673-170E-B5A8-D7F6-5057E87A7C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84" y="3933056"/>
            <a:ext cx="8534103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1DF719-E2A2-05CF-C611-50936C726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여행경로</a:t>
            </a:r>
            <a:r>
              <a:rPr lang="en-US" altLang="ko-KR" dirty="0"/>
              <a:t>(Programmers, DFS)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59008E0-7FCF-8213-539E-FDDDD2C151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82817" y="1196752"/>
            <a:ext cx="4189183" cy="484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5FE31C-868A-0B22-51EE-08EF3CE0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7F83AC-E86D-433E-04C6-29B6CE18C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A5E6FCF-D285-27F5-7956-EDD1AAE94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579" y="3284984"/>
            <a:ext cx="4297256" cy="215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842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FFC37-21E2-51FA-12C8-E959F3E84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4F97A1-C191-5822-CF9D-EA1A65E79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68346"/>
          </a:xfrm>
        </p:spPr>
        <p:txBody>
          <a:bodyPr/>
          <a:lstStyle/>
          <a:p>
            <a:r>
              <a:rPr lang="en-US" altLang="ko-KR" sz="3200" dirty="0"/>
              <a:t>5. </a:t>
            </a:r>
            <a:r>
              <a:rPr lang="ko-KR" altLang="en-US" sz="3200" dirty="0"/>
              <a:t>알파벳 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, DFS</a:t>
            </a:r>
            <a:r>
              <a:rPr lang="ko-KR" altLang="en-US" sz="3200" dirty="0"/>
              <a:t>재귀</a:t>
            </a:r>
            <a:r>
              <a:rPr lang="en-US" altLang="ko-KR" sz="3200" dirty="0"/>
              <a:t>, </a:t>
            </a:r>
            <a:r>
              <a:rPr lang="ko-KR" altLang="en-US" sz="3200" dirty="0" err="1"/>
              <a:t>백트레킹</a:t>
            </a:r>
            <a:r>
              <a:rPr lang="en-US" altLang="ko-KR" sz="3200" dirty="0"/>
              <a:t>, </a:t>
            </a:r>
            <a:r>
              <a:rPr lang="ko-KR" altLang="en-US" sz="3200" dirty="0" err="1"/>
              <a:t>비트마스킹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https://www.acmicpc.net/problem/1987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426206-F067-2066-18BA-79006F01E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세로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R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칸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가로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C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칸으로 된 표 모양 보드의 각 칸에는 대문자 알파벳이 하나씩 적혀 있고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좌측 상단 칸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행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열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)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에는 말이 놓여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말은 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상하좌우로 인접한 네 칸 중의 한 칸으로 이동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할 수 있는데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새로 이동한 칸에 적혀 있는 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알파벳은 지금까지 지나온 모든 칸에 적혀 있는 알파벳과는 달라야 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말이 최대한 몇 칸을 지날 수 있는지를 구하는 프로그램을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말이 지나는 칸은 좌측 상단의 칸도 포함된다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9FAEA8-5681-3846-F5F1-849427CF4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4A4F564-EEBD-4CC2-F6B9-A29BD0EDA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3419737"/>
            <a:ext cx="5184576" cy="311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644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E5622E-FBEE-ED6B-BD70-D048AC2E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알파벳 </a:t>
            </a:r>
            <a:r>
              <a:rPr lang="en-US" altLang="ko-KR" dirty="0"/>
              <a:t>(</a:t>
            </a:r>
            <a:r>
              <a:rPr lang="ko-KR" altLang="en-US" dirty="0"/>
              <a:t>백준</a:t>
            </a:r>
            <a:r>
              <a:rPr lang="en-US" altLang="ko-KR" dirty="0"/>
              <a:t>, DFS</a:t>
            </a:r>
            <a:r>
              <a:rPr lang="ko-KR" altLang="en-US" dirty="0"/>
              <a:t>재귀</a:t>
            </a:r>
            <a:r>
              <a:rPr lang="en-US" altLang="ko-KR" dirty="0"/>
              <a:t>, </a:t>
            </a:r>
            <a:r>
              <a:rPr lang="ko-KR" altLang="en-US" dirty="0" err="1"/>
              <a:t>백트레킹</a:t>
            </a:r>
            <a:r>
              <a:rPr lang="en-US" altLang="ko-KR" dirty="0"/>
              <a:t>, </a:t>
            </a:r>
            <a:r>
              <a:rPr lang="ko-KR" altLang="en-US" dirty="0" err="1"/>
              <a:t>비트마스킹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2D1A743-2366-1678-AF7F-A8C0D01FEE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0574" y="1120472"/>
            <a:ext cx="8229600" cy="782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33DFBF-2CA7-1975-9559-D3A684096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8A8FAC-B0A7-9067-B3B1-F88099F5D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15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90B2B52-BC60-7B90-46AD-6D045A51B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902842"/>
            <a:ext cx="2990505" cy="442193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A95EED3-D9E2-5DC4-9B27-AF18B5D309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5374" y="2060848"/>
            <a:ext cx="3253523" cy="359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522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80B89-A314-7404-82C5-CD497EB4A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05985-4355-4625-FD61-1428CEE31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68346"/>
          </a:xfrm>
        </p:spPr>
        <p:txBody>
          <a:bodyPr/>
          <a:lstStyle/>
          <a:p>
            <a:r>
              <a:rPr lang="en-US" altLang="ko-KR" sz="3200" dirty="0"/>
              <a:t>6. </a:t>
            </a:r>
            <a:r>
              <a:rPr lang="ko-KR" altLang="en-US" sz="3200" dirty="0"/>
              <a:t>섬의 개수 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, DFS/BFS</a:t>
            </a:r>
            <a:r>
              <a:rPr lang="ko-KR" altLang="en-US" sz="3200" dirty="0"/>
              <a:t> 완전탐색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https://www.acmicpc.net/problem/4963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27D852-373A-0402-A529-2B5347A07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섬의 개수를 세는 프로그램을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dirty="0"/>
              <a:t>한 정사각형과 </a:t>
            </a:r>
            <a:r>
              <a:rPr lang="ko-KR" altLang="en-US" sz="1800" b="1" dirty="0"/>
              <a:t>가로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세로 또는 대각선으로 연결</a:t>
            </a:r>
            <a:r>
              <a:rPr lang="en-US" altLang="ko-KR" sz="1800" b="1" dirty="0"/>
              <a:t> </a:t>
            </a:r>
          </a:p>
          <a:p>
            <a:pPr algn="just"/>
            <a:endParaRPr lang="en-US" altLang="ko-KR" sz="1800" dirty="0"/>
          </a:p>
          <a:p>
            <a:pPr algn="just"/>
            <a:endParaRPr lang="en-US" altLang="ko-KR" sz="1800" dirty="0"/>
          </a:p>
          <a:p>
            <a:pPr algn="just"/>
            <a:endParaRPr lang="en-US" altLang="ko-KR" sz="1800" dirty="0"/>
          </a:p>
          <a:p>
            <a:pPr algn="just"/>
            <a:endParaRPr lang="en-US" altLang="ko-KR" sz="1800" dirty="0"/>
          </a:p>
          <a:p>
            <a:pPr algn="just"/>
            <a:r>
              <a:rPr lang="ko-KR" altLang="en-US" sz="1800" dirty="0"/>
              <a:t>입력은 </a:t>
            </a:r>
            <a:r>
              <a:rPr lang="ko-KR" altLang="en-US" sz="1800" b="1" dirty="0"/>
              <a:t>여러 개의 테스트 케이스로 </a:t>
            </a:r>
            <a:r>
              <a:rPr lang="ko-KR" altLang="en-US" sz="1800" dirty="0"/>
              <a:t>이루어져 있다</a:t>
            </a:r>
            <a:r>
              <a:rPr lang="en-US" altLang="ko-KR" sz="1800" dirty="0"/>
              <a:t>. </a:t>
            </a:r>
            <a:r>
              <a:rPr lang="ko-KR" altLang="en-US" sz="1800" dirty="0"/>
              <a:t>각 테스트 케이스의 첫째 줄에는 </a:t>
            </a:r>
            <a:r>
              <a:rPr lang="ko-KR" altLang="en-US" sz="1800" b="1" dirty="0"/>
              <a:t>지도의 너비 </a:t>
            </a:r>
            <a:r>
              <a:rPr lang="en-US" altLang="ko-KR" sz="1800" b="1" dirty="0"/>
              <a:t>w</a:t>
            </a:r>
            <a:r>
              <a:rPr lang="ko-KR" altLang="en-US" sz="1800" b="1" dirty="0"/>
              <a:t>와 높이 </a:t>
            </a:r>
            <a:r>
              <a:rPr lang="en-US" altLang="ko-KR" sz="1800" b="1" dirty="0"/>
              <a:t>h</a:t>
            </a:r>
            <a:r>
              <a:rPr lang="ko-KR" altLang="en-US" sz="1800" dirty="0"/>
              <a:t>가 주어진다</a:t>
            </a:r>
            <a:r>
              <a:rPr lang="en-US" altLang="ko-KR" sz="1800" dirty="0"/>
              <a:t>. </a:t>
            </a:r>
          </a:p>
          <a:p>
            <a:pPr algn="just"/>
            <a:r>
              <a:rPr lang="ko-KR" altLang="en-US" sz="1800" dirty="0"/>
              <a:t>둘째 줄부터 </a:t>
            </a:r>
            <a:r>
              <a:rPr lang="en-US" altLang="ko-KR" sz="1800" dirty="0"/>
              <a:t>h</a:t>
            </a:r>
            <a:r>
              <a:rPr lang="ko-KR" altLang="en-US" sz="1800" dirty="0"/>
              <a:t>개 줄에는 지도가 주어진다</a:t>
            </a:r>
            <a:r>
              <a:rPr lang="en-US" altLang="ko-KR" sz="1800" dirty="0"/>
              <a:t>. </a:t>
            </a:r>
            <a:r>
              <a:rPr lang="en-US" altLang="ko-KR" sz="1800" b="1" dirty="0"/>
              <a:t>1</a:t>
            </a:r>
            <a:r>
              <a:rPr lang="ko-KR" altLang="en-US" sz="1800" b="1" dirty="0"/>
              <a:t>은 땅</a:t>
            </a:r>
            <a:r>
              <a:rPr lang="en-US" altLang="ko-KR" sz="1800" b="1" dirty="0"/>
              <a:t>, 0</a:t>
            </a:r>
            <a:r>
              <a:rPr lang="ko-KR" altLang="en-US" sz="1800" b="1" dirty="0"/>
              <a:t>은 바다이다</a:t>
            </a:r>
            <a:r>
              <a:rPr lang="en-US" altLang="ko-KR" sz="1800" b="1" dirty="0"/>
              <a:t>.</a:t>
            </a:r>
          </a:p>
          <a:p>
            <a:pPr algn="just"/>
            <a:r>
              <a:rPr lang="ko-KR" altLang="en-US" sz="1800" b="1" dirty="0"/>
              <a:t>입력의 마지막 줄에는 </a:t>
            </a:r>
            <a:r>
              <a:rPr lang="en-US" altLang="ko-KR" sz="1800" b="1" dirty="0"/>
              <a:t>0</a:t>
            </a:r>
            <a:r>
              <a:rPr lang="ko-KR" altLang="en-US" sz="1800" b="1" dirty="0"/>
              <a:t>이 두 개 주어진다</a:t>
            </a:r>
            <a:r>
              <a:rPr lang="en-US" altLang="ko-KR" sz="1800" b="1" dirty="0"/>
              <a:t>.</a:t>
            </a:r>
          </a:p>
          <a:p>
            <a:pPr algn="just"/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393B46-A32F-A08C-E86F-C74FA11E2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16</a:t>
            </a:fld>
            <a:endParaRPr lang="ko-KR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438236B-E0DD-8CC8-79B3-7B0349387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1" y="1988840"/>
            <a:ext cx="2695575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88AACBD-E1D3-BBB1-81EC-758F49D93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9631" y="4670035"/>
            <a:ext cx="4660024" cy="199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25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588E16-B9E9-3505-7630-3B6C3E1BF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섬의 개수 </a:t>
            </a:r>
            <a:r>
              <a:rPr lang="en-US" altLang="ko-KR" dirty="0"/>
              <a:t>(</a:t>
            </a:r>
            <a:r>
              <a:rPr lang="ko-KR" altLang="en-US" dirty="0"/>
              <a:t>백준</a:t>
            </a:r>
            <a:r>
              <a:rPr lang="en-US" altLang="ko-KR" dirty="0"/>
              <a:t>, DFS/BFS</a:t>
            </a:r>
            <a:r>
              <a:rPr lang="ko-KR" altLang="en-US" dirty="0"/>
              <a:t> 완전탐색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5F5CBE3-908D-06DF-2697-4B4B36B9C4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1196752"/>
            <a:ext cx="8229600" cy="1135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E62876-B086-44C0-1E7E-B421389FD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5A0314-5693-F273-FF19-CEFE911E8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17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D6AB031-51C8-BFD3-2118-E722FEB28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332085"/>
            <a:ext cx="3384376" cy="426967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C305DD9-8D43-D2F8-B07A-DC29E7133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258458"/>
            <a:ext cx="3258019" cy="428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554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4E60-3252-0419-2091-13B8382AD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E1D5C-3F84-77F4-B8C1-55E4EABC3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655" y="297664"/>
            <a:ext cx="8229600" cy="868346"/>
          </a:xfrm>
        </p:spPr>
        <p:txBody>
          <a:bodyPr/>
          <a:lstStyle/>
          <a:p>
            <a:r>
              <a:rPr lang="en-US" altLang="ko-KR" sz="3200" dirty="0"/>
              <a:t>7. </a:t>
            </a:r>
            <a:r>
              <a:rPr lang="ko-KR" altLang="en-US" sz="3200" dirty="0"/>
              <a:t>트리순회 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 err="1"/>
              <a:t>이진트리순회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https://www.acmicpc.net/problem/1991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43403D-C1EA-3FA9-2534-69D55DD4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이진 트리를 </a:t>
            </a:r>
            <a:r>
              <a:rPr lang="ko-KR" altLang="en-US" sz="1800" dirty="0" err="1">
                <a:latin typeface="Open Sans" panose="020F0502020204030204" pitchFamily="34" charset="0"/>
              </a:rPr>
              <a:t>입력받아</a:t>
            </a:r>
            <a:r>
              <a:rPr lang="ko-KR" altLang="en-US" sz="1800" dirty="0">
                <a:latin typeface="Open Sans" panose="020F0502020204030204" pitchFamily="34" charset="0"/>
              </a:rPr>
              <a:t> 전위 순회</a:t>
            </a:r>
            <a:r>
              <a:rPr lang="en-US" altLang="ko-KR" sz="1800" dirty="0">
                <a:latin typeface="Open Sans" panose="020F0502020204030204" pitchFamily="34" charset="0"/>
              </a:rPr>
              <a:t>(preorder traversal), </a:t>
            </a:r>
            <a:r>
              <a:rPr lang="ko-KR" altLang="en-US" sz="1800" dirty="0">
                <a:latin typeface="Open Sans" panose="020F0502020204030204" pitchFamily="34" charset="0"/>
              </a:rPr>
              <a:t>중위 순회</a:t>
            </a:r>
            <a:r>
              <a:rPr lang="en-US" altLang="ko-KR" sz="1800" dirty="0">
                <a:latin typeface="Open Sans" panose="020F0502020204030204" pitchFamily="34" charset="0"/>
              </a:rPr>
              <a:t>(</a:t>
            </a:r>
            <a:r>
              <a:rPr lang="en-US" altLang="ko-KR" sz="1800" dirty="0" err="1">
                <a:latin typeface="Open Sans" panose="020F0502020204030204" pitchFamily="34" charset="0"/>
              </a:rPr>
              <a:t>inorder</a:t>
            </a:r>
            <a:r>
              <a:rPr lang="en-US" altLang="ko-KR" sz="1800" dirty="0">
                <a:latin typeface="Open Sans" panose="020F0502020204030204" pitchFamily="34" charset="0"/>
              </a:rPr>
              <a:t> traversal), </a:t>
            </a:r>
            <a:r>
              <a:rPr lang="ko-KR" altLang="en-US" sz="1800" dirty="0">
                <a:latin typeface="Open Sans" panose="020F0502020204030204" pitchFamily="34" charset="0"/>
              </a:rPr>
              <a:t>후위 순회</a:t>
            </a:r>
            <a:r>
              <a:rPr lang="en-US" altLang="ko-KR" sz="1800" dirty="0">
                <a:latin typeface="Open Sans" panose="020F0502020204030204" pitchFamily="34" charset="0"/>
              </a:rPr>
              <a:t>(</a:t>
            </a:r>
            <a:r>
              <a:rPr lang="en-US" altLang="ko-KR" sz="1800" dirty="0" err="1">
                <a:latin typeface="Open Sans" panose="020F0502020204030204" pitchFamily="34" charset="0"/>
              </a:rPr>
              <a:t>postorder</a:t>
            </a:r>
            <a:r>
              <a:rPr lang="en-US" altLang="ko-KR" sz="1800" dirty="0">
                <a:latin typeface="Open Sans" panose="020F0502020204030204" pitchFamily="34" charset="0"/>
              </a:rPr>
              <a:t> traversal)</a:t>
            </a:r>
            <a:r>
              <a:rPr lang="ko-KR" altLang="en-US" sz="1800" dirty="0">
                <a:latin typeface="Open Sans" panose="020F0502020204030204" pitchFamily="34" charset="0"/>
              </a:rPr>
              <a:t>한 결과를 출력하는 프로그램을 </a:t>
            </a:r>
            <a:r>
              <a:rPr lang="ko-KR" altLang="en-US" sz="1800" dirty="0" err="1">
                <a:latin typeface="Open Sans" panose="020F0502020204030204" pitchFamily="34" charset="0"/>
              </a:rPr>
              <a:t>작성하시오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첫째 줄에는 이진 트리의 노드의 개수 </a:t>
            </a:r>
            <a:r>
              <a:rPr lang="en-US" altLang="ko-KR" sz="1800" dirty="0">
                <a:latin typeface="Open Sans" panose="020F0502020204030204" pitchFamily="34" charset="0"/>
              </a:rPr>
              <a:t>N(1 ≤ N ≤ 26)</a:t>
            </a:r>
          </a:p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둘째 줄부터 </a:t>
            </a:r>
            <a:r>
              <a:rPr lang="en-US" altLang="ko-KR" sz="1800" dirty="0">
                <a:latin typeface="Open Sans" panose="020F0502020204030204" pitchFamily="34" charset="0"/>
              </a:rPr>
              <a:t>N</a:t>
            </a:r>
            <a:r>
              <a:rPr lang="ko-KR" altLang="en-US" sz="1800" dirty="0">
                <a:latin typeface="Open Sans" panose="020F0502020204030204" pitchFamily="34" charset="0"/>
              </a:rPr>
              <a:t>개의 줄에 걸쳐 각 노드와 그의 왼쪽 자식 노드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오른쪽 자식 노드가 주어진다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노드의 이름은 </a:t>
            </a:r>
            <a:r>
              <a:rPr lang="en-US" altLang="ko-KR" sz="1800" dirty="0">
                <a:latin typeface="Open Sans" panose="020F0502020204030204" pitchFamily="34" charset="0"/>
              </a:rPr>
              <a:t>A</a:t>
            </a:r>
            <a:r>
              <a:rPr lang="ko-KR" altLang="en-US" sz="1800" dirty="0">
                <a:latin typeface="Open Sans" panose="020F0502020204030204" pitchFamily="34" charset="0"/>
              </a:rPr>
              <a:t>부터 차례대로 알파벳 대문자로 매겨지며</a:t>
            </a:r>
            <a:r>
              <a:rPr lang="en-US" altLang="ko-KR" sz="1800" dirty="0">
                <a:latin typeface="Open Sans" panose="020F0502020204030204" pitchFamily="34" charset="0"/>
              </a:rPr>
              <a:t>, </a:t>
            </a:r>
            <a:r>
              <a:rPr lang="ko-KR" altLang="en-US" sz="1800" dirty="0">
                <a:latin typeface="Open Sans" panose="020F0502020204030204" pitchFamily="34" charset="0"/>
              </a:rPr>
              <a:t>항상 </a:t>
            </a:r>
            <a:r>
              <a:rPr lang="en-US" altLang="ko-KR" sz="1800" dirty="0">
                <a:latin typeface="Open Sans" panose="020F0502020204030204" pitchFamily="34" charset="0"/>
              </a:rPr>
              <a:t>A</a:t>
            </a:r>
            <a:r>
              <a:rPr lang="ko-KR" altLang="en-US" sz="1800" dirty="0">
                <a:latin typeface="Open Sans" panose="020F0502020204030204" pitchFamily="34" charset="0"/>
              </a:rPr>
              <a:t>가 루트 노드가 된다</a:t>
            </a:r>
            <a:r>
              <a:rPr lang="en-US" altLang="ko-KR" sz="1800" dirty="0">
                <a:latin typeface="Open Sans" panose="020F0502020204030204" pitchFamily="34" charset="0"/>
              </a:rPr>
              <a:t>. </a:t>
            </a:r>
            <a:r>
              <a:rPr lang="ko-KR" altLang="en-US" sz="1800" dirty="0">
                <a:latin typeface="Open Sans" panose="020F0502020204030204" pitchFamily="34" charset="0"/>
              </a:rPr>
              <a:t>자식 노드가 없는 경우에는 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  <a:r>
              <a:rPr lang="ko-KR" altLang="en-US" sz="1800" dirty="0">
                <a:latin typeface="Open Sans" panose="020F0502020204030204" pitchFamily="34" charset="0"/>
              </a:rPr>
              <a:t>으로 표현한다</a:t>
            </a:r>
            <a:r>
              <a:rPr lang="en-US" altLang="ko-KR" sz="1800" dirty="0"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dirty="0"/>
              <a:t>전위 순회 </a:t>
            </a:r>
            <a:r>
              <a:rPr lang="en-US" altLang="ko-KR" sz="1800" dirty="0"/>
              <a:t>: ABDCEFG // (</a:t>
            </a:r>
            <a:r>
              <a:rPr lang="ko-KR" altLang="en-US" sz="1800" dirty="0"/>
              <a:t>루트</a:t>
            </a:r>
            <a:r>
              <a:rPr lang="en-US" altLang="ko-KR" sz="1800" dirty="0"/>
              <a:t>) (</a:t>
            </a:r>
            <a:r>
              <a:rPr lang="ko-KR" altLang="en-US" sz="1800" dirty="0"/>
              <a:t>왼쪽 자식</a:t>
            </a:r>
            <a:r>
              <a:rPr lang="en-US" altLang="ko-KR" sz="1800" dirty="0"/>
              <a:t>) (</a:t>
            </a:r>
            <a:r>
              <a:rPr lang="ko-KR" altLang="en-US" sz="1800" dirty="0"/>
              <a:t>오른쪽 자식</a:t>
            </a:r>
            <a:r>
              <a:rPr lang="en-US" altLang="ko-KR" sz="1800" dirty="0"/>
              <a:t>)</a:t>
            </a:r>
          </a:p>
          <a:p>
            <a:pPr algn="just"/>
            <a:r>
              <a:rPr lang="ko-KR" altLang="en-US" sz="1800" dirty="0"/>
              <a:t>중위 순회 </a:t>
            </a:r>
            <a:r>
              <a:rPr lang="en-US" altLang="ko-KR" sz="1800" dirty="0"/>
              <a:t>: DBAECFG // (</a:t>
            </a:r>
            <a:r>
              <a:rPr lang="ko-KR" altLang="en-US" sz="1800" dirty="0"/>
              <a:t>왼쪽 자식</a:t>
            </a:r>
            <a:r>
              <a:rPr lang="en-US" altLang="ko-KR" sz="1800" dirty="0"/>
              <a:t>) (</a:t>
            </a:r>
            <a:r>
              <a:rPr lang="ko-KR" altLang="en-US" sz="1800" dirty="0"/>
              <a:t>루트</a:t>
            </a:r>
            <a:r>
              <a:rPr lang="en-US" altLang="ko-KR" sz="1800" dirty="0"/>
              <a:t>) (</a:t>
            </a:r>
            <a:r>
              <a:rPr lang="ko-KR" altLang="en-US" sz="1800" dirty="0"/>
              <a:t>오른쪽 자식</a:t>
            </a:r>
            <a:r>
              <a:rPr lang="en-US" altLang="ko-KR" sz="1800" dirty="0"/>
              <a:t>)</a:t>
            </a:r>
          </a:p>
          <a:p>
            <a:pPr algn="just"/>
            <a:r>
              <a:rPr lang="ko-KR" altLang="en-US" sz="1800" dirty="0"/>
              <a:t>후위 순회 </a:t>
            </a:r>
            <a:r>
              <a:rPr lang="en-US" altLang="ko-KR" sz="1800" dirty="0"/>
              <a:t>: DBEGFCA // (</a:t>
            </a:r>
            <a:r>
              <a:rPr lang="ko-KR" altLang="en-US" sz="1800" dirty="0"/>
              <a:t>왼쪽 자식</a:t>
            </a:r>
            <a:r>
              <a:rPr lang="en-US" altLang="ko-KR" sz="1800" dirty="0"/>
              <a:t>) (</a:t>
            </a:r>
            <a:r>
              <a:rPr lang="ko-KR" altLang="en-US" sz="1800" dirty="0"/>
              <a:t>오른쪽 자식</a:t>
            </a:r>
            <a:r>
              <a:rPr lang="en-US" altLang="ko-KR" sz="1800" dirty="0"/>
              <a:t>) (</a:t>
            </a:r>
            <a:r>
              <a:rPr lang="ko-KR" altLang="en-US" sz="1800" dirty="0"/>
              <a:t>루트</a:t>
            </a:r>
            <a:r>
              <a:rPr lang="en-US" altLang="ko-KR" sz="1800" dirty="0"/>
              <a:t>)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C6C31A-B43C-7BA1-2990-42B676EF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18</a:t>
            </a:fld>
            <a:endParaRPr lang="ko-KR" altLang="en-US"/>
          </a:p>
        </p:txBody>
      </p:sp>
      <p:pic>
        <p:nvPicPr>
          <p:cNvPr id="1026" name="Picture 2" descr="https://www.acmicpc.net/JudgeOnline/upload/201007/trtr.png">
            <a:extLst>
              <a:ext uri="{FF2B5EF4-FFF2-40B4-BE49-F238E27FC236}">
                <a16:creationId xmlns:a16="http://schemas.microsoft.com/office/drawing/2014/main" id="{78262772-1B4F-4F4D-870E-2BA1A2B2B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424764"/>
            <a:ext cx="2524125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9146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E810E-65C7-94A2-EFD5-37651E954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트리순회 </a:t>
            </a:r>
            <a:r>
              <a:rPr lang="en-US" altLang="ko-KR" dirty="0"/>
              <a:t>(</a:t>
            </a:r>
            <a:r>
              <a:rPr lang="ko-KR" altLang="en-US" dirty="0"/>
              <a:t>백준</a:t>
            </a:r>
            <a:r>
              <a:rPr lang="en-US" altLang="ko-KR" dirty="0"/>
              <a:t>, </a:t>
            </a:r>
            <a:r>
              <a:rPr lang="ko-KR" altLang="en-US" dirty="0" err="1"/>
              <a:t>이진트리순회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3ECA8276-7180-014F-2844-37F7D6E4ED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916129"/>
            <a:ext cx="8229600" cy="97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C804F2-E5FA-EBC1-EADF-8037D61F8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09963E-0A29-0726-A9C2-DD6DE7EA2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19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EE55E82-F079-019B-A8F0-6332CFBD6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970021"/>
            <a:ext cx="3091576" cy="426071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766AA9F-D24A-ACAD-5970-83446A6F7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962161"/>
            <a:ext cx="3317136" cy="462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674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4876</TotalTime>
  <Words>1093</Words>
  <Application>Microsoft Office PowerPoint</Application>
  <PresentationFormat>화면 슬라이드 쇼(4:3)</PresentationFormat>
  <Paragraphs>94</Paragraphs>
  <Slides>19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굴림</vt:lpstr>
      <vt:lpstr>malgun gothic</vt:lpstr>
      <vt:lpstr>malgun gothic</vt:lpstr>
      <vt:lpstr>Arial</vt:lpstr>
      <vt:lpstr>Open Sans</vt:lpstr>
      <vt:lpstr>Office 테마</vt:lpstr>
      <vt:lpstr>숙제3. DFS &amp; BFS</vt:lpstr>
      <vt:lpstr>백준 온라인저지  https://www.acmicpc.net/</vt:lpstr>
      <vt:lpstr>TUKorea 온라인저지  http://210.93.60.51/</vt:lpstr>
      <vt:lpstr>Programmers https://school.programmers.co.kr/</vt:lpstr>
      <vt:lpstr>1. DFS와 BFS (백준) https://www.acmicpc.net/problem/1260 https://www.youtube.com/watch?v=UQyUuiDRB1o&amp;list=PLg0hsGjqxAUZimgPzzUdTjrV0bn5ALtAl&amp;index=5 https://www.youtube.com/watch?v=uQ5oq802r9k&amp;list=PLg0hsGjqxAUZimgPzzUdTjrV0bn5ALtAl&amp;index=26 </vt:lpstr>
      <vt:lpstr>1. DFS와 BFS (백준)</vt:lpstr>
      <vt:lpstr>2. 순박꼭질 (백준, BFS최단거리) https://www.acmicpc.net/problem/1697</vt:lpstr>
      <vt:lpstr>PowerPoint 프레젠테이션</vt:lpstr>
      <vt:lpstr>3. 중요한 교차로 (TUKorea, DFS/BFS완전탐색) http://210.93.60.51/problem/0045 https://www.youtube.com/watch?v=_qNcHcGlp2s&amp;list=PLg0hsGjqxAUZimgPzzUdTjrV0bn5ALtAl&amp;index=7 https://www.youtube.com/watch?v=tjxW8sJf1Rg&amp;list=PLg0hsGjqxAUZimgPzzUdTjrV0bn5ALtAl&amp;index=28 </vt:lpstr>
      <vt:lpstr>3. 중요한 교차로 (TUKorea, DFS/BFS완전탐색)</vt:lpstr>
      <vt:lpstr>3. 중요한 교차로 (TUKorea, DFS/BFS완전탐색)</vt:lpstr>
      <vt:lpstr>4. 여행경로(Programmers, DFS) https://school.programmers.co.kr/learn/courses/30/lessons/43164 https://www.youtube.com/watch?v=b1G0EsqOvr8&amp;list=PLg0hsGjqxAUZimgPzzUdTjrV0bn5ALtAl&amp;index=6 https://www.youtube.com/watch?v=SPdMC1wNKDs&amp;list=PLg0hsGjqxAUZimgPzzUdTjrV0bn5ALtAl&amp;index=27 </vt:lpstr>
      <vt:lpstr>4. 여행경로(Programmers, DFS)</vt:lpstr>
      <vt:lpstr>5. 알파벳 (백준, DFS재귀, 백트레킹, 비트마스킹) https://www.acmicpc.net/problem/1987</vt:lpstr>
      <vt:lpstr>5. 알파벳 (백준, DFS재귀, 백트레킹, 비트마스킹)</vt:lpstr>
      <vt:lpstr>6. 섬의 개수 (백준, DFS/BFS 완전탐색) https://www.acmicpc.net/problem/4963</vt:lpstr>
      <vt:lpstr>6. 섬의 개수 (백준, DFS/BFS 완전탐색)</vt:lpstr>
      <vt:lpstr>7. 트리순회 (백준, 이진트리순회) https://www.acmicpc.net/problem/1991</vt:lpstr>
      <vt:lpstr>7. 트리순회 (백준, 이진트리순회)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신우 박</cp:lastModifiedBy>
  <cp:revision>242</cp:revision>
  <cp:lastPrinted>2023-07-23T09:30:34Z</cp:lastPrinted>
  <dcterms:created xsi:type="dcterms:W3CDTF">2008-03-02T04:39:19Z</dcterms:created>
  <dcterms:modified xsi:type="dcterms:W3CDTF">2026-04-10T05:47:09Z</dcterms:modified>
</cp:coreProperties>
</file>