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1"/>
  </p:notesMasterIdLst>
  <p:sldIdLst>
    <p:sldId id="258" r:id="rId2"/>
    <p:sldId id="269" r:id="rId3"/>
    <p:sldId id="335" r:id="rId4"/>
    <p:sldId id="259" r:id="rId5"/>
    <p:sldId id="336" r:id="rId6"/>
    <p:sldId id="346" r:id="rId7"/>
    <p:sldId id="337" r:id="rId8"/>
    <p:sldId id="347" r:id="rId9"/>
    <p:sldId id="339" r:id="rId10"/>
    <p:sldId id="348" r:id="rId11"/>
    <p:sldId id="341" r:id="rId12"/>
    <p:sldId id="342" r:id="rId13"/>
    <p:sldId id="349" r:id="rId14"/>
    <p:sldId id="343" r:id="rId15"/>
    <p:sldId id="350" r:id="rId16"/>
    <p:sldId id="344" r:id="rId17"/>
    <p:sldId id="351" r:id="rId18"/>
    <p:sldId id="345" r:id="rId19"/>
    <p:sldId id="352" r:id="rId20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45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7839-46E3-9788-520A-030053B1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7C368E-9491-166D-0869-CC59E8967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7959BA-8496-E419-64AD-9C50FD629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7E75ED-A3A6-CB01-D60A-7A8A5CB8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582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181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207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8637D-675F-5E32-690D-2281BE8B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C354D7-5F9A-CAAF-D089-3BD4E3E50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48C64C-D027-757A-464D-693B0467B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D41C9-60F7-A235-5B84-DBC200EF3F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109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5. </a:t>
            </a:r>
            <a:r>
              <a:rPr lang="ko-KR" altLang="en-US" b="1" dirty="0">
                <a:solidFill>
                  <a:srgbClr val="0000FF"/>
                </a:solidFill>
              </a:rPr>
              <a:t>이진탐색 알고리즘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1642194"/>
          </a:xfrm>
        </p:spPr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나무 자르기 </a:t>
            </a:r>
            <a:r>
              <a:rPr lang="en-US" altLang="ko-KR" sz="3200" dirty="0"/>
              <a:t>(TUKorea0070,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이분탐색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1600" dirty="0">
                <a:solidFill>
                  <a:srgbClr val="0000FF"/>
                </a:solidFill>
              </a:rPr>
              <a:t>http://210.93.60.51/problem/0070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</a:rPr>
              <a:t>https://www.acmicpc.net/problem/2805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</a:rPr>
              <a:t>https://www.youtube.com/watch?v=aVBCcJ8Ypzg&amp;list=PLg0hsGjqxAUZimgPzzUdTjrV0bn5ALtAl&amp;index=18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</a:rPr>
              <a:t>https://www.youtube.com/watch?v=ujQ96TkAHA8&amp;list=PLg0hsGjqxAUZimgPzzUdTjrV0bn5ALtAl&amp;index=38</a:t>
            </a: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절단기 높이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H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지정하면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높이가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H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보다 큰 나무는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H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위의 부분이 잘릴 것이고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낮은 나무는 잘리지 않을 것이다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예를 들어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한 줄에 연속해 있는 나무의 높이가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20, 15, 10, 17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이라고 하자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상근이가 높이를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15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로 지정했다면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나무를 자른 뒤의 높이는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15, 15, 10, 15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가 될 것이고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상근이는 길이가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5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인 나무와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2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인 나무를 들고 집에 갈 것이다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dirty="0"/>
              <a:t>적어도 </a:t>
            </a:r>
            <a:r>
              <a:rPr lang="en-US" altLang="ko-KR" sz="2000" dirty="0"/>
              <a:t>M</a:t>
            </a:r>
            <a:r>
              <a:rPr lang="ko-KR" altLang="en-US" sz="2000" dirty="0"/>
              <a:t>미터의 나무를 집에 가져가기 위해서 절단기에 설정할 수 있는 높이의 최댓값을 구하는 프로그램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570FF4-D45B-4300-EF64-24DFC094F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4715909"/>
            <a:ext cx="7308304" cy="173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A02887-B7A7-5FA9-8E3E-04DE5F3D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5950083-BEF4-932B-9868-14228DEA2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39552" y="296815"/>
            <a:ext cx="8064896" cy="169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6F0174-3598-BEDB-EA46-1D0E0302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5A829A-C19F-C769-3420-0DDD554D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8F9DDE-E595-957A-D135-6C9C965B6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450" y="2011017"/>
            <a:ext cx="3016959" cy="443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78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/>
              <a:t>사칙연산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000" dirty="0">
                <a:solidFill>
                  <a:srgbClr val="0000FF"/>
                </a:solidFill>
              </a:rPr>
              <a:t>http://210.93.60.51/problem/0181</a:t>
            </a:r>
            <a:br>
              <a:rPr lang="en-US" altLang="ko-KR" sz="2000" dirty="0">
                <a:solidFill>
                  <a:srgbClr val="0000FF"/>
                </a:solidFill>
              </a:rPr>
            </a:br>
            <a:r>
              <a:rPr lang="en-US" altLang="ko-KR" sz="2000" dirty="0">
                <a:solidFill>
                  <a:srgbClr val="0000FF"/>
                </a:solidFill>
              </a:rPr>
              <a:t>https://www.acmicpc.net/problem/13420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사칙연산은 덧셈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뺄셈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곱셈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나눗셈으로 이루어져 있으며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컴퓨터 프로그램에서 이를 표현하는 기호는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+, -, *, /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와 같다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문제와 답이 주어졌을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이를 계산하여 올바른 수식인지 계산하는 프로그램을 만들려고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만약 주어진 데이터가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 * 2 = 6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이라면 정답으로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3 * 2 = 7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이면 오답으로 채점을 하면 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문제와 답이 주어졌을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이를 채점하는 프로그램을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D4F87B-DD99-5F87-BBF2-DBBA41332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73" y="3510807"/>
            <a:ext cx="7812360" cy="294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1C441-3A75-8510-CC27-25BD88E06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053C13C-D3F5-8FF2-21DF-DA6CC1D24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378248"/>
            <a:ext cx="8229600" cy="66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75C02F-6213-F236-122D-3A1F0E6E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CE5A28-4CD8-76C1-9E36-1FE3FA1B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20F34B-BBB5-DC42-7A77-02F18A709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113871"/>
            <a:ext cx="3028161" cy="51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8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fr-FR" altLang="ko-KR" sz="2800" dirty="0"/>
              <a:t>Postfix </a:t>
            </a:r>
            <a:r>
              <a:rPr lang="ko-KR" altLang="fr-FR" sz="2800" dirty="0"/>
              <a:t>표현식 </a:t>
            </a:r>
            <a:r>
              <a:rPr lang="fr-FR" altLang="ko-KR" sz="2800" dirty="0"/>
              <a:t>(TUKorea, </a:t>
            </a:r>
            <a:r>
              <a:rPr lang="ko-KR" altLang="en-US" sz="2800" dirty="0"/>
              <a:t>스택</a:t>
            </a:r>
            <a:r>
              <a:rPr lang="fr-FR" altLang="ko-KR" sz="2800" dirty="0"/>
              <a:t>) </a:t>
            </a:r>
            <a:br>
              <a:rPr lang="fr-FR" altLang="ko-KR" sz="2800" dirty="0"/>
            </a:br>
            <a:r>
              <a:rPr lang="fr-FR" altLang="ko-KR" sz="2800" dirty="0"/>
              <a:t>http://210.93.60.51/problem/0059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+,-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및 문자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a, b,…, z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가 포함된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 접미사로 표현되는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postfix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표현식을 괄호로 잘 묶인 원래 표현식으로 재구성해야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62AD9A-333A-6106-E7D5-6A6BF2B4A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20" y="2780928"/>
            <a:ext cx="7812360" cy="165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BED75-208C-57E7-8ACF-227A7667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B9F9786-1DBB-B944-CD40-E6914B0EE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39552" y="136525"/>
            <a:ext cx="6336704" cy="2377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D5AB2B-A330-A9E8-EBF1-E8EA50B8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1652B2-C685-92BB-6A67-EB504049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AE61E85-3E4B-6CB3-3410-2C8A2B9FE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376705"/>
            <a:ext cx="3498034" cy="481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63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비밀지도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https://school.programmers.co.kr/learn/courses/30/lessons/17681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지도는 한 변의 길이가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인 정사각형 배열 형태로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 칸은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공백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"(" ")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또는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벽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"("#")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두 종류로 이루어져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전체 지도는 두 장의 지도를 겹쳐서 얻을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각각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라고 하자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또는 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중 어느 하나라도 벽인 부분은 전체 지도에서도 벽이다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에서 모두 공백인 부분은 전체 지도에서도 공백이다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는 각각 정수 배열로 암호화되어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암호화된 배열은 지도의 각 가로줄에서 벽 부분을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공백 부분을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으로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부호화했을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 때 얻어지는 이진수에 해당하는 값의 배열이다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원래의 비밀지도를 해독하여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'#', 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공백으로 구성된 문자열 배열로 출력하라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5F1FA4E-87F5-E4BA-223F-3803A514A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004" y="4111890"/>
            <a:ext cx="5477991" cy="245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3FCF-3F08-E0F4-5108-31984F44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18B47-20D8-CDD6-F074-07282F3BE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비밀지도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https://school.programmers.co.kr/learn/courses/30/lessons/17681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124102-0D47-DB9A-6FB9-A656E447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EF56E33-8E2E-3D60-30E3-B02A001EC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87" y="1484784"/>
            <a:ext cx="4350961" cy="47471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03FED87-D4EA-BD72-0524-A1D507CA3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592" y="2708920"/>
            <a:ext cx="2236637" cy="2257094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D9EB52F-1E06-CFB4-EBC1-C044FD36702A}"/>
              </a:ext>
            </a:extLst>
          </p:cNvPr>
          <p:cNvSpPr/>
          <p:nvPr/>
        </p:nvSpPr>
        <p:spPr>
          <a:xfrm>
            <a:off x="5364088" y="3573016"/>
            <a:ext cx="504056" cy="576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102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51BAE-EE93-7099-957F-A0B1DF89C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536F280-1895-6CF4-C7A5-A1A646E7E8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69675" y="1416671"/>
            <a:ext cx="3866739" cy="402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650B27-A67B-726B-1A51-F0D950843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D01B24-DE00-8C2B-5040-8CB58737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7CEC811-9EC9-8FF4-CCEF-DC39A601C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033" y="1916832"/>
            <a:ext cx="4392488" cy="340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2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/>
              <a:t>어두운 굴다리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이분탐색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000" dirty="0">
                <a:solidFill>
                  <a:srgbClr val="0000FF"/>
                </a:solidFill>
              </a:rPr>
              <a:t>http://210.93.60.51/problem/0180</a:t>
            </a:r>
            <a:br>
              <a:rPr lang="en-US" altLang="ko-KR" sz="2000" dirty="0">
                <a:solidFill>
                  <a:srgbClr val="0000FF"/>
                </a:solidFill>
              </a:rPr>
            </a:br>
            <a:r>
              <a:rPr lang="en-US" altLang="ko-KR" sz="2000" dirty="0">
                <a:solidFill>
                  <a:srgbClr val="0000FF"/>
                </a:solidFill>
              </a:rPr>
              <a:t>https://www.acmicpc.net/problem/17266</a:t>
            </a:r>
            <a:br>
              <a:rPr lang="en-US" altLang="ko-KR" sz="1600" dirty="0">
                <a:solidFill>
                  <a:srgbClr val="0000FF"/>
                </a:solidFill>
              </a:rPr>
            </a:b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 algn="just"/>
            <a:r>
              <a:rPr lang="ko-KR" altLang="en-US" sz="2000" b="1" dirty="0">
                <a:latin typeface="Open Sans" panose="020F0502020204030204" pitchFamily="34" charset="0"/>
              </a:rPr>
              <a:t>굴다리 모든 길 </a:t>
            </a:r>
            <a:r>
              <a:rPr lang="en-US" altLang="ko-KR" sz="2000" b="1" dirty="0">
                <a:latin typeface="Open Sans" panose="020F0502020204030204" pitchFamily="34" charset="0"/>
              </a:rPr>
              <a:t>0~N</a:t>
            </a:r>
            <a:r>
              <a:rPr lang="ko-KR" altLang="en-US" sz="2000" dirty="0">
                <a:latin typeface="Open Sans" panose="020F0502020204030204" pitchFamily="34" charset="0"/>
              </a:rPr>
              <a:t>을 밝히게 가로등을 설치 한다</a:t>
            </a:r>
            <a:r>
              <a:rPr lang="en-US" altLang="ko-KR" sz="2000" dirty="0">
                <a:latin typeface="Open Sans" panose="020F0502020204030204" pitchFamily="34" charset="0"/>
              </a:rPr>
              <a:t>. (1 ≤ N ≤ 100,000)</a:t>
            </a:r>
          </a:p>
          <a:p>
            <a:pPr algn="just"/>
            <a:r>
              <a:rPr lang="ko-KR" altLang="en-US" sz="2000" b="1" dirty="0">
                <a:latin typeface="Open Sans" panose="020F0502020204030204" pitchFamily="34" charset="0"/>
              </a:rPr>
              <a:t>가로등 개수 </a:t>
            </a:r>
            <a:r>
              <a:rPr lang="en-US" altLang="ko-KR" sz="2000" b="1" dirty="0">
                <a:latin typeface="Open Sans" panose="020F0502020204030204" pitchFamily="34" charset="0"/>
              </a:rPr>
              <a:t>M</a:t>
            </a:r>
            <a:r>
              <a:rPr lang="ko-KR" altLang="en-US" sz="2000" b="1" dirty="0">
                <a:latin typeface="Open Sans" panose="020F0502020204030204" pitchFamily="34" charset="0"/>
              </a:rPr>
              <a:t>과 각 가로등의 위치 </a:t>
            </a:r>
            <a:r>
              <a:rPr lang="en-US" altLang="ko-KR" sz="2000" b="1" dirty="0">
                <a:latin typeface="Open Sans" panose="020F0502020204030204" pitchFamily="34" charset="0"/>
              </a:rPr>
              <a:t>x</a:t>
            </a:r>
            <a:r>
              <a:rPr lang="ko-KR" altLang="en-US" sz="2000" dirty="0">
                <a:latin typeface="Open Sans" panose="020F0502020204030204" pitchFamily="34" charset="0"/>
              </a:rPr>
              <a:t>가 주어진다</a:t>
            </a:r>
            <a:r>
              <a:rPr lang="en-US" altLang="ko-KR" sz="2000" dirty="0">
                <a:latin typeface="Open Sans" panose="020F0502020204030204" pitchFamily="34" charset="0"/>
              </a:rPr>
              <a:t>. (1 ≤ M ≤ N) (0 ≤ x ≤ N)</a:t>
            </a:r>
          </a:p>
          <a:p>
            <a:pPr algn="just"/>
            <a:r>
              <a:rPr lang="ko-KR" altLang="en-US" sz="2000" dirty="0">
                <a:latin typeface="Open Sans" panose="020F0502020204030204" pitchFamily="34" charset="0"/>
              </a:rPr>
              <a:t>가로등은 높이만큼 주위를 비출 수 있다</a:t>
            </a:r>
            <a:r>
              <a:rPr lang="en-US" altLang="ko-KR" sz="2000" dirty="0"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dirty="0">
                <a:latin typeface="Open Sans" panose="020F0502020204030204" pitchFamily="34" charset="0"/>
              </a:rPr>
              <a:t>가로등의 </a:t>
            </a:r>
            <a:r>
              <a:rPr lang="ko-KR" altLang="en-US" sz="2000" b="1" dirty="0">
                <a:latin typeface="Open Sans" panose="020F0502020204030204" pitchFamily="34" charset="0"/>
              </a:rPr>
              <a:t>최소한의 높이로 굴다리 모든 길 </a:t>
            </a:r>
            <a:r>
              <a:rPr lang="en-US" altLang="ko-KR" sz="2000" b="1" dirty="0">
                <a:latin typeface="Open Sans" panose="020F0502020204030204" pitchFamily="34" charset="0"/>
              </a:rPr>
              <a:t>0~N</a:t>
            </a:r>
            <a:r>
              <a:rPr lang="ko-KR" altLang="en-US" sz="2000" b="1" dirty="0">
                <a:latin typeface="Open Sans" panose="020F0502020204030204" pitchFamily="34" charset="0"/>
              </a:rPr>
              <a:t>을 밝히고자 한다</a:t>
            </a:r>
            <a:r>
              <a:rPr lang="en-US" altLang="ko-KR" sz="2000" dirty="0"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dirty="0">
                <a:latin typeface="Open Sans" panose="020F0502020204030204" pitchFamily="34" charset="0"/>
              </a:rPr>
              <a:t>최소한의 예산이 들 높이를 구하자</a:t>
            </a:r>
            <a:r>
              <a:rPr lang="en-US" altLang="ko-KR" sz="2000" dirty="0">
                <a:latin typeface="Open Sans" panose="020F0502020204030204" pitchFamily="34" charset="0"/>
              </a:rPr>
              <a:t>. </a:t>
            </a:r>
            <a:r>
              <a:rPr lang="ko-KR" altLang="en-US" sz="2000" dirty="0">
                <a:latin typeface="Open Sans" panose="020F0502020204030204" pitchFamily="34" charset="0"/>
              </a:rPr>
              <a:t>단 가로등은 모두 높이가 같아야 하고</a:t>
            </a:r>
            <a:r>
              <a:rPr lang="en-US" altLang="ko-KR" sz="2000" dirty="0">
                <a:latin typeface="Open Sans" panose="020F0502020204030204" pitchFamily="34" charset="0"/>
              </a:rPr>
              <a:t>, </a:t>
            </a:r>
            <a:r>
              <a:rPr lang="ko-KR" altLang="en-US" sz="2000" dirty="0">
                <a:latin typeface="Open Sans" panose="020F0502020204030204" pitchFamily="34" charset="0"/>
              </a:rPr>
              <a:t>정수이다</a:t>
            </a:r>
            <a:r>
              <a:rPr lang="en-US" altLang="ko-KR" sz="2000" dirty="0"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  <p:pic>
        <p:nvPicPr>
          <p:cNvPr id="1026" name="Picture 2" descr="https://upload.acmicpc.net/a1f0fc3c-7c16-4108-bb18-31fe9ff3bbe4/-/preview/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1" y="3446977"/>
            <a:ext cx="842962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110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39C39-0DDE-E230-6FB3-76D864F3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E42BB373-2E0F-DA62-EE5E-9439D31A0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238668"/>
            <a:ext cx="8229600" cy="1197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4053A9-7A20-0F6F-F7E7-33152DAB4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66E921-C72C-735A-06A5-6712F241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03F7CD-79D2-B54C-0675-997CBE2B2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857346"/>
            <a:ext cx="3731569" cy="40775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166731D-A53E-BB6C-FC9B-E9F6D9CC7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1856930"/>
            <a:ext cx="3439847" cy="407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04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ea typeface="맑은 고딕"/>
              </a:rPr>
              <a:t>6. </a:t>
            </a:r>
            <a:r>
              <a:rPr lang="ko-KR" altLang="en-US" sz="2800" dirty="0">
                <a:ea typeface="맑은 고딕"/>
              </a:rPr>
              <a:t>공유기 설치 </a:t>
            </a:r>
            <a:r>
              <a:rPr lang="en-US" altLang="ko-KR" sz="2800" dirty="0">
                <a:ea typeface="맑은 고딕"/>
              </a:rPr>
              <a:t>(</a:t>
            </a:r>
            <a:r>
              <a:rPr lang="ko-KR" altLang="en-US" sz="2800" dirty="0">
                <a:ea typeface="맑은 고딕"/>
              </a:rPr>
              <a:t>이분탐색</a:t>
            </a:r>
            <a:r>
              <a:rPr lang="en-US" altLang="ko-KR" sz="2800" dirty="0">
                <a:ea typeface="맑은 고딕"/>
              </a:rPr>
              <a:t>)</a:t>
            </a:r>
            <a:br>
              <a:rPr lang="en-US" altLang="ko-KR" sz="2800" dirty="0"/>
            </a:br>
            <a:r>
              <a:rPr lang="en-US" altLang="ko-KR" sz="2000" dirty="0">
                <a:solidFill>
                  <a:srgbClr val="0000FF"/>
                </a:solidFill>
                <a:ea typeface="맑은 고딕"/>
              </a:rPr>
              <a:t>http://210.93.60.51/problem/0259</a:t>
            </a:r>
            <a:br>
              <a:rPr lang="en-US" altLang="ko-KR" sz="2000" dirty="0">
                <a:solidFill>
                  <a:srgbClr val="0000FF"/>
                </a:solidFill>
                <a:ea typeface="맑은 고딕"/>
              </a:rPr>
            </a:br>
            <a:r>
              <a:rPr lang="en-US" altLang="ko-KR" sz="2000" dirty="0">
                <a:solidFill>
                  <a:srgbClr val="0000FF"/>
                </a:solidFill>
                <a:ea typeface="맑은 고딕"/>
              </a:rPr>
              <a:t>https://www.acmicpc.net/problem/2110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4785395"/>
          </a:xfrm>
        </p:spPr>
        <p:txBody>
          <a:bodyPr/>
          <a:lstStyle/>
          <a:p>
            <a:r>
              <a:rPr lang="ko-KR" altLang="en-US" sz="2000" dirty="0"/>
              <a:t>집 </a:t>
            </a:r>
            <a:r>
              <a:rPr lang="en-US" altLang="ko-KR" sz="2000" dirty="0"/>
              <a:t>N</a:t>
            </a:r>
            <a:r>
              <a:rPr lang="ko-KR" altLang="en-US" sz="2000" dirty="0"/>
              <a:t>개가 수직선 위에 있다</a:t>
            </a:r>
            <a:r>
              <a:rPr lang="en-US" altLang="ko-KR" sz="2000" dirty="0"/>
              <a:t>. </a:t>
            </a:r>
            <a:r>
              <a:rPr lang="ko-KR" altLang="en-US" sz="2000" dirty="0"/>
              <a:t>각각의 집의 좌표는 </a:t>
            </a:r>
            <a:r>
              <a:rPr lang="en-US" altLang="ko-KR" sz="2000" dirty="0"/>
              <a:t>x1, ..., </a:t>
            </a:r>
            <a:r>
              <a:rPr lang="en-US" altLang="ko-KR" sz="2000" dirty="0" err="1"/>
              <a:t>xN</a:t>
            </a:r>
            <a:r>
              <a:rPr lang="ko-KR" altLang="en-US" sz="2000" dirty="0"/>
              <a:t>이고</a:t>
            </a:r>
            <a:r>
              <a:rPr lang="en-US" altLang="ko-KR" sz="2000" dirty="0"/>
              <a:t>, </a:t>
            </a:r>
            <a:r>
              <a:rPr lang="ko-KR" altLang="en-US" sz="2000" dirty="0"/>
              <a:t>집 </a:t>
            </a:r>
            <a:r>
              <a:rPr lang="ko-KR" altLang="en-US" sz="2000" dirty="0" err="1"/>
              <a:t>여러개가</a:t>
            </a:r>
            <a:r>
              <a:rPr lang="ko-KR" altLang="en-US" sz="2000" dirty="0"/>
              <a:t> 같은 좌표를 가지는 일은 없다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/>
              <a:t>공유기 </a:t>
            </a:r>
            <a:r>
              <a:rPr lang="en-US" altLang="ko-KR" sz="2000" dirty="0"/>
              <a:t>C</a:t>
            </a:r>
            <a:r>
              <a:rPr lang="ko-KR" altLang="en-US" sz="2000" dirty="0"/>
              <a:t>개를 설치하려고 한다</a:t>
            </a:r>
            <a:r>
              <a:rPr lang="en-US" altLang="ko-KR" sz="2000" dirty="0"/>
              <a:t>. </a:t>
            </a:r>
            <a:r>
              <a:rPr lang="ko-KR" altLang="en-US" sz="2000" dirty="0"/>
              <a:t>한 집에는 공유기를 하나만 설치</a:t>
            </a:r>
            <a:r>
              <a:rPr lang="en-US" altLang="ko-KR" sz="2000" dirty="0"/>
              <a:t> </a:t>
            </a:r>
          </a:p>
          <a:p>
            <a:endParaRPr lang="en-US" altLang="ko-KR" sz="2000" dirty="0"/>
          </a:p>
          <a:p>
            <a:r>
              <a:rPr lang="en-US" altLang="ko-KR" sz="2000" b="1" dirty="0"/>
              <a:t>C</a:t>
            </a:r>
            <a:r>
              <a:rPr lang="ko-KR" altLang="en-US" sz="2000" b="1" dirty="0"/>
              <a:t>개의 공유기를 </a:t>
            </a:r>
            <a:r>
              <a:rPr lang="en-US" altLang="ko-KR" sz="2000" b="1" dirty="0"/>
              <a:t>N</a:t>
            </a:r>
            <a:r>
              <a:rPr lang="ko-KR" altLang="en-US" sz="2000" b="1" dirty="0"/>
              <a:t>개의 집에 적당히 설치해서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가장 인접한 두 공유기 사이의 거리를 최대로 하는 프로그램을 작성하시오</a:t>
            </a:r>
            <a:r>
              <a:rPr lang="en-US" altLang="ko-KR" sz="2000" b="1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/>
              <a:t>첫째 줄에 </a:t>
            </a:r>
            <a:r>
              <a:rPr lang="ko-KR" altLang="en-US" sz="2000" b="1" dirty="0"/>
              <a:t>집의 개수 </a:t>
            </a:r>
            <a:r>
              <a:rPr lang="en-US" altLang="ko-KR" sz="2000" b="1" dirty="0"/>
              <a:t>N (2 ≤ N ≤ 200,000)</a:t>
            </a:r>
            <a:r>
              <a:rPr lang="ko-KR" altLang="en-US" sz="2000" dirty="0"/>
              <a:t>과 </a:t>
            </a:r>
            <a:r>
              <a:rPr lang="ko-KR" altLang="en-US" sz="2000" b="1" dirty="0"/>
              <a:t>공유기의 개수 </a:t>
            </a:r>
            <a:r>
              <a:rPr lang="en-US" altLang="ko-KR" sz="2000" b="1" dirty="0"/>
              <a:t>C (2 ≤ C ≤ N)</a:t>
            </a:r>
            <a:r>
              <a:rPr lang="ko-KR" altLang="en-US" sz="2000" dirty="0"/>
              <a:t>이 하나 이상의 빈 칸을 사이에 두고 주어진다</a:t>
            </a:r>
            <a:r>
              <a:rPr lang="en-US" altLang="ko-KR" sz="2000" dirty="0"/>
              <a:t>. </a:t>
            </a:r>
          </a:p>
          <a:p>
            <a:r>
              <a:rPr lang="ko-KR" altLang="en-US" sz="2000" dirty="0"/>
              <a:t>둘째 줄부터 </a:t>
            </a:r>
            <a:r>
              <a:rPr lang="en-US" altLang="ko-KR" sz="2000" dirty="0"/>
              <a:t>N</a:t>
            </a:r>
            <a:r>
              <a:rPr lang="ko-KR" altLang="en-US" sz="2000" dirty="0"/>
              <a:t>개의 줄에는 </a:t>
            </a:r>
            <a:r>
              <a:rPr lang="ko-KR" altLang="en-US" sz="2000" b="1" dirty="0"/>
              <a:t>집의 좌표 </a:t>
            </a:r>
            <a:r>
              <a:rPr lang="en-US" altLang="ko-KR" sz="2000" b="1" dirty="0"/>
              <a:t>xi (0 ≤ xi ≤ 1,000,000,000)</a:t>
            </a:r>
          </a:p>
          <a:p>
            <a:endParaRPr lang="en-US" altLang="ko-KR" sz="2000" dirty="0"/>
          </a:p>
          <a:p>
            <a:r>
              <a:rPr lang="ko-KR" altLang="en-US" sz="2000" b="1" dirty="0">
                <a:solidFill>
                  <a:srgbClr val="FF0000"/>
                </a:solidFill>
              </a:rPr>
              <a:t>공유기가 모든 집을 커버하는 하는 것 아님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>
                <a:solidFill>
                  <a:srgbClr val="FF0000"/>
                </a:solidFill>
              </a:rPr>
              <a:t>C</a:t>
            </a:r>
            <a:r>
              <a:rPr lang="ko-KR" altLang="en-US" sz="2000" b="1" dirty="0">
                <a:solidFill>
                  <a:srgbClr val="FF0000"/>
                </a:solidFill>
              </a:rPr>
              <a:t>개 공유기를 다 설치할 수 있는가</a:t>
            </a:r>
            <a:r>
              <a:rPr lang="en-US" altLang="ko-KR" sz="2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15DAC-B125-B7C1-4D98-E7D689F9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457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98A1D-159D-41B3-1CEC-BD3E8030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6DB5318-8192-1B17-D06A-3EA8715B4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560" y="155781"/>
            <a:ext cx="5040560" cy="1924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5418B6-A3EF-9EBB-41B1-9D55157D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0963A3-57B7-F09B-5D6A-6899BE8C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ED8CF4-0CAE-6212-7F17-DD3520268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99" y="2170750"/>
            <a:ext cx="4032448" cy="41597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A458237-7BF9-700A-643D-78E107174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2420888"/>
            <a:ext cx="5519357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79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7F08C-91EF-051A-AB9F-2B47FC820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9F781-F201-C003-C8C9-534B815D1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ea typeface="맑은 고딕"/>
              </a:rPr>
              <a:t>7. </a:t>
            </a:r>
            <a:r>
              <a:rPr lang="ko-KR" altLang="en-US" sz="2800" dirty="0">
                <a:ea typeface="맑은 고딕"/>
              </a:rPr>
              <a:t>예산 </a:t>
            </a:r>
            <a:r>
              <a:rPr lang="en-US" altLang="ko-KR" sz="2800" dirty="0">
                <a:ea typeface="맑은 고딕"/>
              </a:rPr>
              <a:t>(</a:t>
            </a:r>
            <a:r>
              <a:rPr lang="ko-KR" altLang="en-US" sz="2800" dirty="0">
                <a:ea typeface="맑은 고딕"/>
              </a:rPr>
              <a:t>이분탐색</a:t>
            </a:r>
            <a:r>
              <a:rPr lang="en-US" altLang="ko-KR" sz="2800" dirty="0">
                <a:ea typeface="맑은 고딕"/>
              </a:rPr>
              <a:t>)</a:t>
            </a:r>
            <a:br>
              <a:rPr lang="en-US" altLang="ko-KR" sz="2800" dirty="0"/>
            </a:br>
            <a:r>
              <a:rPr lang="en-US" altLang="ko-KR" sz="2000" dirty="0">
                <a:solidFill>
                  <a:srgbClr val="0000FF"/>
                </a:solidFill>
                <a:ea typeface="맑은 고딕"/>
              </a:rPr>
              <a:t>http://210.93.60.51/problem/0260</a:t>
            </a:r>
            <a:br>
              <a:rPr lang="en-US" altLang="ko-KR" sz="2000" dirty="0">
                <a:solidFill>
                  <a:srgbClr val="0000FF"/>
                </a:solidFill>
                <a:ea typeface="맑은 고딕"/>
              </a:rPr>
            </a:br>
            <a:r>
              <a:rPr lang="en-US" altLang="ko-KR" sz="2000" dirty="0">
                <a:solidFill>
                  <a:srgbClr val="0000FF"/>
                </a:solidFill>
                <a:ea typeface="맑은 고딕"/>
              </a:rPr>
              <a:t>https://www.acmicpc.net/problem/2512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16C5B9-5616-A340-2F5A-42443FFAA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4785395"/>
          </a:xfrm>
        </p:spPr>
        <p:txBody>
          <a:bodyPr/>
          <a:lstStyle/>
          <a:p>
            <a:r>
              <a:rPr lang="ko-KR" altLang="en-US" sz="2000" dirty="0"/>
              <a:t>정해진 총액 이하에서 가능한 한 </a:t>
            </a:r>
            <a:r>
              <a:rPr lang="ko-KR" altLang="en-US" sz="2000" b="1" dirty="0"/>
              <a:t>최대의 총 예산</a:t>
            </a:r>
            <a:r>
              <a:rPr lang="ko-KR" altLang="en-US" sz="2000" dirty="0"/>
              <a:t>을 다음과 같은 방법으로 배정한다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ko-KR" altLang="en-US" sz="1800" dirty="0"/>
              <a:t>모든 요청이 배정될 수 있는 경우에는 요청한 금액을 그대로 배정한다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모든 요청이 배정될 수 없는 경우에는 특정한 </a:t>
            </a:r>
            <a:r>
              <a:rPr lang="ko-KR" altLang="en-US" sz="1800" b="1" dirty="0"/>
              <a:t>정수 상한액</a:t>
            </a:r>
            <a:r>
              <a:rPr lang="ko-KR" altLang="en-US" sz="1800" dirty="0"/>
              <a:t>을 계산하여 그 이상인 예산요청에는 모두 상한액을 배정한다</a:t>
            </a:r>
            <a:r>
              <a:rPr lang="en-US" altLang="ko-KR" sz="1800" dirty="0"/>
              <a:t>. </a:t>
            </a:r>
            <a:r>
              <a:rPr lang="ko-KR" altLang="en-US" sz="1800" dirty="0" err="1"/>
              <a:t>상한액</a:t>
            </a:r>
            <a:r>
              <a:rPr lang="ko-KR" altLang="en-US" sz="1800" dirty="0"/>
              <a:t> 이하의 예산요청에 대해서는 요청한 금액을 그대로 배정한다</a:t>
            </a:r>
            <a:r>
              <a:rPr lang="en-US" altLang="ko-KR" sz="1800" dirty="0"/>
              <a:t>. </a:t>
            </a:r>
          </a:p>
          <a:p>
            <a:endParaRPr lang="en-US" altLang="ko-KR" sz="1800" b="1" dirty="0">
              <a:solidFill>
                <a:srgbClr val="FF0000"/>
              </a:solidFill>
            </a:endParaRPr>
          </a:p>
          <a:p>
            <a:r>
              <a:rPr lang="ko-KR" altLang="en-US" sz="2000" dirty="0"/>
              <a:t>첫째 줄에는 지방의 수 </a:t>
            </a:r>
            <a:r>
              <a:rPr lang="en-US" altLang="ko-KR" sz="2000" dirty="0"/>
              <a:t>N</a:t>
            </a:r>
            <a:r>
              <a:rPr lang="ko-KR" altLang="en-US" sz="2000" dirty="0"/>
              <a:t>이 주어진다</a:t>
            </a:r>
            <a:r>
              <a:rPr lang="en-US" altLang="ko-KR" sz="2000" dirty="0"/>
              <a:t>. N</a:t>
            </a:r>
            <a:r>
              <a:rPr lang="ko-KR" altLang="en-US" sz="2000" dirty="0"/>
              <a:t>은 </a:t>
            </a:r>
            <a:r>
              <a:rPr lang="en-US" altLang="ko-KR" sz="2000" dirty="0"/>
              <a:t>3 </a:t>
            </a:r>
            <a:r>
              <a:rPr lang="ko-KR" altLang="en-US" sz="2000" dirty="0"/>
              <a:t>이상 </a:t>
            </a:r>
            <a:r>
              <a:rPr lang="en-US" altLang="ko-KR" sz="2000" dirty="0"/>
              <a:t>10,000 </a:t>
            </a:r>
            <a:r>
              <a:rPr lang="ko-KR" altLang="en-US" sz="2000" dirty="0"/>
              <a:t>이하이다</a:t>
            </a:r>
            <a:r>
              <a:rPr lang="en-US" altLang="ko-KR" sz="2000" dirty="0"/>
              <a:t>. </a:t>
            </a:r>
          </a:p>
          <a:p>
            <a:r>
              <a:rPr lang="ko-KR" altLang="en-US" sz="2000" dirty="0"/>
              <a:t>다음 줄에는 각 지방의 예산요청 </a:t>
            </a:r>
            <a:r>
              <a:rPr lang="en-US" altLang="ko-KR" sz="2000" dirty="0"/>
              <a:t>N</a:t>
            </a:r>
            <a:r>
              <a:rPr lang="ko-KR" altLang="en-US" sz="2000" dirty="0"/>
              <a:t>개의 정수 </a:t>
            </a:r>
            <a:r>
              <a:rPr lang="en-US" altLang="ko-KR" sz="2000" dirty="0"/>
              <a:t>1 </a:t>
            </a:r>
            <a:r>
              <a:rPr lang="ko-KR" altLang="en-US" sz="2000" dirty="0"/>
              <a:t>이상 </a:t>
            </a:r>
            <a:r>
              <a:rPr lang="en-US" altLang="ko-KR" sz="2000" dirty="0"/>
              <a:t>100,000 </a:t>
            </a:r>
            <a:r>
              <a:rPr lang="ko-KR" altLang="en-US" sz="2000" dirty="0"/>
              <a:t>이하</a:t>
            </a:r>
            <a:endParaRPr lang="en-US" altLang="ko-KR" sz="2000" dirty="0"/>
          </a:p>
          <a:p>
            <a:r>
              <a:rPr lang="ko-KR" altLang="en-US" sz="2000" dirty="0"/>
              <a:t>그 다음 줄에는 총 예산 </a:t>
            </a:r>
            <a:r>
              <a:rPr lang="en-US" altLang="ko-KR" sz="2000" dirty="0"/>
              <a:t>M. M</a:t>
            </a:r>
            <a:r>
              <a:rPr lang="ko-KR" altLang="en-US" sz="2000" dirty="0"/>
              <a:t>은 </a:t>
            </a:r>
            <a:r>
              <a:rPr lang="en-US" altLang="ko-KR" sz="2000" dirty="0"/>
              <a:t>N </a:t>
            </a:r>
            <a:r>
              <a:rPr lang="ko-KR" altLang="en-US" sz="2000" dirty="0"/>
              <a:t>이상 </a:t>
            </a:r>
            <a:r>
              <a:rPr lang="en-US" altLang="ko-KR" sz="2000" dirty="0"/>
              <a:t>1,000,000,000 </a:t>
            </a:r>
            <a:r>
              <a:rPr lang="ko-KR" altLang="en-US" sz="2000" dirty="0"/>
              <a:t>이하이다</a:t>
            </a:r>
            <a:r>
              <a:rPr lang="en-US" altLang="ko-KR" sz="2000" dirty="0"/>
              <a:t>. </a:t>
            </a:r>
          </a:p>
          <a:p>
            <a:pPr marL="0" indent="0">
              <a:buNone/>
            </a:pPr>
            <a:endParaRPr lang="ko-KR" altLang="en-US" sz="2000" dirty="0"/>
          </a:p>
          <a:p>
            <a:r>
              <a:rPr lang="ko-KR" altLang="en-US" sz="2000" dirty="0"/>
              <a:t>첫째 줄에는 </a:t>
            </a:r>
            <a:r>
              <a:rPr lang="ko-KR" altLang="en-US" sz="2000" b="1" dirty="0"/>
              <a:t>배정된 예산들 중 최댓값인 정수를 출력</a:t>
            </a:r>
            <a:r>
              <a:rPr lang="ko-KR" altLang="en-US" sz="2000" dirty="0"/>
              <a:t>한다</a:t>
            </a:r>
            <a:r>
              <a:rPr lang="en-US" altLang="ko-KR" sz="2000" dirty="0"/>
              <a:t>.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D788ED-87C1-E636-93CE-C6D5F6D18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517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DD8B4-67C7-1593-9DE7-94CFBBB1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5835E44-1D42-3D5A-A540-F292E9F83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95536" y="239547"/>
            <a:ext cx="8229600" cy="1180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CA9EB6-6FD4-7F23-D57C-6F52272E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B227E6-6568-23FB-2D54-D6C2D2E5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19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CE65B80-5E1B-7E38-9453-1A952EAD8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703214"/>
            <a:ext cx="3889487" cy="430436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2A3077-6B2D-735F-58B7-76D8399D6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1494012"/>
            <a:ext cx="3278713" cy="472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7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4649</TotalTime>
  <Words>1041</Words>
  <Application>Microsoft Office PowerPoint</Application>
  <PresentationFormat>화면 슬라이드 쇼(4:3)</PresentationFormat>
  <Paragraphs>94</Paragraphs>
  <Slides>19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굴림</vt:lpstr>
      <vt:lpstr>malgun gothic</vt:lpstr>
      <vt:lpstr>malgun gothic</vt:lpstr>
      <vt:lpstr>Arial</vt:lpstr>
      <vt:lpstr>Open Sans</vt:lpstr>
      <vt:lpstr>Office 테마</vt:lpstr>
      <vt:lpstr>숙제5. 이진탐색 알고리즘</vt:lpstr>
      <vt:lpstr>백준 온라인저지  https://www.acmicpc.net/</vt:lpstr>
      <vt:lpstr>TUKorea 온라인저지  http://210.93.60.51/</vt:lpstr>
      <vt:lpstr>Programmers https://school.programmers.co.kr/</vt:lpstr>
      <vt:lpstr>1. 나무 자르기 (TUKorea0070,백준, 이분탐색) http://210.93.60.51/problem/0070 https://www.acmicpc.net/problem/2805 https://www.youtube.com/watch?v=aVBCcJ8Ypzg&amp;list=PLg0hsGjqxAUZimgPzzUdTjrV0bn5ALtAl&amp;index=18 https://www.youtube.com/watch?v=ujQ96TkAHA8&amp;list=PLg0hsGjqxAUZimgPzzUdTjrV0bn5ALtAl&amp;index=38</vt:lpstr>
      <vt:lpstr>PowerPoint 프레젠테이션</vt:lpstr>
      <vt:lpstr>2. 사칙연산 (TUKorea, 백준, 구현) http://210.93.60.51/problem/0181 https://www.acmicpc.net/problem/13420</vt:lpstr>
      <vt:lpstr>PowerPoint 프레젠테이션</vt:lpstr>
      <vt:lpstr>3. Postfix 표현식 (TUKorea, 스택)  http://210.93.60.51/problem/0059</vt:lpstr>
      <vt:lpstr>PowerPoint 프레젠테이션</vt:lpstr>
      <vt:lpstr>4. 비밀지도(Programmers, 구현)  https://school.programmers.co.kr/learn/courses/30/lessons/17681</vt:lpstr>
      <vt:lpstr>4. 비밀지도(Programmers, 구현)  https://school.programmers.co.kr/learn/courses/30/lessons/17681</vt:lpstr>
      <vt:lpstr>PowerPoint 프레젠테이션</vt:lpstr>
      <vt:lpstr>5. 어두운 굴다리(TUKorea, 백준, 이분탐색) http://210.93.60.51/problem/0180 https://www.acmicpc.net/problem/17266 </vt:lpstr>
      <vt:lpstr>PowerPoint 프레젠테이션</vt:lpstr>
      <vt:lpstr>6. 공유기 설치 (이분탐색) http://210.93.60.51/problem/0259 https://www.acmicpc.net/problem/2110</vt:lpstr>
      <vt:lpstr>PowerPoint 프레젠테이션</vt:lpstr>
      <vt:lpstr>7. 예산 (이분탐색) http://210.93.60.51/problem/0260 https://www.acmicpc.net/problem/2512</vt:lpstr>
      <vt:lpstr>PowerPoint 프레젠테이션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253</cp:revision>
  <cp:lastPrinted>2023-07-23T09:30:34Z</cp:lastPrinted>
  <dcterms:created xsi:type="dcterms:W3CDTF">2008-03-02T04:39:19Z</dcterms:created>
  <dcterms:modified xsi:type="dcterms:W3CDTF">2026-04-29T05:01:29Z</dcterms:modified>
</cp:coreProperties>
</file>