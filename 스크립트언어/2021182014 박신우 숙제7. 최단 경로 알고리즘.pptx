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4" r:id="rId1"/>
  </p:sldMasterIdLst>
  <p:notesMasterIdLst>
    <p:notesMasterId r:id="rId24"/>
  </p:notesMasterIdLst>
  <p:sldIdLst>
    <p:sldId id="258" r:id="rId2"/>
    <p:sldId id="269" r:id="rId3"/>
    <p:sldId id="335" r:id="rId4"/>
    <p:sldId id="259" r:id="rId5"/>
    <p:sldId id="339" r:id="rId6"/>
    <p:sldId id="351" r:id="rId7"/>
    <p:sldId id="341" r:id="rId8"/>
    <p:sldId id="352" r:id="rId9"/>
    <p:sldId id="345" r:id="rId10"/>
    <p:sldId id="356" r:id="rId11"/>
    <p:sldId id="342" r:id="rId12"/>
    <p:sldId id="353" r:id="rId13"/>
    <p:sldId id="343" r:id="rId14"/>
    <p:sldId id="320" r:id="rId15"/>
    <p:sldId id="354" r:id="rId16"/>
    <p:sldId id="346" r:id="rId17"/>
    <p:sldId id="355" r:id="rId18"/>
    <p:sldId id="348" r:id="rId19"/>
    <p:sldId id="349" r:id="rId20"/>
    <p:sldId id="350" r:id="rId21"/>
    <p:sldId id="357" r:id="rId22"/>
    <p:sldId id="358" r:id="rId23"/>
  </p:sldIdLst>
  <p:sldSz cx="9144000" cy="6858000" type="screen4x3"/>
  <p:notesSz cx="6796088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1" autoAdjust="0"/>
    <p:restoredTop sz="94660"/>
  </p:normalViewPr>
  <p:slideViewPr>
    <p:cSldViewPr>
      <p:cViewPr varScale="1">
        <p:scale>
          <a:sx n="96" d="100"/>
          <a:sy n="96" d="100"/>
        </p:scale>
        <p:origin x="1276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9688" y="0"/>
            <a:ext cx="2944812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755AD21-19C0-49A3-8C7F-3EE70D30FEBF}" type="datetimeFigureOut">
              <a:rPr lang="ko-KR" altLang="en-US"/>
              <a:pPr>
                <a:defRPr/>
              </a:pPr>
              <a:t>2026-05-28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7188" cy="44672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9688" y="9428163"/>
            <a:ext cx="2944812" cy="4968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F8CEB46D-9B0E-47D1-8684-1DB50B81E07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5364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399BD248-42D7-44D8-991C-BF0E4233C8AD}" type="slidenum">
              <a:rPr lang="ko-KR" altLang="en-US"/>
              <a:pPr>
                <a:spcBef>
                  <a:spcPct val="0"/>
                </a:spcBef>
              </a:pPr>
              <a:t>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CE528-7F58-8114-7800-EFA490682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301D9848-AD40-DF15-D243-28D631A9CD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091CA6EA-ABB6-24D8-9BAE-97421D8EE25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937960F0-1989-1616-5FDB-55CF6FAE06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8338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8FF79-6E0B-4FCD-4276-D4CAA1B9B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>
            <a:extLst>
              <a:ext uri="{FF2B5EF4-FFF2-40B4-BE49-F238E27FC236}">
                <a16:creationId xmlns:a16="http://schemas.microsoft.com/office/drawing/2014/main" id="{2C6B5741-4F6C-4D1A-EEF6-369E9297ED6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>
            <a:extLst>
              <a:ext uri="{FF2B5EF4-FFF2-40B4-BE49-F238E27FC236}">
                <a16:creationId xmlns:a16="http://schemas.microsoft.com/office/drawing/2014/main" id="{73D3F1C7-091C-1E87-193D-1AF1F221AD6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>
            <a:extLst>
              <a:ext uri="{FF2B5EF4-FFF2-40B4-BE49-F238E27FC236}">
                <a16:creationId xmlns:a16="http://schemas.microsoft.com/office/drawing/2014/main" id="{6F198135-18B5-ED7B-0127-7B81C3306D7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73985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1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1741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AE97164F-AFE0-47CF-AE29-34AF6F04086E}" type="slidenum">
              <a:rPr lang="ko-KR" altLang="en-US"/>
              <a:pPr>
                <a:spcBef>
                  <a:spcPct val="0"/>
                </a:spcBef>
              </a:pPr>
              <a:t>4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4AF4A5-5617-2BA3-1998-B43431DBB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B067605B-0E30-2C3F-90AB-0349812CBD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A6FCDA3-DE81-C79D-7CFA-90D64473B9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E7FB2C-EF50-069C-CDBF-B40305EF9A5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422993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8D8154-5674-3592-043C-ED5B85D56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4196531-8DAF-7C4B-C085-A0F72FDF03D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F11258C-00BC-693E-9655-C702C0AED5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E7B02C-31F7-C577-64B6-706B91BEEA2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12291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722FF-9B88-4724-AD5A-905C5AF7B3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9A088FD-B323-28D8-40CA-1CC5C5C3F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F3A7792-7EF0-A8B6-A108-7E85911217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EFE2C-36FD-DD64-FDA2-203C29F549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2564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C5905-9421-8F95-57D2-36A21A955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59D7F44-93D4-55D4-C4B5-E8CB43B065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EB5A0B7-CC05-CA92-0DCA-2BC1E4427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9DAE5C7-F6D1-7CDC-FB04-7BE88DECBC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91702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1B13E0-95E8-C9AE-1AC5-E0464998FF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B0A6035-B30A-F988-0FB4-4479EEC8D12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688B05B-634E-BBF5-4B84-E0D66BBFCE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B0BA3A-EC41-2F69-0726-4BA264EDA4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0783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6738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D179AA-92FE-B49C-4B18-8C4E5E2EC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6A00F92-E83F-7BA9-A62C-782B51BF9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783383B-BE11-905C-FE29-F189622BF1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6C290A7-78C4-EF71-0C0F-786140BE447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151674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30347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36926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8CEB46D-9B0E-47D1-8684-1DB50B81E07A}" type="slidenum">
              <a:rPr lang="ko-KR" altLang="en-US" smtClean="0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75246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14313" y="6356350"/>
            <a:ext cx="2643187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9CDB7A-47E2-4059-8EF4-A0640D1BC94E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92036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/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3733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57845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26670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6C9443-308F-41EB-9403-36E994EE3C1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3937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354F6A4-0517-45C2-862F-B475182F4386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4194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8" name="날짜 개체 틀 6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9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66478B-8FBF-4F39-8AAE-C744841EBA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3322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모서리가 둥근 직사각형 2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4" name="날짜 개체 틀 2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  <a:endParaRPr lang="ko-KR" altLang="en-US" dirty="0"/>
          </a:p>
        </p:txBody>
      </p:sp>
      <p:sp>
        <p:nvSpPr>
          <p:cNvPr id="5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E7DB5AE-6182-458A-9442-7D0E5621EC3C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2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3" name="날짜 개체 틀 1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4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F7FABC-72A3-4036-B860-C8EA1438AE6D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1744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B92AEAB-351F-4F89-A116-7A44E83E55A2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6088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모서리가 둥근 직사각형 4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날짜 개체 틀 4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7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8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3EE7A7B-3993-47B6-A1BC-0275495E6D5A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13763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72FCFE9-07D1-4516-8BF2-C49BDADA48E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7918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모서리가 둥근 직사각형 3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>
          <a:xfrm>
            <a:off x="0" y="6356350"/>
            <a:ext cx="25908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C30A18C-D925-420F-814E-C2D3F93C5265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83783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214313" y="6356350"/>
            <a:ext cx="25717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1</a:t>
            </a:r>
            <a:r>
              <a:rPr lang="ko-KR" altLang="en-US"/>
              <a:t>학기 </a:t>
            </a:r>
            <a:r>
              <a:rPr lang="en-US" altLang="ko-KR"/>
              <a:t>STL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 smtClean="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749D700-1C6B-4D65-B91E-BEEB48FB19C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  <p:sp>
        <p:nvSpPr>
          <p:cNvPr id="7" name="모서리가 둥근 직사각형 6"/>
          <p:cNvSpPr/>
          <p:nvPr userDrawn="1"/>
        </p:nvSpPr>
        <p:spPr>
          <a:xfrm>
            <a:off x="142875" y="142875"/>
            <a:ext cx="8858250" cy="6572250"/>
          </a:xfrm>
          <a:prstGeom prst="roundRect">
            <a:avLst>
              <a:gd name="adj" fmla="val 7328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57" r:id="rId1"/>
    <p:sldLayoutId id="2147484158" r:id="rId2"/>
    <p:sldLayoutId id="2147484159" r:id="rId3"/>
    <p:sldLayoutId id="2147484160" r:id="rId4"/>
    <p:sldLayoutId id="2147484161" r:id="rId5"/>
    <p:sldLayoutId id="2147484162" r:id="rId6"/>
    <p:sldLayoutId id="2147484163" r:id="rId7"/>
    <p:sldLayoutId id="2147484164" r:id="rId8"/>
    <p:sldLayoutId id="2147484165" r:id="rId9"/>
    <p:sldLayoutId id="2147484166" r:id="rId10"/>
    <p:sldLayoutId id="2147484167" r:id="rId11"/>
  </p:sldLayoutIdLst>
  <p:hf hdr="0" ftr="0"/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3600" kern="1200">
          <a:solidFill>
            <a:srgbClr val="C00000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3600">
          <a:solidFill>
            <a:srgbClr val="C00000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rgbClr val="C00000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67544" y="2130425"/>
            <a:ext cx="8424936" cy="1470025"/>
          </a:xfrm>
        </p:spPr>
        <p:txBody>
          <a:bodyPr/>
          <a:lstStyle/>
          <a:p>
            <a:pPr eaLnBrk="1" hangingPunct="1"/>
            <a:r>
              <a:rPr lang="ko-KR" altLang="en-US" b="1" dirty="0">
                <a:solidFill>
                  <a:srgbClr val="0000FF"/>
                </a:solidFill>
              </a:rPr>
              <a:t>숙제</a:t>
            </a:r>
            <a:r>
              <a:rPr lang="en-US" altLang="ko-KR" b="1" dirty="0">
                <a:solidFill>
                  <a:srgbClr val="0000FF"/>
                </a:solidFill>
              </a:rPr>
              <a:t>7. </a:t>
            </a:r>
            <a:r>
              <a:rPr lang="ko-KR" altLang="en-US" b="1" dirty="0">
                <a:solidFill>
                  <a:srgbClr val="0000FF"/>
                </a:solidFill>
              </a:rPr>
              <a:t>최단 경로 알고리즘</a:t>
            </a:r>
            <a:br>
              <a:rPr lang="en-US" altLang="ko-KR" b="1" dirty="0">
                <a:solidFill>
                  <a:srgbClr val="0000FF"/>
                </a:solidFill>
              </a:rPr>
            </a:br>
            <a:r>
              <a:rPr lang="en-US" altLang="ko-KR" b="1" dirty="0">
                <a:solidFill>
                  <a:srgbClr val="0000FF"/>
                </a:solidFill>
              </a:rPr>
              <a:t>(</a:t>
            </a:r>
            <a:r>
              <a:rPr lang="ko-KR" altLang="en-US" b="1" dirty="0" err="1">
                <a:solidFill>
                  <a:srgbClr val="0000FF"/>
                </a:solidFill>
              </a:rPr>
              <a:t>우선순위큐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다익스트라</a:t>
            </a:r>
            <a:r>
              <a:rPr lang="en-US" altLang="ko-KR" b="1" dirty="0">
                <a:solidFill>
                  <a:srgbClr val="0000FF"/>
                </a:solidFill>
              </a:rPr>
              <a:t>, </a:t>
            </a:r>
            <a:r>
              <a:rPr lang="ko-KR" altLang="en-US" b="1" dirty="0" err="1">
                <a:solidFill>
                  <a:srgbClr val="0000FF"/>
                </a:solidFill>
              </a:rPr>
              <a:t>플로이드워셜</a:t>
            </a:r>
            <a:r>
              <a:rPr lang="en-US" altLang="ko-KR" b="1" dirty="0">
                <a:solidFill>
                  <a:srgbClr val="0000FF"/>
                </a:solidFill>
              </a:rPr>
              <a:t>)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67544" y="3886200"/>
            <a:ext cx="8424936" cy="406896"/>
          </a:xfrm>
        </p:spPr>
        <p:txBody>
          <a:bodyPr/>
          <a:lstStyle/>
          <a:p>
            <a:pPr lvl="1" eaLnBrk="1" hangingPunct="1"/>
            <a:r>
              <a:rPr lang="ko-KR" altLang="en-US" dirty="0">
                <a:solidFill>
                  <a:schemeClr val="tx1"/>
                </a:solidFill>
              </a:rPr>
              <a:t>담당교수 </a:t>
            </a:r>
            <a:r>
              <a:rPr lang="en-US" altLang="ko-KR" dirty="0">
                <a:solidFill>
                  <a:schemeClr val="tx1"/>
                </a:solidFill>
              </a:rPr>
              <a:t>: </a:t>
            </a:r>
            <a:r>
              <a:rPr lang="ko-KR" altLang="en-US" dirty="0">
                <a:solidFill>
                  <a:schemeClr val="tx1"/>
                </a:solidFill>
              </a:rPr>
              <a:t>김영식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7E377-6501-AC88-60CF-FFCD8D9C88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149552DC-4336-108F-9F09-35F2F4EDA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2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7E901156-3666-1D61-B9AB-A579345EDEE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ko-KR" altLang="en-US" sz="2800" b="1" dirty="0">
                <a:solidFill>
                  <a:srgbClr val="0000FF"/>
                </a:solidFill>
              </a:rPr>
              <a:t>백준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https://www.acmicpc.net/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C570ED1C-A34A-AF1E-D534-A3DA190C18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백준 온라인저지</a:t>
            </a:r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“</a:t>
            </a:r>
            <a:r>
              <a:rPr lang="ko-KR" altLang="en-US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맞았습니다</a:t>
            </a:r>
            <a:r>
              <a:rPr lang="en-US" altLang="ko-KR" b="1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!!”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885" y="4725144"/>
            <a:ext cx="8268915" cy="1440160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516" y="2223976"/>
            <a:ext cx="4722093" cy="2501168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709718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FC8DD9-884D-A67C-7FF6-BE2052E40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>
            <a:extLst>
              <a:ext uri="{FF2B5EF4-FFF2-40B4-BE49-F238E27FC236}">
                <a16:creationId xmlns:a16="http://schemas.microsoft.com/office/drawing/2014/main" id="{0900215C-78E8-FFC3-D66F-318826C1B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3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15DEA275-57E7-EE18-C236-75AE335D57B0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 err="1">
                <a:solidFill>
                  <a:srgbClr val="0000FF"/>
                </a:solidFill>
              </a:rPr>
              <a:t>TUKorea</a:t>
            </a:r>
            <a:r>
              <a:rPr lang="ko-KR" altLang="en-US" sz="2800" b="1" dirty="0">
                <a:solidFill>
                  <a:srgbClr val="0000FF"/>
                </a:solidFill>
              </a:rPr>
              <a:t> 온라인저지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 http://210.93.60.51/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5E7D3A3B-FF86-CC36-AECA-71BBAFB9252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062433"/>
          </a:xfrm>
        </p:spPr>
        <p:txBody>
          <a:bodyPr/>
          <a:lstStyle/>
          <a:p>
            <a:pPr algn="l"/>
            <a:r>
              <a:rPr lang="en-US" altLang="ko-KR" b="0" i="0" dirty="0" err="1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TUKorea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온라인저지는 </a:t>
            </a:r>
            <a:r>
              <a:rPr lang="ko-KR" altLang="en-US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반드시 학번으로</a:t>
            </a:r>
            <a:r>
              <a:rPr lang="en-US" altLang="ko-KR" b="1" i="0" dirty="0">
                <a:solidFill>
                  <a:srgbClr val="FF0000"/>
                </a:solidFill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Accepted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 샷 제출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FD442A2-9A74-208C-4235-0D0C2DBF94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5513" y="2132856"/>
            <a:ext cx="5972973" cy="452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7889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슬라이드 번호 개체 틀 4"/>
          <p:cNvSpPr>
            <a:spLocks noGrp="1"/>
          </p:cNvSpPr>
          <p:nvPr>
            <p:ph type="sldNum" sz="quarter" idx="12"/>
          </p:nvPr>
        </p:nvSpPr>
        <p:spPr bwMode="auto">
          <a:xfrm>
            <a:off x="8572500" y="6357938"/>
            <a:ext cx="233363" cy="365125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16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fld id="{BC3C6B57-3855-4E64-AEE7-8610084F94D2}" type="slidenum">
              <a:rPr lang="en-US" altLang="ko-KR" sz="1200">
                <a:solidFill>
                  <a:srgbClr val="898989"/>
                </a:solidFill>
              </a:rPr>
              <a:pPr algn="ctr">
                <a:spcBef>
                  <a:spcPct val="0"/>
                </a:spcBef>
                <a:buFontTx/>
                <a:buNone/>
              </a:pPr>
              <a:t>4</a:t>
            </a:fld>
            <a:endParaRPr lang="en-US" altLang="ko-KR" sz="1200">
              <a:solidFill>
                <a:srgbClr val="898989"/>
              </a:solidFill>
            </a:endParaRPr>
          </a:p>
        </p:txBody>
      </p:sp>
      <p:sp>
        <p:nvSpPr>
          <p:cNvPr id="16387" name="Rectangle 2"/>
          <p:cNvSpPr>
            <a:spLocks noGrp="1" noRot="1" noChangeArrowheads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 eaLnBrk="1" hangingPunct="1"/>
            <a:r>
              <a:rPr lang="en-US" altLang="ko-KR" sz="2800" b="1" dirty="0">
                <a:solidFill>
                  <a:srgbClr val="0000FF"/>
                </a:solidFill>
              </a:rPr>
              <a:t>Programmers</a:t>
            </a:r>
            <a:br>
              <a:rPr lang="en-US" altLang="ko-KR" sz="2800" b="1" dirty="0">
                <a:solidFill>
                  <a:srgbClr val="0000FF"/>
                </a:solidFill>
              </a:rPr>
            </a:br>
            <a:r>
              <a:rPr lang="en-US" altLang="ko-KR" sz="2800" b="1" dirty="0">
                <a:solidFill>
                  <a:srgbClr val="0000FF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https://school.programmers.co.kr/</a:t>
            </a:r>
            <a:endParaRPr lang="ko-KR" altLang="en-US" sz="2800" b="1" dirty="0">
              <a:solidFill>
                <a:srgbClr val="0000FF"/>
              </a:solidFill>
            </a:endParaRPr>
          </a:p>
        </p:txBody>
      </p:sp>
      <p:sp>
        <p:nvSpPr>
          <p:cNvPr id="163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51520" y="1214439"/>
            <a:ext cx="8892480" cy="1278458"/>
          </a:xfrm>
        </p:spPr>
        <p:txBody>
          <a:bodyPr/>
          <a:lstStyle/>
          <a:p>
            <a:pPr algn="l"/>
            <a:r>
              <a:rPr lang="en-US" altLang="ko-KR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Programmers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회원가입하고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문제를 </a:t>
            </a:r>
            <a:r>
              <a:rPr lang="ko-KR" altLang="en-US" b="0" i="0" dirty="0">
                <a:effectLst/>
                <a:latin typeface="malgun gothic" panose="020B0503020000020004" pitchFamily="50" charset="-127"/>
                <a:ea typeface="malgun gothic" panose="020B0503020000020004" pitchFamily="50" charset="-127"/>
              </a:rPr>
              <a:t>해결</a:t>
            </a:r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해당 문제 </a:t>
            </a:r>
            <a:r>
              <a:rPr lang="ko-KR" altLang="en-US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소스코드와 통과</a:t>
            </a:r>
            <a:r>
              <a:rPr lang="en-US" altLang="ko-KR" b="1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 </a:t>
            </a:r>
            <a:r>
              <a:rPr lang="ko-KR" altLang="en-US" dirty="0">
                <a:latin typeface="malgun gothic" panose="020B0503020000020004" pitchFamily="50" charset="-127"/>
                <a:ea typeface="malgun gothic" panose="020B0503020000020004" pitchFamily="50" charset="-127"/>
              </a:rPr>
              <a:t>스크린 샷 제출</a:t>
            </a:r>
            <a:endParaRPr lang="en-US" altLang="ko-KR" dirty="0">
              <a:latin typeface="malgun gothic" panose="020B0503020000020004" pitchFamily="50" charset="-127"/>
              <a:ea typeface="malgun gothic" panose="020B0503020000020004" pitchFamily="50" charset="-127"/>
            </a:endParaRPr>
          </a:p>
          <a:p>
            <a:pPr algn="l"/>
            <a:endParaRPr lang="en-US" altLang="ko-KR" b="0" i="0" dirty="0">
              <a:effectLst/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757046F-BA5C-9133-150D-0D37D08227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9116" y="2204864"/>
            <a:ext cx="5845767" cy="437849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BDCB5-7F53-214B-6C61-C92019CB99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EFEF50-ACBE-B55A-3CD9-ECD0968B9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택배 배송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다익스트라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http://210.93.60.51/problem/0186</a:t>
            </a:r>
            <a:br>
              <a:rPr lang="en-US" altLang="ko-KR" sz="2000" dirty="0"/>
            </a:br>
            <a:r>
              <a:rPr lang="en-US" altLang="ko-KR" sz="2000" dirty="0"/>
              <a:t>https://www.acmicpc.net/problem/5972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6ABA8CA-B1A0-8B3D-CAB9-27BB454F48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농부 현서의 지도가 주어지고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지나가는 길에 소를 만나면 </a:t>
            </a:r>
            <a:r>
              <a:rPr lang="ko-KR" altLang="en-US" sz="2000" b="0" i="0" dirty="0" err="1">
                <a:effectLst/>
                <a:latin typeface="Open Sans" panose="020F0502020204030204" pitchFamily="34" charset="0"/>
              </a:rPr>
              <a:t>줘야할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 여물의 비용이 주어질 때 최소 여물은 얼마일까요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?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농부 현서는 가는 길의 길이는 고려하지 않습니다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2000" dirty="0"/>
              <a:t>농부 현서는 헛간 </a:t>
            </a:r>
            <a:r>
              <a:rPr lang="en-US" altLang="ko-KR" sz="2000" dirty="0"/>
              <a:t>1</a:t>
            </a:r>
            <a:r>
              <a:rPr lang="ko-KR" altLang="en-US" sz="2000" dirty="0"/>
              <a:t>에 있고 농부 찬홍이는 헛간 </a:t>
            </a:r>
            <a:r>
              <a:rPr lang="en-US" altLang="ko-KR" sz="2000" dirty="0"/>
              <a:t>N</a:t>
            </a:r>
            <a:r>
              <a:rPr lang="ko-KR" altLang="en-US" sz="2000" dirty="0"/>
              <a:t>에 있습니다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345AAE8-FF1A-38EE-FB83-8DBB91949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5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DDF72A0-3963-3411-0D57-A6FAE28F63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2718575"/>
            <a:ext cx="6372200" cy="3806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5405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7DA07-1EA2-0130-92C7-53D2A1EF5A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5C90F8AC-7048-E74F-B5E1-679B9A853D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157823"/>
            <a:ext cx="5688632" cy="1966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3C9BFAD-17B3-0DE0-D87B-7CE0E4DF47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9B08FD4-461D-584E-147F-03CAF04CD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6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1BA5D91-45AB-F8BF-CA6D-C6986AACF2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917" y="2277300"/>
            <a:ext cx="3133282" cy="393262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A66CF43B-EDC9-9B00-5EB5-7FE6991F6A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2420888"/>
            <a:ext cx="3769668" cy="336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780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2182D6-7C3A-1450-0957-073622899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FC0AAC-B616-D4EC-909C-ECC3F2A8B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04" y="274638"/>
            <a:ext cx="8928992" cy="868346"/>
          </a:xfrm>
        </p:spPr>
        <p:txBody>
          <a:bodyPr/>
          <a:lstStyle/>
          <a:p>
            <a:r>
              <a:rPr lang="en-US" altLang="ko-KR" sz="2800" dirty="0"/>
              <a:t>2. </a:t>
            </a:r>
            <a:r>
              <a:rPr lang="ko-KR" altLang="en-US" sz="2800" dirty="0"/>
              <a:t>순회강연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/>
              <a:t>정렬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우선순위큐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그리디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http://210.93.60.51/problem/0187</a:t>
            </a:r>
            <a:br>
              <a:rPr lang="en-US" altLang="ko-KR" sz="2000" dirty="0"/>
            </a:br>
            <a:r>
              <a:rPr lang="en-US" altLang="ko-KR" sz="2000" dirty="0"/>
              <a:t>https://www.acmicpc.net/problem/2109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1099AAD-C6EA-CB4B-F77E-8434C7D5E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7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8C86E8-5349-F7B3-AFB6-B10A83FC02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한 저명한 학자에게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n(0 ≤ n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개의 대학에서 강연 요청을 해 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각 대학에서는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d(1 ≤ d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일 안에 와서 강연을 해 주면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p(1 ≤ p ≤ 10,000)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만큼의 강연료를 지불하겠다고 알려왔다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가장 많은 돈을 벌 수 있도록 순회강연을 하려 한다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강연의 특성상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 학자는 하루에 최대 한 곳에서만 강연을 할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네 대학에서 제시한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p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값이 각각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50, 10, 20, 30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d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값이 차례로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2, 1, 2, 1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이라고 하자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이럴 때에는 첫째 날에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대학에서 강연을 하고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둘째 날에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대학에서 강연을 하면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80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만큼의 돈을 벌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10000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 부터 거꾸로 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1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일까지 차례로 배정한다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d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일까지 하는 강연은 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d, d-1, d-2,… 1 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모두 배정 가능하다</a:t>
            </a:r>
            <a:r>
              <a:rPr lang="en-US" altLang="ko-KR" sz="1800" dirty="0">
                <a:solidFill>
                  <a:srgbClr val="0000FF"/>
                </a:solidFill>
                <a:latin typeface="Open Sans" panose="020F0502020204030204" pitchFamily="34" charset="0"/>
              </a:rPr>
              <a:t>.</a:t>
            </a:r>
            <a:r>
              <a:rPr lang="ko-KR" altLang="en-US" sz="1800" dirty="0">
                <a:solidFill>
                  <a:srgbClr val="0000FF"/>
                </a:solidFill>
                <a:latin typeface="Open Sans" panose="020F0502020204030204" pitchFamily="34" charset="0"/>
              </a:rPr>
              <a:t> </a:t>
            </a:r>
            <a:endParaRPr lang="en-US" altLang="ko-KR" sz="1800" b="0" i="0" dirty="0">
              <a:solidFill>
                <a:srgbClr val="0000FF"/>
              </a:solidFill>
              <a:effectLst/>
              <a:latin typeface="Open Sans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6AF8CC-F25F-C942-3D68-B27571ECD854}"/>
              </a:ext>
            </a:extLst>
          </p:cNvPr>
          <p:cNvSpPr txBox="1"/>
          <p:nvPr/>
        </p:nvSpPr>
        <p:spPr>
          <a:xfrm>
            <a:off x="1835696" y="4771018"/>
            <a:ext cx="18722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# 4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20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30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40 3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40 3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정답 110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20D92A-013E-5ADA-6F8D-3ED9FDB50840}"/>
              </a:ext>
            </a:extLst>
          </p:cNvPr>
          <p:cNvSpPr txBox="1"/>
          <p:nvPr/>
        </p:nvSpPr>
        <p:spPr>
          <a:xfrm>
            <a:off x="4283855" y="4725144"/>
            <a:ext cx="37799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solidFill>
                  <a:srgbClr val="0000FF"/>
                </a:solidFill>
              </a:rPr>
              <a:t>#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10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10 2</a:t>
            </a:r>
          </a:p>
          <a:p>
            <a:r>
              <a:rPr lang="ko-KR" altLang="en-US" dirty="0">
                <a:solidFill>
                  <a:srgbClr val="0000FF"/>
                </a:solidFill>
              </a:rPr>
              <a:t># 정답 20</a:t>
            </a:r>
          </a:p>
        </p:txBody>
      </p:sp>
    </p:spTree>
    <p:extLst>
      <p:ext uri="{BB962C8B-B14F-4D97-AF65-F5344CB8AC3E}">
        <p14:creationId xmlns:p14="http://schemas.microsoft.com/office/powerpoint/2010/main" val="29882145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2178D806-7822-31A3-73A0-5F086AEDA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283089"/>
            <a:ext cx="6696744" cy="1139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73D7875-1A8A-CD8E-1D25-743CA3535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226D83C-F158-5176-99AB-4D7062963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8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8F26F68-D16F-C711-EAE5-58B99C82CF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648" y="1415182"/>
            <a:ext cx="4028633" cy="49411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6841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3D79EC-E4C2-4C95-E9DE-A15E24A95E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6F4974-3A24-DDE1-7D1B-7497BF6B47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868346"/>
          </a:xfrm>
        </p:spPr>
        <p:txBody>
          <a:bodyPr/>
          <a:lstStyle/>
          <a:p>
            <a:r>
              <a:rPr lang="en-US" altLang="ko-KR" sz="2400" dirty="0"/>
              <a:t>3. </a:t>
            </a:r>
            <a:r>
              <a:rPr lang="ko-KR" altLang="en-US" sz="2400" dirty="0" err="1"/>
              <a:t>소가길을건너간이유</a:t>
            </a:r>
            <a:r>
              <a:rPr lang="en-US" altLang="ko-KR" sz="2400" dirty="0"/>
              <a:t>4</a:t>
            </a:r>
            <a:r>
              <a:rPr lang="ko-KR" altLang="en-US" sz="2400" dirty="0"/>
              <a:t> </a:t>
            </a:r>
            <a:r>
              <a:rPr lang="en-US" altLang="ko-KR" sz="2400" dirty="0"/>
              <a:t>(</a:t>
            </a:r>
            <a:r>
              <a:rPr lang="en-US" altLang="ko-KR" sz="2400" dirty="0" err="1"/>
              <a:t>TUKorea</a:t>
            </a:r>
            <a:r>
              <a:rPr lang="en-US" altLang="ko-KR" sz="2400" dirty="0"/>
              <a:t>,</a:t>
            </a:r>
            <a:r>
              <a:rPr lang="ko-KR" altLang="en-US" sz="2400" dirty="0"/>
              <a:t>백준</a:t>
            </a:r>
            <a:r>
              <a:rPr lang="en-US" altLang="ko-KR" sz="2400" dirty="0"/>
              <a:t>,</a:t>
            </a:r>
            <a:r>
              <a:rPr lang="ko-KR" altLang="en-US" sz="2400" dirty="0" err="1"/>
              <a:t>우선순위큐</a:t>
            </a:r>
            <a:r>
              <a:rPr lang="en-US" altLang="ko-KR" sz="2400" dirty="0"/>
              <a:t>,</a:t>
            </a:r>
            <a:r>
              <a:rPr lang="ko-KR" altLang="en-US" sz="2400" dirty="0" err="1"/>
              <a:t>최소힙</a:t>
            </a:r>
            <a:r>
              <a:rPr lang="en-US" altLang="ko-KR" sz="2400" dirty="0"/>
              <a:t>,</a:t>
            </a:r>
            <a:r>
              <a:rPr lang="ko-KR" altLang="en-US" sz="2400" dirty="0" err="1"/>
              <a:t>그리디</a:t>
            </a:r>
            <a:r>
              <a:rPr lang="en-US" altLang="ko-KR" sz="2400" dirty="0"/>
              <a:t>)</a:t>
            </a:r>
            <a:br>
              <a:rPr lang="en-US" altLang="ko-KR" sz="2400" dirty="0"/>
            </a:br>
            <a:r>
              <a:rPr lang="en-US" altLang="ko-KR" sz="2000" dirty="0"/>
              <a:t>http://210.93.60.51/problem/0188</a:t>
            </a:r>
            <a:br>
              <a:rPr lang="en-US" altLang="ko-KR" sz="2000" dirty="0"/>
            </a:br>
            <a:r>
              <a:rPr lang="en-US" altLang="ko-KR" sz="2000" dirty="0"/>
              <a:t>https://www.acmicpc.net/problem/14464</a:t>
            </a:r>
            <a:endParaRPr lang="ko-KR" altLang="en-US" sz="16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72FEBBF-64DE-7DB8-4A4F-89EE16F206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9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13394F-D3DA-913A-2913-C07152083C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dirty="0">
                <a:latin typeface="Open Sans" panose="020F0502020204030204" pitchFamily="34" charset="0"/>
              </a:rPr>
              <a:t>닭은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마리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C ≤ 20,000), </a:t>
            </a:r>
            <a:r>
              <a:rPr lang="en-US" altLang="ko-KR" sz="1800" b="0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닭은 정확히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Ti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초에만 소를 도와줄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소는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마리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(1 ≤ N ≤ 20,000), 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번 소는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Aj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초부터 </a:t>
            </a:r>
            <a:r>
              <a:rPr lang="en-US" altLang="ko-KR" sz="1800" b="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초까지 길을 건널 수 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j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번 소가 </a:t>
            </a:r>
            <a:r>
              <a:rPr lang="en-US" altLang="ko-KR" sz="1800" b="1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번 닭의 도움을 받아 길을 건너려면  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Aj ≤ Ti ≤ </a:t>
            </a:r>
            <a:r>
              <a:rPr lang="en-US" altLang="ko-KR" sz="1800" b="1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ko-KR" altLang="en-US" sz="1800" b="1" i="0" dirty="0">
                <a:effectLst/>
                <a:latin typeface="Open Sans" panose="020F0502020204030204" pitchFamily="34" charset="0"/>
              </a:rPr>
              <a:t>를 만족해야 한다</a:t>
            </a:r>
            <a:r>
              <a:rPr lang="en-US" altLang="ko-KR" sz="1800" b="1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i="0" dirty="0">
                <a:effectLst/>
                <a:latin typeface="Open Sans" panose="020F0502020204030204" pitchFamily="34" charset="0"/>
              </a:rPr>
              <a:t>첫 줄에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이 주어진다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다음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줄에는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T1…TC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가 주어지고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그 다음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줄에는 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Aj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와 </a:t>
            </a:r>
            <a:r>
              <a:rPr lang="en-US" altLang="ko-KR" sz="180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(Aj ≤ </a:t>
            </a:r>
            <a:r>
              <a:rPr lang="en-US" altLang="ko-KR" sz="1800" i="0" dirty="0" err="1">
                <a:effectLst/>
                <a:latin typeface="Open Sans" panose="020F0502020204030204" pitchFamily="34" charset="0"/>
              </a:rPr>
              <a:t>Bj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)</a:t>
            </a:r>
            <a:r>
              <a:rPr lang="ko-KR" altLang="en-US" sz="1800" i="0" dirty="0">
                <a:effectLst/>
                <a:latin typeface="Open Sans" panose="020F0502020204030204" pitchFamily="34" charset="0"/>
              </a:rPr>
              <a:t>가 주어진다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 </a:t>
            </a:r>
          </a:p>
          <a:p>
            <a:pPr algn="just"/>
            <a:r>
              <a:rPr lang="ko-KR" altLang="en-US" sz="1800" i="0" dirty="0">
                <a:effectLst/>
                <a:latin typeface="Open Sans" panose="020F0502020204030204" pitchFamily="34" charset="0"/>
              </a:rPr>
              <a:t>도움을 받을 수 있는 소가 최대 몇 마리인지 출력한다</a:t>
            </a:r>
            <a:r>
              <a:rPr lang="en-US" altLang="ko-KR" sz="1800" i="0" dirty="0">
                <a:effectLst/>
                <a:latin typeface="Open Sans" panose="020F0502020204030204" pitchFamily="34" charset="0"/>
              </a:rPr>
              <a:t>.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19DE5B2-567C-96B8-405D-7595BFC932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3487992"/>
            <a:ext cx="5616624" cy="3210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6347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AE16B9-8155-1CFF-621D-633CD80250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40735EFA-A47E-6600-99B8-FC0B7CF308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11560" y="274638"/>
            <a:ext cx="6203032" cy="2036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89A007-8BF8-C12A-155C-164D91ADD9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7F9BBDB-88B9-E94A-BBBE-B31202703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10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601431C-98D0-EA54-A5DE-E1AA6B614D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576" y="2340279"/>
            <a:ext cx="2133600" cy="41269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4771901D-8145-F8E9-48B6-D2856BE98F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1960" y="2420888"/>
            <a:ext cx="3861808" cy="33592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8066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B2B20-4B16-B621-1878-D805E70737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3DA739D-B2C9-7045-1763-959F8AD6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4. </a:t>
            </a:r>
            <a:r>
              <a:rPr lang="ko-KR" altLang="en-US" sz="2800" dirty="0"/>
              <a:t>다음 순열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구현</a:t>
            </a:r>
            <a:r>
              <a:rPr lang="en-US" altLang="ko-KR" sz="2800" dirty="0"/>
              <a:t>) </a:t>
            </a:r>
            <a:br>
              <a:rPr lang="en-US" altLang="ko-KR" sz="2800" dirty="0"/>
            </a:br>
            <a:r>
              <a:rPr lang="en-US" altLang="ko-KR" sz="2800" dirty="0"/>
              <a:t>http://210.93.60.51/problem/0057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672360B-F912-2D91-961D-82AA60C5A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11</a:t>
            </a:fld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1F3B8B4-350A-50A3-AE91-CB80AA09D6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다음은 사전 순으로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1,2,3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순열입니다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1 2 3     1 3 2     2 1 3     2 3 1     3 1 2     3 2 1 </a:t>
            </a:r>
          </a:p>
          <a:p>
            <a:pPr marL="0" indent="0" algn="just">
              <a:buNone/>
            </a:pPr>
            <a:br>
              <a:rPr lang="en-US" altLang="ko-KR" sz="1800" b="0" i="0" dirty="0">
                <a:effectLst/>
                <a:latin typeface="Open Sans" panose="020F0502020204030204" pitchFamily="34" charset="0"/>
              </a:rPr>
            </a:br>
            <a:endParaRPr lang="en-US" altLang="ko-KR" sz="18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1,2,…,n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순열이 주어지면 사전 순으로 다음 순열을 생성합니다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예를 들어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2 3 1 4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의 경우 답은 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2 3 4 1</a:t>
            </a:r>
            <a:r>
              <a:rPr lang="ko-KR" altLang="en-US" sz="1800" b="0" i="0" dirty="0">
                <a:effectLst/>
                <a:latin typeface="Open Sans" panose="020F0502020204030204" pitchFamily="34" charset="0"/>
              </a:rPr>
              <a:t>입니다</a:t>
            </a:r>
            <a:r>
              <a:rPr lang="en-US" altLang="ko-KR" sz="18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1 ≤N≤ 1000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로 상당히 크기 때문에 표준라이브러리 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permutations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으로 모든 순열의 경우를 리스트로 생성하면 메모리 초과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, </a:t>
            </a:r>
            <a:r>
              <a:rPr lang="ko-KR" altLang="en-US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시간 초과된다</a:t>
            </a:r>
            <a:r>
              <a:rPr lang="en-US" altLang="ko-KR" sz="1800" b="0" i="0" dirty="0">
                <a:solidFill>
                  <a:srgbClr val="0000FF"/>
                </a:solidFill>
                <a:effectLst/>
                <a:latin typeface="Open Sans" panose="020F0502020204030204" pitchFamily="34" charset="0"/>
              </a:rPr>
              <a:t>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0266035-7E61-F4D4-060E-1BCAEE4D7C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95145C9-4D93-F8B4-A96D-3275DE0F23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608" y="4077072"/>
            <a:ext cx="6882113" cy="2169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3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E92C11-26BB-3410-4BEE-8FB0B4950C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708671CD-3A5E-9C54-1450-0016611372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539552" y="136525"/>
            <a:ext cx="5832648" cy="21734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5B96563-EEB2-6B22-38F7-C1C1D11E5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E43FC0C-E917-B518-10D7-31250BA63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12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F56417-6691-F6A2-F44A-20E6D1682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0072" y="2348880"/>
            <a:ext cx="2754558" cy="3728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324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6D464-ABF4-2534-91B9-7A4E1C341E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699D2-E1C4-C3CB-3E1E-95ED4F075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2290266"/>
          </a:xfrm>
        </p:spPr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합승 택시</a:t>
            </a:r>
            <a:r>
              <a:rPr lang="en-US" altLang="ko-KR" sz="2800" dirty="0"/>
              <a:t>(Programmers, Floyd </a:t>
            </a:r>
            <a:r>
              <a:rPr lang="en-US" altLang="ko-KR" sz="2800" dirty="0" err="1"/>
              <a:t>Warshall</a:t>
            </a:r>
            <a:r>
              <a:rPr lang="en-US" altLang="ko-KR" sz="2800" dirty="0"/>
              <a:t>) </a:t>
            </a:r>
            <a:br>
              <a:rPr lang="en-US" altLang="ko-KR" sz="2800" dirty="0"/>
            </a:br>
            <a:r>
              <a:rPr lang="en-US" altLang="ko-KR" sz="1600" dirty="0">
                <a:solidFill>
                  <a:srgbClr val="0000FF"/>
                </a:solidFill>
              </a:rPr>
              <a:t>https://school.programmers.co.kr/learn/courses/30/lessons/72413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https://www.youtube.com/watch?v=ejkvFLxDngQ&amp;list=PLg0hsGjqxAUZimgPzzUdTjrV0bn5ALtAl&amp;index=14</a:t>
            </a:r>
            <a:br>
              <a:rPr lang="en-US" altLang="ko-KR" sz="1600" dirty="0">
                <a:solidFill>
                  <a:srgbClr val="0000FF"/>
                </a:solidFill>
              </a:rPr>
            </a:br>
            <a:r>
              <a:rPr lang="en-US" altLang="ko-KR" sz="1600" dirty="0">
                <a:solidFill>
                  <a:srgbClr val="0000FF"/>
                </a:solidFill>
              </a:rPr>
              <a:t>https://www.youtube.com/watch?v=0QiXS0_TTVU&amp;list=PLg0hsGjqxAUZimgPzzUdTjrV0bn5ALtAl&amp;index=34</a:t>
            </a:r>
            <a:br>
              <a:rPr lang="en-US" altLang="ko-KR" sz="1600" dirty="0">
                <a:solidFill>
                  <a:srgbClr val="0000FF"/>
                </a:solidFill>
              </a:rPr>
            </a:br>
            <a:br>
              <a:rPr lang="en-US" altLang="ko-KR" sz="2800" dirty="0"/>
            </a:b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0C0934D-9D8D-8BDD-1B5F-8368C57992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13</a:t>
            </a:fld>
            <a:endParaRPr lang="ko-KR" alt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7D1FCD0-6DD4-9CA7-B754-4B5A8AD17A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90100"/>
            <a:ext cx="65" cy="276999"/>
          </a:xfrm>
          <a:prstGeom prst="rect">
            <a:avLst/>
          </a:prstGeom>
          <a:solidFill>
            <a:srgbClr val="F8F8F9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3D1A740D-35B8-5DF0-0995-BB402FE01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916832"/>
            <a:ext cx="8640960" cy="4209331"/>
          </a:xfrm>
        </p:spPr>
        <p:txBody>
          <a:bodyPr/>
          <a:lstStyle/>
          <a:p>
            <a:r>
              <a:rPr lang="en-US" altLang="ko-KR" sz="2000" dirty="0"/>
              <a:t>2021 </a:t>
            </a:r>
            <a:r>
              <a:rPr lang="ko-KR" altLang="en-US" sz="2000" dirty="0" err="1"/>
              <a:t>카카오공채</a:t>
            </a:r>
            <a:r>
              <a:rPr lang="ko-KR" altLang="en-US" sz="2000" dirty="0"/>
              <a:t> </a:t>
            </a:r>
            <a:r>
              <a:rPr lang="en-US" altLang="ko-KR" sz="2000" dirty="0"/>
              <a:t>1</a:t>
            </a:r>
            <a:r>
              <a:rPr lang="ko-KR" altLang="en-US" sz="2000" dirty="0"/>
              <a:t>차 </a:t>
            </a:r>
            <a:r>
              <a:rPr lang="en-US" altLang="ko-KR" sz="2000" dirty="0"/>
              <a:t>4</a:t>
            </a:r>
            <a:r>
              <a:rPr lang="ko-KR" altLang="en-US" sz="2000" dirty="0"/>
              <a:t>번</a:t>
            </a:r>
            <a:endParaRPr lang="en-US" altLang="ko-KR" sz="2000" dirty="0"/>
          </a:p>
          <a:p>
            <a:r>
              <a:rPr lang="en-US" altLang="ko-KR" sz="2000" dirty="0"/>
              <a:t>https://school.programmers.co.kr/learn/courses/30/lessons/72413</a:t>
            </a:r>
          </a:p>
          <a:p>
            <a:r>
              <a:rPr lang="en-US" altLang="ko-KR" sz="2000" dirty="0"/>
              <a:t>https://tech.kakao.com/2021/01/25/2021-kakao-recruitment-round-1/</a:t>
            </a:r>
          </a:p>
          <a:p>
            <a:r>
              <a:rPr lang="ko-KR" altLang="en-US" sz="2000" dirty="0" err="1"/>
              <a:t>다익스트라</a:t>
            </a:r>
            <a:r>
              <a:rPr lang="ko-KR" altLang="en-US" sz="2000" dirty="0"/>
              <a:t> </a:t>
            </a:r>
            <a:r>
              <a:rPr lang="en-US" altLang="ko-KR" sz="2000" dirty="0"/>
              <a:t>: K</a:t>
            </a:r>
            <a:r>
              <a:rPr lang="ko-KR" altLang="en-US" sz="2000" dirty="0"/>
              <a:t>정점에서 모든 정점까지 최단거리 구함</a:t>
            </a:r>
            <a:endParaRPr lang="en-US" altLang="ko-KR" sz="2000" dirty="0"/>
          </a:p>
          <a:p>
            <a:r>
              <a:rPr lang="en-US" altLang="ko-KR" sz="2000" dirty="0"/>
              <a:t>Floyd </a:t>
            </a:r>
            <a:r>
              <a:rPr lang="en-US" altLang="ko-KR" sz="2000" dirty="0" err="1"/>
              <a:t>Warshall</a:t>
            </a:r>
            <a:r>
              <a:rPr lang="en-US" altLang="ko-KR" sz="2000" dirty="0"/>
              <a:t> : (</a:t>
            </a:r>
            <a:r>
              <a:rPr lang="en-US" altLang="ko-KR" sz="2000" dirty="0" err="1"/>
              <a:t>i,j</a:t>
            </a:r>
            <a:r>
              <a:rPr lang="en-US" altLang="ko-KR" sz="2000" dirty="0"/>
              <a:t>) </a:t>
            </a:r>
            <a:r>
              <a:rPr lang="ko-KR" altLang="en-US" sz="2000" dirty="0"/>
              <a:t>모든 정점 쌍의 최단거리 구함</a:t>
            </a:r>
          </a:p>
        </p:txBody>
      </p:sp>
      <p:pic>
        <p:nvPicPr>
          <p:cNvPr id="9" name="Picture 2" descr="2021_kakao_taxi_01.png">
            <a:extLst>
              <a:ext uri="{FF2B5EF4-FFF2-40B4-BE49-F238E27FC236}">
                <a16:creationId xmlns:a16="http://schemas.microsoft.com/office/drawing/2014/main" id="{EFFD4D5E-CDB9-605E-7E97-8F140DCAF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7904" y="3742523"/>
            <a:ext cx="3096344" cy="28548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27534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5. </a:t>
            </a:r>
            <a:r>
              <a:rPr lang="ko-KR" altLang="en-US" sz="2800" dirty="0"/>
              <a:t>합승 택시</a:t>
            </a:r>
            <a:r>
              <a:rPr lang="en-US" altLang="ko-KR" sz="2800" dirty="0"/>
              <a:t>(Programmers, Floyd </a:t>
            </a:r>
            <a:r>
              <a:rPr lang="en-US" altLang="ko-KR" sz="2800" dirty="0" err="1"/>
              <a:t>Warshall</a:t>
            </a:r>
            <a:r>
              <a:rPr lang="en-US" altLang="ko-KR" sz="2800" dirty="0"/>
              <a:t>)</a:t>
            </a:r>
            <a:endParaRPr lang="ko-KR" altLang="en-US" sz="2800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14</a:t>
            </a:fld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1120408"/>
            <a:ext cx="8616126" cy="2740639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4425849"/>
            <a:ext cx="8568952" cy="10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7118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3AB16A-CB02-8D0F-B2A0-28E0E08EF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0A8B17FC-95EE-56F2-DF76-A1323F7E6E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907704" y="188640"/>
            <a:ext cx="2520280" cy="197239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43D05E-D6C7-FF7B-7087-215B0A408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8492407C-181C-B647-5F0A-9E9892E6B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15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28AD8C7-6ABE-2BAF-BCBC-19DEC1539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0152" y="142416"/>
            <a:ext cx="2619741" cy="657316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74FF1B25-A4D7-7D89-47E5-23F9072562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050" y="2159005"/>
            <a:ext cx="3566870" cy="4379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0207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4424A-6C2A-B719-7012-CC186BBD65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CCA46E-9549-C7D6-366B-48CA63D13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2800" dirty="0"/>
              <a:t>6. </a:t>
            </a:r>
            <a:r>
              <a:rPr lang="ko-KR" altLang="en-US" sz="2800" dirty="0"/>
              <a:t>파티 </a:t>
            </a:r>
            <a:r>
              <a:rPr lang="en-US" altLang="ko-KR" sz="2800" dirty="0"/>
              <a:t>(</a:t>
            </a:r>
            <a:r>
              <a:rPr lang="en-US" altLang="ko-KR" sz="2800" dirty="0" err="1"/>
              <a:t>TUKorea</a:t>
            </a:r>
            <a:r>
              <a:rPr lang="en-US" altLang="ko-KR" sz="2800" dirty="0"/>
              <a:t>, </a:t>
            </a:r>
            <a:r>
              <a:rPr lang="ko-KR" altLang="en-US" sz="2800" dirty="0"/>
              <a:t>백준</a:t>
            </a:r>
            <a:r>
              <a:rPr lang="en-US" altLang="ko-KR" sz="2800" dirty="0"/>
              <a:t>, </a:t>
            </a:r>
            <a:r>
              <a:rPr lang="ko-KR" altLang="en-US" sz="2800" dirty="0" err="1"/>
              <a:t>다익스트라</a:t>
            </a:r>
            <a:r>
              <a:rPr lang="en-US" altLang="ko-KR" sz="2800" dirty="0"/>
              <a:t>)</a:t>
            </a:r>
            <a:br>
              <a:rPr lang="en-US" altLang="ko-KR" sz="2800" dirty="0"/>
            </a:br>
            <a:r>
              <a:rPr lang="en-US" altLang="ko-KR" sz="2000" dirty="0"/>
              <a:t>http://210.93.60.51/problem/0163</a:t>
            </a:r>
            <a:br>
              <a:rPr lang="en-US" altLang="ko-KR" sz="2000" dirty="0"/>
            </a:br>
            <a:r>
              <a:rPr lang="en-US" altLang="ko-KR" sz="2000" dirty="0"/>
              <a:t>https://www.acmicpc.net/problem/1238</a:t>
            </a:r>
            <a:endParaRPr lang="ko-KR" altLang="en-US" sz="20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E4ACDCB-1B0B-EE69-6987-4468E67CE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4785395"/>
          </a:xfrm>
        </p:spPr>
        <p:txBody>
          <a:bodyPr/>
          <a:lstStyle/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숫자로 구분된 각각의 마을에 한 명의 학생이 살고 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명의 학생이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X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 마을에 모여서 파티를 벌이기로 했다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 마을 사이에는 총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M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개의 단방향 도로들이 있고 </a:t>
            </a:r>
            <a:r>
              <a:rPr lang="en-US" altLang="ko-KR" sz="2000" b="0" i="0" dirty="0" err="1">
                <a:effectLst/>
                <a:latin typeface="Open Sans" panose="020F0502020204030204" pitchFamily="34" charset="0"/>
              </a:rPr>
              <a:t>i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번째 길을 지나는데 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Ti(1 ≤ Ti≤ 100)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의 시간을 소비한다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각각의 학생들은 파티에 참석하기 위해 걸어가서 다시 그들의 마을로 돌아와야 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하지만 이 학생들은 워낙 게을러서 최단 시간에 오고 가기를 원한다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</a:p>
          <a:p>
            <a:pPr algn="just"/>
            <a:endParaRPr lang="en-US" altLang="ko-KR" sz="2000" b="0" i="0" dirty="0">
              <a:effectLst/>
              <a:latin typeface="Open Sans" panose="020F0502020204030204" pitchFamily="34" charset="0"/>
            </a:endParaRPr>
          </a:p>
          <a:p>
            <a:pPr algn="just"/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이 도로들은 단방향이기 때문에 아마 그들이 오고 가는 길이 다를지도 모른다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 N</a:t>
            </a:r>
            <a:r>
              <a:rPr lang="ko-KR" altLang="en-US" sz="2000" b="0" i="0" dirty="0">
                <a:effectLst/>
                <a:latin typeface="Open Sans" panose="020F0502020204030204" pitchFamily="34" charset="0"/>
              </a:rPr>
              <a:t>명의 학생들 중 오고 가는데 가장 많은 시간을 소비하는 학생은 누구일지 구하여라</a:t>
            </a:r>
            <a:r>
              <a:rPr lang="en-US" altLang="ko-KR" sz="2000" b="0" i="0" dirty="0">
                <a:effectLst/>
                <a:latin typeface="Open Sans" panose="020F0502020204030204" pitchFamily="34" charset="0"/>
              </a:rPr>
              <a:t>.</a:t>
            </a:r>
            <a:endParaRPr lang="ko-KR" altLang="en-US" sz="2000" dirty="0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F741CC1-B0E4-C332-4842-8EFFB6DA9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34709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4B4251-10F3-A81D-2086-11DFE7A7C6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A463D12E-962E-4A29-862F-2FC81B7636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83568" y="136526"/>
            <a:ext cx="4392488" cy="1735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E32EF3-27BD-0E61-AB87-3951ACC5C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63B7D5-45E6-9ABD-F313-F2E29B1CB7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17</a:t>
            </a:fld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0241786C-DCDC-5341-5809-3F03B8C874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003" y="1941956"/>
            <a:ext cx="3015198" cy="443711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2BE8E305-20BA-C54E-FCD8-CDEB9BF27B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3968" y="2081592"/>
            <a:ext cx="2779750" cy="431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4696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285860"/>
            <a:ext cx="8363272" cy="4840303"/>
          </a:xfrm>
        </p:spPr>
        <p:txBody>
          <a:bodyPr/>
          <a:lstStyle/>
          <a:p>
            <a:endParaRPr lang="en-US" altLang="ko-KR" dirty="0"/>
          </a:p>
          <a:p>
            <a:r>
              <a:rPr lang="ko-KR" altLang="en-US" dirty="0"/>
              <a:t>정점의 개수 </a:t>
            </a:r>
            <a:r>
              <a:rPr lang="en-US" altLang="ko-KR" dirty="0"/>
              <a:t>V</a:t>
            </a:r>
            <a:r>
              <a:rPr lang="ko-KR" altLang="en-US" dirty="0"/>
              <a:t>와 간선의 개수 </a:t>
            </a:r>
            <a:r>
              <a:rPr lang="en-US" altLang="ko-KR" dirty="0"/>
              <a:t>E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en-US" dirty="0"/>
              <a:t>양방향 그래프</a:t>
            </a:r>
            <a:endParaRPr lang="en-US" altLang="ko-KR" dirty="0"/>
          </a:p>
          <a:p>
            <a:r>
              <a:rPr lang="ko-KR" altLang="en-US" dirty="0"/>
              <a:t>원래 최단 경로의 길이 </a:t>
            </a:r>
            <a:r>
              <a:rPr lang="en-US" altLang="ko-KR" dirty="0"/>
              <a:t>A</a:t>
            </a:r>
            <a:r>
              <a:rPr lang="ko-KR" altLang="en-US" dirty="0"/>
              <a:t>를 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그런 후 임의의 간선에 장애물이 떨어져서 가중치가 </a:t>
            </a:r>
            <a:r>
              <a:rPr lang="en-US" altLang="ko-KR" dirty="0"/>
              <a:t>2</a:t>
            </a:r>
            <a:r>
              <a:rPr lang="ko-KR" altLang="en-US" dirty="0"/>
              <a:t>배가 되었다고 가정하고 최단 경로 </a:t>
            </a:r>
            <a:r>
              <a:rPr lang="en-US" altLang="ko-KR" dirty="0"/>
              <a:t>B</a:t>
            </a:r>
            <a:r>
              <a:rPr lang="ko-KR" altLang="en-US" dirty="0"/>
              <a:t>를 구한다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최종적으로 </a:t>
            </a:r>
            <a:r>
              <a:rPr lang="en-US" altLang="ko-KR" dirty="0"/>
              <a:t>B-A</a:t>
            </a:r>
            <a:r>
              <a:rPr lang="ko-KR" altLang="en-US" dirty="0"/>
              <a:t>의 최대값을 구한다</a:t>
            </a:r>
            <a:r>
              <a:rPr lang="en-US" altLang="ko-KR" dirty="0"/>
              <a:t>.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26450A5-9E67-47E6-773E-8167BCC096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83793AD-3F15-9872-A523-6634FB0C86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26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700808"/>
            <a:ext cx="8500863" cy="3312368"/>
          </a:xfrm>
          <a:prstGeom prst="rect">
            <a:avLst/>
          </a:prstGeom>
        </p:spPr>
      </p:pic>
      <p:sp>
        <p:nvSpPr>
          <p:cNvPr id="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6C942F4-75C4-4739-9863-0EABD4A85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D712F8-E643-CC4F-DD9D-FB033DBBE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74217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524" y="1193383"/>
            <a:ext cx="8568952" cy="5112568"/>
          </a:xfrm>
          <a:prstGeom prst="rect">
            <a:avLst/>
          </a:prstGeom>
        </p:spPr>
      </p:pic>
      <p:sp>
        <p:nvSpPr>
          <p:cNvPr id="7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z="3200" dirty="0"/>
              <a:t>7. </a:t>
            </a:r>
            <a:r>
              <a:rPr lang="ko-KR" altLang="en-US" sz="3200" dirty="0"/>
              <a:t>장애물 </a:t>
            </a:r>
            <a:r>
              <a:rPr lang="en-US" altLang="ko-KR" sz="3200" dirty="0"/>
              <a:t>(TUKorea0073, </a:t>
            </a:r>
            <a:r>
              <a:rPr lang="en-US" altLang="ko-KR" sz="3200" dirty="0" err="1"/>
              <a:t>Dijkstra</a:t>
            </a:r>
            <a:r>
              <a:rPr lang="en-US" altLang="ko-KR" sz="3200" dirty="0"/>
              <a:t>)</a:t>
            </a:r>
            <a:br>
              <a:rPr lang="en-US" altLang="ko-KR" sz="3200" dirty="0"/>
            </a:br>
            <a:r>
              <a:rPr lang="en-US" altLang="ko-KR" sz="2400" dirty="0"/>
              <a:t>http://210.93.60.51/problem/0073</a:t>
            </a:r>
            <a:endParaRPr lang="ko-KR" altLang="en-US" sz="3200" dirty="0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3C2806A-AA13-334B-58C2-6B4B3DB693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게임온라인공채대비 코딩캠프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45C1FB-C1A6-F2D3-E82C-1321FE6BC2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/>
              <a:pPr>
                <a:defRPr/>
              </a:pPr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72637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645287-B443-1904-4CD9-8B0DB2135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장애물</a:t>
            </a:r>
          </a:p>
        </p:txBody>
      </p:sp>
      <p:pic>
        <p:nvPicPr>
          <p:cNvPr id="7" name="내용 개체 틀 6">
            <a:extLst>
              <a:ext uri="{FF2B5EF4-FFF2-40B4-BE49-F238E27FC236}">
                <a16:creationId xmlns:a16="http://schemas.microsoft.com/office/drawing/2014/main" id="{1970F8C2-086A-F577-258E-21F93A16BB3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434617" y="1151503"/>
            <a:ext cx="8229600" cy="26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0FBEEA9-993E-7A03-E753-7CB51769B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9996D95-7820-FAC0-7DBB-421F3CDA8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56797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E0C035-44F7-FB86-0E38-7C8BE41649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내용 개체 틀 8">
            <a:extLst>
              <a:ext uri="{FF2B5EF4-FFF2-40B4-BE49-F238E27FC236}">
                <a16:creationId xmlns:a16="http://schemas.microsoft.com/office/drawing/2014/main" id="{838223FD-6998-F2EB-DDC8-CA590DAD09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71351" y="620688"/>
            <a:ext cx="3178017" cy="4840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E21C03-1355-9741-E105-EB5C2128C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 altLang="ko-KR"/>
              <a:t>2008</a:t>
            </a:r>
            <a:r>
              <a:rPr lang="ko-KR" altLang="en-US"/>
              <a:t>년</a:t>
            </a:r>
            <a:r>
              <a:rPr lang="en-US" altLang="ko-KR"/>
              <a:t>2</a:t>
            </a:r>
            <a:r>
              <a:rPr lang="ko-KR" altLang="en-US"/>
              <a:t>학기 </a:t>
            </a:r>
            <a:r>
              <a:rPr lang="en-US" altLang="ko-KR"/>
              <a:t>3D</a:t>
            </a:r>
            <a:r>
              <a:rPr lang="ko-KR" altLang="en-US"/>
              <a:t>게임프로그래밍</a:t>
            </a:r>
            <a:r>
              <a:rPr lang="en-US" altLang="ko-KR"/>
              <a:t>II </a:t>
            </a:r>
            <a:r>
              <a:rPr lang="ko-KR" altLang="en-US"/>
              <a:t>담당교수</a:t>
            </a:r>
            <a:r>
              <a:rPr lang="en-US" altLang="ko-KR"/>
              <a:t>:</a:t>
            </a:r>
            <a:r>
              <a:rPr lang="ko-KR" altLang="en-US"/>
              <a:t>김영식</a:t>
            </a: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CEEDC36-17F7-F49B-CB80-65D09C5F2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68DA64-E15D-4814-A1DA-86D92D550423}" type="slidenum">
              <a:rPr lang="ko-KR" altLang="en-US" smtClean="0"/>
              <a:pPr>
                <a:defRPr/>
              </a:pPr>
              <a:t>22</a:t>
            </a:fld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8B9EB4-DCE5-21E5-AAFD-1DF809F85E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190" y="262062"/>
            <a:ext cx="2229161" cy="5868219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01045DAB-08EF-8CD8-45DF-12CABDD999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189272"/>
            <a:ext cx="3403642" cy="6013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17390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풍요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4778</TotalTime>
  <Words>1081</Words>
  <Application>Microsoft Office PowerPoint</Application>
  <PresentationFormat>화면 슬라이드 쇼(4:3)</PresentationFormat>
  <Paragraphs>114</Paragraphs>
  <Slides>22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8" baseType="lpstr">
      <vt:lpstr>굴림</vt:lpstr>
      <vt:lpstr>malgun gothic</vt:lpstr>
      <vt:lpstr>malgun gothic</vt:lpstr>
      <vt:lpstr>Arial</vt:lpstr>
      <vt:lpstr>Open Sans</vt:lpstr>
      <vt:lpstr>Office 테마</vt:lpstr>
      <vt:lpstr>숙제7. 최단 경로 알고리즘 (우선순위큐, 다익스트라, 플로이드워셜)</vt:lpstr>
      <vt:lpstr>백준 온라인저지  https://www.acmicpc.net/</vt:lpstr>
      <vt:lpstr>TUKorea 온라인저지  http://210.93.60.51/</vt:lpstr>
      <vt:lpstr>Programmers https://school.programmers.co.kr/</vt:lpstr>
      <vt:lpstr>1. 택배 배송 (TUKorea, 백준, 다익스트라) http://210.93.60.51/problem/0186 https://www.acmicpc.net/problem/5972</vt:lpstr>
      <vt:lpstr>PowerPoint 프레젠테이션</vt:lpstr>
      <vt:lpstr>2. 순회강연 (TUKorea,백준, 정렬, 우선순위큐, 그리디) http://210.93.60.51/problem/0187 https://www.acmicpc.net/problem/2109</vt:lpstr>
      <vt:lpstr>PowerPoint 프레젠테이션</vt:lpstr>
      <vt:lpstr>3. 소가길을건너간이유4 (TUKorea,백준,우선순위큐,최소힙,그리디) http://210.93.60.51/problem/0188 https://www.acmicpc.net/problem/14464</vt:lpstr>
      <vt:lpstr>PowerPoint 프레젠테이션</vt:lpstr>
      <vt:lpstr>4. 다음 순열 (TUKorea, 구현)  http://210.93.60.51/problem/0057</vt:lpstr>
      <vt:lpstr>PowerPoint 프레젠테이션</vt:lpstr>
      <vt:lpstr>5. 합승 택시(Programmers, Floyd Warshall)  https://school.programmers.co.kr/learn/courses/30/lessons/72413 https://www.youtube.com/watch?v=ejkvFLxDngQ&amp;list=PLg0hsGjqxAUZimgPzzUdTjrV0bn5ALtAl&amp;index=14 https://www.youtube.com/watch?v=0QiXS0_TTVU&amp;list=PLg0hsGjqxAUZimgPzzUdTjrV0bn5ALtAl&amp;index=34  </vt:lpstr>
      <vt:lpstr>5. 합승 택시(Programmers, Floyd Warshall)</vt:lpstr>
      <vt:lpstr>PowerPoint 프레젠테이션</vt:lpstr>
      <vt:lpstr>6. 파티 (TUKorea, 백준, 다익스트라) http://210.93.60.51/problem/0163 https://www.acmicpc.net/problem/1238</vt:lpstr>
      <vt:lpstr>PowerPoint 프레젠테이션</vt:lpstr>
      <vt:lpstr>7. 장애물 (TUKorea0073, Dijkstra) http://210.93.60.51/problem/0073</vt:lpstr>
      <vt:lpstr>7. 장애물 (TUKorea0073, Dijkstra) http://210.93.60.51/problem/0073</vt:lpstr>
      <vt:lpstr>7. 장애물 (TUKorea0073, Dijkstra) http://210.93.60.51/problem/0073</vt:lpstr>
      <vt:lpstr>장애물</vt:lpstr>
      <vt:lpstr>PowerPoint 프레젠테이션</vt:lpstr>
    </vt:vector>
  </TitlesOfParts>
  <Company>kpu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STL</dc:title>
  <dc:creator>kys</dc:creator>
  <cp:lastModifiedBy>신우 박</cp:lastModifiedBy>
  <cp:revision>283</cp:revision>
  <cp:lastPrinted>2023-07-23T09:30:34Z</cp:lastPrinted>
  <dcterms:created xsi:type="dcterms:W3CDTF">2008-03-02T04:39:19Z</dcterms:created>
  <dcterms:modified xsi:type="dcterms:W3CDTF">2026-05-28T09:02:28Z</dcterms:modified>
</cp:coreProperties>
</file>