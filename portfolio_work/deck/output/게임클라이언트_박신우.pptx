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4" ContentType="video/mp4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5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800" y="184"/>
      </p:cViewPr>
      <p:guideLst>
        <p:guide orient="horz" pos="3239"/>
        <p:guide pos="575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presProps" Target="presProps.xml"  /><Relationship Id="rId19" Type="http://schemas.openxmlformats.org/officeDocument/2006/relationships/viewProps" Target="viewProps.xml"  /><Relationship Id="rId2" Type="http://schemas.openxmlformats.org/officeDocument/2006/relationships/notesMaster" Target="notesMasters/notesMaster1.xml"  /><Relationship Id="rId20" Type="http://schemas.openxmlformats.org/officeDocument/2006/relationships/theme" Target="theme/theme1.xml"  /><Relationship Id="rId21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 idx="0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Image Placeholder"/>
          <p:cNvSpPr>
            <a:spLocks noGrp="1" noRot="1" noChangeAspect="1" noTextEdi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b132a378678e4bb5" Type="http://schemas.openxmlformats.org/officeDocument/2006/relationships/slideMaster" Target="../slideMasters/slideMaster1.xml" 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 standalone="yes" ?><Relationships xmlns="http://schemas.openxmlformats.org/package/2006/relationships"><Relationship Id="R6af4f576b2414be3" Type="http://schemas.openxmlformats.org/officeDocument/2006/relationships/theme" Target="../theme/theme1.xml"  /><Relationship Id="R924b1e69171143ba" Type="http://schemas.openxmlformats.org/officeDocument/2006/relationships/slideLayout" Target="../slideLayouts/slideLayout1.xml" 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4b1e69171143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jpeg"  /><Relationship Id="rId4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jpeg"  /><Relationship Id="rId4" Type="http://schemas.openxmlformats.org/officeDocument/2006/relationships/image" Target="../media/image5.jpeg"  /><Relationship Id="rId5" Type="http://schemas.openxmlformats.org/officeDocument/2006/relationships/image" Target="../media/image6.jpe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7.jpeg"  /><Relationship Id="rId4" Type="http://schemas.openxmlformats.org/officeDocument/2006/relationships/image" Target="../media/image8.jpe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9.jpeg"  /><Relationship Id="rId4" Type="http://schemas.openxmlformats.org/officeDocument/2006/relationships/image" Target="../media/image10.jpeg"  /><Relationship Id="rId5" Type="http://schemas.openxmlformats.org/officeDocument/2006/relationships/image" Target="../media/image11.jpeg"  /><Relationship Id="rId6" Type="http://schemas.openxmlformats.org/officeDocument/2006/relationships/image" Target="../media/image12.jpe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3.jpe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4.jpeg"  /><Relationship Id="rId4" Type="http://schemas.openxmlformats.org/officeDocument/2006/relationships/image" Target="../media/image15.jpe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6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19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0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1.xml"  /><Relationship Id="rId3" Type="http://schemas.openxmlformats.org/officeDocument/2006/relationships/video" Target="../media/media1.mp4"  /><Relationship Id="rId4" Type="http://schemas.microsoft.com/office/2007/relationships/media" Target="../media/media1.mp4"  /><Relationship Id="rId5" Type="http://schemas.openxmlformats.org/officeDocument/2006/relationships/image" Target="../media/image21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hyperlink" Target="https://github.com/tlsdn0403/SYJ" TargetMode="External" /><Relationship Id="rId3" Type="http://schemas.openxmlformats.org/officeDocument/2006/relationships/hyperlink" Target="https://www.youtube.com/watch?v=lTstJrENbkI" TargetMode="External" /><Relationship Id="rId4" Type="http://schemas.openxmlformats.org/officeDocument/2006/relationships/hyperlink" Target="https://github.com/tlsdn0403/2DGP-Project" TargetMode="External" /><Relationship Id="rId5" Type="http://schemas.openxmlformats.org/officeDocument/2006/relationships/hyperlink" Target="https://github.com/tlsdn0403/NGP_Project" TargetMode="External" /><Relationship Id="rId6" Type="http://schemas.openxmlformats.org/officeDocument/2006/relationships/hyperlink" Target="https://github.com/tlsdn0403/Reports" TargetMode="External" /></Relationships>
</file>

<file path=ppt/slides/slide1.xml><?xml version="1.0" encoding="utf-8"?>
<p:sld xmlns:a="http://schemas.openxmlformats.org/drawingml/2006/main" xmlns:ns2="http://schemas.openxmlformats.org/markup-compatibility/2006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a18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800100" y="723900"/>
            <a:ext cx="38290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275" b="1" i="0">
                <a:solidFill>
                  <a:srgbClr val="f0be45"/>
                </a:solidFill>
              </a:defRPr>
            </a:pPr>
            <a:r>
              <a:rPr lang="ko-KR" altLang="en-US"/>
              <a:t>COM2US CLIENT PROGRAMMER INTERNSHIP PORTFOLIO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800100" y="1181100"/>
            <a:ext cx="6705600" cy="23241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5625" b="1" i="0">
                <a:solidFill>
                  <a:srgbClr val="f5f2e8"/>
                </a:solidFill>
              </a:defRPr>
            </a:pPr>
            <a:r>
              <a:rPr lang="ko-KR" altLang="en-US"/>
              <a:t>박신우</a:t>
            </a:r>
            <a:endParaRPr lang="ko-KR" altLang="en-US"/>
          </a:p>
          <a:p>
            <a:pPr algn="l">
              <a:defRPr sz="5625" b="1" i="0">
                <a:solidFill>
                  <a:srgbClr val="f5f2e8"/>
                </a:solidFill>
              </a:defRPr>
            </a:pPr>
            <a:r>
              <a:rPr lang="ko-KR" altLang="en-US"/>
              <a:t>게임 클라이언트</a:t>
            </a:r>
            <a:endParaRPr lang="ko-KR" altLang="en-US"/>
          </a:p>
          <a:p>
            <a:pPr algn="l">
              <a:defRPr sz="5625" b="1" i="0">
                <a:solidFill>
                  <a:srgbClr val="f5f2e8"/>
                </a:solidFill>
              </a:defRPr>
            </a:pPr>
            <a:r>
              <a:rPr lang="ko-KR" altLang="en-US"/>
              <a:t>프로그래머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800100" y="3733800"/>
            <a:ext cx="2095500" cy="47625"/>
          </a:xfrm>
          <a:prstGeom prst="rect">
            <a:avLst/>
          </a:prstGeom>
          <a:solidFill>
            <a:srgbClr val="f0be45"/>
          </a:solidFill>
          <a:ln w="0">
            <a:solidFill>
              <a:srgbClr val="f0be4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800100" y="4019550"/>
            <a:ext cx="5505450" cy="12954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75" b="0" i="0">
                <a:solidFill>
                  <a:srgbClr val="dad6c8"/>
                </a:solidFill>
              </a:defRPr>
            </a:pPr>
            <a:r>
              <a:rPr lang="ko-KR" altLang="en-US"/>
              <a:t>Unreal Engine 5 C++ 졸업작품, Pico2D 2D 게임, </a:t>
            </a:r>
            <a:endParaRPr lang="ko-KR" altLang="en-US"/>
          </a:p>
          <a:p>
            <a:pPr algn="l">
              <a:defRPr sz="1875" b="0" i="0">
                <a:solidFill>
                  <a:srgbClr val="dad6c8"/>
                </a:solidFill>
              </a:defRPr>
            </a:pPr>
            <a:r>
              <a:rPr lang="ko-KR" altLang="en-US"/>
              <a:t>OpenGL 네트워크 게임 프로젝트</a:t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800100" y="8858250"/>
            <a:ext cx="67056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2250" b="1" i="0">
                <a:solidFill>
                  <a:srgbClr val="f5f2e8"/>
                </a:solidFill>
              </a:defRPr>
            </a:pPr>
            <a:r>
              <a:rPr lang="ko-KR" altLang="en-US"/>
              <a:t>지원 직무: 클라이언트 프로그래머</a:t>
            </a:r>
            <a:endParaRPr lang="ko-KR" altLang="en-US"/>
          </a:p>
        </p:txBody>
      </p:sp>
    </p:spTree>
  </p:cSld>
  <p:clrMapOvr>
    <a:masterClrMapping/>
  </p:clrMapOvr>
  <ns2:AlternateContent>
    <ns2:Choice Requires="p14">
      <p:transition ns2:Ignorable="p14" ns3:dur="500"/>
    </ns2:Choice>
    <ns2:Fallback>
      <p:transition/>
    </ns2:Fallback>
  </ns2:AlternateContent>
</p:sld>
</file>

<file path=ppt/slides/slide2.xml><?xml version="1.0" encoding="utf-8"?>
<p:sld xmlns:a="http://schemas.openxmlformats.org/drawingml/2006/main" xmlns:ns2="http://schemas.openxmlformats.org/markup-compatibility/2006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01214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slide-title"/>
          <p:cNvSpPr>
            <a:spLocks noGrp="1"/>
          </p:cNvSpPr>
          <p:nvPr/>
        </p:nvSpPr>
        <p:spPr>
          <a:xfrm>
            <a:off x="800100" y="933450"/>
            <a:ext cx="16687800" cy="609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4050" b="1" i="0">
                <a:solidFill>
                  <a:srgbClr val="f5f2e8"/>
                </a:solidFill>
              </a:defRPr>
            </a:pPr>
            <a:endParaRPr lang="ko-KR" altLang="en-US"/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804672" y="1282889"/>
            <a:ext cx="108204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75" b="0" i="0">
                <a:solidFill>
                  <a:srgbClr val="dad6c8"/>
                </a:solidFill>
              </a:defRPr>
            </a:pPr>
            <a:r>
              <a:rPr lang="ko-KR" altLang="en-US" sz="3900"/>
              <a:t>프로젝트 구성</a:t>
            </a:r>
            <a:endParaRPr lang="ko-KR" altLang="en-US" sz="3900"/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804672" y="2258568"/>
            <a:ext cx="6071616" cy="1106424"/>
          </a:xfrm>
          <a:prstGeom prst="roundRect">
            <a:avLst>
              <a:gd name="adj" fmla="val 6868"/>
            </a:avLst>
          </a:prstGeom>
          <a:solidFill>
            <a:srgbClr val="1b211d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1005840" y="2478024"/>
            <a:ext cx="590550" cy="4191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550" b="1" i="0">
                <a:solidFill>
                  <a:srgbClr val="f0be45"/>
                </a:solidFill>
              </a:defRPr>
            </a:pPr>
            <a:r>
              <a:rPr lang="ko-KR" altLang="en-US"/>
              <a:t>01</a:t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1773936" y="2395728"/>
            <a:ext cx="4895850" cy="3048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1" i="0">
                <a:solidFill>
                  <a:srgbClr val="f5f2e8"/>
                </a:solidFill>
              </a:defRPr>
            </a:pPr>
            <a:r>
              <a:rPr lang="ko-KR" altLang="en-US"/>
              <a:t>감염: 죽음의 도시</a:t>
            </a:r>
            <a:endParaRPr lang="ko-KR" altLang="en-US"/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1773936" y="2743200"/>
            <a:ext cx="4892040" cy="247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dad6c8"/>
                </a:solidFill>
              </a:defRPr>
            </a:pPr>
            <a:r>
              <a:rPr lang="ko-KR" altLang="en-US"/>
              <a:t>Unreal Engine 5 · C++ 기반 좀비 TPS 협동 게임</a:t>
            </a:r>
            <a:endParaRPr lang="ko-KR" altLang="en-US"/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804672" y="7287768"/>
            <a:ext cx="6071616" cy="1106424"/>
          </a:xfrm>
          <a:prstGeom prst="roundRect">
            <a:avLst>
              <a:gd name="adj" fmla="val 6868"/>
            </a:avLst>
          </a:prstGeom>
          <a:solidFill>
            <a:srgbClr val="1b211d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1005840" y="7507224"/>
            <a:ext cx="590550" cy="4191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550" b="1" i="0">
                <a:solidFill>
                  <a:srgbClr val="77a6c8"/>
                </a:solidFill>
              </a:defRPr>
            </a:pPr>
            <a:r>
              <a:rPr lang="ko-KR" altLang="en-US"/>
              <a:t>03</a:t>
            </a:r>
            <a:endParaRPr lang="ko-KR" altLang="en-US"/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1773936" y="7424928"/>
            <a:ext cx="4892040" cy="3048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1" i="0">
                <a:solidFill>
                  <a:srgbClr val="f5f2e8"/>
                </a:solidFill>
              </a:defRPr>
            </a:pPr>
            <a:r>
              <a:rPr lang="ko-KR" altLang="en-US"/>
              <a:t>NGP Fall Guys Network</a:t>
            </a:r>
            <a:endParaRPr lang="ko-KR" altLang="en-US"/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1773936" y="7772400"/>
            <a:ext cx="4892040" cy="4762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dad6c8"/>
                </a:solidFill>
              </a:defRPr>
            </a:pPr>
            <a:r>
              <a:rPr lang="ko-KR" altLang="en-US"/>
              <a:t>OpenGL · 장애물 경주 모작 · 서버/클라이언트 동기화 프로젝트</a:t>
            </a:r>
            <a:endParaRPr lang="ko-KR" altLang="en-US"/>
          </a:p>
        </p:txBody>
      </p:sp>
      <p:sp>
        <p:nvSpPr>
          <p:cNvPr id="27" name=""/>
          <p:cNvSpPr>
            <a:spLocks noGrp="1"/>
          </p:cNvSpPr>
          <p:nvPr/>
        </p:nvSpPr>
        <p:spPr>
          <a:xfrm>
            <a:off x="804672" y="4773168"/>
            <a:ext cx="6071616" cy="1106424"/>
          </a:xfrm>
          <a:prstGeom prst="roundRect">
            <a:avLst>
              <a:gd name="adj" fmla="val 6868"/>
            </a:avLst>
          </a:prstGeom>
          <a:solidFill>
            <a:srgbClr val="1b211d"/>
          </a:solidFill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8" name=""/>
          <p:cNvSpPr>
            <a:spLocks noGrp="1"/>
          </p:cNvSpPr>
          <p:nvPr/>
        </p:nvSpPr>
        <p:spPr>
          <a:xfrm>
            <a:off x="1005840" y="4992624"/>
            <a:ext cx="590550" cy="4191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550" b="1" i="0">
                <a:solidFill>
                  <a:srgbClr val="9b8bd7"/>
                </a:solidFill>
              </a:defRPr>
            </a:pPr>
            <a:r>
              <a:rPr lang="ko-KR" altLang="en-US"/>
              <a:t>02</a:t>
            </a:r>
            <a:endParaRPr lang="ko-KR" altLang="en-US"/>
          </a:p>
        </p:txBody>
      </p:sp>
      <p:sp>
        <p:nvSpPr>
          <p:cNvPr id="29" name=""/>
          <p:cNvSpPr>
            <a:spLocks noGrp="1"/>
          </p:cNvSpPr>
          <p:nvPr/>
        </p:nvSpPr>
        <p:spPr>
          <a:xfrm>
            <a:off x="1773936" y="4910328"/>
            <a:ext cx="4892040" cy="3048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1" i="0">
                <a:solidFill>
                  <a:srgbClr val="f5f2e8"/>
                </a:solidFill>
              </a:defRPr>
            </a:pPr>
            <a:r>
              <a:rPr lang="ko-KR" altLang="en-US"/>
              <a:t>Pico2D Hamtori Escape</a:t>
            </a:r>
            <a:endParaRPr lang="ko-KR" altLang="en-US"/>
          </a:p>
        </p:txBody>
      </p:sp>
      <p:sp>
        <p:nvSpPr>
          <p:cNvPr id="30" name=""/>
          <p:cNvSpPr>
            <a:spLocks noGrp="1"/>
          </p:cNvSpPr>
          <p:nvPr/>
        </p:nvSpPr>
        <p:spPr>
          <a:xfrm>
            <a:off x="1773936" y="5257800"/>
            <a:ext cx="4892040" cy="247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dad6c8"/>
                </a:solidFill>
              </a:defRPr>
            </a:pPr>
            <a:r>
              <a:rPr lang="ko-KR" altLang="en-US"/>
              <a:t>Python · Pico2D 기반 2D 탈출 게임</a:t>
            </a:r>
            <a:endParaRPr lang="ko-KR" altLang="en-US"/>
          </a:p>
        </p:txBody>
      </p:sp>
    </p:spTree>
  </p:cSld>
  <p:clrMapOvr>
    <a:masterClrMapping/>
  </p:clrMapOvr>
  <ns2:AlternateContent>
    <ns2:Choice Requires="p14">
      <p:transition ns2:Ignorable="p14" ns3:dur="500"/>
    </ns2:Choice>
    <ns2:Fallback>
      <p:transition/>
    </ns2:Fallback>
  </ns2:AlternateContent>
</p:sld>
</file>

<file path=ppt/slides/slide3.xml><?xml version="1.0" encoding="utf-8"?>
<p:sld xmlns:a="http://schemas.openxmlformats.org/drawingml/2006/main" xmlns:ns2="http://schemas.openxmlformats.org/officeDocument/2006/relationships" xmlns:ns3="http://schemas.openxmlformats.org/markup-compatibility/2006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01214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slide-title"/>
          <p:cNvSpPr>
            <a:spLocks noGrp="1"/>
          </p:cNvSpPr>
          <p:nvPr/>
        </p:nvSpPr>
        <p:spPr>
          <a:xfrm>
            <a:off x="800100" y="1028700"/>
            <a:ext cx="7734300" cy="24003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4050" b="1" i="0">
                <a:solidFill>
                  <a:srgbClr val="f5f2e8"/>
                </a:solidFill>
              </a:defRPr>
            </a:pPr>
            <a:r>
              <a:rPr lang="ko-KR" altLang="en-US"/>
              <a:t>감염: 죽음의 도시는 </a:t>
            </a:r>
            <a:endParaRPr lang="ko-KR" altLang="en-US"/>
          </a:p>
          <a:p>
            <a:pPr algn="l">
              <a:defRPr sz="4050" b="1" i="0">
                <a:solidFill>
                  <a:srgbClr val="f5f2e8"/>
                </a:solidFill>
              </a:defRPr>
            </a:pPr>
            <a:r>
              <a:rPr lang="ko-KR" altLang="en-US"/>
              <a:t>현재 진행 중인 졸업작품입니다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804672" y="3236976"/>
            <a:ext cx="3794760" cy="1115568"/>
          </a:xfrm>
          <a:prstGeom prst="roundRect">
            <a:avLst>
              <a:gd name="adj" fmla="val 6826"/>
            </a:avLst>
          </a:prstGeom>
          <a:solidFill>
            <a:srgbClr val="243026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969264" y="3374136"/>
            <a:ext cx="34480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725" b="1" i="0">
                <a:solidFill>
                  <a:srgbClr val="f0be45"/>
                </a:solidFill>
              </a:defRPr>
            </a:pPr>
            <a:r>
              <a:rPr lang="ko-KR" altLang="en-US"/>
              <a:t>연구주제</a:t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969264" y="3739896"/>
            <a:ext cx="3448050" cy="4762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dad6c8"/>
                </a:solidFill>
              </a:defRPr>
            </a:pPr>
            <a:r>
              <a:rPr lang="ko-KR" altLang="en-US"/>
              <a:t>HitResult 기반 부위 판정, 뼈 내구도, 신체 분리, 하체 절단 후 기어가기 상태 전환</a:t>
            </a:r>
            <a:endParaRPr lang="ko-KR" altLang="en-US"/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4727448" y="3236976"/>
            <a:ext cx="3794760" cy="1115568"/>
          </a:xfrm>
          <a:prstGeom prst="roundRect">
            <a:avLst>
              <a:gd name="adj" fmla="val 6826"/>
            </a:avLst>
          </a:prstGeom>
          <a:solidFill>
            <a:srgbClr val="243026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4892040" y="3374136"/>
            <a:ext cx="34480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725" b="1" i="0">
                <a:solidFill>
                  <a:srgbClr val="91a765"/>
                </a:solidFill>
              </a:defRPr>
            </a:pPr>
            <a:r>
              <a:rPr lang="ko-KR" altLang="en-US"/>
              <a:t>기술</a:t>
            </a:r>
            <a:endParaRPr lang="ko-KR" altLang="en-US"/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4892040" y="3739896"/>
            <a:ext cx="3448050" cy="4762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dad6c8"/>
                </a:solidFill>
              </a:defRPr>
            </a:pPr>
            <a:r>
              <a:rPr lang="ko-KR" altLang="en-US"/>
              <a:t>Unreal Engine 5, C++, Blueprint 연동, Collision/Trace/Level Streaming</a:t>
            </a:r>
            <a:endParaRPr lang="ko-KR" altLang="en-US"/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804672" y="6062472"/>
            <a:ext cx="3794760" cy="1115568"/>
          </a:xfrm>
          <a:prstGeom prst="roundRect">
            <a:avLst>
              <a:gd name="adj" fmla="val 6826"/>
            </a:avLst>
          </a:prstGeom>
          <a:solidFill>
            <a:srgbClr val="243026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969264" y="6208776"/>
            <a:ext cx="34480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725" b="1" i="0">
                <a:solidFill>
                  <a:srgbClr val="c76540"/>
                </a:solidFill>
              </a:defRPr>
            </a:pPr>
            <a:r>
              <a:rPr lang="ko-KR" altLang="en-US"/>
              <a:t>게임 주제</a:t>
            </a:r>
            <a:endParaRPr lang="ko-KR" altLang="en-US"/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969264" y="6574536"/>
            <a:ext cx="3448050" cy="4762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dad6c8"/>
                </a:solidFill>
              </a:defRPr>
            </a:pPr>
            <a:r>
              <a:rPr lang="en-US" altLang="ko-KR"/>
              <a:t>1</a:t>
            </a:r>
            <a:r>
              <a:rPr lang="ko-KR" altLang="en-US"/>
              <a:t>스테이지에서 탈출에 필요한 아이템 파밍 후</a:t>
            </a:r>
            <a:r>
              <a:rPr lang="en-US" altLang="ko-KR"/>
              <a:t>,</a:t>
            </a:r>
            <a:endParaRPr lang="en-US" altLang="ko-KR"/>
          </a:p>
          <a:p>
            <a:pPr algn="l">
              <a:defRPr sz="1350" b="0" i="0">
                <a:solidFill>
                  <a:srgbClr val="dad6c8"/>
                </a:solidFill>
              </a:defRPr>
            </a:pPr>
            <a:r>
              <a:rPr lang="en-US" altLang="ko-KR"/>
              <a:t>2</a:t>
            </a:r>
            <a:r>
              <a:rPr lang="ko-KR" altLang="en-US"/>
              <a:t>스테이지에서 트럭에 탑승하여 다 같이 탈출</a:t>
            </a:r>
            <a:endParaRPr lang="ko-KR" altLang="en-US"/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4727448" y="6062472"/>
            <a:ext cx="3794760" cy="1115568"/>
          </a:xfrm>
          <a:prstGeom prst="roundRect">
            <a:avLst>
              <a:gd name="adj" fmla="val 6826"/>
            </a:avLst>
          </a:prstGeom>
          <a:solidFill>
            <a:srgbClr val="243026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4892040" y="6208776"/>
            <a:ext cx="34480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725" b="1" i="0">
                <a:solidFill>
                  <a:srgbClr val="77a6c8"/>
                </a:solidFill>
              </a:defRPr>
            </a:pPr>
            <a:r>
              <a:rPr lang="ko-KR" altLang="en-US"/>
              <a:t>개발기간</a:t>
            </a:r>
            <a:endParaRPr lang="ko-KR" altLang="en-US"/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4892040" y="6574536"/>
            <a:ext cx="3448050" cy="4762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dad6c8"/>
                </a:solidFill>
              </a:defRPr>
            </a:pPr>
            <a:r>
              <a:rPr lang="en-US" altLang="ko-KR"/>
              <a:t>2026-01-02</a:t>
            </a:r>
            <a:r>
              <a:rPr lang="ko-KR" altLang="en-US"/>
              <a:t> </a:t>
            </a:r>
            <a:r>
              <a:rPr lang="en-US" altLang="ko-KR"/>
              <a:t>~</a:t>
            </a:r>
            <a:endParaRPr lang="en-US" altLang="ko-KR"/>
          </a:p>
        </p:txBody>
      </p:sp>
      <p:pic>
        <p:nvPicPr>
          <p:cNvPr id="28" name=""/>
          <p:cNvPicPr>
            <a:picLocks noChangeAspect="1"/>
          </p:cNvPicPr>
          <p:nvPr/>
        </p:nvPicPr>
        <p:blipFill rotWithShape="1">
          <a:blip ns2:embed="rId3"/>
          <a:stretch>
            <a:fillRect/>
          </a:stretch>
        </p:blipFill>
        <p:spPr>
          <a:xfrm>
            <a:off x="8932194" y="2348320"/>
            <a:ext cx="8795337" cy="5590360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ns3:Ignorable="p14" ns4:dur="500"/>
    </ns3:Choice>
    <ns3:Fallback>
      <p:transition/>
    </ns3:Fallback>
  </ns3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01214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slide-title"/>
          <p:cNvSpPr>
            <a:spLocks noGrp="1"/>
          </p:cNvSpPr>
          <p:nvPr/>
        </p:nvSpPr>
        <p:spPr>
          <a:xfrm>
            <a:off x="800100" y="933450"/>
            <a:ext cx="16687800" cy="12001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4050" b="1" i="0">
                <a:solidFill>
                  <a:srgbClr val="f5f2e8"/>
                </a:solidFill>
              </a:defRPr>
            </a:pPr>
            <a:r>
              <a:rPr lang="ko-KR" altLang="en-US"/>
              <a:t>좀비가 맞은 부위에 따라 신체가 분리되는 시스템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800100" y="2045854"/>
            <a:ext cx="13220700" cy="6477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75" b="0" i="0">
                <a:solidFill>
                  <a:srgbClr val="dad6c8"/>
                </a:solidFill>
              </a:defRPr>
            </a:pPr>
            <a:r>
              <a:rPr lang="ko-KR" altLang="en-US"/>
              <a:t> 좀비가 피격된 부위에 따라 신체가 분리되는 시스템은 저의 졸업작품 연구주제입니다</a:t>
            </a:r>
            <a:r>
              <a:rPr lang="en-US" altLang="ko-KR"/>
              <a:t>.</a:t>
            </a:r>
            <a:endParaRPr lang="en-US" altLang="ko-KR"/>
          </a:p>
          <a:p>
            <a:pPr algn="l">
              <a:defRPr sz="1875" b="0" i="0">
                <a:solidFill>
                  <a:srgbClr val="dad6c8"/>
                </a:solidFill>
              </a:defRPr>
            </a:pPr>
            <a:r>
              <a:rPr lang="ko-KR" altLang="en-US"/>
              <a:t>다음과 같은 구조로 설계</a:t>
            </a:r>
            <a:r>
              <a:rPr lang="en-US" altLang="ko-KR"/>
              <a:t>,</a:t>
            </a:r>
            <a:r>
              <a:rPr lang="ko-KR" altLang="en-US"/>
              <a:t> 구현을 하였습니다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800100" y="3177007"/>
            <a:ext cx="8621078" cy="1211504"/>
          </a:xfrm>
          <a:prstGeom prst="roundRect">
            <a:avLst>
              <a:gd name="adj" fmla="val 6290"/>
            </a:avLst>
          </a:prstGeom>
          <a:solidFill>
            <a:srgbClr val="243026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1028700" y="3371850"/>
            <a:ext cx="81724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725" b="1" i="0">
                <a:solidFill>
                  <a:srgbClr val="c76540"/>
                </a:solidFill>
              </a:defRPr>
            </a:pPr>
            <a:r>
              <a:rPr lang="ko-KR" altLang="en-US"/>
              <a:t>1. 피격 위치 전달</a:t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1028700" y="3733800"/>
            <a:ext cx="8172450" cy="4762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dad6c8"/>
                </a:solidFill>
              </a:defRPr>
            </a:pPr>
            <a:r>
              <a:rPr lang="ko-KR" altLang="en-US"/>
              <a:t>ApplyPointDamage에서 FHitResult를 넘기고, OnZombieDamaged가 실제 피격 위치와 BoneName을 기준으로 처리</a:t>
            </a:r>
            <a:endParaRPr lang="ko-KR" altLang="en-US"/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800100" y="4531385"/>
            <a:ext cx="8621078" cy="981075"/>
          </a:xfrm>
          <a:prstGeom prst="roundRect">
            <a:avLst>
              <a:gd name="adj" fmla="val 7767"/>
            </a:avLst>
          </a:prstGeom>
          <a:solidFill>
            <a:srgbClr val="243026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1028700" y="4724400"/>
            <a:ext cx="81724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725" b="1" i="0">
                <a:solidFill>
                  <a:srgbClr val="f0be45"/>
                </a:solidFill>
              </a:defRPr>
            </a:pPr>
            <a:r>
              <a:rPr lang="ko-KR" altLang="en-US"/>
              <a:t>2. 부위 내구도</a:t>
            </a:r>
            <a:endParaRPr lang="ko-KR" altLang="en-US"/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1028700" y="5086350"/>
            <a:ext cx="81724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dad6c8"/>
                </a:solidFill>
              </a:defRPr>
            </a:pPr>
            <a:r>
              <a:rPr lang="ko-KR" altLang="en-US"/>
              <a:t>TMap&lt;FName, float&gt;로 head, upperarm, lowerarm, thigh, calf, spine 부위별 내구도 관리.</a:t>
            </a:r>
            <a:endParaRPr lang="ko-KR" altLang="en-US"/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800100" y="5655335"/>
            <a:ext cx="8621078" cy="1211504"/>
          </a:xfrm>
          <a:prstGeom prst="roundRect">
            <a:avLst>
              <a:gd name="adj" fmla="val 6290"/>
            </a:avLst>
          </a:prstGeom>
          <a:solidFill>
            <a:srgbClr val="243026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1028700" y="5848350"/>
            <a:ext cx="81724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725" b="1" i="0">
                <a:solidFill>
                  <a:srgbClr val="91a765"/>
                </a:solidFill>
              </a:defRPr>
            </a:pPr>
            <a:r>
              <a:rPr lang="ko-KR" altLang="en-US"/>
              <a:t>3. 신체 분리</a:t>
            </a:r>
            <a:endParaRPr lang="ko-KR" altLang="en-US"/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1028700" y="6210300"/>
            <a:ext cx="8172450" cy="4762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dad6c8"/>
                </a:solidFill>
              </a:defRPr>
            </a:pPr>
            <a:r>
              <a:rPr lang="ko-KR" altLang="en-US"/>
              <a:t>내구도가 0 이하가 되면 DismemberLimb에서 BreakConstraint, HideBoneByName, 물리 시뮬레이션, Impulse를 적용합니다.</a:t>
            </a:r>
            <a:endParaRPr lang="ko-KR" altLang="en-US"/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800100" y="7009714"/>
            <a:ext cx="8621078" cy="1211504"/>
          </a:xfrm>
          <a:prstGeom prst="roundRect">
            <a:avLst>
              <a:gd name="adj" fmla="val 6290"/>
            </a:avLst>
          </a:prstGeom>
          <a:solidFill>
            <a:srgbClr val="243026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1028700" y="7200900"/>
            <a:ext cx="81724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725" b="1" i="0">
                <a:solidFill>
                  <a:srgbClr val="77a6c8"/>
                </a:solidFill>
              </a:defRPr>
            </a:pPr>
            <a:r>
              <a:rPr lang="ko-KR" altLang="en-US"/>
              <a:t>4. 상태 전환</a:t>
            </a:r>
            <a:endParaRPr lang="ko-KR" altLang="en-US"/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1028700" y="7562850"/>
            <a:ext cx="8172450" cy="4762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dad6c8"/>
                </a:solidFill>
              </a:defRPr>
            </a:pPr>
            <a:r>
              <a:rPr lang="ko-KR" altLang="en-US"/>
              <a:t>다리 계열 뼈가 분리되면 StartCrawling으로 전환해 캡슐 크기와 이동 속도를 낮추고 기어가는 좀비로 바꿨습니다.</a:t>
            </a:r>
            <a:endParaRPr lang="ko-KR" altLang="en-US"/>
          </a:p>
        </p:txBody>
      </p:sp>
      <p:pic>
        <p:nvPicPr>
          <p:cNvPr id="2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064930" y="5470477"/>
            <a:ext cx="5430360" cy="4433724"/>
          </a:xfrm>
          <a:prstGeom prst="roundRect">
            <a:avLst>
              <a:gd name="adj" fmla="val 2386"/>
            </a:avLst>
          </a:prstGeom>
        </p:spPr>
      </p:pic>
      <p:pic>
        <p:nvPicPr>
          <p:cNvPr id="26" name=""/>
          <p:cNvPicPr/>
          <p:nvPr/>
        </p:nvPicPr>
        <p:blipFill rotWithShape="1">
          <a:blip r:embed="rId4">
            <a:lum/>
          </a:blip>
          <a:srcRect/>
          <a:stretch>
            <a:fillRect/>
          </a:stretch>
        </p:blipFill>
        <p:spPr>
          <a:xfrm>
            <a:off x="12089560" y="749683"/>
            <a:ext cx="5411679" cy="43938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01214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slide-title"/>
          <p:cNvSpPr>
            <a:spLocks noGrp="1"/>
          </p:cNvSpPr>
          <p:nvPr/>
        </p:nvSpPr>
        <p:spPr>
          <a:xfrm>
            <a:off x="800100" y="933450"/>
            <a:ext cx="16687800" cy="609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4050" b="1" i="0">
                <a:solidFill>
                  <a:srgbClr val="f5f2e8"/>
                </a:solidFill>
              </a:defRPr>
            </a:pPr>
            <a:endParaRPr lang="ko-KR" altLang="en-US"/>
          </a:p>
        </p:txBody>
      </p:sp>
      <p:sp>
        <p:nvSpPr>
          <p:cNvPr id="27" name="Text 27"/>
          <p:cNvSpPr txBox="1"/>
          <p:nvPr/>
        </p:nvSpPr>
        <p:spPr>
          <a:xfrm>
            <a:off x="804672" y="658368"/>
            <a:ext cx="16687800" cy="1097280"/>
          </a:xfrm>
          <a:prstGeom prst="rect">
            <a:avLst/>
          </a:prstGeom>
          <a:noFill/>
          <a:ln>
            <a:noFill/>
          </a:ln>
        </p:spPr>
        <p:txBody>
          <a:bodyPr wrap="square" lIns="152400" tIns="101600" rIns="152400" bIns="101600"/>
          <a:lstStyle/>
          <a:p>
            <a:pPr>
              <a:spcAft>
                <a:spcPts val="450"/>
              </a:spcAft>
              <a:defRPr/>
            </a:pPr>
            <a:r>
              <a:rPr lang="ko-KR" sz="4300" b="1">
                <a:solidFill>
                  <a:srgbClr val="f5f2e8"/>
                </a:solidFill>
                <a:latin typeface="맑은 고딕"/>
                <a:ea typeface="맑은 고딕"/>
                <a:cs typeface="맑은 고딕"/>
              </a:rPr>
              <a:t>좀비 피격 시스템 결과</a:t>
            </a:r>
            <a:endParaRPr lang="ko-KR" sz="4300" b="1">
              <a:solidFill>
                <a:srgbClr val="f5f2e8"/>
              </a:solidFill>
              <a:latin typeface="맑은 고딕"/>
              <a:ea typeface="맑은 고딕"/>
              <a:cs typeface="맑은 고딕"/>
            </a:endParaRPr>
          </a:p>
          <a:p>
            <a:pPr>
              <a:spcAft>
                <a:spcPts val="450"/>
              </a:spcAft>
              <a:defRPr/>
            </a:pPr>
            <a:r>
              <a:rPr lang="ko-KR" sz="170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>피격 BoneName과 부위 내구도에 따라 신체 분리, 사망, 기어가기 상태 전환까지 화면에서 확인되도록 구현했습니다.</a:t>
            </a:r>
            <a:endParaRPr lang="ko-KR" sz="1700">
              <a:solidFill>
                <a:srgbClr val="dad6c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Panel 28"/>
          <p:cNvSpPr/>
          <p:nvPr/>
        </p:nvSpPr>
        <p:spPr>
          <a:xfrm>
            <a:off x="804672" y="2057400"/>
            <a:ext cx="5212080" cy="4892040"/>
          </a:xfrm>
          <a:prstGeom prst="roundRect">
            <a:avLst>
              <a:gd name="adj" fmla="val 16667"/>
            </a:avLst>
          </a:prstGeom>
          <a:solidFill>
            <a:srgbClr val="1c2228"/>
          </a:solidFill>
          <a:ln w="12700">
            <a:solidFill>
              <a:srgbClr val="485244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29" name="Zombie Result 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87552" y="2267712"/>
            <a:ext cx="4846320" cy="2880360"/>
          </a:xfrm>
          <a:prstGeom prst="rect">
            <a:avLst/>
          </a:prstGeom>
        </p:spPr>
      </p:pic>
      <p:sp>
        <p:nvSpPr>
          <p:cNvPr id="30" name="Text 30"/>
          <p:cNvSpPr txBox="1"/>
          <p:nvPr/>
        </p:nvSpPr>
        <p:spPr>
          <a:xfrm>
            <a:off x="987552" y="5349240"/>
            <a:ext cx="4846320" cy="1234440"/>
          </a:xfrm>
          <a:prstGeom prst="rect">
            <a:avLst/>
          </a:prstGeom>
          <a:noFill/>
          <a:ln>
            <a:noFill/>
          </a:ln>
        </p:spPr>
        <p:txBody>
          <a:bodyPr wrap="square" lIns="152400" tIns="101600" rIns="152400" bIns="101600"/>
          <a:lstStyle/>
          <a:p>
            <a:pPr>
              <a:spcAft>
                <a:spcPts val="450"/>
              </a:spcAft>
              <a:defRPr/>
            </a:pPr>
            <a:r>
              <a:rPr lang="ko-KR" sz="1850" b="1">
                <a:solidFill>
                  <a:srgbClr val="f0be45"/>
                </a:solidFill>
                <a:latin typeface="맑은 고딕"/>
                <a:ea typeface="맑은 고딕"/>
                <a:cs typeface="맑은 고딕"/>
              </a:rPr>
              <a:t>머리 분리</a:t>
            </a:r>
            <a:endParaRPr lang="ko-KR" sz="1850" b="1">
              <a:solidFill>
                <a:srgbClr val="f0be45"/>
              </a:solidFill>
              <a:latin typeface="맑은 고딕"/>
              <a:ea typeface="맑은 고딕"/>
              <a:cs typeface="맑은 고딕"/>
            </a:endParaRPr>
          </a:p>
          <a:p>
            <a:pPr>
              <a:spcAft>
                <a:spcPts val="450"/>
              </a:spcAft>
              <a:defRPr/>
            </a:pPr>
            <a:r>
              <a:rPr lang="ko-KR" sz="132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>머리 부위 내구도가 0 이하가 되면 머리 Mesh를 숨기고 물리 분리 결과를 보여줍니다.</a:t>
            </a:r>
            <a:endParaRPr lang="ko-KR" sz="1320">
              <a:solidFill>
                <a:srgbClr val="dad6c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Panel 31"/>
          <p:cNvSpPr/>
          <p:nvPr/>
        </p:nvSpPr>
        <p:spPr>
          <a:xfrm>
            <a:off x="6547104" y="2057400"/>
            <a:ext cx="5212080" cy="4892040"/>
          </a:xfrm>
          <a:prstGeom prst="roundRect">
            <a:avLst>
              <a:gd name="adj" fmla="val 16667"/>
            </a:avLst>
          </a:prstGeom>
          <a:solidFill>
            <a:srgbClr val="1c2228"/>
          </a:solidFill>
          <a:ln w="12700">
            <a:solidFill>
              <a:srgbClr val="485244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32" name="Zombie Result 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729984" y="2267712"/>
            <a:ext cx="4846320" cy="2880360"/>
          </a:xfrm>
          <a:prstGeom prst="rect">
            <a:avLst/>
          </a:prstGeom>
        </p:spPr>
      </p:pic>
      <p:sp>
        <p:nvSpPr>
          <p:cNvPr id="33" name="Text 33"/>
          <p:cNvSpPr txBox="1"/>
          <p:nvPr/>
        </p:nvSpPr>
        <p:spPr>
          <a:xfrm>
            <a:off x="6729984" y="5349240"/>
            <a:ext cx="4846320" cy="1234440"/>
          </a:xfrm>
          <a:prstGeom prst="rect">
            <a:avLst/>
          </a:prstGeom>
          <a:noFill/>
          <a:ln>
            <a:noFill/>
          </a:ln>
        </p:spPr>
        <p:txBody>
          <a:bodyPr wrap="square" lIns="152400" tIns="101600" rIns="152400" bIns="101600"/>
          <a:lstStyle/>
          <a:p>
            <a:pPr>
              <a:spcAft>
                <a:spcPts val="450"/>
              </a:spcAft>
              <a:defRPr/>
            </a:pPr>
            <a:r>
              <a:rPr lang="ko-KR" sz="1850" b="1">
                <a:solidFill>
                  <a:srgbClr val="c76540"/>
                </a:solidFill>
                <a:latin typeface="맑은 고딕"/>
                <a:ea typeface="맑은 고딕"/>
                <a:cs typeface="맑은 고딕"/>
              </a:rPr>
              <a:t>팔 분리</a:t>
            </a:r>
            <a:endParaRPr lang="ko-KR" sz="1850" b="1">
              <a:solidFill>
                <a:srgbClr val="c76540"/>
              </a:solidFill>
              <a:latin typeface="맑은 고딕"/>
              <a:ea typeface="맑은 고딕"/>
              <a:cs typeface="맑은 고딕"/>
            </a:endParaRPr>
          </a:p>
          <a:p>
            <a:pPr>
              <a:spcAft>
                <a:spcPts val="450"/>
              </a:spcAft>
              <a:defRPr/>
            </a:pPr>
            <a:r>
              <a:rPr lang="ko-KR" sz="132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>팔이 분리되어도 남은 부위 상태를 유지하며 추격 애니메이션이 이어집니다.</a:t>
            </a:r>
            <a:endParaRPr lang="ko-KR" sz="1320">
              <a:solidFill>
                <a:srgbClr val="dad6c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4" name="Panel 34"/>
          <p:cNvSpPr/>
          <p:nvPr/>
        </p:nvSpPr>
        <p:spPr>
          <a:xfrm>
            <a:off x="12289536" y="2057400"/>
            <a:ext cx="5212080" cy="4892040"/>
          </a:xfrm>
          <a:prstGeom prst="roundRect">
            <a:avLst>
              <a:gd name="adj" fmla="val 16667"/>
            </a:avLst>
          </a:prstGeom>
          <a:solidFill>
            <a:srgbClr val="1c2228"/>
          </a:solidFill>
          <a:ln w="12700">
            <a:solidFill>
              <a:srgbClr val="485244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35" name="Zombie Result 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472416" y="2267712"/>
            <a:ext cx="4846320" cy="2880360"/>
          </a:xfrm>
          <a:prstGeom prst="rect">
            <a:avLst/>
          </a:prstGeom>
        </p:spPr>
      </p:pic>
      <p:sp>
        <p:nvSpPr>
          <p:cNvPr id="36" name="Text 36"/>
          <p:cNvSpPr txBox="1"/>
          <p:nvPr/>
        </p:nvSpPr>
        <p:spPr>
          <a:xfrm>
            <a:off x="12472416" y="5349240"/>
            <a:ext cx="4846320" cy="1234440"/>
          </a:xfrm>
          <a:prstGeom prst="rect">
            <a:avLst/>
          </a:prstGeom>
          <a:noFill/>
          <a:ln>
            <a:noFill/>
          </a:ln>
        </p:spPr>
        <p:txBody>
          <a:bodyPr wrap="square" lIns="152400" tIns="101600" rIns="152400" bIns="101600"/>
          <a:lstStyle/>
          <a:p>
            <a:pPr>
              <a:spcAft>
                <a:spcPts val="450"/>
              </a:spcAft>
              <a:defRPr/>
            </a:pPr>
            <a:r>
              <a:rPr lang="ko-KR" sz="1850" b="1">
                <a:solidFill>
                  <a:srgbClr val="77a6c8"/>
                </a:solidFill>
                <a:latin typeface="맑은 고딕"/>
                <a:ea typeface="맑은 고딕"/>
                <a:cs typeface="맑은 고딕"/>
              </a:rPr>
              <a:t>하체 절단</a:t>
            </a:r>
            <a:endParaRPr lang="ko-KR" sz="1850" b="1">
              <a:solidFill>
                <a:srgbClr val="77a6c8"/>
              </a:solidFill>
              <a:latin typeface="맑은 고딕"/>
              <a:ea typeface="맑은 고딕"/>
              <a:cs typeface="맑은 고딕"/>
            </a:endParaRPr>
          </a:p>
          <a:p>
            <a:pPr>
              <a:spcAft>
                <a:spcPts val="450"/>
              </a:spcAft>
              <a:defRPr/>
            </a:pPr>
            <a:r>
              <a:rPr lang="ko-KR" sz="132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>다리 계열 뼈가 분리되면 StartCrawling으로 전환해 낮은 자세로 이동합니다.</a:t>
            </a:r>
            <a:endParaRPr lang="ko-KR" sz="1320">
              <a:solidFill>
                <a:srgbClr val="dad6c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7" name="Text 37"/>
          <p:cNvSpPr txBox="1"/>
          <p:nvPr/>
        </p:nvSpPr>
        <p:spPr>
          <a:xfrm>
            <a:off x="804672" y="7479792"/>
            <a:ext cx="16687800" cy="1234440"/>
          </a:xfrm>
          <a:prstGeom prst="roundRect">
            <a:avLst>
              <a:gd name="adj" fmla="val 16667"/>
            </a:avLst>
          </a:prstGeom>
          <a:solidFill>
            <a:srgbClr val="1b211d"/>
          </a:solidFill>
          <a:ln>
            <a:noFill/>
          </a:ln>
        </p:spPr>
        <p:txBody>
          <a:bodyPr wrap="square" lIns="152400" tIns="101600" rIns="152400" bIns="101600"/>
          <a:lstStyle/>
          <a:p>
            <a:pPr>
              <a:spcAft>
                <a:spcPts val="450"/>
              </a:spcAft>
              <a:defRPr/>
            </a:pPr>
            <a:r>
              <a:rPr lang="ko-KR" sz="2050" b="1">
                <a:solidFill>
                  <a:srgbClr val="91a765"/>
                </a:solidFill>
                <a:latin typeface="맑은 고딕"/>
                <a:ea typeface="맑은 고딕"/>
                <a:cs typeface="맑은 고딕"/>
              </a:rPr>
              <a:t>결과 흐름</a:t>
            </a:r>
            <a:endParaRPr lang="ko-KR" sz="2050" b="1">
              <a:solidFill>
                <a:srgbClr val="91a765"/>
              </a:solidFill>
              <a:latin typeface="맑은 고딕"/>
              <a:ea typeface="맑은 고딕"/>
              <a:cs typeface="맑은 고딕"/>
            </a:endParaRPr>
          </a:p>
          <a:p>
            <a:pPr>
              <a:spcAft>
                <a:spcPts val="450"/>
              </a:spcAft>
              <a:defRPr/>
            </a:pPr>
            <a:r>
              <a:rPr lang="ko-KR" sz="1650">
                <a:solidFill>
                  <a:srgbClr val="f5f2e8"/>
                </a:solidFill>
                <a:latin typeface="맑은 고딕"/>
                <a:ea typeface="맑은 고딕"/>
                <a:cs typeface="맑은 고딕"/>
              </a:rPr>
              <a:t>ApplyPointDamage → OnZombieDamaged → </a:t>
            </a:r>
            <a:r>
              <a:rPr lang="ko-KR" altLang="en-US" sz="1650">
                <a:solidFill>
                  <a:srgbClr val="f5f2e8"/>
                </a:solidFill>
                <a:latin typeface="맑은 고딕"/>
                <a:ea typeface="맑은 고딕"/>
                <a:cs typeface="맑은 고딕"/>
              </a:rPr>
              <a:t>피격된 뼈 내구도</a:t>
            </a:r>
            <a:r>
              <a:rPr lang="ko-KR" sz="1650">
                <a:solidFill>
                  <a:srgbClr val="f5f2e8"/>
                </a:solidFill>
                <a:latin typeface="맑은 고딕"/>
                <a:ea typeface="맑은 고딕"/>
                <a:cs typeface="맑은 고딕"/>
              </a:rPr>
              <a:t> 감소 → DismemberLimb / StartCrawling</a:t>
            </a:r>
            <a:endParaRPr lang="ko-KR" sz="1650">
              <a:solidFill>
                <a:srgbClr val="f5f2e8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ns2="http://schemas.openxmlformats.org/officeDocument/2006/relationships" xmlns:ns3="http://schemas.openxmlformats.org/markup-compatibility/2006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01214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slide-title"/>
          <p:cNvSpPr>
            <a:spLocks noGrp="1"/>
          </p:cNvSpPr>
          <p:nvPr/>
        </p:nvSpPr>
        <p:spPr>
          <a:xfrm>
            <a:off x="800100" y="933450"/>
            <a:ext cx="16687800" cy="609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4050" b="1" i="0">
                <a:solidFill>
                  <a:srgbClr val="f5f2e8"/>
                </a:solidFill>
              </a:defRPr>
            </a:pPr>
            <a:r>
              <a:rPr lang="ko-KR" altLang="en-US"/>
              <a:t>트럭 상호작용 시스템 설계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800100" y="1638300"/>
            <a:ext cx="13792200" cy="6477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75" b="0" i="0">
                <a:solidFill>
                  <a:srgbClr val="dad6c8"/>
                </a:solidFill>
              </a:defRPr>
            </a:pPr>
            <a:r>
              <a:rPr lang="ko-KR" altLang="en-US"/>
              <a:t>기존에는 트럭에 단일 Interact Trigger가 있었지만, 운전석/적재함/거치형 무기처럼 접근 위치마다 역할이 달랐습니다. </a:t>
            </a:r>
            <a:endParaRPr lang="ko-KR" altLang="en-US"/>
          </a:p>
          <a:p>
            <a:pPr algn="l">
              <a:defRPr sz="1875" b="0" i="0">
                <a:solidFill>
                  <a:srgbClr val="dad6c8"/>
                </a:solidFill>
              </a:defRPr>
            </a:pPr>
            <a:r>
              <a:rPr lang="ko-KR" altLang="en-US"/>
              <a:t>Trigger마다 접근 타입을 갖게 하고, 트럭 코드에서는 타입에 따라 다른 행동을 호출하도록 분리했습니다.</a:t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800100" y="2571750"/>
            <a:ext cx="3714750" cy="1181100"/>
          </a:xfrm>
          <a:prstGeom prst="roundRect">
            <a:avLst>
              <a:gd name="adj" fmla="val 6452"/>
            </a:avLst>
          </a:prstGeom>
          <a:solidFill>
            <a:srgbClr val="202720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990600" y="2743200"/>
            <a:ext cx="33337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125" b="1" i="0">
                <a:solidFill>
                  <a:srgbClr val="f0be45"/>
                </a:solidFill>
              </a:defRPr>
            </a:pPr>
            <a:r>
              <a:rPr lang="ko-KR" altLang="en-US"/>
              <a:t>Input</a:t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990600" y="2990850"/>
            <a:ext cx="3333750" cy="3048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1" i="0">
                <a:solidFill>
                  <a:srgbClr val="f5f2e8"/>
                </a:solidFill>
              </a:defRPr>
            </a:pPr>
            <a:r>
              <a:rPr lang="ko-KR" altLang="en-US"/>
              <a:t>상호작용 키</a:t>
            </a:r>
            <a:endParaRPr lang="ko-KR" altLang="en-US"/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990600" y="3352800"/>
            <a:ext cx="33337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dad6c8"/>
                </a:solidFill>
              </a:defRPr>
            </a:pPr>
            <a:r>
              <a:rPr lang="ko-KR" altLang="en-US"/>
              <a:t>플레이어가 범위 안에서 입력</a:t>
            </a:r>
            <a:endParaRPr lang="ko-KR" altLang="en-US"/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4667250" y="2952750"/>
            <a:ext cx="323850" cy="4191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475" b="1" i="0">
                <a:solidFill>
                  <a:srgbClr val="f0be45"/>
                </a:solidFill>
              </a:defRPr>
            </a:pPr>
            <a:r>
              <a:rPr lang="ko-KR" altLang="en-US"/>
              <a:t>→</a:t>
            </a:r>
            <a:endParaRPr lang="ko-KR" altLang="en-US"/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5124450" y="2571750"/>
            <a:ext cx="3714750" cy="1181100"/>
          </a:xfrm>
          <a:prstGeom prst="roundRect">
            <a:avLst>
              <a:gd name="adj" fmla="val 6452"/>
            </a:avLst>
          </a:prstGeom>
          <a:solidFill>
            <a:srgbClr val="202720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5314950" y="2743200"/>
            <a:ext cx="33337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125" b="1" i="0">
                <a:solidFill>
                  <a:srgbClr val="f0be45"/>
                </a:solidFill>
              </a:defRPr>
            </a:pPr>
            <a:r>
              <a:rPr lang="ko-KR" altLang="en-US"/>
              <a:t>Trigger</a:t>
            </a:r>
            <a:endParaRPr lang="ko-KR" altLang="en-US"/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5314950" y="2990850"/>
            <a:ext cx="3333750" cy="3048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1" i="0">
                <a:solidFill>
                  <a:srgbClr val="f5f2e8"/>
                </a:solidFill>
              </a:defRPr>
            </a:pPr>
            <a:r>
              <a:rPr lang="ko-KR" altLang="en-US"/>
              <a:t>접근 타입 판별</a:t>
            </a:r>
            <a:endParaRPr lang="ko-KR" altLang="en-US"/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5314950" y="3352800"/>
            <a:ext cx="33337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dad6c8"/>
                </a:solidFill>
              </a:defRPr>
            </a:pPr>
            <a:r>
              <a:rPr lang="ko-KR" altLang="en-US"/>
              <a:t>Driver / Cargo / Turret</a:t>
            </a:r>
            <a:endParaRPr lang="ko-KR" altLang="en-US"/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8991600" y="2952750"/>
            <a:ext cx="323850" cy="4191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475" b="1" i="0">
                <a:solidFill>
                  <a:srgbClr val="f0be45"/>
                </a:solidFill>
              </a:defRPr>
            </a:pPr>
            <a:r>
              <a:rPr lang="ko-KR" altLang="en-US"/>
              <a:t>→</a:t>
            </a:r>
            <a:endParaRPr lang="ko-KR" altLang="en-US"/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9448800" y="2571750"/>
            <a:ext cx="3714750" cy="1181100"/>
          </a:xfrm>
          <a:prstGeom prst="roundRect">
            <a:avLst>
              <a:gd name="adj" fmla="val 6452"/>
            </a:avLst>
          </a:prstGeom>
          <a:solidFill>
            <a:srgbClr val="202720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9639300" y="2743200"/>
            <a:ext cx="33337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125" b="1" i="0">
                <a:solidFill>
                  <a:srgbClr val="f0be45"/>
                </a:solidFill>
              </a:defRPr>
            </a:pPr>
            <a:r>
              <a:rPr lang="ko-KR" altLang="en-US"/>
              <a:t>Truck</a:t>
            </a:r>
            <a:endParaRPr lang="ko-KR" altLang="en-US"/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9639300" y="2990850"/>
            <a:ext cx="3333750" cy="3048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1" i="0">
                <a:solidFill>
                  <a:srgbClr val="f5f2e8"/>
                </a:solidFill>
              </a:defRPr>
            </a:pPr>
            <a:r>
              <a:rPr lang="ko-KR" altLang="en-US"/>
              <a:t>상태 전환</a:t>
            </a:r>
            <a:endParaRPr lang="ko-KR" altLang="en-US"/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9639300" y="3352800"/>
            <a:ext cx="33337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dad6c8"/>
                </a:solidFill>
              </a:defRPr>
            </a:pPr>
            <a:r>
              <a:rPr lang="ko-KR" altLang="en-US"/>
              <a:t>운전, 탑승, 적재, 무기 사용</a:t>
            </a:r>
            <a:endParaRPr lang="ko-KR" altLang="en-US"/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13315950" y="2952750"/>
            <a:ext cx="323850" cy="4191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475" b="1" i="0">
                <a:solidFill>
                  <a:srgbClr val="f0be45"/>
                </a:solidFill>
              </a:defRPr>
            </a:pPr>
            <a:r>
              <a:rPr lang="ko-KR" altLang="en-US"/>
              <a:t>→</a:t>
            </a:r>
            <a:endParaRPr lang="ko-KR" altLang="en-US"/>
          </a:p>
        </p:txBody>
      </p:sp>
      <p:sp>
        <p:nvSpPr>
          <p:cNvPr id="20" name=""/>
          <p:cNvSpPr>
            <a:spLocks noGrp="1"/>
          </p:cNvSpPr>
          <p:nvPr/>
        </p:nvSpPr>
        <p:spPr>
          <a:xfrm>
            <a:off x="13773150" y="2571750"/>
            <a:ext cx="3714750" cy="1181100"/>
          </a:xfrm>
          <a:prstGeom prst="roundRect">
            <a:avLst>
              <a:gd name="adj" fmla="val 6452"/>
            </a:avLst>
          </a:prstGeom>
          <a:solidFill>
            <a:srgbClr val="202720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13963650" y="2743200"/>
            <a:ext cx="33337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125" b="1" i="0">
                <a:solidFill>
                  <a:srgbClr val="f0be45"/>
                </a:solidFill>
              </a:defRPr>
            </a:pPr>
            <a:r>
              <a:rPr lang="ko-KR" altLang="en-US"/>
              <a:t>Loop</a:t>
            </a:r>
            <a:endParaRPr lang="ko-KR" altLang="en-US"/>
          </a:p>
        </p:txBody>
      </p:sp>
      <p:sp>
        <p:nvSpPr>
          <p:cNvPr id="22" name=""/>
          <p:cNvSpPr>
            <a:spLocks noGrp="1"/>
          </p:cNvSpPr>
          <p:nvPr/>
        </p:nvSpPr>
        <p:spPr>
          <a:xfrm>
            <a:off x="13963650" y="2990850"/>
            <a:ext cx="3333750" cy="3048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1" i="0">
                <a:solidFill>
                  <a:srgbClr val="f5f2e8"/>
                </a:solidFill>
              </a:defRPr>
            </a:pPr>
            <a:r>
              <a:rPr lang="ko-KR" altLang="en-US"/>
              <a:t>게임 흐름 연결</a:t>
            </a:r>
            <a:endParaRPr lang="ko-KR" altLang="en-US"/>
          </a:p>
        </p:txBody>
      </p:sp>
      <p:sp>
        <p:nvSpPr>
          <p:cNvPr id="23" name=""/>
          <p:cNvSpPr>
            <a:spLocks noGrp="1"/>
          </p:cNvSpPr>
          <p:nvPr/>
        </p:nvSpPr>
        <p:spPr>
          <a:xfrm>
            <a:off x="13963650" y="3352800"/>
            <a:ext cx="33337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dad6c8"/>
                </a:solidFill>
              </a:defRPr>
            </a:pPr>
            <a:r>
              <a:rPr lang="ko-KR" altLang="en-US"/>
              <a:t>파밍 후 이동과 전투로 확장</a:t>
            </a:r>
            <a:endParaRPr lang="ko-KR" altLang="en-US"/>
          </a:p>
        </p:txBody>
      </p:sp>
      <p:sp>
        <p:nvSpPr>
          <p:cNvPr id="24" name=""/>
          <p:cNvSpPr>
            <a:spLocks noGrp="1"/>
          </p:cNvSpPr>
          <p:nvPr/>
        </p:nvSpPr>
        <p:spPr>
          <a:xfrm>
            <a:off x="804672" y="3904488"/>
            <a:ext cx="2642616" cy="402336"/>
          </a:xfrm>
          <a:prstGeom prst="roundRect">
            <a:avLst>
              <a:gd name="adj" fmla="val 23222"/>
            </a:avLst>
          </a:prstGeom>
          <a:solidFill>
            <a:srgbClr val="31362d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5" name=""/>
          <p:cNvSpPr>
            <a:spLocks noGrp="1"/>
          </p:cNvSpPr>
          <p:nvPr/>
        </p:nvSpPr>
        <p:spPr>
          <a:xfrm>
            <a:off x="941832" y="3959352"/>
            <a:ext cx="2395728" cy="32004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050" b="1" i="0">
                <a:solidFill>
                  <a:srgbClr val="f0be45"/>
                </a:solidFill>
              </a:defRPr>
            </a:pPr>
            <a:r>
              <a:rPr lang="ko-KR" altLang="en-US" sz="1900"/>
              <a:t>아이템 파밍 흐름</a:t>
            </a:r>
            <a:endParaRPr lang="ko-KR" altLang="en-US" sz="1900"/>
          </a:p>
        </p:txBody>
      </p:sp>
      <p:sp>
        <p:nvSpPr>
          <p:cNvPr id="26" name=""/>
          <p:cNvSpPr>
            <a:spLocks noGrp="1"/>
          </p:cNvSpPr>
          <p:nvPr/>
        </p:nvSpPr>
        <p:spPr>
          <a:xfrm>
            <a:off x="800100" y="4396435"/>
            <a:ext cx="8229600" cy="5280965"/>
          </a:xfrm>
          <a:prstGeom prst="roundRect">
            <a:avLst>
              <a:gd name="adj" fmla="val 1443"/>
            </a:avLst>
          </a:prstGeom>
          <a:solidFill>
            <a:srgbClr val="f6f3ea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27" name=""/>
          <p:cNvPicPr>
            <a:picLocks noChangeAspect="1"/>
          </p:cNvPicPr>
          <p:nvPr/>
        </p:nvPicPr>
        <p:blipFill rotWithShape="1">
          <a:blip ns2:embed="rId3"/>
          <a:stretch>
            <a:fillRect/>
          </a:stretch>
        </p:blipFill>
        <p:spPr>
          <a:xfrm>
            <a:off x="2194885" y="4396435"/>
            <a:ext cx="5440030" cy="5280965"/>
          </a:xfrm>
          <a:prstGeom prst="roundRect">
            <a:avLst>
              <a:gd name="adj" fmla="val 1443"/>
            </a:avLst>
          </a:prstGeom>
        </p:spPr>
      </p:pic>
      <p:sp>
        <p:nvSpPr>
          <p:cNvPr id="28" name=""/>
          <p:cNvSpPr>
            <a:spLocks noGrp="1"/>
          </p:cNvSpPr>
          <p:nvPr/>
        </p:nvSpPr>
        <p:spPr>
          <a:xfrm>
            <a:off x="9253728" y="3904488"/>
            <a:ext cx="2642616" cy="402336"/>
          </a:xfrm>
          <a:prstGeom prst="roundRect">
            <a:avLst>
              <a:gd name="adj" fmla="val 23222"/>
            </a:avLst>
          </a:prstGeom>
          <a:solidFill>
            <a:srgbClr val="31362d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9" name=""/>
          <p:cNvSpPr>
            <a:spLocks noGrp="1"/>
          </p:cNvSpPr>
          <p:nvPr/>
        </p:nvSpPr>
        <p:spPr>
          <a:xfrm>
            <a:off x="9390888" y="3959352"/>
            <a:ext cx="2450592" cy="32004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050" b="1" i="0">
                <a:solidFill>
                  <a:srgbClr val="91a765"/>
                </a:solidFill>
              </a:defRPr>
            </a:pPr>
            <a:r>
              <a:rPr lang="ko-KR" altLang="en-US" sz="1900"/>
              <a:t>트럭 상호작용 흐름</a:t>
            </a:r>
            <a:endParaRPr lang="ko-KR" altLang="en-US" sz="1900"/>
          </a:p>
        </p:txBody>
      </p:sp>
      <p:sp>
        <p:nvSpPr>
          <p:cNvPr id="30" name=""/>
          <p:cNvSpPr>
            <a:spLocks noGrp="1"/>
          </p:cNvSpPr>
          <p:nvPr/>
        </p:nvSpPr>
        <p:spPr>
          <a:xfrm>
            <a:off x="9258300" y="4396435"/>
            <a:ext cx="8229600" cy="5280965"/>
          </a:xfrm>
          <a:prstGeom prst="roundRect">
            <a:avLst>
              <a:gd name="adj" fmla="val 1443"/>
            </a:avLst>
          </a:prstGeom>
          <a:solidFill>
            <a:srgbClr val="f6f3ea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31" name=""/>
          <p:cNvPicPr>
            <a:picLocks noChangeAspect="1"/>
          </p:cNvPicPr>
          <p:nvPr/>
        </p:nvPicPr>
        <p:blipFill rotWithShape="1">
          <a:blip ns2:embed="rId4"/>
          <a:stretch>
            <a:fillRect/>
          </a:stretch>
        </p:blipFill>
        <p:spPr>
          <a:xfrm>
            <a:off x="11075276" y="4396435"/>
            <a:ext cx="4595649" cy="5280965"/>
          </a:xfrm>
          <a:prstGeom prst="roundRect">
            <a:avLst>
              <a:gd name="adj" fmla="val 1443"/>
            </a:avLst>
          </a:prstGeom>
        </p:spPr>
      </p:pic>
    </p:spTree>
  </p:cSld>
  <p:clrMapOvr>
    <a:masterClrMapping/>
  </p:clrMapOvr>
  <ns3:AlternateContent>
    <ns3:Choice Requires="p14">
      <p:transition ns3:Ignorable="p14" ns4:dur="500"/>
    </ns3:Choice>
    <ns3:Fallback>
      <p:transition/>
    </ns3:Fallback>
  </ns3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rk Background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01214"/>
          </a:solidFill>
          <a:ln w="9525">
            <a:noFill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itle"/>
          <p:cNvSpPr/>
          <p:nvPr/>
        </p:nvSpPr>
        <p:spPr>
          <a:xfrm>
            <a:off x="804672" y="89611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sz="2850" b="1">
                <a:solidFill>
                  <a:srgbClr val="f8fafc"/>
                </a:solidFill>
                <a:latin typeface="Aptos"/>
                <a:ea typeface="맑은 고딕"/>
              </a:rPr>
              <a:t>트럭 상호작용 시스템 결과</a:t>
            </a:r>
            <a:endParaRPr lang="ko-KR" sz="2850" b="1">
              <a:solidFill>
                <a:srgbClr val="f8fafc"/>
              </a:solidFill>
              <a:latin typeface="Aptos"/>
              <a:ea typeface="맑은 고딕"/>
            </a:endParaRPr>
          </a:p>
        </p:txBody>
      </p:sp>
      <p:sp>
        <p:nvSpPr>
          <p:cNvPr id="5" name="Lead"/>
          <p:cNvSpPr/>
          <p:nvPr/>
        </p:nvSpPr>
        <p:spPr>
          <a:xfrm>
            <a:off x="822960" y="1609344"/>
            <a:ext cx="163220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sz="1500">
                <a:solidFill>
                  <a:srgbClr val="cbd5e1"/>
                </a:solidFill>
                <a:latin typeface="Aptos"/>
                <a:ea typeface="맑은 고딕"/>
              </a:rPr>
              <a:t>상호작용 위치를 Driver / Cargo / Turret로 나누고, 접근 타입에 따라 조작권 전환·적재·무기 사용 결과가 다르게 나오도록 구현했습니다.</a:t>
            </a:r>
            <a:endParaRPr lang="ko-KR" sz="1500">
              <a:solidFill>
                <a:srgbClr val="cbd5e1"/>
              </a:solidFill>
              <a:latin typeface="Aptos"/>
              <a:ea typeface="맑은 고딕"/>
            </a:endParaRPr>
          </a:p>
        </p:txBody>
      </p:sp>
      <p:sp>
        <p:nvSpPr>
          <p:cNvPr id="6" name="Card 아이템 적재"/>
          <p:cNvSpPr/>
          <p:nvPr/>
        </p:nvSpPr>
        <p:spPr>
          <a:xfrm>
            <a:off x="804672" y="2331720"/>
            <a:ext cx="8092440" cy="3072384"/>
          </a:xfrm>
          <a:prstGeom prst="roundRect">
            <a:avLst>
              <a:gd name="adj" fmla="val 16667"/>
            </a:avLst>
          </a:prstGeom>
          <a:solidFill>
            <a:srgbClr val="1c2228"/>
          </a:solidFill>
          <a:ln w="9525">
            <a:solidFill>
              <a:srgbClr val="303844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Image Back 아이템 적재"/>
          <p:cNvSpPr/>
          <p:nvPr/>
        </p:nvSpPr>
        <p:spPr>
          <a:xfrm>
            <a:off x="1033272" y="2560320"/>
            <a:ext cx="4261104" cy="2615184"/>
          </a:xfrm>
          <a:prstGeom prst="rect">
            <a:avLst/>
          </a:prstGeom>
          <a:solidFill>
            <a:srgbClr val="070808"/>
          </a:solidFill>
          <a:ln w="9525">
            <a:noFill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8" name="Image 아이템 적재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33272" y="2560320"/>
            <a:ext cx="4261104" cy="2615184"/>
          </a:xfrm>
          <a:prstGeom prst="rect">
            <a:avLst/>
          </a:prstGeom>
        </p:spPr>
      </p:pic>
      <p:sp>
        <p:nvSpPr>
          <p:cNvPr id="9" name="Accent 아이템 적재"/>
          <p:cNvSpPr/>
          <p:nvPr/>
        </p:nvSpPr>
        <p:spPr>
          <a:xfrm>
            <a:off x="5577840" y="2761488"/>
            <a:ext cx="621792" cy="64008"/>
          </a:xfrm>
          <a:prstGeom prst="rect">
            <a:avLst/>
          </a:prstGeom>
          <a:solidFill>
            <a:srgbClr val="7b8f5a"/>
          </a:solidFill>
          <a:ln w="9525">
            <a:solidFill>
              <a:srgbClr val="7b8f5a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Text 아이템 적재"/>
          <p:cNvSpPr/>
          <p:nvPr/>
        </p:nvSpPr>
        <p:spPr>
          <a:xfrm>
            <a:off x="5577840" y="2990088"/>
            <a:ext cx="3063240" cy="1755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sz="2000" b="1">
                <a:solidFill>
                  <a:srgbClr val="f8fafc"/>
                </a:solidFill>
                <a:latin typeface="Aptos"/>
                <a:ea typeface="맑은 고딕"/>
              </a:rPr>
              <a:t>아이템 적재</a:t>
            </a:r>
            <a:endParaRPr lang="ko-KR" sz="2000" b="1">
              <a:solidFill>
                <a:srgbClr val="f8fafc"/>
              </a:solidFill>
              <a:latin typeface="Aptos"/>
              <a:ea typeface="맑은 고딕"/>
            </a:endParaRPr>
          </a:p>
          <a:p>
            <a:pPr>
              <a:defRPr/>
            </a:pPr>
            <a:r>
              <a:rPr lang="ko-KR" sz="1500">
                <a:solidFill>
                  <a:srgbClr val="cbd5e1"/>
                </a:solidFill>
                <a:latin typeface="Aptos"/>
                <a:ea typeface="맑은 고딕"/>
              </a:rPr>
              <a:t>파밍 아이템을 적재함 보관 상태로 옮겨 이동 흐름에 연결했습니다.</a:t>
            </a:r>
            <a:endParaRPr lang="ko-KR" sz="1500">
              <a:solidFill>
                <a:srgbClr val="cbd5e1"/>
              </a:solidFill>
              <a:latin typeface="Aptos"/>
              <a:ea typeface="맑은 고딕"/>
            </a:endParaRPr>
          </a:p>
        </p:txBody>
      </p:sp>
      <p:sp>
        <p:nvSpPr>
          <p:cNvPr id="11" name="Card 운전석 전환"/>
          <p:cNvSpPr/>
          <p:nvPr/>
        </p:nvSpPr>
        <p:spPr>
          <a:xfrm>
            <a:off x="9390888" y="2331720"/>
            <a:ext cx="8092440" cy="3072384"/>
          </a:xfrm>
          <a:prstGeom prst="roundRect">
            <a:avLst>
              <a:gd name="adj" fmla="val 16667"/>
            </a:avLst>
          </a:prstGeom>
          <a:solidFill>
            <a:srgbClr val="1c2228"/>
          </a:solidFill>
          <a:ln w="9525">
            <a:solidFill>
              <a:srgbClr val="303844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Image Back 운전석 전환"/>
          <p:cNvSpPr/>
          <p:nvPr/>
        </p:nvSpPr>
        <p:spPr>
          <a:xfrm>
            <a:off x="9619488" y="2560320"/>
            <a:ext cx="4261104" cy="2615184"/>
          </a:xfrm>
          <a:prstGeom prst="rect">
            <a:avLst/>
          </a:prstGeom>
          <a:solidFill>
            <a:srgbClr val="070808"/>
          </a:solidFill>
          <a:ln w="9525">
            <a:noFill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13" name="Image 운전석 전환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619488" y="2560320"/>
            <a:ext cx="4261104" cy="2615184"/>
          </a:xfrm>
          <a:prstGeom prst="rect">
            <a:avLst/>
          </a:prstGeom>
        </p:spPr>
      </p:pic>
      <p:sp>
        <p:nvSpPr>
          <p:cNvPr id="14" name="Accent 운전석 전환"/>
          <p:cNvSpPr/>
          <p:nvPr/>
        </p:nvSpPr>
        <p:spPr>
          <a:xfrm>
            <a:off x="14164056" y="2761488"/>
            <a:ext cx="621792" cy="64008"/>
          </a:xfrm>
          <a:prstGeom prst="rect">
            <a:avLst/>
          </a:prstGeom>
          <a:solidFill>
            <a:srgbClr val="4f7c9a"/>
          </a:solidFill>
          <a:ln w="9525">
            <a:solidFill>
              <a:srgbClr val="4f7c9a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Text 운전석 전환"/>
          <p:cNvSpPr/>
          <p:nvPr/>
        </p:nvSpPr>
        <p:spPr>
          <a:xfrm>
            <a:off x="14164056" y="2990088"/>
            <a:ext cx="3063240" cy="1755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sz="2000" b="1">
                <a:solidFill>
                  <a:srgbClr val="f8fafc"/>
                </a:solidFill>
                <a:latin typeface="Aptos"/>
                <a:ea typeface="맑은 고딕"/>
              </a:rPr>
              <a:t>운전석 전환</a:t>
            </a:r>
            <a:endParaRPr lang="ko-KR" sz="2000" b="1">
              <a:solidFill>
                <a:srgbClr val="f8fafc"/>
              </a:solidFill>
              <a:latin typeface="Aptos"/>
              <a:ea typeface="맑은 고딕"/>
            </a:endParaRPr>
          </a:p>
          <a:p>
            <a:pPr>
              <a:defRPr/>
            </a:pPr>
            <a:r>
              <a:rPr lang="ko-KR" sz="1500">
                <a:solidFill>
                  <a:srgbClr val="cbd5e1"/>
                </a:solidFill>
                <a:latin typeface="Aptos"/>
                <a:ea typeface="맑은 고딕"/>
              </a:rPr>
              <a:t>운전석 Trigger에서 차량 Possess로 전환해 실제 </a:t>
            </a:r>
            <a:r>
              <a:rPr lang="ko-KR" altLang="en-US" sz="1500">
                <a:solidFill>
                  <a:srgbClr val="cbd5e1"/>
                </a:solidFill>
                <a:latin typeface="Aptos"/>
                <a:ea typeface="맑은 고딕"/>
              </a:rPr>
              <a:t>운전 가능한 상태를 만들었습니다</a:t>
            </a:r>
            <a:r>
              <a:rPr lang="en-US" altLang="ko-KR" sz="1500">
                <a:solidFill>
                  <a:srgbClr val="cbd5e1"/>
                </a:solidFill>
                <a:latin typeface="Aptos"/>
                <a:ea typeface="맑은 고딕"/>
              </a:rPr>
              <a:t>.</a:t>
            </a:r>
            <a:endParaRPr lang="en-US" altLang="ko-KR" sz="1500">
              <a:solidFill>
                <a:srgbClr val="cbd5e1"/>
              </a:solidFill>
              <a:latin typeface="Aptos"/>
              <a:ea typeface="맑은 고딕"/>
            </a:endParaRPr>
          </a:p>
        </p:txBody>
      </p:sp>
      <p:sp>
        <p:nvSpPr>
          <p:cNvPr id="16" name="Card 적재함 탑승"/>
          <p:cNvSpPr/>
          <p:nvPr/>
        </p:nvSpPr>
        <p:spPr>
          <a:xfrm>
            <a:off x="804672" y="5870448"/>
            <a:ext cx="8092440" cy="3072384"/>
          </a:xfrm>
          <a:prstGeom prst="roundRect">
            <a:avLst>
              <a:gd name="adj" fmla="val 16667"/>
            </a:avLst>
          </a:prstGeom>
          <a:solidFill>
            <a:srgbClr val="1c2228"/>
          </a:solidFill>
          <a:ln w="9525">
            <a:solidFill>
              <a:srgbClr val="303844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" name="Image Back 적재함 탑승"/>
          <p:cNvSpPr/>
          <p:nvPr/>
        </p:nvSpPr>
        <p:spPr>
          <a:xfrm>
            <a:off x="1033272" y="6099048"/>
            <a:ext cx="4261104" cy="2615184"/>
          </a:xfrm>
          <a:prstGeom prst="rect">
            <a:avLst/>
          </a:prstGeom>
          <a:solidFill>
            <a:srgbClr val="070808"/>
          </a:solidFill>
          <a:ln w="9525">
            <a:noFill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18" name="Image 적재함 탑승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33272" y="6099048"/>
            <a:ext cx="4261104" cy="2615184"/>
          </a:xfrm>
          <a:prstGeom prst="rect">
            <a:avLst/>
          </a:prstGeom>
        </p:spPr>
      </p:pic>
      <p:sp>
        <p:nvSpPr>
          <p:cNvPr id="19" name="Accent 적재함 탑승"/>
          <p:cNvSpPr/>
          <p:nvPr/>
        </p:nvSpPr>
        <p:spPr>
          <a:xfrm>
            <a:off x="5577840" y="6300216"/>
            <a:ext cx="621792" cy="64008"/>
          </a:xfrm>
          <a:prstGeom prst="rect">
            <a:avLst/>
          </a:prstGeom>
          <a:solidFill>
            <a:srgbClr val="b88242"/>
          </a:solidFill>
          <a:ln w="9525">
            <a:solidFill>
              <a:srgbClr val="b88242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0" name="Text 적재함 탑승"/>
          <p:cNvSpPr/>
          <p:nvPr/>
        </p:nvSpPr>
        <p:spPr>
          <a:xfrm>
            <a:off x="5577840" y="6528816"/>
            <a:ext cx="3063240" cy="1755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sz="2000" b="1">
                <a:solidFill>
                  <a:srgbClr val="f8fafc"/>
                </a:solidFill>
                <a:latin typeface="Aptos"/>
                <a:ea typeface="맑은 고딕"/>
              </a:rPr>
              <a:t>적재함 탑승</a:t>
            </a:r>
            <a:endParaRPr lang="ko-KR" sz="2000" b="1">
              <a:solidFill>
                <a:srgbClr val="f8fafc"/>
              </a:solidFill>
              <a:latin typeface="Aptos"/>
              <a:ea typeface="맑은 고딕"/>
            </a:endParaRPr>
          </a:p>
          <a:p>
            <a:pPr>
              <a:defRPr/>
            </a:pPr>
            <a:r>
              <a:rPr lang="ko-KR" sz="1500">
                <a:solidFill>
                  <a:srgbClr val="cbd5e1"/>
                </a:solidFill>
                <a:latin typeface="Aptos"/>
                <a:ea typeface="맑은 고딕"/>
              </a:rPr>
              <a:t>뒤쪽 Trigger 범위에서 플레이어가 적재함에 올라</a:t>
            </a:r>
            <a:r>
              <a:rPr lang="ko-KR" altLang="en-US" sz="1500">
                <a:solidFill>
                  <a:srgbClr val="cbd5e1"/>
                </a:solidFill>
                <a:latin typeface="Aptos"/>
                <a:ea typeface="맑은 고딕"/>
              </a:rPr>
              <a:t>타 이동할 수 있도록 만들었습니다</a:t>
            </a:r>
            <a:r>
              <a:rPr lang="en-US" altLang="ko-KR" sz="1500">
                <a:solidFill>
                  <a:srgbClr val="cbd5e1"/>
                </a:solidFill>
                <a:latin typeface="Aptos"/>
                <a:ea typeface="맑은 고딕"/>
              </a:rPr>
              <a:t>.</a:t>
            </a:r>
            <a:endParaRPr lang="en-US" altLang="ko-KR" sz="1500">
              <a:solidFill>
                <a:srgbClr val="cbd5e1"/>
              </a:solidFill>
              <a:latin typeface="Aptos"/>
              <a:ea typeface="맑은 고딕"/>
            </a:endParaRPr>
          </a:p>
        </p:txBody>
      </p:sp>
      <p:sp>
        <p:nvSpPr>
          <p:cNvPr id="21" name="Card 기관총 발사"/>
          <p:cNvSpPr/>
          <p:nvPr/>
        </p:nvSpPr>
        <p:spPr>
          <a:xfrm>
            <a:off x="9390888" y="5870448"/>
            <a:ext cx="8092440" cy="3072384"/>
          </a:xfrm>
          <a:prstGeom prst="roundRect">
            <a:avLst>
              <a:gd name="adj" fmla="val 16667"/>
            </a:avLst>
          </a:prstGeom>
          <a:solidFill>
            <a:srgbClr val="1c2228"/>
          </a:solidFill>
          <a:ln w="9525">
            <a:solidFill>
              <a:srgbClr val="303844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2" name="Image Back 기관총 발사"/>
          <p:cNvSpPr/>
          <p:nvPr/>
        </p:nvSpPr>
        <p:spPr>
          <a:xfrm>
            <a:off x="9619488" y="6099048"/>
            <a:ext cx="4261104" cy="2615184"/>
          </a:xfrm>
          <a:prstGeom prst="rect">
            <a:avLst/>
          </a:prstGeom>
          <a:solidFill>
            <a:srgbClr val="070808"/>
          </a:solidFill>
          <a:ln w="9525">
            <a:noFill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23" name="Image 기관총 발사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619488" y="6099048"/>
            <a:ext cx="4261104" cy="2615184"/>
          </a:xfrm>
          <a:prstGeom prst="rect">
            <a:avLst/>
          </a:prstGeom>
        </p:spPr>
      </p:pic>
      <p:sp>
        <p:nvSpPr>
          <p:cNvPr id="24" name="Accent 기관총 발사"/>
          <p:cNvSpPr/>
          <p:nvPr/>
        </p:nvSpPr>
        <p:spPr>
          <a:xfrm>
            <a:off x="14164056" y="6300216"/>
            <a:ext cx="621792" cy="64008"/>
          </a:xfrm>
          <a:prstGeom prst="rect">
            <a:avLst/>
          </a:prstGeom>
          <a:solidFill>
            <a:srgbClr val="a84f4f"/>
          </a:solidFill>
          <a:ln w="9525">
            <a:solidFill>
              <a:srgbClr val="a84f4f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5" name="Text 기관총 발사"/>
          <p:cNvSpPr/>
          <p:nvPr/>
        </p:nvSpPr>
        <p:spPr>
          <a:xfrm>
            <a:off x="14164056" y="6528816"/>
            <a:ext cx="3063240" cy="1755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sz="2000" b="1">
                <a:solidFill>
                  <a:srgbClr val="f8fafc"/>
                </a:solidFill>
                <a:latin typeface="Aptos"/>
                <a:ea typeface="맑은 고딕"/>
              </a:rPr>
              <a:t>기관총 발사</a:t>
            </a:r>
            <a:endParaRPr lang="ko-KR" sz="2000" b="1">
              <a:solidFill>
                <a:srgbClr val="f8fafc"/>
              </a:solidFill>
              <a:latin typeface="Aptos"/>
              <a:ea typeface="맑은 고딕"/>
            </a:endParaRPr>
          </a:p>
          <a:p>
            <a:pPr>
              <a:defRPr/>
            </a:pPr>
            <a:r>
              <a:rPr lang="ko-KR" altLang="en-US" sz="1500">
                <a:solidFill>
                  <a:srgbClr val="cbd5e1"/>
                </a:solidFill>
                <a:latin typeface="Aptos"/>
                <a:ea typeface="맑은 고딕"/>
              </a:rPr>
              <a:t>트럭 적재함에 탑승한 후</a:t>
            </a:r>
            <a:r>
              <a:rPr lang="en-US" altLang="ko-KR" sz="1500">
                <a:solidFill>
                  <a:srgbClr val="cbd5e1"/>
                </a:solidFill>
                <a:latin typeface="Aptos"/>
                <a:ea typeface="맑은 고딕"/>
              </a:rPr>
              <a:t>,</a:t>
            </a:r>
            <a:r>
              <a:rPr lang="ko-KR" altLang="en-US" sz="1500">
                <a:solidFill>
                  <a:srgbClr val="cbd5e1"/>
                </a:solidFill>
                <a:latin typeface="Aptos"/>
                <a:ea typeface="맑은 고딕"/>
              </a:rPr>
              <a:t> </a:t>
            </a:r>
            <a:endParaRPr lang="ko-KR" altLang="en-US" sz="1500">
              <a:solidFill>
                <a:srgbClr val="cbd5e1"/>
              </a:solidFill>
              <a:latin typeface="Aptos"/>
              <a:ea typeface="맑은 고딕"/>
            </a:endParaRPr>
          </a:p>
          <a:p>
            <a:pPr>
              <a:defRPr/>
            </a:pPr>
            <a:r>
              <a:rPr lang="ko-KR" altLang="en-US" sz="1500">
                <a:solidFill>
                  <a:srgbClr val="cbd5e1"/>
                </a:solidFill>
                <a:latin typeface="Aptos"/>
                <a:ea typeface="맑은 고딕"/>
              </a:rPr>
              <a:t>트럭에 장착된 기관총을 사용할 수 있도록 만들었습니다</a:t>
            </a:r>
            <a:r>
              <a:rPr lang="en-US" altLang="ko-KR" sz="1500">
                <a:solidFill>
                  <a:srgbClr val="cbd5e1"/>
                </a:solidFill>
                <a:latin typeface="Aptos"/>
                <a:ea typeface="맑은 고딕"/>
              </a:rPr>
              <a:t>.</a:t>
            </a:r>
            <a:endParaRPr lang="en-US" altLang="ko-KR" sz="1500">
              <a:solidFill>
                <a:srgbClr val="cbd5e1"/>
              </a:solidFill>
              <a:latin typeface="Aptos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ns0:sld xmlns:a="http://schemas.openxmlformats.org/drawingml/2006/main" xmlns:ns0="http://schemas.openxmlformats.org/presentation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8" name=""/>
          <ns0:cNvSpPr>
            <a:spLocks noGrp="1"/>
          </ns0:cNvSpPr>
          <ns0:nvPr/>
        </ns0:nvSpPr>
        <ns0:spPr>
          <a:xfrm>
            <a:off x="0" y="0"/>
            <a:ext cx="18288000" cy="10287000"/>
          </a:xfrm>
          <a:prstGeom prst="rect">
            <a:avLst/>
          </a:prstGeom>
          <a:solidFill>
            <a:srgbClr val="101214"/>
          </a:solidFill>
        </ns0:spPr>
        <ns0:txBody>
          <a:bodyPr anchor="ctr"/>
          <a:p>
            <a:pPr algn="ctr">
              <a:defRPr/>
            </a:pPr>
            <a:endParaRPr lang="ko-KR" altLang="en-US"/>
          </a:p>
        </ns0:txBody>
      </ns0:sp>
      <ns0:sp>
        <ns0:nvSpPr>
          <ns0:cNvPr id="3" name="slide-title"/>
          <ns0:cNvSpPr>
            <a:spLocks noGrp="1"/>
          </ns0:cNvSpPr>
          <ns0:nvPr/>
        </ns0:nvSpPr>
        <ns0:spPr>
          <a:xfrm>
            <a:off x="800100" y="933450"/>
            <a:ext cx="16687800" cy="1200150"/>
          </a:xfrm>
          <a:prstGeom prst="rect">
            <a:avLst/>
          </a:prstGeom>
        </ns0:spPr>
        <ns0:txBody>
          <a:bodyPr lIns="0" tIns="0" rIns="0" bIns="0"/>
          <a:lstStyle/>
          <a:p>
            <a:pPr algn="l">
              <a:defRPr sz="4050" b="1" i="0">
                <a:solidFill>
                  <a:srgbClr val="f5f2e8"/>
                </a:solidFill>
              </a:defRPr>
            </a:pPr>
            <a:r>
              <a:rPr lang="ko-KR" altLang="en-US"/>
              <a:t>Stage2 무한 맵 설계</a:t>
            </a:r>
            <a:endParaRPr lang="ko-KR" altLang="en-US"/>
          </a:p>
        </ns0:txBody>
      </ns0:sp>
      <ns0:sp>
        <ns0:nvSpPr>
          <ns0:cNvPr id="4" name=""/>
          <ns0:cNvSpPr>
            <a:spLocks noGrp="1"/>
          </ns0:cNvSpPr>
          <ns0:nvPr/>
        </ns0:nvSpPr>
        <ns0:spPr>
          <a:xfrm>
            <a:off x="800100" y="2247900"/>
            <a:ext cx="13468350" cy="971550"/>
          </a:xfrm>
          <a:prstGeom prst="rect">
            <a:avLst/>
          </a:prstGeom>
        </ns0:spPr>
        <ns0:txBody>
          <a:bodyPr lIns="0" tIns="0" rIns="0" bIns="0"/>
          <a:lstStyle/>
          <a:p>
            <a:pPr algn="l">
              <a:defRPr sz="1875" b="0" i="0">
                <a:solidFill>
                  <a:srgbClr val="dad6c8"/>
                </a:solidFill>
              </a:defRPr>
            </a:pPr>
            <a:r>
              <a:rPr lang="en-US" altLang="ko-KR"/>
              <a:t>Tile Manager</a:t>
            </a:r>
            <a:r>
              <a:rPr lang="ko-KR" altLang="en-US"/>
              <a:t>를 만들어</a:t>
            </a:r>
            <a:r>
              <a:rPr lang="en-US" altLang="ko-KR"/>
              <a:t>,</a:t>
            </a:r>
            <a:r>
              <a:rPr lang="ko-KR" altLang="en-US"/>
              <a:t> 트럭이 타일의 </a:t>
            </a:r>
            <a:r>
              <a:rPr lang="en-US" altLang="ko-KR"/>
              <a:t>Next Tile Trigger</a:t>
            </a:r>
            <a:r>
              <a:rPr lang="ko-KR" altLang="en-US"/>
              <a:t> 지점에 도착을 하면</a:t>
            </a:r>
            <a:r>
              <a:rPr lang="en-US" altLang="ko-KR"/>
              <a:t>,</a:t>
            </a:r>
            <a:endParaRPr lang="en-US" altLang="ko-KR"/>
          </a:p>
          <a:p>
            <a:pPr algn="l">
              <a:defRPr sz="1875" b="0" i="0">
                <a:solidFill>
                  <a:srgbClr val="dad6c8"/>
                </a:solidFill>
              </a:defRPr>
            </a:pPr>
            <a:r>
              <a:rPr lang="ko-KR" altLang="en-US"/>
              <a:t>현재 타일의 </a:t>
            </a:r>
            <a:r>
              <a:rPr lang="en-US" altLang="ko-KR"/>
              <a:t>Exit Point</a:t>
            </a:r>
            <a:r>
              <a:rPr lang="ko-KR" altLang="en-US"/>
              <a:t>에 ULevelStreamingDynamic으로 </a:t>
            </a:r>
            <a:r>
              <a:rPr lang="en-US" altLang="ko-KR"/>
              <a:t>Entry Point</a:t>
            </a:r>
            <a:r>
              <a:rPr lang="ko-KR" altLang="en-US"/>
              <a:t>가 오도록 설계를 하였습니다</a:t>
            </a:r>
            <a:r>
              <a:rPr lang="en-US" altLang="ko-KR"/>
              <a:t>.</a:t>
            </a:r>
            <a:endParaRPr lang="en-US" altLang="ko-KR"/>
          </a:p>
        </ns0:txBody>
      </ns0:sp>
      <ns0:sp>
        <ns0:nvSpPr>
          <ns0:cNvPr id="5" name=""/>
          <ns0:cNvSpPr>
            <a:spLocks noGrp="1"/>
          </ns0:cNvSpPr>
          <ns0:nvPr/>
        </ns0:nvSpPr>
        <ns0:spPr>
          <a:xfrm>
            <a:off x="800100" y="3499904"/>
            <a:ext cx="7553706" cy="1211504"/>
          </a:xfrm>
          <a:prstGeom prst="roundRect">
            <a:avLst>
              <a:gd name="adj" fmla="val 6290"/>
            </a:avLst>
          </a:prstGeom>
          <a:solidFill>
            <a:srgbClr val="243026"/>
          </a:solidFill>
        </ns0:spPr>
        <ns0:txBody>
          <a:bodyPr anchor="ctr"/>
          <a:p>
            <a:pPr algn="ctr">
              <a:defRPr/>
            </a:pPr>
            <a:endParaRPr lang="ko-KR" altLang="en-US"/>
          </a:p>
        </ns0:txBody>
      </ns0:sp>
      <ns0:sp>
        <ns0:nvSpPr>
          <ns0:cNvPr id="6" name=""/>
          <ns0:cNvSpPr>
            <a:spLocks noGrp="1"/>
          </ns0:cNvSpPr>
          <ns0:nvPr/>
        </ns0:nvSpPr>
        <ns0:spPr>
          <a:xfrm>
            <a:off x="1028700" y="3695700"/>
            <a:ext cx="7105650" cy="285750"/>
          </a:xfrm>
          <a:prstGeom prst="rect">
            <a:avLst/>
          </a:prstGeom>
        </ns0:spPr>
        <ns0:txBody>
          <a:bodyPr lIns="0" tIns="0" rIns="0" bIns="0"/>
          <a:lstStyle/>
          <a:p>
            <a:pPr algn="l">
              <a:defRPr sz="1725" b="1" i="0">
                <a:solidFill>
                  <a:srgbClr val="c76540"/>
                </a:solidFill>
              </a:defRPr>
            </a:pPr>
            <a:r>
              <a:rPr lang="ko-KR" altLang="en-US"/>
              <a:t>문제점</a:t>
            </a:r>
            <a:endParaRPr lang="ko-KR" altLang="en-US"/>
          </a:p>
        </ns0:txBody>
      </ns0:sp>
      <ns0:sp>
        <ns0:nvSpPr>
          <ns0:cNvPr id="7" name=""/>
          <ns0:cNvSpPr>
            <a:spLocks noGrp="1"/>
          </ns0:cNvSpPr>
          <ns0:nvPr/>
        </ns0:nvSpPr>
        <ns0:spPr>
          <a:xfrm>
            <a:off x="1028700" y="4057650"/>
            <a:ext cx="7105650" cy="476250"/>
          </a:xfrm>
          <a:prstGeom prst="rect">
            <a:avLst/>
          </a:prstGeom>
        </ns0:spPr>
        <ns0:txBody>
          <a:bodyPr lIns="0" tIns="0" rIns="0" bIns="0"/>
          <a:lstStyle/>
          <a:p>
            <a:pPr algn="l">
              <a:defRPr sz="1350" b="0" i="0">
                <a:solidFill>
                  <a:srgbClr val="dad6c8"/>
                </a:solidFill>
              </a:defRPr>
            </a:pPr>
            <a:r>
              <a:rPr lang="ko-KR" altLang="en-US" sz="1500"/>
              <a:t>다음 타일을 동적으로 로드하는 과정에서 게임 플레이 중 멈춤 현상이 발생했습니다.</a:t>
            </a:r>
            <a:r>
              <a:rPr lang="en-US" altLang="ko-KR" sz="1500"/>
              <a:t/>
            </a:r>
            <a:endParaRPr lang="en-US" altLang="ko-KR" sz="1500"/>
          </a:p>
        </ns0:txBody>
      </ns0:sp>
      <ns0:sp>
        <ns0:nvSpPr>
          <ns0:cNvPr id="8" name=""/>
          <ns0:cNvSpPr>
            <a:spLocks noGrp="1"/>
          </ns0:cNvSpPr>
          <ns0:nvPr/>
        </ns0:nvSpPr>
        <ns0:spPr>
          <a:xfrm>
            <a:off x="800100" y="4844758"/>
            <a:ext cx="7553706" cy="1211504"/>
          </a:xfrm>
          <a:prstGeom prst="roundRect">
            <a:avLst>
              <a:gd name="adj" fmla="val 6290"/>
            </a:avLst>
          </a:prstGeom>
          <a:solidFill>
            <a:srgbClr val="243026"/>
          </a:solidFill>
        </ns0:spPr>
        <ns0:txBody>
          <a:bodyPr anchor="ctr"/>
          <a:p>
            <a:pPr algn="ctr">
              <a:defRPr/>
            </a:pPr>
            <a:endParaRPr lang="ko-KR" altLang="en-US"/>
          </a:p>
        </ns0:txBody>
      </ns0:sp>
      <ns0:sp>
        <ns0:nvSpPr>
          <ns0:cNvPr id="9" name=""/>
          <ns0:cNvSpPr>
            <a:spLocks noGrp="1"/>
          </ns0:cNvSpPr>
          <ns0:nvPr/>
        </ns0:nvSpPr>
        <ns0:spPr>
          <a:xfrm>
            <a:off x="1028700" y="5029200"/>
            <a:ext cx="7105650" cy="285750"/>
          </a:xfrm>
          <a:prstGeom prst="rect">
            <a:avLst/>
          </a:prstGeom>
        </ns0:spPr>
        <ns0:txBody>
          <a:bodyPr lIns="0" tIns="0" rIns="0" bIns="0"/>
          <a:lstStyle/>
          <a:p>
            <a:pPr algn="l">
              <a:defRPr sz="1725" b="1" i="0">
                <a:solidFill>
                  <a:srgbClr val="f0be45"/>
                </a:solidFill>
              </a:defRPr>
            </a:pPr>
            <a:r>
              <a:rPr lang="ko-KR" altLang="en-US"/>
              <a:t>생각해낸 방법</a:t>
            </a:r>
            <a:endParaRPr lang="ko-KR" altLang="en-US"/>
          </a:p>
        </ns0:txBody>
      </ns0:sp>
      <ns0:sp>
        <ns0:nvSpPr>
          <ns0:cNvPr id="10" name=""/>
          <ns0:cNvSpPr>
            <a:spLocks noGrp="1"/>
          </ns0:cNvSpPr>
          <ns0:nvPr/>
        </ns0:nvSpPr>
        <ns0:spPr>
          <a:xfrm>
            <a:off x="1028700" y="5410200"/>
            <a:ext cx="7105650" cy="476250"/>
          </a:xfrm>
          <a:prstGeom prst="rect">
            <a:avLst/>
          </a:prstGeom>
        </ns0:spPr>
        <ns0:txBody>
          <a:bodyPr lIns="0" tIns="0" rIns="0" bIns="0"/>
          <a:lstStyle/>
          <a:p>
            <a:pPr algn="l">
              <a:defRPr sz="1350" b="0" i="0">
                <a:solidFill>
                  <a:srgbClr val="dad6c8"/>
                </a:solidFill>
              </a:defRPr>
            </a:pPr>
            <a:r>
              <a:rPr lang="ko-KR" altLang="en-US" sz="1500"/>
              <a:t>동적 로드 오버헤드를 줄이기 위해, 타일을 미리 로드한 뒤 필요한 위치로 옮기는 방식을 선택했습니다.</a:t>
            </a:r>
            <a:r>
              <a:rPr lang="en-US" altLang="ko-KR" sz="1500"/>
              <a:t/>
            </a:r>
            <a:r>
              <a:rPr lang="ko-KR" altLang="en-US" sz="1500"/>
              <a:t/>
            </a:r>
            <a:r>
              <a:rPr lang="en-US" altLang="ko-KR" sz="1500"/>
              <a:t/>
            </a:r>
            <a:endParaRPr lang="en-US" altLang="ko-KR" sz="1500"/>
          </a:p>
        </ns0:txBody>
      </ns0:sp>
      <ns0:sp>
        <ns0:nvSpPr>
          <ns0:cNvPr id="11" name=""/>
          <ns0:cNvSpPr>
            <a:spLocks noGrp="1"/>
          </ns0:cNvSpPr>
          <ns0:nvPr/>
        </ns0:nvSpPr>
        <ns0:spPr>
          <a:xfrm>
            <a:off x="800100" y="6189612"/>
            <a:ext cx="7553706" cy="1211504"/>
          </a:xfrm>
          <a:prstGeom prst="roundRect">
            <a:avLst>
              <a:gd name="adj" fmla="val 6290"/>
            </a:avLst>
          </a:prstGeom>
          <a:solidFill>
            <a:srgbClr val="243026"/>
          </a:solidFill>
        </ns0:spPr>
        <ns0:txBody>
          <a:bodyPr anchor="ctr"/>
          <a:p>
            <a:pPr algn="ctr">
              <a:defRPr/>
            </a:pPr>
            <a:endParaRPr lang="ko-KR" altLang="en-US"/>
          </a:p>
        </ns0:txBody>
      </ns0:sp>
      <ns0:sp>
        <ns0:nvSpPr>
          <ns0:cNvPr id="12" name=""/>
          <ns0:cNvSpPr>
            <a:spLocks noGrp="1"/>
          </ns0:cNvSpPr>
          <ns0:nvPr/>
        </ns0:nvSpPr>
        <ns0:spPr>
          <a:xfrm>
            <a:off x="1028700" y="6381750"/>
            <a:ext cx="7105650" cy="285750"/>
          </a:xfrm>
          <a:prstGeom prst="rect">
            <a:avLst/>
          </a:prstGeom>
        </ns0:spPr>
        <ns0:txBody>
          <a:bodyPr lIns="0" tIns="0" rIns="0" bIns="0"/>
          <a:lstStyle/>
          <a:p>
            <a:pPr algn="l">
              <a:defRPr sz="1725" b="1" i="0">
                <a:solidFill>
                  <a:srgbClr val="91a765"/>
                </a:solidFill>
              </a:defRPr>
            </a:pPr>
            <a:r>
              <a:rPr lang="ko-KR" altLang="en-US"/>
              <a:t>타일의 생성</a:t>
            </a:r>
            <a:endParaRPr lang="ko-KR" altLang="en-US"/>
          </a:p>
        </ns0:txBody>
      </ns0:sp>
      <ns0:sp>
        <ns0:nvSpPr>
          <ns0:cNvPr id="13" name=""/>
          <ns0:cNvSpPr>
            <a:spLocks noGrp="1"/>
          </ns0:cNvSpPr>
          <ns0:nvPr/>
        </ns0:nvSpPr>
        <ns0:spPr>
          <a:xfrm>
            <a:off x="1028700" y="6743700"/>
            <a:ext cx="7105650" cy="476250"/>
          </a:xfrm>
          <a:prstGeom prst="rect">
            <a:avLst/>
          </a:prstGeom>
        </ns0:spPr>
        <ns0:txBody>
          <a:bodyPr lIns="0" tIns="0" rIns="0" bIns="0"/>
          <a:lstStyle/>
          <a:p>
            <a:pPr algn="l">
              <a:defRPr sz="1350" b="0" i="0">
                <a:solidFill>
                  <a:srgbClr val="dad6c8"/>
                </a:solidFill>
              </a:defRPr>
            </a:pPr>
            <a:r>
              <a:rPr lang="en-US" altLang="ko-KR" sz="1500"/>
              <a:t>Stage2 시작 시 타일을 미리 생성하고 풀에 등록한 뒤, 플레이어 시야 밖의 주차 위치로 옮겨두었습니다.</a:t>
            </a:r>
            <a:r>
              <a:rPr lang="ko-KR" altLang="en-US" sz="1500"/>
              <a:t/>
            </a:r>
            <a:r>
              <a:rPr lang="en-US" altLang="ko-KR" sz="1500"/>
              <a:t/>
            </a:r>
            <a:r>
              <a:rPr lang="ko-KR" altLang="en-US" sz="1500"/>
              <a:t/>
            </a:r>
            <a:r>
              <a:rPr lang="en-US" altLang="ko-KR" sz="1500"/>
              <a:t/>
            </a:r>
            <a:r>
              <a:rPr lang="ko-KR" altLang="en-US" sz="1500"/>
              <a:t/>
            </a:r>
            <a:r>
              <a:rPr lang="en-US" altLang="ko-KR" sz="1500"/>
              <a:t/>
            </a:r>
            <a:endParaRPr lang="en-US" altLang="ko-KR" sz="1500"/>
          </a:p>
        </ns0:txBody>
      </ns0:sp>
      <ns0:sp>
        <ns0:nvSpPr>
          <ns0:cNvPr id="14" name=""/>
          <ns0:cNvSpPr>
            <a:spLocks noGrp="1"/>
          </ns0:cNvSpPr>
          <ns0:nvPr/>
        </ns0:nvSpPr>
        <ns0:spPr>
          <a:xfrm>
            <a:off x="800100" y="7534466"/>
            <a:ext cx="7553706" cy="1211504"/>
          </a:xfrm>
          <a:prstGeom prst="roundRect">
            <a:avLst>
              <a:gd name="adj" fmla="val 6290"/>
            </a:avLst>
          </a:prstGeom>
          <a:solidFill>
            <a:srgbClr val="243026"/>
          </a:solidFill>
        </ns0:spPr>
        <ns0:txBody>
          <a:bodyPr anchor="ctr"/>
          <a:p>
            <a:pPr algn="ctr">
              <a:defRPr/>
            </a:pPr>
            <a:endParaRPr lang="ko-KR" altLang="en-US"/>
          </a:p>
        </ns0:txBody>
      </ns0:sp>
      <ns0:sp>
        <ns0:nvSpPr>
          <ns0:cNvPr id="15" name=""/>
          <ns0:cNvSpPr>
            <a:spLocks noGrp="1"/>
          </ns0:cNvSpPr>
          <ns0:nvPr/>
        </ns0:nvSpPr>
        <ns0:spPr>
          <a:xfrm>
            <a:off x="1028700" y="7734300"/>
            <a:ext cx="7105650" cy="285750"/>
          </a:xfrm>
          <a:prstGeom prst="rect">
            <a:avLst/>
          </a:prstGeom>
        </ns0:spPr>
        <ns0:txBody>
          <a:bodyPr lIns="0" tIns="0" rIns="0" bIns="0"/>
          <a:lstStyle/>
          <a:p>
            <a:pPr algn="l">
              <a:defRPr sz="1725" b="1" i="0">
                <a:solidFill>
                  <a:srgbClr val="77a6c8"/>
                </a:solidFill>
              </a:defRPr>
            </a:pPr>
            <a:r>
              <a:rPr lang="ko-KR" altLang="en-US"/>
              <a:t>타일의 삭제</a:t>
            </a:r>
            <a:endParaRPr lang="ko-KR" altLang="en-US"/>
          </a:p>
        </ns0:txBody>
      </ns0:sp>
      <ns0:sp>
        <ns0:nvSpPr>
          <ns0:cNvPr id="16" name=""/>
          <ns0:cNvSpPr>
            <a:spLocks noGrp="1"/>
          </ns0:cNvSpPr>
          <ns0:nvPr/>
        </ns0:nvSpPr>
        <ns0:spPr>
          <a:xfrm>
            <a:off x="1028700" y="8096250"/>
            <a:ext cx="7105650" cy="476250"/>
          </a:xfrm>
          <a:prstGeom prst="rect">
            <a:avLst/>
          </a:prstGeom>
        </ns0:spPr>
        <ns0:txBody>
          <a:bodyPr lIns="0" tIns="0" rIns="0" bIns="0"/>
          <a:lstStyle/>
          <a:p>
            <a:pPr algn="l">
              <a:defRPr sz="1350" b="0" i="0">
                <a:solidFill>
                  <a:srgbClr val="dad6c8"/>
                </a:solidFill>
              </a:defRPr>
            </a:pPr>
            <a:r>
              <a:rPr lang="ko-KR" altLang="en-US" sz="1500"/>
              <a:t>기존 타일을 삭제하지 않고 오래된 타일 정보를 풀에 저장한 뒤,</a:t>
            </a:r>
            <a:r>
              <a:rPr lang="en-US" altLang="ko-KR" sz="1500"/>
              <a:t/>
            </a:r>
            <a:r>
              <a:rPr lang="ko-KR" altLang="en-US" sz="1500"/>
              <a:t/>
            </a:r>
            <a:r>
              <a:rPr lang="en-US" altLang="ko-KR" sz="1500"/>
              <a:t/>
            </a:r>
            <a:endParaRPr lang="en-US" altLang="ko-KR" sz="1500"/>
          </a:p>
          <a:p>
            <a:pPr algn="l">
              <a:defRPr sz="1350" b="0" i="0">
                <a:solidFill>
                  <a:srgbClr val="dad6c8"/>
                </a:solidFill>
              </a:defRPr>
            </a:pPr>
            <a:r>
              <a:rPr lang="ko-KR" altLang="en-US" sz="1500"/>
              <a:t>플레이어 시야 밖으로 옮겨 재사용하는 방식을 선택했습니다.</a:t>
            </a:r>
            <a:r>
              <a:rPr lang="en-US" altLang="ko-KR" sz="1500"/>
              <a:t/>
            </a:r>
            <a:endParaRPr lang="en-US" altLang="ko-KR" sz="1500"/>
          </a:p>
        </ns0:txBody>
      </ns0:sp>
      <ns0:pic>
        <ns0:nvPicPr>
          <ns0:cNvPr id="18" name=""/>
          <ns0:cNvPicPr>
            <a:picLocks noChangeAspect="1"/>
          </ns0:cNvPicPr>
          <ns0:nvPr/>
        </ns0:nvPicPr>
        <ns0:blipFill rotWithShape="1">
          <a:blip ns2:embed="rId3"/>
          <a:stretch>
            <a:fillRect/>
          </a:stretch>
        </ns0:blipFill>
        <ns0:spPr>
          <a:xfrm>
            <a:off x="8959188" y="3765462"/>
            <a:ext cx="8326149" cy="3978685"/>
          </a:xfrm>
          <a:prstGeom prst="roundRect">
            <a:avLst>
              <a:gd name="adj" fmla="val 2646"/>
            </a:avLst>
          </a:prstGeom>
        </ns0:spPr>
      </ns0:pic>
    </ns0:spTree>
  </ns0:cSld>
  <ns0:clrMapOvr>
    <a:masterClrMapping/>
  </ns0:clrMapOvr>
  <ns3:AlternateContent>
    <ns3:Choice Requires="p14">
      <ns0:transition ns3:Ignorable="p14" ns4:dur="500"/>
    </ns3:Choice>
    <ns3:Fallback>
      <ns0:transition/>
    </ns3:Fallback>
  </ns3:AlternateContent>
</ns0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01214"/>
          </a:solidFill>
          <a:ln w="9525">
            <a:noFill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itle"/>
          <p:cNvSpPr/>
          <p:nvPr/>
        </p:nvSpPr>
        <p:spPr>
          <a:xfrm>
            <a:off x="804672" y="932688"/>
            <a:ext cx="16642080" cy="65836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sz="2850" b="1">
                <a:solidFill>
                  <a:srgbClr val="f8fafc"/>
                </a:solidFill>
                <a:latin typeface="Aptos"/>
                <a:ea typeface="맑은 고딕"/>
              </a:rPr>
              <a:t>Stage2 무한 맵 결과</a:t>
            </a:r>
            <a:endParaRPr lang="ko-KR" sz="2850" b="1">
              <a:solidFill>
                <a:srgbClr val="f8fafc"/>
              </a:solidFill>
              <a:latin typeface="Aptos"/>
              <a:ea typeface="맑은 고딕"/>
            </a:endParaRPr>
          </a:p>
        </p:txBody>
      </p:sp>
      <p:sp>
        <p:nvSpPr>
          <p:cNvPr id="5" name="Lead"/>
          <p:cNvSpPr/>
          <p:nvPr/>
        </p:nvSpPr>
        <p:spPr>
          <a:xfrm>
            <a:off x="822960" y="1700784"/>
            <a:ext cx="16276320" cy="49377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sz="1600">
                <a:solidFill>
                  <a:srgbClr val="cbd5e1"/>
                </a:solidFill>
                <a:latin typeface="Aptos"/>
                <a:ea typeface="맑은 고딕"/>
              </a:rPr>
              <a:t>타일을 매번 새로 로드하지 않고 풀에 보관한 뒤 재배치해, 무한 맵이 이어질 때 발생하던 순간 멈춤을 줄였습니다.</a:t>
            </a:r>
            <a:endParaRPr lang="ko-KR" sz="1600">
              <a:solidFill>
                <a:srgbClr val="cbd5e1"/>
              </a:solidFill>
              <a:latin typeface="Aptos"/>
              <a:ea typeface="맑은 고딕"/>
            </a:endParaRPr>
          </a:p>
        </p:txBody>
      </p:sp>
      <p:sp>
        <p:nvSpPr>
          <p:cNvPr id="6" name="Card 하나의 타일 Level"/>
          <p:cNvSpPr/>
          <p:nvPr/>
        </p:nvSpPr>
        <p:spPr>
          <a:xfrm>
            <a:off x="804672" y="2852928"/>
            <a:ext cx="8092440" cy="5285232"/>
          </a:xfrm>
          <a:prstGeom prst="roundRect">
            <a:avLst>
              <a:gd name="adj" fmla="val 16667"/>
            </a:avLst>
          </a:prstGeom>
          <a:solidFill>
            <a:srgbClr val="1c2228"/>
          </a:solidFill>
          <a:ln w="9525">
            <a:solidFill>
              <a:srgbClr val="303844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Image Back 하나의 타일 Level"/>
          <p:cNvSpPr/>
          <p:nvPr/>
        </p:nvSpPr>
        <p:spPr>
          <a:xfrm>
            <a:off x="1033272" y="3108960"/>
            <a:ext cx="7635240" cy="4114800"/>
          </a:xfrm>
          <a:prstGeom prst="rect">
            <a:avLst/>
          </a:prstGeom>
          <a:solidFill>
            <a:srgbClr val="070808"/>
          </a:solidFill>
          <a:ln w="9525">
            <a:noFill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8" name="Image 하나의 타일 Level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33272" y="3108960"/>
            <a:ext cx="7635240" cy="4114800"/>
          </a:xfrm>
          <a:prstGeom prst="rect">
            <a:avLst/>
          </a:prstGeom>
        </p:spPr>
      </p:pic>
      <p:sp>
        <p:nvSpPr>
          <p:cNvPr id="9" name="Accent 하나의 타일 Level"/>
          <p:cNvSpPr/>
          <p:nvPr/>
        </p:nvSpPr>
        <p:spPr>
          <a:xfrm>
            <a:off x="1060704" y="7443216"/>
            <a:ext cx="658368" cy="64008"/>
          </a:xfrm>
          <a:prstGeom prst="rect">
            <a:avLst/>
          </a:prstGeom>
          <a:solidFill>
            <a:srgbClr val="7b8f5a"/>
          </a:solidFill>
          <a:ln w="9525">
            <a:solidFill>
              <a:srgbClr val="7b8f5a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Caption 하나의 타일 Level"/>
          <p:cNvSpPr/>
          <p:nvPr/>
        </p:nvSpPr>
        <p:spPr>
          <a:xfrm>
            <a:off x="1847088" y="7287768"/>
            <a:ext cx="6812280" cy="56692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sz="2000" b="1">
                <a:solidFill>
                  <a:srgbClr val="f8fafc"/>
                </a:solidFill>
                <a:latin typeface="Aptos"/>
                <a:ea typeface="맑은 고딕"/>
              </a:rPr>
              <a:t>하나의 타일 Level</a:t>
            </a:r>
            <a:endParaRPr lang="ko-KR" sz="1040" b="1">
              <a:solidFill>
                <a:srgbClr val="f8fafc"/>
              </a:solidFill>
              <a:latin typeface="Aptos"/>
              <a:ea typeface="맑은 고딕"/>
            </a:endParaRPr>
          </a:p>
          <a:p>
            <a:pPr>
              <a:defRPr/>
            </a:pPr>
            <a:r>
              <a:rPr lang="ko-KR" sz="1600">
                <a:solidFill>
                  <a:srgbClr val="cbd5e1"/>
                </a:solidFill>
                <a:latin typeface="Aptos"/>
                <a:ea typeface="맑은 고딕"/>
              </a:rPr>
              <a:t>월드에 배치되는 단일 타일 단위입니다.</a:t>
            </a:r>
            <a:endParaRPr lang="ko-KR" sz="1600">
              <a:solidFill>
                <a:srgbClr val="cbd5e1"/>
              </a:solidFill>
              <a:latin typeface="Aptos"/>
              <a:ea typeface="맑은 고딕"/>
            </a:endParaRPr>
          </a:p>
        </p:txBody>
      </p:sp>
      <p:sp>
        <p:nvSpPr>
          <p:cNvPr id="11" name="Card 플레이 중 이어진 타일"/>
          <p:cNvSpPr/>
          <p:nvPr/>
        </p:nvSpPr>
        <p:spPr>
          <a:xfrm>
            <a:off x="9390888" y="2852928"/>
            <a:ext cx="8092440" cy="5285232"/>
          </a:xfrm>
          <a:prstGeom prst="roundRect">
            <a:avLst>
              <a:gd name="adj" fmla="val 16667"/>
            </a:avLst>
          </a:prstGeom>
          <a:solidFill>
            <a:srgbClr val="1c2228"/>
          </a:solidFill>
          <a:ln w="9525">
            <a:solidFill>
              <a:srgbClr val="303844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Image Back 플레이 중 이어진 타일"/>
          <p:cNvSpPr/>
          <p:nvPr/>
        </p:nvSpPr>
        <p:spPr>
          <a:xfrm>
            <a:off x="9619488" y="3108960"/>
            <a:ext cx="7635240" cy="4114800"/>
          </a:xfrm>
          <a:prstGeom prst="rect">
            <a:avLst/>
          </a:prstGeom>
          <a:solidFill>
            <a:srgbClr val="070808"/>
          </a:solidFill>
          <a:ln w="9525">
            <a:noFill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13" name="Image 플레이 중 이어진 타일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619488" y="3108960"/>
            <a:ext cx="7635240" cy="4114800"/>
          </a:xfrm>
          <a:prstGeom prst="rect">
            <a:avLst/>
          </a:prstGeom>
        </p:spPr>
      </p:pic>
      <p:sp>
        <p:nvSpPr>
          <p:cNvPr id="14" name="Accent 플레이 중 이어진 타일"/>
          <p:cNvSpPr/>
          <p:nvPr/>
        </p:nvSpPr>
        <p:spPr>
          <a:xfrm>
            <a:off x="9646920" y="7443216"/>
            <a:ext cx="658368" cy="64008"/>
          </a:xfrm>
          <a:prstGeom prst="rect">
            <a:avLst/>
          </a:prstGeom>
          <a:solidFill>
            <a:srgbClr val="4f7c9a"/>
          </a:solidFill>
          <a:ln w="9525">
            <a:solidFill>
              <a:srgbClr val="4f7c9a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Caption 플레이 중 이어진 타일"/>
          <p:cNvSpPr/>
          <p:nvPr/>
        </p:nvSpPr>
        <p:spPr>
          <a:xfrm>
            <a:off x="10433304" y="7287768"/>
            <a:ext cx="6812280" cy="56692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sz="2000" b="1">
                <a:solidFill>
                  <a:srgbClr val="f8fafc"/>
                </a:solidFill>
                <a:latin typeface="Aptos"/>
                <a:ea typeface="맑은 고딕"/>
              </a:rPr>
              <a:t>플레이 중 이어진 타일</a:t>
            </a:r>
            <a:endParaRPr lang="ko-KR" sz="1040" b="1">
              <a:solidFill>
                <a:srgbClr val="f8fafc"/>
              </a:solidFill>
              <a:latin typeface="Aptos"/>
              <a:ea typeface="맑은 고딕"/>
            </a:endParaRPr>
          </a:p>
          <a:p>
            <a:pPr>
              <a:defRPr/>
            </a:pPr>
            <a:r>
              <a:rPr lang="ko-KR" sz="1600">
                <a:solidFill>
                  <a:srgbClr val="cbd5e1"/>
                </a:solidFill>
                <a:latin typeface="Aptos"/>
                <a:ea typeface="맑은 고딕"/>
              </a:rPr>
              <a:t>풀에서 꺼낸 타일을 Exit/Entry 기준으로 이어 붙였습니다.</a:t>
            </a:r>
            <a:endParaRPr lang="ko-KR" sz="1600">
              <a:solidFill>
                <a:srgbClr val="cbd5e1"/>
              </a:solidFill>
              <a:latin typeface="Aptos"/>
              <a:ea typeface="맑은 고딕"/>
            </a:endParaRPr>
          </a:p>
        </p:txBody>
      </p:sp>
      <p:sp>
        <p:nvSpPr>
          <p:cNvPr id="16" name="Result Band"/>
          <p:cNvSpPr/>
          <p:nvPr/>
        </p:nvSpPr>
        <p:spPr>
          <a:xfrm>
            <a:off x="804672" y="8522208"/>
            <a:ext cx="16678656" cy="868680"/>
          </a:xfrm>
          <a:prstGeom prst="roundRect">
            <a:avLst>
              <a:gd name="adj" fmla="val 16667"/>
            </a:avLst>
          </a:prstGeom>
          <a:solidFill>
            <a:srgbClr val="1b211d"/>
          </a:solidFill>
          <a:ln w="9525">
            <a:solidFill>
              <a:srgbClr val="34402f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" name="Result Band Text"/>
          <p:cNvSpPr/>
          <p:nvPr/>
        </p:nvSpPr>
        <p:spPr>
          <a:xfrm>
            <a:off x="1097280" y="8759952"/>
            <a:ext cx="15910560" cy="29260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sz="1500" b="1">
                <a:solidFill>
                  <a:srgbClr val="f8fafc"/>
                </a:solidFill>
                <a:latin typeface="Aptos"/>
                <a:ea typeface="맑은 고딕"/>
              </a:rPr>
              <a:t>결과: Next Tile Trigger 순간의 동적 로드 부담을 줄이고, 플레이 중 무한 맵 연결 흐름을 안정화했습니다.</a:t>
            </a:r>
            <a:endParaRPr lang="ko-KR" sz="1500" b="1">
              <a:solidFill>
                <a:srgbClr val="f8fafc"/>
              </a:solidFill>
              <a:latin typeface="Aptos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a="http://schemas.openxmlformats.org/drawingml/2006/main" xmlns:ns2="http://schemas.openxmlformats.org/markup-compatibility/2006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01214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slide-title"/>
          <p:cNvSpPr>
            <a:spLocks noGrp="1"/>
          </p:cNvSpPr>
          <p:nvPr/>
        </p:nvSpPr>
        <p:spPr>
          <a:xfrm>
            <a:off x="804672" y="777240"/>
            <a:ext cx="16687800" cy="19659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spcAft>
                <a:spcPts val="700"/>
              </a:spcAft>
              <a:defRPr/>
            </a:pPr>
            <a:r>
              <a:rPr lang="ko-KR" sz="4100" b="1">
                <a:solidFill>
                  <a:srgbClr val="f5f2e8"/>
                </a:solidFill>
                <a:latin typeface="맑은 고딕"/>
                <a:ea typeface="맑은 고딕"/>
                <a:cs typeface="맑은 고딕"/>
              </a:rPr>
              <a:t>햄토리 탈출 게임</a:t>
            </a:r>
            <a:endParaRPr lang="ko-KR" sz="4100" b="1">
              <a:solidFill>
                <a:srgbClr val="f5f2e8"/>
              </a:solidFill>
              <a:latin typeface="맑은 고딕"/>
              <a:ea typeface="맑은 고딕"/>
              <a:cs typeface="맑은 고딕"/>
            </a:endParaRPr>
          </a:p>
          <a:p>
            <a:pPr>
              <a:spcAft>
                <a:spcPts val="700"/>
              </a:spcAft>
              <a:defRPr/>
            </a:pPr>
            <a:r>
              <a:rPr lang="en-US" altLang="ko-KR" sz="190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>2D 게임 프로그래밍 시간에 만든, 처음으로 특정 사용자를 떠올리며 완성한 탈출형 2D 게임입니다.</a:t>
            </a:r>
            <a:r>
              <a:rPr lang="ko-KR" altLang="en-US" sz="190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/>
            </a:r>
            <a:r>
              <a:rPr lang="en-US" altLang="ko-KR" sz="190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/>
            </a:r>
            <a:r>
              <a:rPr lang="ko-KR" altLang="en-US" sz="190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/>
            </a:r>
            <a:r>
              <a:rPr lang="en-US" altLang="ko-KR" sz="190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/>
            </a:r>
            <a:r>
              <a:rPr lang="ko-KR" altLang="en-US" sz="190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altLang="en-US" sz="1900">
              <a:solidFill>
                <a:srgbClr val="dad6c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Content Card 27"/>
          <p:cNvSpPr txBox="1"/>
          <p:nvPr/>
        </p:nvSpPr>
        <p:spPr>
          <a:xfrm>
            <a:off x="804672" y="2907792"/>
            <a:ext cx="5212080" cy="1719072"/>
          </a:xfrm>
          <a:prstGeom prst="roundRect">
            <a:avLst>
              <a:gd name="adj" fmla="val 16667"/>
            </a:avLst>
          </a:prstGeom>
          <a:solidFill>
            <a:srgbClr val="243026"/>
          </a:solidFill>
          <a:ln w="12700">
            <a:solidFill>
              <a:srgbClr val="485244"/>
            </a:solidFill>
          </a:ln>
        </p:spPr>
        <p:txBody>
          <a:bodyPr wrap="square" lIns="190500" tIns="152400" rIns="190500" bIns="152400"/>
          <a:lstStyle/>
          <a:p>
            <a:pPr>
              <a:spcAft>
                <a:spcPts val="700"/>
              </a:spcAft>
              <a:defRPr/>
            </a:pPr>
            <a:r>
              <a:rPr lang="ko-KR" sz="2050" b="1">
                <a:solidFill>
                  <a:srgbClr val="9b8bd7"/>
                </a:solidFill>
                <a:latin typeface="맑은 고딕"/>
                <a:ea typeface="맑은 고딕"/>
                <a:cs typeface="맑은 고딕"/>
              </a:rPr>
              <a:t>Stage 1</a:t>
            </a:r>
            <a:endParaRPr lang="ko-KR" sz="2050" b="1">
              <a:solidFill>
                <a:srgbClr val="9b8bd7"/>
              </a:solidFill>
              <a:latin typeface="맑은 고딕"/>
              <a:ea typeface="맑은 고딕"/>
              <a:cs typeface="맑은 고딕"/>
            </a:endParaRPr>
          </a:p>
          <a:p>
            <a:pPr>
              <a:spcAft>
                <a:spcPts val="700"/>
              </a:spcAft>
              <a:defRPr/>
            </a:pPr>
            <a:r>
              <a:rPr lang="ko-KR" sz="150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>구르는 돌을 피해 위쪽 탈출구로 이동하는 회피 중심 스테이지입니다.</a:t>
            </a:r>
            <a:endParaRPr lang="ko-KR" sz="1500">
              <a:solidFill>
                <a:srgbClr val="dad6c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Content Card 28"/>
          <p:cNvSpPr txBox="1"/>
          <p:nvPr/>
        </p:nvSpPr>
        <p:spPr>
          <a:xfrm>
            <a:off x="6547104" y="2907792"/>
            <a:ext cx="5212080" cy="1719072"/>
          </a:xfrm>
          <a:prstGeom prst="roundRect">
            <a:avLst>
              <a:gd name="adj" fmla="val 16667"/>
            </a:avLst>
          </a:prstGeom>
          <a:solidFill>
            <a:srgbClr val="243026"/>
          </a:solidFill>
          <a:ln w="12700">
            <a:solidFill>
              <a:srgbClr val="485244"/>
            </a:solidFill>
          </a:ln>
        </p:spPr>
        <p:txBody>
          <a:bodyPr wrap="square" lIns="190500" tIns="152400" rIns="190500" bIns="152400"/>
          <a:lstStyle/>
          <a:p>
            <a:pPr>
              <a:spcAft>
                <a:spcPts val="700"/>
              </a:spcAft>
              <a:defRPr/>
            </a:pPr>
            <a:r>
              <a:rPr lang="ko-KR" sz="2050" b="1">
                <a:solidFill>
                  <a:srgbClr val="77a6c8"/>
                </a:solidFill>
                <a:latin typeface="맑은 고딕"/>
                <a:ea typeface="맑은 고딕"/>
                <a:cs typeface="맑은 고딕"/>
              </a:rPr>
              <a:t>Stage 2</a:t>
            </a:r>
            <a:endParaRPr lang="ko-KR" sz="2050" b="1">
              <a:solidFill>
                <a:srgbClr val="77a6c8"/>
              </a:solidFill>
              <a:latin typeface="맑은 고딕"/>
              <a:ea typeface="맑은 고딕"/>
              <a:cs typeface="맑은 고딕"/>
            </a:endParaRPr>
          </a:p>
          <a:p>
            <a:pPr>
              <a:spcAft>
                <a:spcPts val="700"/>
              </a:spcAft>
              <a:defRPr/>
            </a:pPr>
            <a:r>
              <a:rPr lang="ko-KR" sz="150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>적 NPC의 추격/배회 패턴을 피해서 출구까지 이동합니다.</a:t>
            </a:r>
            <a:endParaRPr lang="ko-KR" sz="1500">
              <a:solidFill>
                <a:srgbClr val="dad6c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Content Card 29"/>
          <p:cNvSpPr txBox="1"/>
          <p:nvPr/>
        </p:nvSpPr>
        <p:spPr>
          <a:xfrm>
            <a:off x="12289536" y="2907792"/>
            <a:ext cx="5212080" cy="1719072"/>
          </a:xfrm>
          <a:prstGeom prst="roundRect">
            <a:avLst>
              <a:gd name="adj" fmla="val 16667"/>
            </a:avLst>
          </a:prstGeom>
          <a:solidFill>
            <a:srgbClr val="243026"/>
          </a:solidFill>
          <a:ln w="12700">
            <a:solidFill>
              <a:srgbClr val="485244"/>
            </a:solidFill>
          </a:ln>
        </p:spPr>
        <p:txBody>
          <a:bodyPr wrap="square" lIns="190500" tIns="152400" rIns="190500" bIns="152400"/>
          <a:lstStyle/>
          <a:p>
            <a:pPr>
              <a:spcAft>
                <a:spcPts val="700"/>
              </a:spcAft>
              <a:defRPr/>
            </a:pPr>
            <a:r>
              <a:rPr lang="ko-KR" sz="2050" b="1">
                <a:solidFill>
                  <a:srgbClr val="c76540"/>
                </a:solidFill>
                <a:latin typeface="맑은 고딕"/>
                <a:ea typeface="맑은 고딕"/>
                <a:cs typeface="맑은 고딕"/>
              </a:rPr>
              <a:t>Stage 3</a:t>
            </a:r>
            <a:endParaRPr lang="ko-KR" sz="2050" b="1">
              <a:solidFill>
                <a:srgbClr val="c76540"/>
              </a:solidFill>
              <a:latin typeface="맑은 고딕"/>
              <a:ea typeface="맑은 고딕"/>
              <a:cs typeface="맑은 고딕"/>
            </a:endParaRPr>
          </a:p>
          <a:p>
            <a:pPr>
              <a:spcAft>
                <a:spcPts val="700"/>
              </a:spcAft>
              <a:defRPr/>
            </a:pPr>
            <a:r>
              <a:rPr lang="ko-KR" sz="150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>NPC를 돌에 유도해 제거한 뒤 돌과 NPC를 피해 탈출합니다.</a:t>
            </a:r>
            <a:endParaRPr lang="ko-KR" sz="1500">
              <a:solidFill>
                <a:srgbClr val="dad6c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" name="Content Card 30"/>
          <p:cNvSpPr txBox="1"/>
          <p:nvPr/>
        </p:nvSpPr>
        <p:spPr>
          <a:xfrm>
            <a:off x="804672" y="5102352"/>
            <a:ext cx="5212080" cy="1719072"/>
          </a:xfrm>
          <a:prstGeom prst="roundRect">
            <a:avLst>
              <a:gd name="adj" fmla="val 16667"/>
            </a:avLst>
          </a:prstGeom>
          <a:solidFill>
            <a:srgbClr val="243026"/>
          </a:solidFill>
          <a:ln w="12700">
            <a:solidFill>
              <a:srgbClr val="485244"/>
            </a:solidFill>
          </a:ln>
        </p:spPr>
        <p:txBody>
          <a:bodyPr wrap="square" lIns="190500" tIns="152400" rIns="190500" bIns="152400"/>
          <a:lstStyle/>
          <a:p>
            <a:pPr>
              <a:spcAft>
                <a:spcPts val="700"/>
              </a:spcAft>
              <a:defRPr/>
            </a:pPr>
            <a:r>
              <a:rPr lang="ko-KR" sz="2050" b="1">
                <a:solidFill>
                  <a:srgbClr val="f0be45"/>
                </a:solidFill>
                <a:latin typeface="맑은 고딕"/>
                <a:ea typeface="맑은 고딕"/>
                <a:cs typeface="맑은 고딕"/>
              </a:rPr>
              <a:t>게임 목표</a:t>
            </a:r>
            <a:endParaRPr lang="ko-KR" sz="2050" b="1">
              <a:solidFill>
                <a:srgbClr val="f0be45"/>
              </a:solidFill>
              <a:latin typeface="맑은 고딕"/>
              <a:ea typeface="맑은 고딕"/>
              <a:cs typeface="맑은 고딕"/>
            </a:endParaRPr>
          </a:p>
          <a:p>
            <a:pPr>
              <a:spcAft>
                <a:spcPts val="700"/>
              </a:spcAft>
              <a:defRPr/>
            </a:pPr>
            <a:r>
              <a:rPr lang="ko-KR" sz="150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>스테이지마다 다른 위험 요소를 피하며 출구까지 이동하는 게임입니다.</a:t>
            </a:r>
            <a:r>
              <a:rPr lang="ko-KR" altLang="en-US" sz="150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/>
            </a:r>
            <a:r>
              <a:rPr lang="en-US" altLang="ko-KR" sz="150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en-US" altLang="ko-KR" sz="1500">
              <a:solidFill>
                <a:srgbClr val="dad6c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Content Card 31"/>
          <p:cNvSpPr txBox="1"/>
          <p:nvPr/>
        </p:nvSpPr>
        <p:spPr>
          <a:xfrm>
            <a:off x="6547104" y="5102352"/>
            <a:ext cx="5212080" cy="1719072"/>
          </a:xfrm>
          <a:prstGeom prst="roundRect">
            <a:avLst>
              <a:gd name="adj" fmla="val 16667"/>
            </a:avLst>
          </a:prstGeom>
          <a:solidFill>
            <a:srgbClr val="243026"/>
          </a:solidFill>
          <a:ln w="12700">
            <a:solidFill>
              <a:srgbClr val="485244"/>
            </a:solidFill>
          </a:ln>
        </p:spPr>
        <p:txBody>
          <a:bodyPr wrap="square" lIns="190500" tIns="152400" rIns="190500" bIns="152400"/>
          <a:lstStyle/>
          <a:p>
            <a:pPr>
              <a:spcAft>
                <a:spcPts val="700"/>
              </a:spcAft>
              <a:defRPr/>
            </a:pPr>
            <a:r>
              <a:rPr lang="ko-KR" altLang="en-US" sz="2050" b="1">
                <a:solidFill>
                  <a:srgbClr val="91a765"/>
                </a:solidFill>
                <a:latin typeface="맑은 고딕"/>
                <a:ea typeface="맑은 고딕"/>
                <a:cs typeface="맑은 고딕"/>
              </a:rPr>
              <a:t>게임 기획 배경</a:t>
            </a:r>
            <a:endParaRPr lang="ko-KR" altLang="en-US" sz="2050" b="1">
              <a:solidFill>
                <a:srgbClr val="91a765"/>
              </a:solidFill>
              <a:latin typeface="맑은 고딕"/>
              <a:ea typeface="맑은 고딕"/>
              <a:cs typeface="맑은 고딕"/>
            </a:endParaRPr>
          </a:p>
          <a:p>
            <a:pPr>
              <a:spcAft>
                <a:spcPts val="700"/>
              </a:spcAft>
              <a:defRPr/>
            </a:pPr>
            <a:r>
              <a:rPr lang="ko-KR" altLang="en-US" sz="150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>어릴 때 즐겼던 캐주얼 게임을 참고해 달라는 요청을 받아, 귀여운 분위기의 회피형 스테이지 게임으로 제작했습니다.</a:t>
            </a:r>
            <a:r>
              <a:rPr lang="en-US" altLang="ko-KR" sz="150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/>
            </a:r>
            <a:r>
              <a:rPr lang="ko-KR" altLang="en-US" sz="150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/>
            </a:r>
            <a:r>
              <a:rPr lang="en-US" altLang="ko-KR" sz="150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en-US" altLang="ko-KR" sz="1500">
              <a:solidFill>
                <a:srgbClr val="dad6c8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ns2:AlternateContent>
    <ns2:Choice Requires="p14">
      <p:transition ns2:Ignorable="p14" ns3:dur="500"/>
    </ns2:Choice>
    <ns2:Fallback>
      <p:transition/>
    </ns2:Fallback>
  </ns2:AlternateContent>
</p:sld>
</file>

<file path=ppt/slides/slide11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01214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slide-title"/>
          <p:cNvSpPr>
            <a:spLocks noGrp="1"/>
          </p:cNvSpPr>
          <p:nvPr/>
        </p:nvSpPr>
        <p:spPr>
          <a:xfrm>
            <a:off x="800100" y="1238250"/>
            <a:ext cx="7658100" cy="1809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spcAft>
                <a:spcPts val="700"/>
              </a:spcAft>
              <a:defRPr sz="4050" b="1" i="0">
                <a:solidFill>
                  <a:srgbClr val="f5f2e8"/>
                </a:solidFill>
              </a:defRPr>
            </a:pPr>
            <a:r>
              <a:rPr lang="ko-KR" b="1">
                <a:solidFill>
                  <a:srgbClr val="f5f2e8"/>
                </a:solidFill>
                <a:latin typeface="맑은 고딕"/>
                <a:ea typeface="맑은 고딕"/>
                <a:cs typeface="맑은 고딕"/>
              </a:rPr>
              <a:t>햄토리 탈출 게임</a:t>
            </a:r>
            <a:r>
              <a:rPr lang="ko-KR" altLang="en-US" b="1">
                <a:solidFill>
                  <a:srgbClr val="f5f2e8"/>
                </a:solidFill>
                <a:latin typeface="맑은 고딕"/>
                <a:ea typeface="맑은 고딕"/>
                <a:cs typeface="맑은 고딕"/>
              </a:rPr>
              <a:t> 구현 내용</a:t>
            </a:r>
            <a:endParaRPr lang="ko-KR" altLang="en-US" b="1">
              <a:solidFill>
                <a:srgbClr val="f5f2e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800100" y="3238500"/>
            <a:ext cx="7639050" cy="9715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75" b="0" i="0">
                <a:solidFill>
                  <a:srgbClr val="dad6c8"/>
                </a:solidFill>
              </a:defRPr>
            </a:pPr>
            <a:r>
              <a:rPr lang="ko-KR" altLang="en-US"/>
              <a:t>플레이어가 햄토리를 조작해 탈출구로 이동하는 게임입니다. 1스테이지는 구르는 돌 회피, 2스테이지는 NPC 회피, 3스테이지는 NPC를 돌에 유도해 제거한 뒤 돌과 NPC를 피해 탈출하는 구조입니다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800100" y="4422762"/>
            <a:ext cx="3760946" cy="1116254"/>
          </a:xfrm>
          <a:prstGeom prst="roundRect">
            <a:avLst>
              <a:gd name="adj" fmla="val 6826"/>
            </a:avLst>
          </a:prstGeom>
          <a:solidFill>
            <a:srgbClr val="243026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971550" y="4572000"/>
            <a:ext cx="34099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725" b="1" i="0">
                <a:solidFill>
                  <a:srgbClr val="9b8bd7"/>
                </a:solidFill>
              </a:defRPr>
            </a:pPr>
            <a:r>
              <a:rPr lang="ko-KR" altLang="en-US"/>
              <a:t>구현 </a:t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971550" y="4933950"/>
            <a:ext cx="3409950" cy="4762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dad6c8"/>
                </a:solidFill>
              </a:defRPr>
            </a:pPr>
            <a:r>
              <a:rPr lang="ko-KR" altLang="en-US"/>
              <a:t>스테이지 구성, 플레이어 이동, 충돌 처리, NPC 추격/배회, 엔딩 전환</a:t>
            </a:r>
            <a:endParaRPr lang="ko-KR" altLang="en-US"/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813313" y="6071867"/>
            <a:ext cx="3760946" cy="1116254"/>
          </a:xfrm>
          <a:prstGeom prst="roundRect">
            <a:avLst>
              <a:gd name="adj" fmla="val 6826"/>
            </a:avLst>
          </a:prstGeom>
          <a:solidFill>
            <a:srgbClr val="243026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976667" y="6221105"/>
            <a:ext cx="34099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725" b="1" i="0">
                <a:solidFill>
                  <a:srgbClr val="77a6c8"/>
                </a:solidFill>
              </a:defRPr>
            </a:pPr>
            <a:r>
              <a:rPr lang="ko-KR" altLang="en-US"/>
              <a:t>환경</a:t>
            </a:r>
            <a:endParaRPr lang="ko-KR" altLang="en-US"/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976667" y="6583055"/>
            <a:ext cx="34099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dad6c8"/>
                </a:solidFill>
              </a:defRPr>
            </a:pPr>
            <a:r>
              <a:rPr lang="ko-KR" altLang="en-US"/>
              <a:t>Python, Pico2D</a:t>
            </a:r>
            <a:endParaRPr lang="ko-KR" altLang="en-US"/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884395" y="7705314"/>
            <a:ext cx="3760946" cy="1116254"/>
          </a:xfrm>
          <a:prstGeom prst="roundRect">
            <a:avLst>
              <a:gd name="adj" fmla="val 6826"/>
            </a:avLst>
          </a:prstGeom>
          <a:solidFill>
            <a:srgbClr val="243026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1047749" y="7843198"/>
            <a:ext cx="34099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725" b="1" i="0">
                <a:solidFill>
                  <a:srgbClr val="f0be45"/>
                </a:solidFill>
              </a:defRPr>
            </a:pPr>
            <a:r>
              <a:rPr lang="en-US" altLang="ko-KR"/>
              <a:t>NPC</a:t>
            </a:r>
            <a:endParaRPr lang="en-US" altLang="ko-KR"/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976666" y="8110465"/>
            <a:ext cx="3409950" cy="4762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 i="0">
                <a:solidFill>
                  <a:srgbClr val="dad6c8"/>
                </a:solidFill>
              </a:defRPr>
            </a:pPr>
            <a:r>
              <a:rPr lang="ko-KR" altLang="en-US"/>
              <a:t>상태머신과 행동트리를 이용해</a:t>
            </a:r>
            <a:r>
              <a:rPr lang="en-US" altLang="ko-KR"/>
              <a:t/>
            </a:r>
            <a:endParaRPr lang="en-US" altLang="ko-KR"/>
          </a:p>
          <a:p>
            <a:pPr algn="l">
              <a:defRPr sz="1350" b="0" i="0">
                <a:solidFill>
                  <a:srgbClr val="dad6c8"/>
                </a:solidFill>
              </a:defRPr>
            </a:pPr>
            <a:r>
              <a:rPr lang="en-US" altLang="ko-KR"/>
              <a:t>NPC</a:t>
            </a:r>
            <a:r>
              <a:rPr lang="ko-KR" altLang="en-US"/>
              <a:t> 적군을 구현</a:t>
            </a:r>
            <a:endParaRPr lang="ko-KR" altLang="en-US"/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8855393" y="609600"/>
            <a:ext cx="8632508" cy="9067800"/>
          </a:xfrm>
          <a:prstGeom prst="roundRect">
            <a:avLst>
              <a:gd name="adj" fmla="val 883"/>
            </a:avLst>
          </a:prstGeom>
          <a:solidFill>
            <a:srgbClr val="2a2f37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9124950" y="1676400"/>
            <a:ext cx="8096250" cy="3810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2250" b="1" i="0">
                <a:solidFill>
                  <a:srgbClr val="f5f2e8"/>
                </a:solidFill>
              </a:defRPr>
            </a:pPr>
            <a:r>
              <a:rPr lang="ko-KR" altLang="en-US"/>
              <a:t>Stage Flow</a:t>
            </a:r>
            <a:endParaRPr lang="ko-KR" altLang="en-US"/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9122093" y="2222144"/>
            <a:ext cx="3973354" cy="2857500"/>
          </a:xfrm>
          <a:prstGeom prst="roundRect">
            <a:avLst>
              <a:gd name="adj" fmla="val 2667"/>
            </a:avLst>
          </a:prstGeom>
          <a:solidFill>
            <a:srgbClr val="070808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20" name=""/>
          <p:cNvPicPr>
            <a:picLocks noChangeAspect="1"/>
          </p:cNvPicPr>
          <p:nvPr/>
        </p:nvPicPr>
        <p:blipFill rotWithShape="1">
          <a:blip r:embed="rId3"/>
          <a:srcRect t="2060" b="2060"/>
          <a:stretch>
            <a:fillRect/>
          </a:stretch>
        </p:blipFill>
        <p:spPr>
          <a:xfrm>
            <a:off x="9122093" y="2222144"/>
            <a:ext cx="3973354" cy="2857500"/>
          </a:xfrm>
          <a:prstGeom prst="roundRect">
            <a:avLst>
              <a:gd name="adj" fmla="val 2667"/>
            </a:avLst>
          </a:prstGeom>
        </p:spPr>
      </p:pic>
      <p:sp>
        <p:nvSpPr>
          <p:cNvPr id="21" name=""/>
          <p:cNvSpPr>
            <a:spLocks noGrp="1"/>
          </p:cNvSpPr>
          <p:nvPr/>
        </p:nvSpPr>
        <p:spPr>
          <a:xfrm>
            <a:off x="9124950" y="5162550"/>
            <a:ext cx="39814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050" b="0" i="0">
                <a:solidFill>
                  <a:srgbClr val="dad6c8"/>
                </a:solidFill>
              </a:defRPr>
            </a:pPr>
            <a:r>
              <a:rPr lang="ko-KR" altLang="en-US" sz="1200"/>
              <a:t>Stage 1 · 구르는 돌을 피해 위쪽 탈출구로 이동</a:t>
            </a:r>
            <a:endParaRPr lang="ko-KR" altLang="en-US" sz="1200"/>
          </a:p>
        </p:txBody>
      </p:sp>
      <p:sp>
        <p:nvSpPr>
          <p:cNvPr id="22" name=""/>
          <p:cNvSpPr>
            <a:spLocks noGrp="1"/>
          </p:cNvSpPr>
          <p:nvPr/>
        </p:nvSpPr>
        <p:spPr>
          <a:xfrm>
            <a:off x="13247846" y="2222144"/>
            <a:ext cx="3973354" cy="2857500"/>
          </a:xfrm>
          <a:prstGeom prst="roundRect">
            <a:avLst>
              <a:gd name="adj" fmla="val 2667"/>
            </a:avLst>
          </a:prstGeom>
          <a:solidFill>
            <a:srgbClr val="070808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23" name=""/>
          <p:cNvPicPr>
            <a:picLocks noChangeAspect="1"/>
          </p:cNvPicPr>
          <p:nvPr/>
        </p:nvPicPr>
        <p:blipFill rotWithShape="1">
          <a:blip r:embed="rId4"/>
          <a:srcRect t="2060" b="2060"/>
          <a:stretch>
            <a:fillRect/>
          </a:stretch>
        </p:blipFill>
        <p:spPr>
          <a:xfrm>
            <a:off x="13247846" y="2222144"/>
            <a:ext cx="3973354" cy="2857500"/>
          </a:xfrm>
          <a:prstGeom prst="roundRect">
            <a:avLst>
              <a:gd name="adj" fmla="val 2667"/>
            </a:avLst>
          </a:prstGeom>
        </p:spPr>
      </p:pic>
      <p:sp>
        <p:nvSpPr>
          <p:cNvPr id="24" name=""/>
          <p:cNvSpPr>
            <a:spLocks noGrp="1"/>
          </p:cNvSpPr>
          <p:nvPr/>
        </p:nvSpPr>
        <p:spPr>
          <a:xfrm>
            <a:off x="13239750" y="5162550"/>
            <a:ext cx="39814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050" b="0" i="0">
                <a:solidFill>
                  <a:srgbClr val="dad6c8"/>
                </a:solidFill>
              </a:defRPr>
            </a:pPr>
            <a:r>
              <a:rPr lang="ko-KR" altLang="en-US" sz="1200"/>
              <a:t>Stage 2 · 적 NPC의 추격/배회를 피해 탈출</a:t>
            </a:r>
            <a:endParaRPr lang="ko-KR" altLang="en-US" sz="1200"/>
          </a:p>
        </p:txBody>
      </p:sp>
      <p:sp>
        <p:nvSpPr>
          <p:cNvPr id="25" name=""/>
          <p:cNvSpPr>
            <a:spLocks noGrp="1"/>
          </p:cNvSpPr>
          <p:nvPr/>
        </p:nvSpPr>
        <p:spPr>
          <a:xfrm>
            <a:off x="9122093" y="5500116"/>
            <a:ext cx="3973354" cy="2857500"/>
          </a:xfrm>
          <a:prstGeom prst="roundRect">
            <a:avLst>
              <a:gd name="adj" fmla="val 2667"/>
            </a:avLst>
          </a:prstGeom>
          <a:solidFill>
            <a:srgbClr val="070808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26" name=""/>
          <p:cNvPicPr>
            <a:picLocks noChangeAspect="1"/>
          </p:cNvPicPr>
          <p:nvPr/>
        </p:nvPicPr>
        <p:blipFill rotWithShape="1">
          <a:blip r:embed="rId5"/>
          <a:srcRect t="2060" b="2060"/>
          <a:stretch>
            <a:fillRect/>
          </a:stretch>
        </p:blipFill>
        <p:spPr>
          <a:xfrm>
            <a:off x="9122093" y="5500116"/>
            <a:ext cx="3973354" cy="2857500"/>
          </a:xfrm>
          <a:prstGeom prst="roundRect">
            <a:avLst>
              <a:gd name="adj" fmla="val 2667"/>
            </a:avLst>
          </a:prstGeom>
        </p:spPr>
      </p:pic>
      <p:sp>
        <p:nvSpPr>
          <p:cNvPr id="27" name=""/>
          <p:cNvSpPr>
            <a:spLocks noGrp="1"/>
          </p:cNvSpPr>
          <p:nvPr/>
        </p:nvSpPr>
        <p:spPr>
          <a:xfrm>
            <a:off x="9124950" y="8439150"/>
            <a:ext cx="39814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050" b="0" i="0">
                <a:solidFill>
                  <a:srgbClr val="dad6c8"/>
                </a:solidFill>
              </a:defRPr>
            </a:pPr>
            <a:r>
              <a:rPr lang="ko-KR" altLang="en-US" sz="1200"/>
              <a:t>Stage 3 · NPC를 돌에 유도해 제거한 뒤 이동</a:t>
            </a:r>
            <a:endParaRPr lang="ko-KR" altLang="en-US" sz="1200"/>
          </a:p>
        </p:txBody>
      </p:sp>
      <p:sp>
        <p:nvSpPr>
          <p:cNvPr id="28" name=""/>
          <p:cNvSpPr>
            <a:spLocks noGrp="1"/>
          </p:cNvSpPr>
          <p:nvPr/>
        </p:nvSpPr>
        <p:spPr>
          <a:xfrm>
            <a:off x="13247846" y="5500116"/>
            <a:ext cx="3973354" cy="2857500"/>
          </a:xfrm>
          <a:prstGeom prst="roundRect">
            <a:avLst>
              <a:gd name="adj" fmla="val 2667"/>
            </a:avLst>
          </a:prstGeom>
          <a:solidFill>
            <a:srgbClr val="070808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29" name=""/>
          <p:cNvPicPr>
            <a:picLocks noChangeAspect="1"/>
          </p:cNvPicPr>
          <p:nvPr/>
        </p:nvPicPr>
        <p:blipFill rotWithShape="1">
          <a:blip r:embed="rId6"/>
          <a:srcRect t="2060" b="2060"/>
          <a:stretch>
            <a:fillRect/>
          </a:stretch>
        </p:blipFill>
        <p:spPr>
          <a:xfrm>
            <a:off x="13247846" y="5500116"/>
            <a:ext cx="3973354" cy="2857500"/>
          </a:xfrm>
          <a:prstGeom prst="roundRect">
            <a:avLst>
              <a:gd name="adj" fmla="val 2667"/>
            </a:avLst>
          </a:prstGeom>
        </p:spPr>
      </p:pic>
      <p:sp>
        <p:nvSpPr>
          <p:cNvPr id="30" name=""/>
          <p:cNvSpPr>
            <a:spLocks noGrp="1"/>
          </p:cNvSpPr>
          <p:nvPr/>
        </p:nvSpPr>
        <p:spPr>
          <a:xfrm>
            <a:off x="13239750" y="8439150"/>
            <a:ext cx="39814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050" b="0" i="0">
                <a:solidFill>
                  <a:srgbClr val="dad6c8"/>
                </a:solidFill>
              </a:defRPr>
            </a:pPr>
            <a:r>
              <a:rPr lang="ko-KR" altLang="en-US" sz="1200"/>
              <a:t>Ending · 최종 탈출 후 종료 화면</a:t>
            </a:r>
            <a:endParaRPr lang="ko-KR" altLang="en-US" sz="1200"/>
          </a:p>
        </p:txBody>
      </p:sp>
    </p:spTree>
  </p:cSld>
  <p:clrMapOvr>
    <a:masterClrMapping/>
  </p:clrMapOvr>
  <ns3:AlternateContent>
    <ns3:Choice Requires="p14">
      <p:transition ns3:Ignorable="p14" ns4:dur="500"/>
    </ns3:Choice>
    <ns3:Fallback>
      <p:transition/>
    </ns3:Fallback>
  </ns3:AlternateContent>
</p:sld>
</file>

<file path=ppt/slides/slide12.xml><?xml version="1.0" encoding="utf-8"?>
<p:sld xmlns:a="http://schemas.openxmlformats.org/drawingml/2006/main" xmlns:ns2="http://schemas.openxmlformats.org/markup-compatibility/2006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01214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slide-title"/>
          <p:cNvSpPr>
            <a:spLocks noGrp="1"/>
          </p:cNvSpPr>
          <p:nvPr/>
        </p:nvSpPr>
        <p:spPr>
          <a:xfrm>
            <a:off x="804672" y="777240"/>
            <a:ext cx="16687800" cy="19659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spcAft>
                <a:spcPts val="700"/>
              </a:spcAft>
              <a:defRPr/>
            </a:pPr>
            <a:r>
              <a:rPr lang="ko-KR" sz="4100" b="1">
                <a:solidFill>
                  <a:srgbClr val="f5f2e8"/>
                </a:solidFill>
                <a:latin typeface="맑은 고딕"/>
                <a:ea typeface="맑은 고딕"/>
                <a:cs typeface="맑은 고딕"/>
              </a:rPr>
              <a:t>Fall Guys 모작</a:t>
            </a:r>
            <a:r>
              <a:rPr lang="ko-KR" altLang="en-US" sz="4100" b="1">
                <a:solidFill>
                  <a:srgbClr val="f5f2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sz="4100" b="1">
                <a:solidFill>
                  <a:srgbClr val="f5f2e8"/>
                </a:solidFill>
                <a:latin typeface="맑은 고딕"/>
                <a:ea typeface="맑은 고딕"/>
                <a:cs typeface="맑은 고딕"/>
              </a:rPr>
              <a:t>네트워크 </a:t>
            </a:r>
            <a:r>
              <a:rPr lang="ko-KR" altLang="en-US" sz="4100" b="1">
                <a:solidFill>
                  <a:srgbClr val="f5f2e8"/>
                </a:solidFill>
                <a:latin typeface="맑은 고딕"/>
                <a:ea typeface="맑은 고딕"/>
                <a:cs typeface="맑은 고딕"/>
              </a:rPr>
              <a:t>동기화</a:t>
            </a:r>
            <a:endParaRPr lang="ko-KR" altLang="en-US" sz="4100" b="1">
              <a:solidFill>
                <a:srgbClr val="f5f2e8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l" defTabSz="914400">
              <a:lnSpc>
                <a:spcPct val="100000"/>
              </a:lnSpc>
              <a:spcBef>
                <a:spcPct val="0"/>
              </a:spcBef>
              <a:spcAft>
                <a:spcPts val="700"/>
              </a:spcAft>
              <a:buNone/>
              <a:defRPr/>
            </a:pPr>
            <a:r>
              <a:rPr lang="ko-KR" sz="190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>네트워크 게임 프로그래밍 수업에서 기존 팀원이 만든 장애물 경주 게임에 </a:t>
            </a:r>
            <a:endParaRPr lang="ko-KR" sz="1900">
              <a:solidFill>
                <a:srgbClr val="dad6c8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l" defTabSz="914400">
              <a:lnSpc>
                <a:spcPct val="100000"/>
              </a:lnSpc>
              <a:spcBef>
                <a:spcPct val="0"/>
              </a:spcBef>
              <a:spcAft>
                <a:spcPts val="700"/>
              </a:spcAft>
              <a:buNone/>
              <a:defRPr/>
            </a:pPr>
            <a:r>
              <a:rPr lang="en-US" altLang="ko-KR" sz="190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lang="ko-KR" altLang="en-US" sz="190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>인으로 팀을 이루어 </a:t>
            </a:r>
            <a:r>
              <a:rPr lang="ko-KR" sz="190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>네트워크 동기화를 붙인 프로젝트입니다.  </a:t>
            </a:r>
            <a:endParaRPr lang="ko-KR" sz="1900">
              <a:solidFill>
                <a:srgbClr val="dad6c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Content Card 27"/>
          <p:cNvSpPr txBox="1"/>
          <p:nvPr/>
        </p:nvSpPr>
        <p:spPr>
          <a:xfrm>
            <a:off x="804672" y="2999232"/>
            <a:ext cx="7955280" cy="1719072"/>
          </a:xfrm>
          <a:prstGeom prst="roundRect">
            <a:avLst>
              <a:gd name="adj" fmla="val 16667"/>
            </a:avLst>
          </a:prstGeom>
          <a:solidFill>
            <a:srgbClr val="243026"/>
          </a:solidFill>
          <a:ln w="12700">
            <a:solidFill>
              <a:srgbClr val="485244"/>
            </a:solidFill>
          </a:ln>
        </p:spPr>
        <p:txBody>
          <a:bodyPr wrap="square" lIns="190500" tIns="152400" rIns="190500" bIns="152400"/>
          <a:lstStyle/>
          <a:p>
            <a:pPr>
              <a:spcAft>
                <a:spcPts val="700"/>
              </a:spcAft>
              <a:defRPr/>
            </a:pPr>
            <a:r>
              <a:rPr lang="ko-KR" sz="2050" b="1">
                <a:solidFill>
                  <a:srgbClr val="77a6c8"/>
                </a:solidFill>
                <a:latin typeface="맑은 고딕"/>
                <a:ea typeface="맑은 고딕"/>
                <a:cs typeface="맑은 고딕"/>
              </a:rPr>
              <a:t>게임 장르</a:t>
            </a:r>
            <a:endParaRPr lang="ko-KR" sz="2050" b="1">
              <a:solidFill>
                <a:srgbClr val="77a6c8"/>
              </a:solidFill>
              <a:latin typeface="맑은 고딕"/>
              <a:ea typeface="맑은 고딕"/>
              <a:cs typeface="맑은 고딕"/>
            </a:endParaRPr>
          </a:p>
          <a:p>
            <a:pPr>
              <a:spcAft>
                <a:spcPts val="700"/>
              </a:spcAft>
              <a:defRPr/>
            </a:pPr>
            <a:r>
              <a:rPr lang="ko-KR" sz="150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>장애물 코스를 통과해 목표 지점까지 도달하는 Fall Guys 스타일 경주 게임입니다.</a:t>
            </a:r>
            <a:endParaRPr lang="ko-KR" sz="1500">
              <a:solidFill>
                <a:srgbClr val="dad6c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Content Card 28"/>
          <p:cNvSpPr txBox="1"/>
          <p:nvPr/>
        </p:nvSpPr>
        <p:spPr>
          <a:xfrm>
            <a:off x="9308592" y="5705856"/>
            <a:ext cx="7955280" cy="1719072"/>
          </a:xfrm>
          <a:prstGeom prst="roundRect">
            <a:avLst>
              <a:gd name="adj" fmla="val 16667"/>
            </a:avLst>
          </a:prstGeom>
          <a:solidFill>
            <a:srgbClr val="243026"/>
          </a:solidFill>
          <a:ln w="12700">
            <a:solidFill>
              <a:srgbClr val="485244"/>
            </a:solidFill>
          </a:ln>
        </p:spPr>
        <p:txBody>
          <a:bodyPr wrap="square" lIns="190500" tIns="152400" rIns="190500" bIns="152400"/>
          <a:lstStyle/>
          <a:p>
            <a:pPr>
              <a:spcAft>
                <a:spcPts val="700"/>
              </a:spcAft>
              <a:defRPr/>
            </a:pPr>
            <a:r>
              <a:rPr lang="ko-KR" sz="2050" b="1">
                <a:solidFill>
                  <a:srgbClr val="f0be45"/>
                </a:solidFill>
                <a:latin typeface="맑은 고딕"/>
                <a:ea typeface="맑은 고딕"/>
                <a:cs typeface="맑은 고딕"/>
              </a:rPr>
              <a:t>프로젝트 목표</a:t>
            </a:r>
            <a:endParaRPr lang="ko-KR" sz="2050" b="1">
              <a:solidFill>
                <a:srgbClr val="f0be45"/>
              </a:solidFill>
              <a:latin typeface="맑은 고딕"/>
              <a:ea typeface="맑은 고딕"/>
              <a:cs typeface="맑은 고딕"/>
            </a:endParaRPr>
          </a:p>
          <a:p>
            <a:pPr>
              <a:spcAft>
                <a:spcPts val="700"/>
              </a:spcAft>
              <a:defRPr/>
            </a:pPr>
            <a:r>
              <a:rPr lang="ko-KR" sz="150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>기존 로컬 플레이 구조를 3인 네트워크 플레이가 가능한 구조로 전환했습니다.</a:t>
            </a:r>
            <a:endParaRPr lang="ko-KR" sz="1500">
              <a:solidFill>
                <a:srgbClr val="dad6c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Content Card 29"/>
          <p:cNvSpPr txBox="1"/>
          <p:nvPr/>
        </p:nvSpPr>
        <p:spPr>
          <a:xfrm>
            <a:off x="9308592" y="2999232"/>
            <a:ext cx="7955280" cy="1719072"/>
          </a:xfrm>
          <a:prstGeom prst="roundRect">
            <a:avLst>
              <a:gd name="adj" fmla="val 16667"/>
            </a:avLst>
          </a:prstGeom>
          <a:solidFill>
            <a:srgbClr val="243026"/>
          </a:solidFill>
          <a:ln w="12700">
            <a:solidFill>
              <a:srgbClr val="485244"/>
            </a:solidFill>
          </a:ln>
        </p:spPr>
        <p:txBody>
          <a:bodyPr wrap="square" lIns="190500" tIns="152400" rIns="190500" bIns="152400"/>
          <a:lstStyle/>
          <a:p>
            <a:pPr>
              <a:spcAft>
                <a:spcPts val="700"/>
              </a:spcAft>
              <a:defRPr/>
            </a:pPr>
            <a:r>
              <a:rPr lang="ko-KR" sz="2050" b="1">
                <a:solidFill>
                  <a:srgbClr val="9b8bd7"/>
                </a:solidFill>
                <a:latin typeface="맑은 고딕"/>
                <a:ea typeface="맑은 고딕"/>
                <a:cs typeface="맑은 고딕"/>
              </a:rPr>
              <a:t>플레이 흐름</a:t>
            </a:r>
            <a:endParaRPr lang="ko-KR" sz="2050" b="1">
              <a:solidFill>
                <a:srgbClr val="9b8bd7"/>
              </a:solidFill>
              <a:latin typeface="맑은 고딕"/>
              <a:ea typeface="맑은 고딕"/>
              <a:cs typeface="맑은 고딕"/>
            </a:endParaRPr>
          </a:p>
          <a:p>
            <a:pPr>
              <a:spcAft>
                <a:spcPts val="700"/>
              </a:spcAft>
              <a:defRPr/>
            </a:pPr>
            <a:r>
              <a:rPr lang="ko-KR" sz="150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>서버가 캐릭터와 장애물 상태를 공유하고, 클라이언트가 이를 렌더링과 충돌에 반영합니다.</a:t>
            </a:r>
            <a:endParaRPr lang="ko-KR" sz="1500">
              <a:solidFill>
                <a:srgbClr val="dad6c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" name="Content Card 30"/>
          <p:cNvSpPr txBox="1"/>
          <p:nvPr/>
        </p:nvSpPr>
        <p:spPr>
          <a:xfrm>
            <a:off x="804672" y="5705856"/>
            <a:ext cx="7955280" cy="1719072"/>
          </a:xfrm>
          <a:prstGeom prst="roundRect">
            <a:avLst>
              <a:gd name="adj" fmla="val 16667"/>
            </a:avLst>
          </a:prstGeom>
          <a:solidFill>
            <a:srgbClr val="243026"/>
          </a:solidFill>
          <a:ln w="12700">
            <a:solidFill>
              <a:srgbClr val="485244"/>
            </a:solidFill>
          </a:ln>
        </p:spPr>
        <p:txBody>
          <a:bodyPr wrap="square" lIns="190500" tIns="152400" rIns="190500" bIns="152400"/>
          <a:lstStyle/>
          <a:p>
            <a:pPr>
              <a:spcAft>
                <a:spcPts val="700"/>
              </a:spcAft>
              <a:defRPr/>
            </a:pPr>
            <a:r>
              <a:rPr lang="ko-KR" altLang="en-US" sz="2050" b="1">
                <a:solidFill>
                  <a:srgbClr val="91a765"/>
                </a:solidFill>
                <a:latin typeface="맑은 고딕"/>
                <a:ea typeface="맑은 고딕"/>
                <a:cs typeface="맑은 고딕"/>
              </a:rPr>
              <a:t>환경</a:t>
            </a:r>
            <a:endParaRPr lang="ko-KR" altLang="en-US" sz="2050" b="1">
              <a:solidFill>
                <a:srgbClr val="91a765"/>
              </a:solidFill>
              <a:latin typeface="맑은 고딕"/>
              <a:ea typeface="맑은 고딕"/>
              <a:cs typeface="맑은 고딕"/>
            </a:endParaRPr>
          </a:p>
          <a:p>
            <a:pPr>
              <a:spcAft>
                <a:spcPts val="700"/>
              </a:spcAft>
              <a:defRPr/>
            </a:pPr>
            <a:r>
              <a:rPr lang="en-US" altLang="ko-KR" sz="1500">
                <a:solidFill>
                  <a:srgbClr val="dad6c8"/>
                </a:solidFill>
                <a:latin typeface="맑은 고딕"/>
                <a:ea typeface="맑은 고딕"/>
                <a:cs typeface="맑은 고딕"/>
              </a:rPr>
              <a:t>TCP/IP · OpenGL · C++</a:t>
            </a:r>
            <a:endParaRPr lang="en-US" altLang="ko-KR" sz="1500">
              <a:solidFill>
                <a:srgbClr val="dad6c8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ns2:AlternateContent>
    <ns2:Choice Requires="p14">
      <p:transition ns2:Ignorable="p14" ns3:dur="500"/>
    </ns2:Choice>
    <ns2:Fallback>
      <p:transition/>
    </ns2:Fallback>
  </ns2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01214"/>
          </a:solidFill>
          <a:ln w="9525">
            <a:noFill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itle"/>
          <p:cNvSpPr/>
          <p:nvPr/>
        </p:nvSpPr>
        <p:spPr>
          <a:xfrm>
            <a:off x="804672" y="932688"/>
            <a:ext cx="16642080" cy="65836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sz="2850" b="1">
                <a:solidFill>
                  <a:srgbClr val="f8fafc"/>
                </a:solidFill>
                <a:latin typeface="Aptos"/>
                <a:ea typeface="맑은 고딕"/>
              </a:rPr>
              <a:t>동기화 구조 설계</a:t>
            </a:r>
            <a:endParaRPr lang="ko-KR" sz="2850" b="1">
              <a:solidFill>
                <a:srgbClr val="f8fafc"/>
              </a:solidFill>
              <a:latin typeface="Aptos"/>
              <a:ea typeface="맑은 고딕"/>
            </a:endParaRPr>
          </a:p>
        </p:txBody>
      </p:sp>
      <p:sp>
        <p:nvSpPr>
          <p:cNvPr id="5" name="Lead"/>
          <p:cNvSpPr/>
          <p:nvPr/>
        </p:nvSpPr>
        <p:spPr>
          <a:xfrm>
            <a:off x="822960" y="1700784"/>
            <a:ext cx="16276320" cy="49377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sz="1600">
                <a:solidFill>
                  <a:srgbClr val="cbd5e1"/>
                </a:solidFill>
                <a:latin typeface="Aptos"/>
                <a:ea typeface="맑은 고딕"/>
              </a:rPr>
              <a:t>팀 추진계획서를 기준으로 서버/클라이언트 흐름을 정리하고, 제가 맡은 생성·송수신·충돌 처리 경로를 구현했습니다.</a:t>
            </a:r>
            <a:endParaRPr lang="ko-KR" sz="1600">
              <a:solidFill>
                <a:srgbClr val="cbd5e1"/>
              </a:solidFill>
              <a:latin typeface="Aptos"/>
              <a:ea typeface="맑은 고딕"/>
            </a:endParaRPr>
          </a:p>
        </p:txBody>
      </p:sp>
      <p:sp>
        <p:nvSpPr>
          <p:cNvPr id="6" name="Role Card 캐릭터 생성"/>
          <p:cNvSpPr/>
          <p:nvPr/>
        </p:nvSpPr>
        <p:spPr>
          <a:xfrm>
            <a:off x="804672" y="2770632"/>
            <a:ext cx="7955280" cy="1408176"/>
          </a:xfrm>
          <a:prstGeom prst="roundRect">
            <a:avLst>
              <a:gd name="adj" fmla="val 16667"/>
            </a:avLst>
          </a:prstGeom>
          <a:solidFill>
            <a:srgbClr val="1c2228"/>
          </a:solidFill>
          <a:ln w="9525">
            <a:solidFill>
              <a:srgbClr val="303844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Role Accent 캐릭터 생성"/>
          <p:cNvSpPr/>
          <p:nvPr/>
        </p:nvSpPr>
        <p:spPr>
          <a:xfrm>
            <a:off x="1078992" y="3063240"/>
            <a:ext cx="566928" cy="73152"/>
          </a:xfrm>
          <a:prstGeom prst="rect">
            <a:avLst/>
          </a:prstGeom>
          <a:solidFill>
            <a:srgbClr val="7b8f5a"/>
          </a:solidFill>
          <a:ln w="9525">
            <a:solidFill>
              <a:srgbClr val="7b8f5a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Role Text 캐릭터 생성"/>
          <p:cNvSpPr/>
          <p:nvPr/>
        </p:nvSpPr>
        <p:spPr>
          <a:xfrm>
            <a:off x="1847088" y="2990088"/>
            <a:ext cx="6446520" cy="74980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sz="2000" b="1">
                <a:solidFill>
                  <a:srgbClr val="f8fafc"/>
                </a:solidFill>
                <a:latin typeface="Aptos"/>
                <a:ea typeface="맑은 고딕"/>
              </a:rPr>
              <a:t>캐릭터 생성</a:t>
            </a:r>
            <a:endParaRPr lang="ko-KR" sz="1250" b="1">
              <a:solidFill>
                <a:srgbClr val="f8fafc"/>
              </a:solidFill>
              <a:latin typeface="Aptos"/>
              <a:ea typeface="맑은 고딕"/>
            </a:endParaRPr>
          </a:p>
          <a:p>
            <a:pPr>
              <a:defRPr/>
            </a:pPr>
            <a:r>
              <a:rPr lang="ko-KR" sz="1600">
                <a:solidFill>
                  <a:srgbClr val="cbd5e1"/>
                </a:solidFill>
                <a:latin typeface="Aptos"/>
                <a:ea typeface="맑은 고딕"/>
              </a:rPr>
              <a:t>접속 순서에 따라 캐릭터 번호를 부여하고, 번호에 맞는 캐릭터를 생성했습니다.</a:t>
            </a:r>
            <a:endParaRPr lang="ko-KR" sz="1600">
              <a:solidFill>
                <a:srgbClr val="cbd5e1"/>
              </a:solidFill>
              <a:latin typeface="Aptos"/>
              <a:ea typeface="맑은 고딕"/>
            </a:endParaRPr>
          </a:p>
        </p:txBody>
      </p:sp>
      <p:sp>
        <p:nvSpPr>
          <p:cNvPr id="9" name="Role Card 캐릭터 정보 송수신"/>
          <p:cNvSpPr/>
          <p:nvPr/>
        </p:nvSpPr>
        <p:spPr>
          <a:xfrm>
            <a:off x="804672" y="4718304"/>
            <a:ext cx="7955280" cy="1408176"/>
          </a:xfrm>
          <a:prstGeom prst="roundRect">
            <a:avLst>
              <a:gd name="adj" fmla="val 16667"/>
            </a:avLst>
          </a:prstGeom>
          <a:solidFill>
            <a:srgbClr val="1c2228"/>
          </a:solidFill>
          <a:ln w="9525">
            <a:solidFill>
              <a:srgbClr val="303844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Role Accent 캐릭터 정보 송수신"/>
          <p:cNvSpPr/>
          <p:nvPr/>
        </p:nvSpPr>
        <p:spPr>
          <a:xfrm>
            <a:off x="1078992" y="5010912"/>
            <a:ext cx="566928" cy="73152"/>
          </a:xfrm>
          <a:prstGeom prst="rect">
            <a:avLst/>
          </a:prstGeom>
          <a:solidFill>
            <a:srgbClr val="4f7c9a"/>
          </a:solidFill>
          <a:ln w="9525">
            <a:solidFill>
              <a:srgbClr val="4f7c9a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Role Text 캐릭터 정보 송수신"/>
          <p:cNvSpPr/>
          <p:nvPr/>
        </p:nvSpPr>
        <p:spPr>
          <a:xfrm>
            <a:off x="1847088" y="4937760"/>
            <a:ext cx="6446520" cy="74980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sz="2000" b="1">
                <a:solidFill>
                  <a:srgbClr val="f8fafc"/>
                </a:solidFill>
                <a:latin typeface="Aptos"/>
                <a:ea typeface="맑은 고딕"/>
              </a:rPr>
              <a:t>캐릭터 정보 송수신</a:t>
            </a:r>
            <a:endParaRPr lang="ko-KR" sz="1250" b="1">
              <a:solidFill>
                <a:srgbClr val="f8fafc"/>
              </a:solidFill>
              <a:latin typeface="Aptos"/>
              <a:ea typeface="맑은 고딕"/>
            </a:endParaRPr>
          </a:p>
          <a:p>
            <a:pPr>
              <a:defRPr/>
            </a:pPr>
            <a:r>
              <a:rPr lang="ko-KR" sz="1600">
                <a:solidFill>
                  <a:srgbClr val="cbd5e1"/>
                </a:solidFill>
                <a:latin typeface="Aptos"/>
                <a:ea typeface="맑은 고딕"/>
              </a:rPr>
              <a:t>클라이언트 이동 정보를 서버로 보내고, 서버가 다른 클라이언트에 전달해 이동을 동기화했습니다.</a:t>
            </a:r>
            <a:endParaRPr lang="ko-KR" sz="1600">
              <a:solidFill>
                <a:srgbClr val="cbd5e1"/>
              </a:solidFill>
              <a:latin typeface="Aptos"/>
              <a:ea typeface="맑은 고딕"/>
            </a:endParaRPr>
          </a:p>
        </p:txBody>
      </p:sp>
      <p:sp>
        <p:nvSpPr>
          <p:cNvPr id="12" name="Role Card 충돌 처리"/>
          <p:cNvSpPr/>
          <p:nvPr/>
        </p:nvSpPr>
        <p:spPr>
          <a:xfrm>
            <a:off x="804672" y="6665976"/>
            <a:ext cx="7955280" cy="1408176"/>
          </a:xfrm>
          <a:prstGeom prst="roundRect">
            <a:avLst>
              <a:gd name="adj" fmla="val 16667"/>
            </a:avLst>
          </a:prstGeom>
          <a:solidFill>
            <a:srgbClr val="1c2228"/>
          </a:solidFill>
          <a:ln w="9525">
            <a:solidFill>
              <a:srgbClr val="303844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3" name="Role Accent 충돌 처리"/>
          <p:cNvSpPr/>
          <p:nvPr/>
        </p:nvSpPr>
        <p:spPr>
          <a:xfrm>
            <a:off x="1078992" y="6958584"/>
            <a:ext cx="566928" cy="73152"/>
          </a:xfrm>
          <a:prstGeom prst="rect">
            <a:avLst/>
          </a:prstGeom>
          <a:solidFill>
            <a:srgbClr val="a84f4f"/>
          </a:solidFill>
          <a:ln w="9525">
            <a:solidFill>
              <a:srgbClr val="a84f4f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Role Text 충돌 처리"/>
          <p:cNvSpPr/>
          <p:nvPr/>
        </p:nvSpPr>
        <p:spPr>
          <a:xfrm>
            <a:off x="1847088" y="6885432"/>
            <a:ext cx="6446520" cy="74980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sz="2000" b="1">
                <a:solidFill>
                  <a:srgbClr val="f8fafc"/>
                </a:solidFill>
                <a:latin typeface="Aptos"/>
                <a:ea typeface="맑은 고딕"/>
              </a:rPr>
              <a:t>충돌 처리</a:t>
            </a:r>
            <a:endParaRPr lang="ko-KR" sz="1250" b="1">
              <a:solidFill>
                <a:srgbClr val="f8fafc"/>
              </a:solidFill>
              <a:latin typeface="Aptos"/>
              <a:ea typeface="맑은 고딕"/>
            </a:endParaRPr>
          </a:p>
          <a:p>
            <a:pPr>
              <a:defRPr/>
            </a:pPr>
            <a:r>
              <a:rPr lang="ko-KR" sz="1600">
                <a:solidFill>
                  <a:srgbClr val="cbd5e1"/>
                </a:solidFill>
                <a:latin typeface="Aptos"/>
                <a:ea typeface="맑은 고딕"/>
              </a:rPr>
              <a:t>캐릭터-캐릭터, 캐릭터-장애물 충돌을 AABB로 판정하고 서버 상태에 반영했습니다.</a:t>
            </a:r>
            <a:endParaRPr lang="ko-KR" sz="1600">
              <a:solidFill>
                <a:srgbClr val="cbd5e1"/>
              </a:solidFill>
              <a:latin typeface="Aptos"/>
              <a:ea typeface="맑은 고딕"/>
            </a:endParaRPr>
          </a:p>
        </p:txBody>
      </p:sp>
      <p:sp>
        <p:nvSpPr>
          <p:cNvPr id="15" name="Diagram Card"/>
          <p:cNvSpPr/>
          <p:nvPr/>
        </p:nvSpPr>
        <p:spPr>
          <a:xfrm>
            <a:off x="9308592" y="2468880"/>
            <a:ext cx="7955280" cy="6446520"/>
          </a:xfrm>
          <a:prstGeom prst="roundRect">
            <a:avLst>
              <a:gd name="adj" fmla="val 16667"/>
            </a:avLst>
          </a:prstGeom>
          <a:solidFill>
            <a:srgbClr val="1c2228"/>
          </a:solidFill>
          <a:ln w="9525">
            <a:solidFill>
              <a:srgbClr val="303844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16" name="High Level Design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646920" y="2798064"/>
            <a:ext cx="7269480" cy="5449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01214"/>
          </a:solidFill>
          <a:ln w="9525">
            <a:noFill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itle"/>
          <p:cNvSpPr/>
          <p:nvPr/>
        </p:nvSpPr>
        <p:spPr>
          <a:xfrm>
            <a:off x="804672" y="932688"/>
            <a:ext cx="16642080" cy="65836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sz="2850" b="1">
                <a:solidFill>
                  <a:srgbClr val="f8fafc"/>
                </a:solidFill>
                <a:latin typeface="Aptos"/>
                <a:ea typeface="맑은 고딕"/>
              </a:rPr>
              <a:t>Fall Guys 모작 네트워크 동기화 결과</a:t>
            </a:r>
            <a:endParaRPr lang="ko-KR" sz="2850" b="1">
              <a:solidFill>
                <a:srgbClr val="f8fafc"/>
              </a:solidFill>
              <a:latin typeface="Aptos"/>
              <a:ea typeface="맑은 고딕"/>
            </a:endParaRPr>
          </a:p>
        </p:txBody>
      </p:sp>
      <p:sp>
        <p:nvSpPr>
          <p:cNvPr id="5" name="Lead"/>
          <p:cNvSpPr/>
          <p:nvPr/>
        </p:nvSpPr>
        <p:spPr>
          <a:xfrm>
            <a:off x="822960" y="1700784"/>
            <a:ext cx="16276320" cy="49377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sz="1500">
                <a:solidFill>
                  <a:srgbClr val="cbd5e1"/>
                </a:solidFill>
                <a:latin typeface="Aptos"/>
                <a:ea typeface="맑은 고딕"/>
              </a:rPr>
              <a:t>여러 클라이언트에서 캐릭터 위치와 장애물 상태가 같은 게임 화면으로 이어지는지를 확인했습니다.</a:t>
            </a:r>
            <a:endParaRPr lang="ko-KR" sz="1500">
              <a:solidFill>
                <a:srgbClr val="cbd5e1"/>
              </a:solidFill>
              <a:latin typeface="Aptos"/>
              <a:ea typeface="맑은 고딕"/>
            </a:endParaRPr>
          </a:p>
        </p:txBody>
      </p:sp>
      <p:sp>
        <p:nvSpPr>
          <p:cNvPr id="6" name="Video Card"/>
          <p:cNvSpPr/>
          <p:nvPr/>
        </p:nvSpPr>
        <p:spPr>
          <a:xfrm>
            <a:off x="6766560" y="2432304"/>
            <a:ext cx="10104120" cy="6108192"/>
          </a:xfrm>
          <a:prstGeom prst="roundRect">
            <a:avLst>
              <a:gd name="adj" fmla="val 16667"/>
            </a:avLst>
          </a:prstGeom>
          <a:solidFill>
            <a:srgbClr val="1c2228"/>
          </a:solidFill>
          <a:ln w="9525">
            <a:solidFill>
              <a:srgbClr val="303844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31" name="Video Project 4.mp4">
            <a:hlinkClick r:id="" action="ppaction://media"/>
          </p:cNvPr>
          <p:cNvPicPr>
            <a:picLocks noRot="1"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 rotWithShape="1">
          <a:blip r:embed="rId5"/>
          <a:stretch>
            <a:fillRect/>
          </a:stretch>
        </p:blipFill>
        <p:spPr>
          <a:xfrm>
            <a:off x="7086600" y="2743200"/>
            <a:ext cx="9464040" cy="5321808"/>
          </a:xfrm>
          <a:prstGeom prst="rect">
            <a:avLst/>
          </a:prstGeom>
        </p:spPr>
      </p:pic>
      <p:sp>
        <p:nvSpPr>
          <p:cNvPr id="7" name="Result Card"/>
          <p:cNvSpPr/>
          <p:nvPr/>
        </p:nvSpPr>
        <p:spPr>
          <a:xfrm>
            <a:off x="804672" y="2999232"/>
            <a:ext cx="5285232" cy="3822192"/>
          </a:xfrm>
          <a:prstGeom prst="roundRect">
            <a:avLst>
              <a:gd name="adj" fmla="val 16667"/>
            </a:avLst>
          </a:prstGeom>
          <a:solidFill>
            <a:srgbClr val="1c2228"/>
          </a:solidFill>
          <a:ln w="9525">
            <a:solidFill>
              <a:srgbClr val="303844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Result Text"/>
          <p:cNvSpPr/>
          <p:nvPr/>
        </p:nvSpPr>
        <p:spPr>
          <a:xfrm>
            <a:off x="1115568" y="3383280"/>
            <a:ext cx="4617720" cy="219456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sz="2100" b="1">
                <a:solidFill>
                  <a:srgbClr val="f8fafc"/>
                </a:solidFill>
                <a:latin typeface="Aptos"/>
                <a:ea typeface="맑은 고딕"/>
              </a:rPr>
              <a:t>검증 포인트</a:t>
            </a:r>
            <a:endParaRPr lang="ko-KR" sz="1450" b="1">
              <a:solidFill>
                <a:srgbClr val="f8fafc"/>
              </a:solidFill>
              <a:latin typeface="Aptos"/>
              <a:ea typeface="맑은 고딕"/>
            </a:endParaRPr>
          </a:p>
          <a:p>
            <a:pPr>
              <a:defRPr/>
            </a:pPr>
            <a:r>
              <a:rPr lang="ko-KR" sz="980">
                <a:solidFill>
                  <a:srgbClr val="cbd5e1"/>
                </a:solidFill>
                <a:latin typeface="Aptos"/>
                <a:ea typeface="맑은 고딕"/>
              </a:rPr>
              <a:t>· </a:t>
            </a:r>
            <a:r>
              <a:rPr lang="ko-KR" sz="1600">
                <a:solidFill>
                  <a:srgbClr val="cbd5e1"/>
                </a:solidFill>
                <a:latin typeface="Aptos"/>
                <a:ea typeface="맑은 고딕"/>
              </a:rPr>
              <a:t>다른 플레이어 위치 동기화</a:t>
            </a:r>
            <a:endParaRPr lang="ko-KR" sz="1600">
              <a:solidFill>
                <a:srgbClr val="cbd5e1"/>
              </a:solidFill>
              <a:latin typeface="Aptos"/>
              <a:ea typeface="맑은 고딕"/>
            </a:endParaRPr>
          </a:p>
          <a:p>
            <a:pPr>
              <a:defRPr/>
            </a:pPr>
            <a:r>
              <a:rPr lang="ko-KR" sz="1600">
                <a:solidFill>
                  <a:srgbClr val="cbd5e1"/>
                </a:solidFill>
                <a:latin typeface="Aptos"/>
                <a:ea typeface="맑은 고딕"/>
              </a:rPr>
              <a:t>· 장애물 상태 공유</a:t>
            </a:r>
            <a:endParaRPr lang="ko-KR" sz="1600">
              <a:solidFill>
                <a:srgbClr val="cbd5e1"/>
              </a:solidFill>
              <a:latin typeface="Aptos"/>
              <a:ea typeface="맑은 고딕"/>
            </a:endParaRPr>
          </a:p>
          <a:p>
            <a:pPr>
              <a:defRPr/>
            </a:pPr>
            <a:r>
              <a:rPr lang="ko-KR" sz="1600">
                <a:solidFill>
                  <a:srgbClr val="cbd5e1"/>
                </a:solidFill>
                <a:latin typeface="Aptos"/>
                <a:ea typeface="맑은 고딕"/>
              </a:rPr>
              <a:t>· 캐릭터 간 충돌 반영</a:t>
            </a:r>
            <a:endParaRPr lang="ko-KR" sz="1600">
              <a:solidFill>
                <a:srgbClr val="cbd5e1"/>
              </a:solidFill>
              <a:latin typeface="Aptos"/>
              <a:ea typeface="맑은 고딕"/>
            </a:endParaRPr>
          </a:p>
        </p:txBody>
      </p:sp>
      <p:sp>
        <p:nvSpPr>
          <p:cNvPr id="9" name="Caption Band"/>
          <p:cNvSpPr/>
          <p:nvPr/>
        </p:nvSpPr>
        <p:spPr>
          <a:xfrm>
            <a:off x="804672" y="7406640"/>
            <a:ext cx="16066008" cy="841248"/>
          </a:xfrm>
          <a:prstGeom prst="roundRect">
            <a:avLst>
              <a:gd name="adj" fmla="val 16667"/>
            </a:avLst>
          </a:prstGeom>
          <a:solidFill>
            <a:srgbClr val="1b211d"/>
          </a:solidFill>
          <a:ln w="9525">
            <a:solidFill>
              <a:srgbClr val="34402f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Caption"/>
          <p:cNvSpPr/>
          <p:nvPr/>
        </p:nvSpPr>
        <p:spPr>
          <a:xfrm>
            <a:off x="1097280" y="7644384"/>
            <a:ext cx="15361920" cy="27432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sz="1900" b="1">
                <a:solidFill>
                  <a:srgbClr val="f8fafc"/>
                </a:solidFill>
                <a:latin typeface="Aptos"/>
                <a:ea typeface="맑은 고딕"/>
              </a:rPr>
              <a:t>서버에서 받은 캐릭터 상태가 다른 클라이언트 화면에 반영되는 것을 결과 화면으로 확인했습니다.</a:t>
            </a:r>
            <a:endParaRPr lang="ko-KR" sz="1900" b="1">
              <a:solidFill>
                <a:srgbClr val="f8fafc"/>
              </a:solidFill>
              <a:latin typeface="Aptos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/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4444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video>
              <p:cMediaNode vol="50000">
                <p:cTn id="7" fill="hold" display="0">
                  <p:stCondLst>
                    <p:cond delay="indefinite"/>
                  </p:stCondLst>
                </p:cTn>
                <p:tgtEl>
                  <p:spTgt spid="31"/>
                </p:tgtEl>
              </p:cMediaNode>
            </p:video>
          </p:childTnLst>
        </p:cTn>
      </p:par>
    </p:tnLst>
  </p:timing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01214"/>
          </a:solidFill>
          <a:ln w="9525">
            <a:noFill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itle"/>
          <p:cNvSpPr/>
          <p:nvPr/>
        </p:nvSpPr>
        <p:spPr>
          <a:xfrm>
            <a:off x="804672" y="1170432"/>
            <a:ext cx="16550640" cy="82296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sz="3200" b="1">
                <a:solidFill>
                  <a:srgbClr val="f8fafc"/>
                </a:solidFill>
                <a:latin typeface="Aptos"/>
                <a:ea typeface="맑은 고딕"/>
              </a:rPr>
              <a:t>읽어주셔서 감사합니다</a:t>
            </a:r>
            <a:endParaRPr lang="ko-KR" sz="3200" b="1">
              <a:solidFill>
                <a:srgbClr val="f8fafc"/>
              </a:solidFill>
              <a:latin typeface="Aptos"/>
              <a:ea typeface="맑은 고딕"/>
            </a:endParaRPr>
          </a:p>
        </p:txBody>
      </p:sp>
      <p:sp>
        <p:nvSpPr>
          <p:cNvPr id="5" name="Lead"/>
          <p:cNvSpPr/>
          <p:nvPr/>
        </p:nvSpPr>
        <p:spPr>
          <a:xfrm>
            <a:off x="822960" y="2048256"/>
            <a:ext cx="12618720" cy="4754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sz="1700">
                <a:solidFill>
                  <a:srgbClr val="cbd5e1"/>
                </a:solidFill>
                <a:latin typeface="Aptos"/>
                <a:ea typeface="맑은 고딕"/>
              </a:rPr>
              <a:t>아래 링크에서 프로젝트 코드, 발표 영상, 보고서 자료를 확인하실 수 있습니다.</a:t>
            </a:r>
            <a:endParaRPr lang="ko-KR" sz="1700">
              <a:solidFill>
                <a:srgbClr val="cbd5e1"/>
              </a:solidFill>
              <a:latin typeface="Aptos"/>
              <a:ea typeface="맑은 고딕"/>
            </a:endParaRPr>
          </a:p>
        </p:txBody>
      </p:sp>
      <p:sp>
        <p:nvSpPr>
          <p:cNvPr id="6" name="Link Card 감염: 죽음의 도시 GitHub"/>
          <p:cNvSpPr/>
          <p:nvPr/>
        </p:nvSpPr>
        <p:spPr>
          <a:xfrm>
            <a:off x="804672" y="3154680"/>
            <a:ext cx="7955280" cy="1298448"/>
          </a:xfrm>
          <a:prstGeom prst="roundRect">
            <a:avLst>
              <a:gd name="adj" fmla="val 16667"/>
            </a:avLst>
          </a:prstGeom>
          <a:solidFill>
            <a:srgbClr val="1c2228"/>
          </a:solidFill>
          <a:ln w="9525">
            <a:solidFill>
              <a:srgbClr val="303844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Link Accent 감염: 죽음의 도시 GitHub"/>
          <p:cNvSpPr/>
          <p:nvPr/>
        </p:nvSpPr>
        <p:spPr>
          <a:xfrm>
            <a:off x="1060704" y="3474720"/>
            <a:ext cx="585216" cy="73152"/>
          </a:xfrm>
          <a:prstGeom prst="rect">
            <a:avLst/>
          </a:prstGeom>
          <a:solidFill>
            <a:srgbClr val="7b8f5a"/>
          </a:solidFill>
          <a:ln w="9525">
            <a:solidFill>
              <a:srgbClr val="7b8f5a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Link Text 감염: 죽음의 도시 GitHub"/>
          <p:cNvSpPr/>
          <p:nvPr/>
        </p:nvSpPr>
        <p:spPr>
          <a:xfrm>
            <a:off x="1828800" y="3383280"/>
            <a:ext cx="6583680" cy="603504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b="1">
                <a:solidFill>
                  <a:srgbClr val="f8fafc"/>
                </a:solidFill>
                <a:latin typeface="Aptos"/>
                <a:ea typeface="맑은 고딕"/>
              </a:rPr>
              <a:t>감염: 죽음의 도시</a:t>
            </a:r>
            <a:endParaRPr lang="ko-KR" b="1">
              <a:solidFill>
                <a:srgbClr val="f8fafc"/>
              </a:solidFill>
              <a:latin typeface="Aptos"/>
              <a:ea typeface="맑은 고딕"/>
            </a:endParaRPr>
          </a:p>
          <a:p>
            <a:pPr>
              <a:defRPr/>
            </a:pPr>
            <a:r>
              <a:rPr lang="ko-KR" sz="1400">
                <a:solidFill>
                  <a:srgbClr val="8ec5ff"/>
                </a:solidFill>
                <a:latin typeface="Aptos"/>
                <a:ea typeface="맑은 고딕"/>
                <a:hlinkClick r:id="rId2"/>
              </a:rPr>
              <a:t>GitHub: https://github.com/tlsdn0403/SYJ</a:t>
            </a:r>
            <a:endParaRPr lang="ko-KR" sz="1400">
              <a:solidFill>
                <a:srgbClr val="8ec5ff"/>
              </a:solidFill>
              <a:latin typeface="Aptos"/>
              <a:ea typeface="맑은 고딕"/>
            </a:endParaRPr>
          </a:p>
        </p:txBody>
      </p:sp>
      <p:sp>
        <p:nvSpPr>
          <p:cNvPr id="9" name="Link Card 햄토리 탈출 게임 YouTube 발표 영상"/>
          <p:cNvSpPr/>
          <p:nvPr/>
        </p:nvSpPr>
        <p:spPr>
          <a:xfrm>
            <a:off x="9308592" y="3154680"/>
            <a:ext cx="7955280" cy="1298448"/>
          </a:xfrm>
          <a:prstGeom prst="roundRect">
            <a:avLst>
              <a:gd name="adj" fmla="val 16667"/>
            </a:avLst>
          </a:prstGeom>
          <a:solidFill>
            <a:srgbClr val="1c2228"/>
          </a:solidFill>
          <a:ln w="9525">
            <a:solidFill>
              <a:srgbClr val="303844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Link Accent 햄토리 탈출 게임 YouTube 발표 영상"/>
          <p:cNvSpPr/>
          <p:nvPr/>
        </p:nvSpPr>
        <p:spPr>
          <a:xfrm>
            <a:off x="9564624" y="3474720"/>
            <a:ext cx="585216" cy="73152"/>
          </a:xfrm>
          <a:prstGeom prst="rect">
            <a:avLst/>
          </a:prstGeom>
          <a:solidFill>
            <a:srgbClr val="b88242"/>
          </a:solidFill>
          <a:ln w="9525">
            <a:solidFill>
              <a:srgbClr val="b88242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Link Text 햄토리 탈출 게임 YouTube 발표 영상"/>
          <p:cNvSpPr/>
          <p:nvPr/>
        </p:nvSpPr>
        <p:spPr>
          <a:xfrm>
            <a:off x="10332720" y="3383280"/>
            <a:ext cx="6583680" cy="603504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b="1">
                <a:solidFill>
                  <a:srgbClr val="f8fafc"/>
                </a:solidFill>
                <a:latin typeface="Aptos"/>
                <a:ea typeface="맑은 고딕"/>
              </a:rPr>
              <a:t>햄토리 탈출 게임</a:t>
            </a:r>
            <a:endParaRPr lang="ko-KR" b="1">
              <a:solidFill>
                <a:srgbClr val="f8fafc"/>
              </a:solidFill>
              <a:latin typeface="Aptos"/>
              <a:ea typeface="맑은 고딕"/>
            </a:endParaRPr>
          </a:p>
          <a:p>
            <a:pPr>
              <a:defRPr/>
            </a:pPr>
            <a:r>
              <a:rPr lang="ko-KR" sz="1400">
                <a:solidFill>
                  <a:srgbClr val="8ec5ff"/>
                </a:solidFill>
                <a:latin typeface="Aptos"/>
                <a:ea typeface="맑은 고딕"/>
                <a:hlinkClick r:id="rId3"/>
              </a:rPr>
              <a:t>YouTube 발표 영상: https://www.youtube.com/watch?v=lTstJrENbkI</a:t>
            </a:r>
            <a:endParaRPr lang="ko-KR" sz="1400">
              <a:solidFill>
                <a:srgbClr val="8ec5ff"/>
              </a:solidFill>
              <a:latin typeface="Aptos"/>
              <a:ea typeface="맑은 고딕"/>
            </a:endParaRPr>
          </a:p>
        </p:txBody>
      </p:sp>
      <p:sp>
        <p:nvSpPr>
          <p:cNvPr id="12" name="Link Card 햄토리 탈출 게임 GitHub"/>
          <p:cNvSpPr/>
          <p:nvPr/>
        </p:nvSpPr>
        <p:spPr>
          <a:xfrm>
            <a:off x="804672" y="4983480"/>
            <a:ext cx="7955280" cy="1298448"/>
          </a:xfrm>
          <a:prstGeom prst="roundRect">
            <a:avLst>
              <a:gd name="adj" fmla="val 16667"/>
            </a:avLst>
          </a:prstGeom>
          <a:solidFill>
            <a:srgbClr val="1c2228"/>
          </a:solidFill>
          <a:ln w="9525">
            <a:solidFill>
              <a:srgbClr val="303844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3" name="Link Accent 햄토리 탈출 게임 GitHub"/>
          <p:cNvSpPr/>
          <p:nvPr/>
        </p:nvSpPr>
        <p:spPr>
          <a:xfrm>
            <a:off x="1060704" y="5303520"/>
            <a:ext cx="585216" cy="73152"/>
          </a:xfrm>
          <a:prstGeom prst="rect">
            <a:avLst/>
          </a:prstGeom>
          <a:solidFill>
            <a:srgbClr val="4f7c9a"/>
          </a:solidFill>
          <a:ln w="9525">
            <a:solidFill>
              <a:srgbClr val="4f7c9a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Link Text 햄토리 탈출 게임 GitHub"/>
          <p:cNvSpPr/>
          <p:nvPr/>
        </p:nvSpPr>
        <p:spPr>
          <a:xfrm>
            <a:off x="1828800" y="5212080"/>
            <a:ext cx="6583680" cy="603504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b="1">
                <a:solidFill>
                  <a:srgbClr val="f8fafc"/>
                </a:solidFill>
                <a:latin typeface="Aptos"/>
                <a:ea typeface="맑은 고딕"/>
              </a:rPr>
              <a:t>햄토리 탈출 게임</a:t>
            </a:r>
            <a:endParaRPr lang="ko-KR" b="1">
              <a:solidFill>
                <a:srgbClr val="f8fafc"/>
              </a:solidFill>
              <a:latin typeface="Aptos"/>
              <a:ea typeface="맑은 고딕"/>
            </a:endParaRPr>
          </a:p>
          <a:p>
            <a:pPr>
              <a:defRPr/>
            </a:pPr>
            <a:r>
              <a:rPr lang="ko-KR" sz="1400">
                <a:solidFill>
                  <a:srgbClr val="8ec5ff"/>
                </a:solidFill>
                <a:latin typeface="Aptos"/>
                <a:ea typeface="맑은 고딕"/>
                <a:hlinkClick r:id="rId4"/>
              </a:rPr>
              <a:t>GitHub: https://github.com/tlsdn0403/2DGP-Project</a:t>
            </a:r>
            <a:endParaRPr lang="ko-KR" sz="1400">
              <a:solidFill>
                <a:srgbClr val="8ec5ff"/>
              </a:solidFill>
              <a:latin typeface="Aptos"/>
              <a:ea typeface="맑은 고딕"/>
            </a:endParaRPr>
          </a:p>
        </p:txBody>
      </p:sp>
      <p:sp>
        <p:nvSpPr>
          <p:cNvPr id="15" name="Link Card 네트워크 게임 프로그래밍 GitHub"/>
          <p:cNvSpPr/>
          <p:nvPr/>
        </p:nvSpPr>
        <p:spPr>
          <a:xfrm>
            <a:off x="9308592" y="4983480"/>
            <a:ext cx="7955280" cy="1298448"/>
          </a:xfrm>
          <a:prstGeom prst="roundRect">
            <a:avLst>
              <a:gd name="adj" fmla="val 16667"/>
            </a:avLst>
          </a:prstGeom>
          <a:solidFill>
            <a:srgbClr val="1c2228"/>
          </a:solidFill>
          <a:ln w="9525">
            <a:solidFill>
              <a:srgbClr val="303844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6" name="Link Accent 네트워크 게임 프로그래밍 GitHub"/>
          <p:cNvSpPr/>
          <p:nvPr/>
        </p:nvSpPr>
        <p:spPr>
          <a:xfrm>
            <a:off x="9564624" y="5303520"/>
            <a:ext cx="585216" cy="73152"/>
          </a:xfrm>
          <a:prstGeom prst="rect">
            <a:avLst/>
          </a:prstGeom>
          <a:solidFill>
            <a:srgbClr val="a84f4f"/>
          </a:solidFill>
          <a:ln w="9525">
            <a:solidFill>
              <a:srgbClr val="a84f4f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" name="Link Text 네트워크 게임 프로그래밍 GitHub"/>
          <p:cNvSpPr/>
          <p:nvPr/>
        </p:nvSpPr>
        <p:spPr>
          <a:xfrm>
            <a:off x="10332720" y="5212080"/>
            <a:ext cx="6583680" cy="603504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b="1">
                <a:solidFill>
                  <a:srgbClr val="f8fafc"/>
                </a:solidFill>
                <a:latin typeface="Aptos"/>
                <a:ea typeface="맑은 고딕"/>
              </a:rPr>
              <a:t>네트워크 게임 프로그래밍</a:t>
            </a:r>
            <a:endParaRPr lang="ko-KR" b="1">
              <a:solidFill>
                <a:srgbClr val="f8fafc"/>
              </a:solidFill>
              <a:latin typeface="Aptos"/>
              <a:ea typeface="맑은 고딕"/>
            </a:endParaRPr>
          </a:p>
          <a:p>
            <a:pPr>
              <a:defRPr/>
            </a:pPr>
            <a:r>
              <a:rPr lang="ko-KR" sz="1400">
                <a:solidFill>
                  <a:srgbClr val="8ec5ff"/>
                </a:solidFill>
                <a:latin typeface="Aptos"/>
                <a:ea typeface="맑은 고딕"/>
                <a:hlinkClick r:id="rId5"/>
              </a:rPr>
              <a:t>GitHub: https://github.com/tlsdn0403/NGP_Project</a:t>
            </a:r>
            <a:endParaRPr lang="ko-KR" sz="1400">
              <a:solidFill>
                <a:srgbClr val="8ec5ff"/>
              </a:solidFill>
              <a:latin typeface="Aptos"/>
              <a:ea typeface="맑은 고딕"/>
            </a:endParaRPr>
          </a:p>
        </p:txBody>
      </p:sp>
      <p:sp>
        <p:nvSpPr>
          <p:cNvPr id="18" name="Link Card 보고서, 기획서 정리 GitHub"/>
          <p:cNvSpPr/>
          <p:nvPr/>
        </p:nvSpPr>
        <p:spPr>
          <a:xfrm>
            <a:off x="804672" y="6812280"/>
            <a:ext cx="7955280" cy="1298448"/>
          </a:xfrm>
          <a:prstGeom prst="roundRect">
            <a:avLst>
              <a:gd name="adj" fmla="val 16667"/>
            </a:avLst>
          </a:prstGeom>
          <a:solidFill>
            <a:srgbClr val="1c2228"/>
          </a:solidFill>
          <a:ln w="9525">
            <a:solidFill>
              <a:srgbClr val="303844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9" name="Link Accent 보고서, 기획서 정리 GitHub"/>
          <p:cNvSpPr/>
          <p:nvPr/>
        </p:nvSpPr>
        <p:spPr>
          <a:xfrm>
            <a:off x="1060704" y="7132320"/>
            <a:ext cx="585216" cy="73152"/>
          </a:xfrm>
          <a:prstGeom prst="rect">
            <a:avLst/>
          </a:prstGeom>
          <a:solidFill>
            <a:srgbClr val="97a18f"/>
          </a:solidFill>
          <a:ln w="9525">
            <a:solidFill>
              <a:srgbClr val="97a18f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0" name="Link Text 보고서, 기획서 정리 GitHub"/>
          <p:cNvSpPr/>
          <p:nvPr/>
        </p:nvSpPr>
        <p:spPr>
          <a:xfrm>
            <a:off x="1828800" y="7040880"/>
            <a:ext cx="6583680" cy="603504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>
              <a:defRPr/>
            </a:pPr>
            <a:r>
              <a:rPr lang="ko-KR" b="1">
                <a:solidFill>
                  <a:srgbClr val="f8fafc"/>
                </a:solidFill>
                <a:latin typeface="Aptos"/>
                <a:ea typeface="맑은 고딕"/>
              </a:rPr>
              <a:t>보고서, 기획서 정리</a:t>
            </a:r>
            <a:endParaRPr lang="ko-KR" b="1">
              <a:solidFill>
                <a:srgbClr val="f8fafc"/>
              </a:solidFill>
              <a:latin typeface="Aptos"/>
              <a:ea typeface="맑은 고딕"/>
            </a:endParaRPr>
          </a:p>
          <a:p>
            <a:pPr>
              <a:defRPr/>
            </a:pPr>
            <a:r>
              <a:rPr lang="ko-KR" sz="1400">
                <a:solidFill>
                  <a:srgbClr val="8ec5ff"/>
                </a:solidFill>
                <a:latin typeface="Aptos"/>
                <a:ea typeface="맑은 고딕"/>
                <a:hlinkClick r:id="rId6"/>
              </a:rPr>
              <a:t>GitHub: https://github.com/tlsdn0403/Reports</a:t>
            </a:r>
            <a:endParaRPr lang="ko-KR" sz="1400">
              <a:solidFill>
                <a:srgbClr val="8ec5ff"/>
              </a:solidFill>
              <a:latin typeface="Aptos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Converted Presentation</ep:PresentationFormat>
  <ep:Paragraphs>27</ep:Paragraphs>
  <ep:Slides>15</ep:Slides>
  <ep:Notes>7</ep:Notes>
  <ep:TotalTime>0</ep:TotalTime>
  <ep:HiddenSlides>0</ep:HiddenSlides>
  <ep:MMClips>1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ep:HeadingPairs>
  <ep:TitlesOfParts>
    <vt:vector size="16" baseType="lpstr">
      <vt:lpstr>ChatGPT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Administrator</cp:lastModifiedBy>
  <dcterms:modified xsi:type="dcterms:W3CDTF">2026-05-24T15:22:09.386</dcterms:modified>
  <cp:revision>70</cp:revision>
  <cp:version>1000.0000.01</cp:version>
</cp:coreProperties>
</file>