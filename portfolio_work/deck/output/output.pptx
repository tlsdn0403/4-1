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7790d236054ac1" /><Relationship Type="http://schemas.openxmlformats.org/officeDocument/2006/relationships/extended-properties" Target="/docProps/app.xml" Id="Rb4ad55c5754e4bbf" /><Relationship Type="http://schemas.openxmlformats.org/officeDocument/2006/relationships/officeDocument" Target="/ppt/presentation.xml" Id="R9759f53770944f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2a7967b685405a"/>
  </p:sldMasterIdLst>
  <p:notesMasterIdLst>
    <p:notesMasterId xmlns:r="http://schemas.openxmlformats.org/officeDocument/2006/relationships" r:id="R27e281d562e447bf"/>
  </p:notesMasterIdLst>
  <p:sldIdLst>
    <p:sldId xmlns:r="http://schemas.openxmlformats.org/officeDocument/2006/relationships" id="256" r:id="Rc75d94d6147648fa"/>
    <p:sldId xmlns:r="http://schemas.openxmlformats.org/officeDocument/2006/relationships" id="257" r:id="Rf78594f8168c4e1c"/>
    <p:sldId xmlns:r="http://schemas.openxmlformats.org/officeDocument/2006/relationships" id="258" r:id="Ra40094c651034ec1"/>
    <p:sldId xmlns:r="http://schemas.openxmlformats.org/officeDocument/2006/relationships" id="259" r:id="R9be613ed50104dad"/>
    <p:sldId xmlns:r="http://schemas.openxmlformats.org/officeDocument/2006/relationships" id="260" r:id="R6a1dc559d50f4bda"/>
    <p:sldId xmlns:r="http://schemas.openxmlformats.org/officeDocument/2006/relationships" id="261" r:id="R38b48d6432394cf2"/>
    <p:sldId xmlns:r="http://schemas.openxmlformats.org/officeDocument/2006/relationships" id="262" r:id="Rd44ad91cbdca41da"/>
    <p:sldId xmlns:r="http://schemas.openxmlformats.org/officeDocument/2006/relationships" id="263" r:id="R23cac798ed8145aa"/>
    <p:sldId xmlns:r="http://schemas.openxmlformats.org/officeDocument/2006/relationships" id="264" r:id="R14744a21e3c346cb"/>
    <p:sldId xmlns:r="http://schemas.openxmlformats.org/officeDocument/2006/relationships" id="265" r:id="R07a50dc859884a71"/>
    <p:sldId xmlns:r="http://schemas.openxmlformats.org/officeDocument/2006/relationships" id="266" r:id="R6ac82a5d37914002"/>
    <p:sldId xmlns:r="http://schemas.openxmlformats.org/officeDocument/2006/relationships" id="267" r:id="Re07e8253c3d6405d"/>
    <p:sldId xmlns:r="http://schemas.openxmlformats.org/officeDocument/2006/relationships" id="268" r:id="Ra7a00fb740dd4426"/>
    <p:sldId xmlns:r="http://schemas.openxmlformats.org/officeDocument/2006/relationships" id="269" r:id="Rcb0287c88d5f4527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2a7967b685405a" /><Relationship Type="http://schemas.openxmlformats.org/officeDocument/2006/relationships/theme" Target="/ppt/theme/theme1.xml" Id="R9e2f0c237e57471d" /><Relationship Type="http://schemas.openxmlformats.org/officeDocument/2006/relationships/notesMaster" Target="/ppt/notesMasters/notesMaster1.xml" Id="R27e281d562e447bf" /><Relationship Type="http://schemas.openxmlformats.org/officeDocument/2006/relationships/presProps" Target="/ppt/presProps.xml" Id="R94527c222c054196" /><Relationship Type="http://schemas.openxmlformats.org/officeDocument/2006/relationships/viewProps" Target="/ppt/viewProps.xml" Id="R29457bb41a82443e" /><Relationship Type="http://schemas.openxmlformats.org/officeDocument/2006/relationships/tableStyles" Target="/ppt/tableStyles.xml" Id="R7c6fa70c11344948" /><Relationship Type="http://schemas.openxmlformats.org/officeDocument/2006/relationships/slide" Target="/ppt/slides/slide1.xml" Id="Rc75d94d6147648fa" /><Relationship Type="http://schemas.openxmlformats.org/officeDocument/2006/relationships/slide" Target="/ppt/slides/slide2.xml" Id="Rf78594f8168c4e1c" /><Relationship Type="http://schemas.openxmlformats.org/officeDocument/2006/relationships/slide" Target="/ppt/slides/slide3.xml" Id="Ra40094c651034ec1" /><Relationship Type="http://schemas.openxmlformats.org/officeDocument/2006/relationships/slide" Target="/ppt/slides/slide4.xml" Id="R9be613ed50104dad" /><Relationship Type="http://schemas.openxmlformats.org/officeDocument/2006/relationships/slide" Target="/ppt/slides/slide5.xml" Id="R6a1dc559d50f4bda" /><Relationship Type="http://schemas.openxmlformats.org/officeDocument/2006/relationships/slide" Target="/ppt/slides/slide6.xml" Id="R38b48d6432394cf2" /><Relationship Type="http://schemas.openxmlformats.org/officeDocument/2006/relationships/slide" Target="/ppt/slides/slide7.xml" Id="Rd44ad91cbdca41da" /><Relationship Type="http://schemas.openxmlformats.org/officeDocument/2006/relationships/slide" Target="/ppt/slides/slide8.xml" Id="R23cac798ed8145aa" /><Relationship Type="http://schemas.openxmlformats.org/officeDocument/2006/relationships/slide" Target="/ppt/slides/slide9.xml" Id="R14744a21e3c346cb" /><Relationship Type="http://schemas.openxmlformats.org/officeDocument/2006/relationships/slide" Target="/ppt/slides/slide10.xml" Id="R07a50dc859884a71" /><Relationship Type="http://schemas.openxmlformats.org/officeDocument/2006/relationships/slide" Target="/ppt/slides/slide11.xml" Id="R6ac82a5d37914002" /><Relationship Type="http://schemas.openxmlformats.org/officeDocument/2006/relationships/slide" Target="/ppt/slides/slide12.xml" Id="Re07e8253c3d6405d" /><Relationship Type="http://schemas.openxmlformats.org/officeDocument/2006/relationships/slide" Target="/ppt/slides/slide13.xml" Id="Ra7a00fb740dd4426" /><Relationship Type="http://schemas.openxmlformats.org/officeDocument/2006/relationships/slide" Target="/ppt/slides/slide14.xml" Id="Rcb0287c88d5f45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5688797ef7a46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1cc264313eb4f94" /><Relationship Type="http://schemas.openxmlformats.org/officeDocument/2006/relationships/notesMaster" Target="/ppt/notesMasters/notesMaster1.xml" Id="R3303e961c9c643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e14da9a23174ed7" /><Relationship Type="http://schemas.openxmlformats.org/officeDocument/2006/relationships/notesMaster" Target="/ppt/notesMasters/notesMaster1.xml" Id="R07449850230d4c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d85a6f336844be" /><Relationship Type="http://schemas.openxmlformats.org/officeDocument/2006/relationships/notesMaster" Target="/ppt/notesMasters/notesMaster1.xml" Id="R78ef439ec2b946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322e2598c94220" /><Relationship Type="http://schemas.openxmlformats.org/officeDocument/2006/relationships/notesMaster" Target="/ppt/notesMasters/notesMaster1.xml" Id="R73470786467e44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6e64db21394545" /><Relationship Type="http://schemas.openxmlformats.org/officeDocument/2006/relationships/notesMaster" Target="/ppt/notesMasters/notesMaster1.xml" Id="R4a8f1fa4cdd440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5b107b5030a435a" /><Relationship Type="http://schemas.openxmlformats.org/officeDocument/2006/relationships/notesMaster" Target="/ppt/notesMasters/notesMaster1.xml" Id="Re9e68a6abcac44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10fcc673ae4f80" /><Relationship Type="http://schemas.openxmlformats.org/officeDocument/2006/relationships/notesMaster" Target="/ppt/notesMasters/notesMaster1.xml" Id="R96a5f5f0751f41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1be2e04b2e48d4" /><Relationship Type="http://schemas.openxmlformats.org/officeDocument/2006/relationships/notesMaster" Target="/ppt/notesMasters/notesMaster1.xml" Id="Rd82dfb29c3bb49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b2a2bc84d214cce" /><Relationship Type="http://schemas.openxmlformats.org/officeDocument/2006/relationships/notesMaster" Target="/ppt/notesMasters/notesMaster1.xml" Id="Rf55ba3a357964e2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efa765833f84d04" /><Relationship Type="http://schemas.openxmlformats.org/officeDocument/2006/relationships/notesMaster" Target="/ppt/notesMasters/notesMaster1.xml" Id="Rd76b3e10fd4c454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c492ba7551843f4" /><Relationship Type="http://schemas.openxmlformats.org/officeDocument/2006/relationships/notesMaster" Target="/ppt/notesMasters/notesMaster1.xml" Id="Ree879e6a85ef4d5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615dd381be74671" /><Relationship Type="http://schemas.openxmlformats.org/officeDocument/2006/relationships/notesMaster" Target="/ppt/notesMasters/notesMaster1.xml" Id="R9fb01af96e1c461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1f3e1b34c44246" /><Relationship Type="http://schemas.openxmlformats.org/officeDocument/2006/relationships/notesMaster" Target="/ppt/notesMasters/notesMaster1.xml" Id="R50f63c3e4512485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ee60c1581ac4f62" /><Relationship Type="http://schemas.openxmlformats.org/officeDocument/2006/relationships/notesMaster" Target="/ppt/notesMasters/notesMaster1.xml" Id="R1a3b8e619b1c44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958690e08b497a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1ab804c1a7249d8" /><Relationship Type="http://schemas.openxmlformats.org/officeDocument/2006/relationships/slideLayout" Target="/ppt/slideLayouts/slideLayout2.xml" Id="R7e69c3b6e47d41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69c3b6e47d41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4a8acb5d5ac4d79" /><Relationship Type="http://schemas.openxmlformats.org/officeDocument/2006/relationships/image" Target="/ppt/media/image.jpeg" Id="R2721ba7cec6f4121" /><Relationship Type="http://schemas.openxmlformats.org/officeDocument/2006/relationships/notesSlide" Target="/ppt/notesSlides/notesSlide1.xml" Id="R322913d15d48417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c9612f24104fc2" /><Relationship Type="http://schemas.openxmlformats.org/officeDocument/2006/relationships/notesSlide" Target="/ppt/notesSlides/notesSlide2.xml" Id="R0c034dff4bcf415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ae828d0fb344d45" /><Relationship Type="http://schemas.openxmlformats.org/officeDocument/2006/relationships/notesSlide" Target="/ppt/notesSlides/notesSlide3.xml" Id="Ra8031c00811f4e3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1ba88590b74cf0" /><Relationship Type="http://schemas.openxmlformats.org/officeDocument/2006/relationships/image" Target="/ppt/media/image2.jpeg" Id="Rd8fd6140a105461e" /><Relationship Type="http://schemas.openxmlformats.org/officeDocument/2006/relationships/image" Target="/ppt/media/image3.jpeg" Id="R8d0e8170e32c462c" /><Relationship Type="http://schemas.openxmlformats.org/officeDocument/2006/relationships/notesSlide" Target="/ppt/notesSlides/notesSlide4.xml" Id="Racf47015ed1d45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63b331b65fa409f" /><Relationship Type="http://schemas.openxmlformats.org/officeDocument/2006/relationships/image" Target="/ppt/media/image4.jpeg" Id="R4ee10caa92434426" /><Relationship Type="http://schemas.openxmlformats.org/officeDocument/2006/relationships/image" Target="/ppt/media/image5.jpeg" Id="R18d0bf197ea341da" /><Relationship Type="http://schemas.openxmlformats.org/officeDocument/2006/relationships/image" Target="/ppt/media/image6.jpeg" Id="Rb019d18a28aa4b2f" /><Relationship Type="http://schemas.openxmlformats.org/officeDocument/2006/relationships/notesSlide" Target="/ppt/notesSlides/notesSlide5.xml" Id="Rf52bf65cb42c43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90f48b9e824a78" /><Relationship Type="http://schemas.openxmlformats.org/officeDocument/2006/relationships/image" Target="/ppt/media/image7.jpeg" Id="R1a343d1b4d3d4801" /><Relationship Type="http://schemas.openxmlformats.org/officeDocument/2006/relationships/image" Target="/ppt/media/image8.jpeg" Id="R9f06992b8ca241fc" /><Relationship Type="http://schemas.openxmlformats.org/officeDocument/2006/relationships/notesSlide" Target="/ppt/notesSlides/notesSlide6.xml" Id="R58a0dad1a99747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5c177d2a5074ec8" /><Relationship Type="http://schemas.openxmlformats.org/officeDocument/2006/relationships/image" Target="/ppt/media/image9.jpeg" Id="Rc1566f68ebde42db" /><Relationship Type="http://schemas.openxmlformats.org/officeDocument/2006/relationships/notesSlide" Target="/ppt/notesSlides/notesSlide7.xml" Id="R2867b7e1a27741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ff9ea2e6744961" /><Relationship Type="http://schemas.openxmlformats.org/officeDocument/2006/relationships/image" Target="/ppt/media/image10.jpeg" Id="R4e3892944a38433d" /><Relationship Type="http://schemas.openxmlformats.org/officeDocument/2006/relationships/image" Target="/ppt/media/image11.jpeg" Id="R11423e40632c4204" /><Relationship Type="http://schemas.openxmlformats.org/officeDocument/2006/relationships/notesSlide" Target="/ppt/notesSlides/notesSlide8.xml" Id="R882e86b5d4c6469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9016c03ff164ef8" /><Relationship Type="http://schemas.openxmlformats.org/officeDocument/2006/relationships/image" Target="/ppt/media/image12.jpeg" Id="Ra9680480b5f34344" /><Relationship Type="http://schemas.openxmlformats.org/officeDocument/2006/relationships/notesSlide" Target="/ppt/notesSlides/notesSlide9.xml" Id="Rfba31b0f670246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034567cca0408c" /><Relationship Type="http://schemas.openxmlformats.org/officeDocument/2006/relationships/image" Target="/ppt/media/image13.jpeg" Id="Rab940dc02c284b97" /><Relationship Type="http://schemas.openxmlformats.org/officeDocument/2006/relationships/notesSlide" Target="/ppt/notesSlides/notesSlide10.xml" Id="Rd171b5014eff4b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702754dd179464b" /><Relationship Type="http://schemas.openxmlformats.org/officeDocument/2006/relationships/image" Target="/ppt/media/image14.jpeg" Id="R4ce3d77dd93e434d" /><Relationship Type="http://schemas.openxmlformats.org/officeDocument/2006/relationships/notesSlide" Target="/ppt/notesSlides/notesSlide11.xml" Id="R24c3f9fbec90422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3717c5984442f3" /><Relationship Type="http://schemas.openxmlformats.org/officeDocument/2006/relationships/image" Target="/ppt/media/image15.jpeg" Id="Rb4f0d468499a4918" /><Relationship Type="http://schemas.openxmlformats.org/officeDocument/2006/relationships/image" Target="/ppt/media/image16.jpeg" Id="Rda0110ad8f5c469f" /><Relationship Type="http://schemas.openxmlformats.org/officeDocument/2006/relationships/notesSlide" Target="/ppt/notesSlides/notesSlide12.xml" Id="R113b2c1f3ae948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be196ca3244e96" /><Relationship Type="http://schemas.openxmlformats.org/officeDocument/2006/relationships/image" Target="/ppt/media/image17.jpeg" Id="Rdeebb41996e54006" /><Relationship Type="http://schemas.openxmlformats.org/officeDocument/2006/relationships/image" Target="/ppt/media/image18.jpeg" Id="Rdcea54387b1c4c78" /><Relationship Type="http://schemas.openxmlformats.org/officeDocument/2006/relationships/notesSlide" Target="/ppt/notesSlides/notesSlide13.xml" Id="R67a2e21dd2d241f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51dd9c4c08422e" /><Relationship Type="http://schemas.openxmlformats.org/officeDocument/2006/relationships/image" Target="/ppt/media/image19.jpeg" Id="R62fc0d3da0b54df2" /><Relationship Type="http://schemas.openxmlformats.org/officeDocument/2006/relationships/notesSlide" Target="/ppt/notesSlides/notesSlide14.xml" Id="R1ceee58b56fa411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7A24B43-E19C-48B4-B757-911EFF47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A18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7B79D-4C45-4082-9805-CB4F03E6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247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0BE45"/>
                </a:solidFill>
              </a:defRPr>
            </a:pPr>
            <a:r>
              <a:rPr sz="1275" b="1" i="0">
                <a:solidFill>
                  <a:srgbClr val="F0BE45"/>
                </a:solidFill>
              </a:rPr>
              <a:t>COM2US INTERNSHIP PORTFOLIO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3658B-B26D-421C-B8C2-57BE9AF33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6648450" cy="1581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5700" b="1" i="0">
                <a:solidFill>
                  <a:srgbClr val="F5F2E8"/>
                </a:solidFill>
              </a:defRPr>
            </a:pPr>
            <a:r>
              <a:rPr sz="5700" b="1" i="0">
                <a:solidFill>
                  <a:srgbClr val="F5F2E8"/>
                </a:solidFill>
              </a:rPr>
              <a:t>감염: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5700" b="1" i="0">
                <a:solidFill>
                  <a:srgbClr val="F5F2E8"/>
                </a:solidFill>
              </a:defRPr>
            </a:pPr>
            <a:r>
              <a:rPr sz="5700" b="1" i="0">
                <a:solidFill>
                  <a:srgbClr val="F5F2E8"/>
                </a:solidFill>
              </a:rPr>
              <a:t>죽음의 도시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D00FAA-783E-45E5-9CD1-5FDEAAC4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908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BE45"/>
          </a:solidFill>
          <a:ln xmlns:a="http://schemas.openxmlformats.org/drawingml/2006/main" w="0">
            <a:solidFill>
              <a:srgbClr val="F0BE4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F68ED-0124-4CC4-8DCF-85729445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58483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DAD6C8"/>
                </a:solidFill>
              </a:defRPr>
            </a:pPr>
            <a:r>
              <a:rPr sz="1875" b="0" i="0">
                <a:solidFill>
                  <a:srgbClr val="DAD6C8"/>
                </a:solidFill>
              </a:rPr>
              <a:t>트럭을 중심으로 파밍, 적재, 탑승, 무기, 스테이지 전환을 연결한 Unreal Engine 5 C++ 졸업작품 포트폴리오입니다.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59F082-4410-45C2-946E-871274AB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839200"/>
            <a:ext cx="66484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F5F2E8"/>
                </a:solidFill>
              </a:defRPr>
            </a:pPr>
            <a:r>
              <a:rPr sz="2550" b="1" i="0">
                <a:solidFill>
                  <a:srgbClr val="F5F2E8"/>
                </a:solidFill>
              </a:rPr>
              <a:t>박신우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B1D9B6-B4E1-4915-B354-8735F532F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34500"/>
            <a:ext cx="6648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A9B4A8"/>
                </a:solidFill>
              </a:defRPr>
            </a:pPr>
            <a:r>
              <a:rPr sz="1350" b="0" i="0">
                <a:solidFill>
                  <a:srgbClr val="A9B4A8"/>
                </a:solidFill>
              </a:rPr>
              <a:t>Game Client / Gameplay System Programmer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C47F8-D6E0-42DF-B765-9A3886B44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1846" y="723900"/>
            <a:ext cx="9576054" cy="883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808"/>
          </a:solidFill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1ba7cec6f4121"/>
          <a:srcRect xmlns:a="http://schemas.openxmlformats.org/drawingml/2006/main" l="19565" t="0" r="195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11846" y="723900"/>
            <a:ext cx="9576054" cy="8839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6572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57ED34B-11F5-4A79-88E7-B88C58F3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F410A-1A0A-492F-B895-61FB2FA2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1239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0BE45"/>
                </a:solidFill>
              </a:defRPr>
            </a:pPr>
            <a:r>
              <a:rPr sz="1275" b="1" i="0">
                <a:solidFill>
                  <a:srgbClr val="F0BE45"/>
                </a:solidFill>
              </a:rPr>
              <a:t>ROLE SUMMARY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8457BAB-301A-42C3-8CDD-4EAD4FF40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62050"/>
            <a:ext cx="166878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 i="0">
                <a:solidFill>
                  <a:srgbClr val="F5F2E8"/>
                </a:solidFill>
              </a:defRPr>
            </a:pPr>
            <a:r>
              <a:rPr sz="4200" b="1" i="0">
                <a:solidFill>
                  <a:srgbClr val="F5F2E8"/>
                </a:solidFill>
              </a:rPr>
              <a:t>저는 트럭을 하나의 이동 수단이 아니라,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200" b="1" i="0">
                <a:solidFill>
                  <a:srgbClr val="F5F2E8"/>
                </a:solidFill>
              </a:defRPr>
            </a:pPr>
            <a:r>
              <a:rPr sz="4200" b="1" i="0">
                <a:solidFill>
                  <a:srgbClr val="F5F2E8"/>
                </a:solidFill>
              </a:rPr>
              <a:t>게임 루프를 묶는 중심 객체로 설계했습니다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04B125-AB40-4BDC-AB6D-53965DDC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127063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DAD6C8"/>
                </a:solidFill>
              </a:defRPr>
            </a:pPr>
            <a:r>
              <a:rPr sz="1875" b="0" i="0">
                <a:solidFill>
                  <a:srgbClr val="DAD6C8"/>
                </a:solidFill>
              </a:rPr>
              <a:t>플레이어의 행동이 파밍, 적재, 탑승, 무기 사용, 스테이지 전환으로 자연스럽게 이어지도록 트럭을 상태 흐름의 중심에 두고 구조를 재설계했습니다.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BEA3F9-54B0-4762-8E07-B811180A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67100"/>
            <a:ext cx="3714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0272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6D841E-BEDA-4963-8325-A1DC9F15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0BE45"/>
                </a:solidFill>
              </a:defRPr>
            </a:pPr>
            <a:r>
              <a:rPr sz="1200" b="1" i="0">
                <a:solidFill>
                  <a:srgbClr val="F0BE45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6E4FB6-ED8C-44E9-85ED-017C84B0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5F2E8"/>
                </a:solidFill>
              </a:defRPr>
            </a:pPr>
            <a:r>
              <a:rPr sz="1875" b="1" i="0">
                <a:solidFill>
                  <a:srgbClr val="F5F2E8"/>
                </a:solidFill>
              </a:rPr>
              <a:t>파밍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512D2A-5ED8-4A1D-AB6A-D253B52F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862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공통 상호작용과 아이템 부모 클래스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562D65-1DF8-4AE4-9E19-664354ED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867150"/>
            <a:ext cx="323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F0BE45"/>
                </a:solidFill>
              </a:defRPr>
            </a:pPr>
            <a:r>
              <a:rPr sz="2550" b="1" i="0">
                <a:solidFill>
                  <a:srgbClr val="F0BE45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3875B-1AAC-40D4-8BCB-69AD12082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467100"/>
            <a:ext cx="3714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0272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715675-CD8A-4EDC-B57F-9895DE208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63855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0BE45"/>
                </a:solidFill>
              </a:defRPr>
            </a:pPr>
            <a:r>
              <a:rPr sz="1200" b="1" i="0">
                <a:solidFill>
                  <a:srgbClr val="F0BE45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50B5A9-6C86-459B-A72D-04A0AA599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052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5F2E8"/>
                </a:solidFill>
              </a:defRPr>
            </a:pPr>
            <a:r>
              <a:rPr sz="1875" b="1" i="0">
                <a:solidFill>
                  <a:srgbClr val="F5F2E8"/>
                </a:solidFill>
              </a:rPr>
              <a:t>트럭 적재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3B74D7-0B83-46BD-B8C6-5B9EAB89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862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인벤토리 타입을 트럭 상태로 전달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8C4B20-1C5E-4764-9A91-82B780B2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67150"/>
            <a:ext cx="323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F0BE45"/>
                </a:solidFill>
              </a:defRPr>
            </a:pPr>
            <a:r>
              <a:rPr sz="2550" b="1" i="0">
                <a:solidFill>
                  <a:srgbClr val="F0BE4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B4A475-3C98-450F-A210-A6F8571E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67100"/>
            <a:ext cx="3714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02720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AAC528-A5F3-4056-8546-5A41AEE0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63855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0BE45"/>
                </a:solidFill>
              </a:defRPr>
            </a:pPr>
            <a:r>
              <a:rPr sz="1200" b="1" i="0">
                <a:solidFill>
                  <a:srgbClr val="F0BE45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B2069C-D706-45D1-B732-3284A82F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052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5F2E8"/>
                </a:solidFill>
              </a:defRPr>
            </a:pPr>
            <a:r>
              <a:rPr sz="1875" b="1" i="0">
                <a:solidFill>
                  <a:srgbClr val="F5F2E8"/>
                </a:solidFill>
              </a:rPr>
              <a:t>탑승/이동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1DCB31-45AF-4518-90EF-67B49301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2862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운전석, 적재칸, 거치총 상호작용 분리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A9A3C8-3C1D-4B79-88D9-EA8CD774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3867150"/>
            <a:ext cx="323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F0BE45"/>
                </a:solidFill>
              </a:defRPr>
            </a:pPr>
            <a:r>
              <a:rPr sz="2550" b="1" i="0">
                <a:solidFill>
                  <a:srgbClr val="F0BE45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BB2E22-1F1E-4CF8-BE70-8E765DC37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73150" y="3467100"/>
            <a:ext cx="3714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02720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3EEC3E-BB78-42FF-B01D-386129A5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3638550"/>
            <a:ext cx="33337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0BE45"/>
                </a:solidFill>
              </a:defRPr>
            </a:pPr>
            <a:r>
              <a:rPr sz="1200" b="1" i="0">
                <a:solidFill>
                  <a:srgbClr val="F0BE45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FB02E1-C02B-4E58-A9C5-CAB480D8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3905250"/>
            <a:ext cx="33337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5F2E8"/>
                </a:solidFill>
              </a:defRPr>
            </a:pPr>
            <a:r>
              <a:rPr sz="1875" b="1" i="0">
                <a:solidFill>
                  <a:srgbClr val="F5F2E8"/>
                </a:solidFill>
              </a:rPr>
              <a:t>2스테이지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7C1F1D-118D-4C8D-B756-A53098045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63650" y="4286250"/>
            <a:ext cx="3333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타일 기반으로 길을 이어 붙이는 구조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FD9CB6-6EEE-43B9-8F01-2FBEF914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87442"/>
            <a:ext cx="5397500" cy="1271473"/>
          </a:xfrm>
          <a:prstGeom xmlns:a="http://schemas.openxmlformats.org/drawingml/2006/main" prst="roundRect">
            <a:avLst>
              <a:gd name="adj" fmla="val 5993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D5BE52-41DC-43C0-AC17-FE32082F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00650"/>
            <a:ext cx="4895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F0BE45"/>
                </a:solidFill>
              </a:defRPr>
            </a:pPr>
            <a:r>
              <a:rPr sz="1800" b="1" i="0">
                <a:solidFill>
                  <a:srgbClr val="F0BE45"/>
                </a:solidFill>
              </a:rPr>
              <a:t>보여줄 역량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E61A3A-35B2-4ADE-9D0A-FFF5EA7DE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81650"/>
            <a:ext cx="48958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시스템을 따로 구현하는 것이 아니라, 상태와 책임을 나누어 플레이 루프가 끊기지 않게 연결했습니다.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C127F7-4095-49C5-B8D2-C73D48358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4987442"/>
            <a:ext cx="5397500" cy="1271473"/>
          </a:xfrm>
          <a:prstGeom xmlns:a="http://schemas.openxmlformats.org/drawingml/2006/main" prst="roundRect">
            <a:avLst>
              <a:gd name="adj" fmla="val 5993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C50155-A9CF-4237-90D1-4F1FAEC02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200650"/>
            <a:ext cx="4895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91A765"/>
                </a:solidFill>
              </a:defRPr>
            </a:pPr>
            <a:r>
              <a:rPr sz="1800" b="1" i="0">
                <a:solidFill>
                  <a:srgbClr val="91A765"/>
                </a:solidFill>
              </a:rPr>
              <a:t>설계 근거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AE29CA-8AA8-4D16-97B5-F946E72B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5581650"/>
            <a:ext cx="48958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상호작용 흐름도, 충돌 원인 분석, 타일 연결 스케치처럼 구현 전에 구조를 먼저 검토한 흔적을 시각 자료로 사용했습니다.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FCB9D9-C3AB-4DFD-90F1-0D95D0A5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0400" y="4987442"/>
            <a:ext cx="5397500" cy="1271473"/>
          </a:xfrm>
          <a:prstGeom xmlns:a="http://schemas.openxmlformats.org/drawingml/2006/main" prst="roundRect">
            <a:avLst>
              <a:gd name="adj" fmla="val 5993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55CD3E-CA70-48F0-9BD4-133735F8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200650"/>
            <a:ext cx="48958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C76540"/>
                </a:solidFill>
              </a:defRPr>
            </a:pPr>
            <a:r>
              <a:rPr sz="1800" b="1" i="0">
                <a:solidFill>
                  <a:srgbClr val="C76540"/>
                </a:solidFill>
              </a:rPr>
              <a:t>의도적으로 줄인 내용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8197B9-2132-4098-8BDC-4C3A9FA7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0" y="5581650"/>
            <a:ext cx="48958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좀비 AI 세부 구현은 핵심 어필에서 제외하고, 내가 구조를 잡은 트럭/스테이지/상호작용에 집중했습니다.</a:t>
            </a:r>
          </a:p>
        </p:txBody>
      </p:sp>
    </p:spTree>
    <p:extLst>
      <p:ext uri="{BB962C8B-B14F-4D97-AF65-F5344CB8AC3E}">
        <p14:creationId xmlns:p14="http://schemas.microsoft.com/office/powerpoint/2010/main" val="43735671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514601-E7D9-42E7-8CFC-EED15357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332C7-1113-4DAA-8377-0A488EFF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73355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91A765"/>
                </a:solidFill>
              </a:defRPr>
            </a:pPr>
            <a:r>
              <a:rPr sz="1275" b="1" i="0">
                <a:solidFill>
                  <a:srgbClr val="91A765"/>
                </a:solidFill>
              </a:rPr>
              <a:t>DEVELOPMENT EVIDENCE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15AB943-F71A-43E3-A28E-A3B995A7F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620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 i="0">
                <a:solidFill>
                  <a:srgbClr val="F5F2E8"/>
                </a:solidFill>
              </a:defRPr>
            </a:pPr>
            <a:r>
              <a:rPr sz="4200" b="1" i="0">
                <a:solidFill>
                  <a:srgbClr val="F5F2E8"/>
                </a:solidFill>
              </a:rPr>
              <a:t>기능 나열보다 구조 변화와 문제 해결 흐름을 먼저 보여줍니다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75E41-8216-4F2A-B129-7B094FB7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11239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DAD6C8"/>
                </a:solidFill>
              </a:defRPr>
            </a:pPr>
            <a:r>
              <a:rPr sz="1875" b="0" i="0">
                <a:solidFill>
                  <a:srgbClr val="DAD6C8"/>
                </a:solidFill>
              </a:rPr>
              <a:t>결과 화면만 나열하지 않고, 상호작용 상태가 어떻게 확장되고 어떤 병목이 다음 설계 변경으로 이어졌는지를 중심으로 구성했습니다.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5FD951-41E6-4E59-8527-4627EE800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55366"/>
            <a:ext cx="4000500" cy="1443228"/>
          </a:xfrm>
          <a:prstGeom xmlns:a="http://schemas.openxmlformats.org/drawingml/2006/main" prst="roundRect">
            <a:avLst>
              <a:gd name="adj" fmla="val 5280"/>
            </a:avLst>
          </a:prstGeom>
          <a:solidFill xmlns:a="http://schemas.openxmlformats.org/drawingml/2006/main">
            <a:srgbClr val="20272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DF13A8-2398-4C75-BA05-7E9DB6E24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0BE45"/>
                </a:solidFill>
              </a:defRPr>
            </a:pPr>
            <a:r>
              <a:rPr sz="1200" b="1" i="0">
                <a:solidFill>
                  <a:srgbClr val="F0BE45"/>
                </a:solidFill>
              </a:rPr>
              <a:t>기반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74311-27B2-475C-BC19-84E6060A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95650"/>
            <a:ext cx="3619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5F2E8"/>
                </a:solidFill>
              </a:defRPr>
            </a:pPr>
            <a:r>
              <a:rPr sz="1875" b="1" i="0">
                <a:solidFill>
                  <a:srgbClr val="F5F2E8"/>
                </a:solidFill>
              </a:rPr>
              <a:t>상호작용 시스템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D6367-E31D-4EEA-B5FD-09C48A7B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3619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IInteractInterface, UInteractTriggerComponent, ALootItemBase로 파밍 구조 정리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9EB8E-3083-44FA-BED8-D293509F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55366"/>
            <a:ext cx="4000500" cy="1443228"/>
          </a:xfrm>
          <a:prstGeom xmlns:a="http://schemas.openxmlformats.org/drawingml/2006/main" prst="roundRect">
            <a:avLst>
              <a:gd name="adj" fmla="val 5280"/>
            </a:avLst>
          </a:prstGeom>
          <a:solidFill xmlns:a="http://schemas.openxmlformats.org/drawingml/2006/main">
            <a:srgbClr val="202720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38ABB2-5C86-4424-81FB-F2CAF3ED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289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91A765"/>
                </a:solidFill>
              </a:defRPr>
            </a:pPr>
            <a:r>
              <a:rPr sz="1200" b="1" i="0">
                <a:solidFill>
                  <a:srgbClr val="91A765"/>
                </a:solidFill>
              </a:rPr>
              <a:t>확장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A12E72-0C8A-4EC9-8CB8-417C9E62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295650"/>
            <a:ext cx="3619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5F2E8"/>
                </a:solidFill>
              </a:defRPr>
            </a:pPr>
            <a:r>
              <a:rPr sz="1875" b="1" i="0">
                <a:solidFill>
                  <a:srgbClr val="F5F2E8"/>
                </a:solidFill>
              </a:rPr>
              <a:t>트럭 구조화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15051F-96C3-4A86-BAAB-7BFAA833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57600"/>
            <a:ext cx="3619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운전석/적재칸/거치총 트리거 분리, 캐릭터 부착, 충돌 박스 분리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06797B-31AF-4F82-9189-6C24AB339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55366"/>
            <a:ext cx="4000500" cy="1443228"/>
          </a:xfrm>
          <a:prstGeom xmlns:a="http://schemas.openxmlformats.org/drawingml/2006/main" prst="roundRect">
            <a:avLst>
              <a:gd name="adj" fmla="val 5280"/>
            </a:avLst>
          </a:prstGeom>
          <a:solidFill xmlns:a="http://schemas.openxmlformats.org/drawingml/2006/main">
            <a:srgbClr val="202720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AF63A9-77C8-4BAD-869B-A1D3A32C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0289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77A6C8"/>
                </a:solidFill>
              </a:defRPr>
            </a:pPr>
            <a:r>
              <a:rPr sz="1200" b="1" i="0">
                <a:solidFill>
                  <a:srgbClr val="77A6C8"/>
                </a:solidFill>
              </a:rPr>
              <a:t>조작감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A54726-2AD9-43D6-82EE-FA847320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295650"/>
            <a:ext cx="3619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5F2E8"/>
                </a:solidFill>
              </a:defRPr>
            </a:pPr>
            <a:r>
              <a:rPr sz="1875" b="1" i="0">
                <a:solidFill>
                  <a:srgbClr val="F5F2E8"/>
                </a:solidFill>
              </a:rPr>
              <a:t>거치형 기관총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B5FAB1-7493-4AD8-9A94-903F31430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657600"/>
            <a:ext cx="3619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Yaw/Pitch 축, 카메라 기준 조준, 총구 보정, 탄피/반동 피드백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C39134-F0CA-4A3D-ACCD-FD15B49A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87400" y="2855366"/>
            <a:ext cx="4000500" cy="1443228"/>
          </a:xfrm>
          <a:prstGeom xmlns:a="http://schemas.openxmlformats.org/drawingml/2006/main" prst="roundRect">
            <a:avLst>
              <a:gd name="adj" fmla="val 5280"/>
            </a:avLst>
          </a:prstGeom>
          <a:solidFill xmlns:a="http://schemas.openxmlformats.org/drawingml/2006/main">
            <a:srgbClr val="202720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83279-E879-4E1F-9460-464809C2B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028950"/>
            <a:ext cx="3619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C76540"/>
                </a:solidFill>
              </a:defRPr>
            </a:pPr>
            <a:r>
              <a:rPr sz="1200" b="1" i="0">
                <a:solidFill>
                  <a:srgbClr val="C76540"/>
                </a:solidFill>
              </a:rPr>
              <a:t>스테이지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9356AD-61D0-4B91-8F36-5DF5CD74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295650"/>
            <a:ext cx="3619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5F2E8"/>
                </a:solidFill>
              </a:defRPr>
            </a:pPr>
            <a:r>
              <a:rPr sz="1875" b="1" i="0">
                <a:solidFill>
                  <a:srgbClr val="F5F2E8"/>
                </a:solidFill>
              </a:rPr>
              <a:t>Stage2 타일 구조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A97268-A530-47E5-A0A9-041BB58F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3657600"/>
            <a:ext cx="3619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Entry/Exit/Trigger 기반의 TileMarker와 TileManager 연결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B5F1CC-A822-466C-9710-EFFE4202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10100"/>
            <a:ext cx="1668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A9B4A8"/>
                </a:solidFill>
              </a:defRPr>
            </a:pPr>
            <a:r>
              <a:rPr sz="1350" b="0" i="0">
                <a:solidFill>
                  <a:srgbClr val="A9B4A8"/>
                </a:solidFill>
              </a:rPr>
              <a:t>핵심 구현 파일: ATruck, AMountedMachineGun, AStage2TileManager, UInteractTriggerComponent</a:t>
            </a:r>
          </a:p>
        </p:txBody>
      </p:sp>
    </p:spTree>
    <p:extLst>
      <p:ext uri="{BB962C8B-B14F-4D97-AF65-F5344CB8AC3E}">
        <p14:creationId xmlns:p14="http://schemas.microsoft.com/office/powerpoint/2010/main" val="41919542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A2D381-C1B5-4BA3-AB21-A129DEAA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C36FFD-A84B-494D-9811-4798F5C4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723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0BE45"/>
                </a:solidFill>
              </a:defRPr>
            </a:pPr>
            <a:r>
              <a:rPr sz="1275" b="1" i="0">
                <a:solidFill>
                  <a:srgbClr val="F0BE45"/>
                </a:solidFill>
              </a:rPr>
              <a:t>SYSTEM 01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9F69F7-E29D-43E6-8889-196CDF4F8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38250"/>
            <a:ext cx="830580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 i="0">
                <a:solidFill>
                  <a:srgbClr val="F5F2E8"/>
                </a:solidFill>
              </a:defRPr>
            </a:pPr>
            <a:r>
              <a:rPr sz="4200" b="1" i="0">
                <a:solidFill>
                  <a:srgbClr val="F5F2E8"/>
                </a:solidFill>
              </a:rPr>
              <a:t>파밍은 단순 획득이 아니라,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200" b="1" i="0">
                <a:solidFill>
                  <a:srgbClr val="F5F2E8"/>
                </a:solidFill>
              </a:defRPr>
            </a:pPr>
            <a:r>
              <a:rPr sz="4200" b="1" i="0">
                <a:solidFill>
                  <a:srgbClr val="F5F2E8"/>
                </a:solidFill>
              </a:rPr>
              <a:t>이후 트럭 적재로 이어질 상태를 만드는 구조입니다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82385-4D43-4318-8D84-C33253522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66294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DAD6C8"/>
                </a:solidFill>
              </a:defRPr>
            </a:pPr>
            <a:r>
              <a:rPr sz="1875" b="0" i="0">
                <a:solidFill>
                  <a:srgbClr val="DAD6C8"/>
                </a:solidFill>
              </a:rPr>
              <a:t>처음에는 인벤토리를 무게값으로만 볼 수 있었지만, 트럭이 어떤 아이템을 실었는지 알아야 했기 때문에 `EItemType` 배열 구조로 바꾸었습니다.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B9C83-0948-45D4-AB47-408C10EE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61510"/>
            <a:ext cx="8306753" cy="2621432"/>
          </a:xfrm>
          <a:prstGeom xmlns:a="http://schemas.openxmlformats.org/drawingml/2006/main" prst="roundRect">
            <a:avLst>
              <a:gd name="adj" fmla="val 2907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8A67FB-B6ED-4070-9B15-E4AFC4F3B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7810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F0BE45"/>
                </a:solidFill>
              </a:defRPr>
            </a:pPr>
            <a:r>
              <a:rPr sz="1800" b="1" i="0">
                <a:solidFill>
                  <a:srgbClr val="F0BE45"/>
                </a:solidFill>
              </a:rPr>
              <a:t>설계 판단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E5E60A-12D6-45DB-A4D0-8D6F913DA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67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E45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510BF-9B0A-43AB-8CE1-BBF9AEF60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67300"/>
            <a:ext cx="758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5F2E8"/>
                </a:solidFill>
              </a:defRPr>
            </a:pPr>
            <a:r>
              <a:rPr sz="1650" b="1" i="0">
                <a:solidFill>
                  <a:srgbClr val="F5F2E8"/>
                </a:solidFill>
              </a:rPr>
              <a:t>공통 인터페이스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CF5E26-873F-4E8C-8A8D-C1199F14E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72100"/>
            <a:ext cx="7581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아이템, 트럭, 문처럼 상호작용 가능한 액터를 같은 방식으로 호출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8C0899-5D21-4275-8AFF-C39A0147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E45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4D953C-6C4B-4C23-AE26-17F1A2B8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95950"/>
            <a:ext cx="758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5F2E8"/>
                </a:solidFill>
              </a:defRPr>
            </a:pPr>
            <a:r>
              <a:rPr sz="1650" b="1" i="0">
                <a:solidFill>
                  <a:srgbClr val="F5F2E8"/>
                </a:solidFill>
              </a:rPr>
              <a:t>범위 기반 등록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AF2E9E-957F-4B5B-86FD-B066957D7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000750"/>
            <a:ext cx="7581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트리거에 들어오면 상호작용 대상을 캐릭터에 등록하고, 벗어나면 해제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C352AA-AC45-476E-9749-C7265BCB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24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E45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608261-2AC5-43C2-8EEE-DA82C423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324600"/>
            <a:ext cx="7581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5F2E8"/>
                </a:solidFill>
              </a:defRPr>
            </a:pPr>
            <a:r>
              <a:rPr sz="1650" b="1" i="0">
                <a:solidFill>
                  <a:srgbClr val="F5F2E8"/>
                </a:solidFill>
              </a:rPr>
              <a:t>타입 보존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3584BD-A1C1-4073-A0F5-4FCAD0B2E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648450"/>
            <a:ext cx="7581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아이템을 트럭으로 넘길 때 무게만이 아니라 아이템 종류를 유지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F42484-F849-4A06-AAB4-080973BB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903" y="609600"/>
            <a:ext cx="1824133" cy="287122"/>
          </a:xfrm>
          <a:prstGeom xmlns:a="http://schemas.openxmlformats.org/drawingml/2006/main" prst="roundRect">
            <a:avLst>
              <a:gd name="adj" fmla="val 23222"/>
            </a:avLst>
          </a:prstGeom>
          <a:solidFill xmlns:a="http://schemas.openxmlformats.org/drawingml/2006/main">
            <a:srgbClr val="31362D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B5BC080-8695-4ADF-83E0-C5FD7F46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666750"/>
            <a:ext cx="1562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F0BE45"/>
                </a:solidFill>
              </a:defRPr>
            </a:pPr>
            <a:r>
              <a:rPr sz="1050" b="1" i="0">
                <a:solidFill>
                  <a:srgbClr val="F0BE45"/>
                </a:solidFill>
              </a:rPr>
              <a:t>아이템 상호작용 흐름 설계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18BE51-B616-4A93-AA97-7F3482CB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903" y="972922"/>
            <a:ext cx="7980998" cy="4075328"/>
          </a:xfrm>
          <a:prstGeom xmlns:a="http://schemas.openxmlformats.org/drawingml/2006/main" prst="roundRect">
            <a:avLst>
              <a:gd name="adj" fmla="val 1870"/>
            </a:avLst>
          </a:prstGeom>
          <a:solidFill xmlns:a="http://schemas.openxmlformats.org/drawingml/2006/main">
            <a:srgbClr val="F6F3EA"/>
          </a:solidFill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fd6140a105461e"/>
          <a:stretch xmlns:a="http://schemas.openxmlformats.org/drawingml/2006/main"/>
        </p:blipFill>
        <p:spPr>
          <a:xfrm xmlns:a="http://schemas.openxmlformats.org/drawingml/2006/main">
            <a:off x="11398362" y="972922"/>
            <a:ext cx="4198079" cy="4075328"/>
          </a:xfrm>
          <a:prstGeom xmlns:a="http://schemas.openxmlformats.org/drawingml/2006/main" prst="roundRect">
            <a:avLst>
              <a:gd name="adj" fmla="val 1870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1EA8B1-6345-4090-B0A6-3B402808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903" y="5238750"/>
            <a:ext cx="1987677" cy="459943"/>
          </a:xfrm>
          <a:prstGeom xmlns:a="http://schemas.openxmlformats.org/drawingml/2006/main" prst="roundRect">
            <a:avLst>
              <a:gd name="adj" fmla="val 14496"/>
            </a:avLst>
          </a:prstGeom>
          <a:solidFill xmlns:a="http://schemas.openxmlformats.org/drawingml/2006/main">
            <a:srgbClr val="31362D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F8484B-D730-4FD8-AF15-D8F919BB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95900"/>
            <a:ext cx="171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F0BE45"/>
                </a:solidFill>
              </a:defRPr>
            </a:pPr>
            <a:r>
              <a:rPr sz="1050" b="1" i="0">
                <a:solidFill>
                  <a:srgbClr val="F0BE45"/>
                </a:solidFill>
              </a:rPr>
              <a:t>트럭 적재 상호작용 흐름 설계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B65207-BB67-49BD-99C8-90D25381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6903" y="5774893"/>
            <a:ext cx="7980998" cy="3902507"/>
          </a:xfrm>
          <a:prstGeom xmlns:a="http://schemas.openxmlformats.org/drawingml/2006/main" prst="roundRect">
            <a:avLst>
              <a:gd name="adj" fmla="val 1953"/>
            </a:avLst>
          </a:prstGeom>
          <a:solidFill xmlns:a="http://schemas.openxmlformats.org/drawingml/2006/main">
            <a:srgbClr val="F6F3EA"/>
          </a:solidFill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0e8170e32c462c"/>
          <a:stretch xmlns:a="http://schemas.openxmlformats.org/drawingml/2006/main"/>
        </p:blipFill>
        <p:spPr>
          <a:xfrm xmlns:a="http://schemas.openxmlformats.org/drawingml/2006/main">
            <a:off x="11799364" y="5774893"/>
            <a:ext cx="3396075" cy="3902507"/>
          </a:xfrm>
          <a:prstGeom xmlns:a="http://schemas.openxmlformats.org/drawingml/2006/main" prst="roundRect">
            <a:avLst>
              <a:gd name="adj" fmla="val 1953"/>
            </a:avLst>
          </a:prstGeom>
        </p:spPr>
      </p:pic>
    </p:spTree>
    <p:extLst>
      <p:ext uri="{BB962C8B-B14F-4D97-AF65-F5344CB8AC3E}">
        <p14:creationId xmlns:p14="http://schemas.microsoft.com/office/powerpoint/2010/main" val="41328158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38C341C-7EA9-4921-94E6-9AD05509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A4F17E-8467-4BE1-B370-D9A27976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723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91A765"/>
                </a:solidFill>
              </a:defRPr>
            </a:pPr>
            <a:r>
              <a:rPr sz="1275" b="1" i="0">
                <a:solidFill>
                  <a:srgbClr val="91A765"/>
                </a:solidFill>
              </a:rPr>
              <a:t>SYSTEM 02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3EEB29-7C77-4295-B40E-6ADC28B33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38250"/>
            <a:ext cx="74866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 i="0">
                <a:solidFill>
                  <a:srgbClr val="F5F2E8"/>
                </a:solidFill>
              </a:defRPr>
            </a:pPr>
            <a:r>
              <a:rPr sz="4200" b="1" i="0">
                <a:solidFill>
                  <a:srgbClr val="F5F2E8"/>
                </a:solidFill>
              </a:rPr>
              <a:t>트럭은 세 가지 역할을 가진 허브로 분리했습니다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7346F9-5ED9-445D-AD48-32A14028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66103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DAD6C8"/>
                </a:solidFill>
              </a:defRPr>
            </a:pPr>
            <a:r>
              <a:rPr sz="1875" b="0" i="0">
                <a:solidFill>
                  <a:srgbClr val="DAD6C8"/>
                </a:solidFill>
              </a:rPr>
              <a:t>같은 F키 상호작용이어도 접근한 위치에 따라 운전, 적재칸 탑승, 거치총 사용이 달라져야 했습니다. 그래서 트럭 내부 상태를 위치/역할 단위로 나눴습니다.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9957D4-0909-451C-AF43-D88C3E397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7033"/>
            <a:ext cx="2405634" cy="1157173"/>
          </a:xfrm>
          <a:prstGeom xmlns:a="http://schemas.openxmlformats.org/drawingml/2006/main" prst="roundRect">
            <a:avLst>
              <a:gd name="adj" fmla="val 6585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8067401-5D6A-4CEA-A224-B4CF03CD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2057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F0BE45"/>
                </a:solidFill>
              </a:defRPr>
            </a:pPr>
            <a:r>
              <a:rPr sz="1800" b="1" i="0">
                <a:solidFill>
                  <a:srgbClr val="F0BE45"/>
                </a:solidFill>
              </a:rPr>
              <a:t>DriverSeat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DE7ED-1761-4EDE-A77C-EF4855A8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81500"/>
            <a:ext cx="20574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트럭 조작 권한과 운전석 부착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900AB6-820A-475D-9F83-D9624B9EA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9084" y="3847033"/>
            <a:ext cx="2405634" cy="1157173"/>
          </a:xfrm>
          <a:prstGeom xmlns:a="http://schemas.openxmlformats.org/drawingml/2006/main" prst="roundRect">
            <a:avLst>
              <a:gd name="adj" fmla="val 6585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D79E54-9AA3-4DBF-B9C0-4FA82424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00500"/>
            <a:ext cx="2057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91A765"/>
                </a:solidFill>
              </a:defRPr>
            </a:pPr>
            <a:r>
              <a:rPr sz="1800" b="1" i="0">
                <a:solidFill>
                  <a:srgbClr val="91A765"/>
                </a:solidFill>
              </a:rPr>
              <a:t>CargoSeat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F62E4E-835A-44EA-BBFC-FDAC3A912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381500"/>
            <a:ext cx="20574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적재칸 탑승과 이동 가능 영역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3BC9F-3948-42BB-9CCB-EC2DF31A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068" y="3847033"/>
            <a:ext cx="2405634" cy="1157173"/>
          </a:xfrm>
          <a:prstGeom xmlns:a="http://schemas.openxmlformats.org/drawingml/2006/main" prst="roundRect">
            <a:avLst>
              <a:gd name="adj" fmla="val 6585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5E5845B-CBC8-489E-9687-37CD2EBC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000500"/>
            <a:ext cx="2057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77A6C8"/>
                </a:solidFill>
              </a:defRPr>
            </a:pPr>
            <a:r>
              <a:rPr sz="1800" b="1" i="0">
                <a:solidFill>
                  <a:srgbClr val="77A6C8"/>
                </a:solidFill>
              </a:rPr>
              <a:t>TurretSeat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C1A8DA-730C-4510-95EF-CF3EC30C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381500"/>
            <a:ext cx="2057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거치형 기관총 사용 상태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6DBFB5-0B45-4804-963D-C83512B7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3756"/>
            <a:ext cx="7483602" cy="1501902"/>
          </a:xfrm>
          <a:prstGeom xmlns:a="http://schemas.openxmlformats.org/drawingml/2006/main" prst="roundRect">
            <a:avLst>
              <a:gd name="adj" fmla="val 5074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E38D31-4197-44B3-9EF5-1034A9D7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29250"/>
            <a:ext cx="69913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C76540"/>
                </a:solidFill>
              </a:defRPr>
            </a:pPr>
            <a:r>
              <a:rPr sz="1800" b="1" i="0">
                <a:solidFill>
                  <a:srgbClr val="C76540"/>
                </a:solidFill>
              </a:rPr>
              <a:t>객체 지향 설계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2A479-35FA-4112-8BEE-D2E92526C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10250"/>
            <a:ext cx="699135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ATruck 생성자에서 Driver/Cargo/Turret 트리거를 분리하고 `ETruckInteractType`으로 분기합니다. DriverCharacter, MountedWeaponUser 같은 런타임 포인터는 private로 감추고 Getter/Setter로 접근 통로를 제한했습니다.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9313B3-5166-422F-88A1-DACDF4F3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2802" y="609600"/>
            <a:ext cx="8785098" cy="4953000"/>
          </a:xfrm>
          <a:prstGeom xmlns:a="http://schemas.openxmlformats.org/drawingml/2006/main" prst="roundRect">
            <a:avLst>
              <a:gd name="adj" fmla="val 1538"/>
            </a:avLst>
          </a:prstGeom>
          <a:solidFill xmlns:a="http://schemas.openxmlformats.org/drawingml/2006/main">
            <a:srgbClr val="070808"/>
          </a:solidFill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e10caa92434426"/>
          <a:srcRect xmlns:a="http://schemas.openxmlformats.org/drawingml/2006/main" l="172" t="0" r="1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2802" y="609600"/>
            <a:ext cx="8785098" cy="4953000"/>
          </a:xfrm>
          <a:prstGeom xmlns:a="http://schemas.openxmlformats.org/drawingml/2006/main" prst="roundRect">
            <a:avLst>
              <a:gd name="adj" fmla="val 1538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6718D5-88BE-4847-8B8B-6836D77E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2802" y="5734050"/>
            <a:ext cx="1445895" cy="287122"/>
          </a:xfrm>
          <a:prstGeom xmlns:a="http://schemas.openxmlformats.org/drawingml/2006/main" prst="roundRect">
            <a:avLst>
              <a:gd name="adj" fmla="val 23222"/>
            </a:avLst>
          </a:prstGeom>
          <a:solidFill xmlns:a="http://schemas.openxmlformats.org/drawingml/2006/main">
            <a:srgbClr val="31362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B1840A-788F-46C0-9697-A6CBEFC97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791200"/>
            <a:ext cx="11811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F0BE45"/>
                </a:solidFill>
              </a:defRPr>
            </a:pPr>
            <a:r>
              <a:rPr sz="1050" b="1" i="0">
                <a:solidFill>
                  <a:srgbClr val="F0BE45"/>
                </a:solidFill>
              </a:rPr>
              <a:t>상호작용 타입 enum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14AD94-1367-4A9F-9436-9040A4782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2802" y="6097372"/>
            <a:ext cx="4306824" cy="3580028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070808"/>
          </a:solidFill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d0bf197ea341da"/>
          <a:stretch xmlns:a="http://schemas.openxmlformats.org/drawingml/2006/main"/>
        </p:blipFill>
        <p:spPr>
          <a:xfrm xmlns:a="http://schemas.openxmlformats.org/drawingml/2006/main">
            <a:off x="8702802" y="6946916"/>
            <a:ext cx="4306824" cy="1880939"/>
          </a:xfrm>
          <a:prstGeom xmlns:a="http://schemas.openxmlformats.org/drawingml/2006/main" prst="roundRect">
            <a:avLst>
              <a:gd name="adj" fmla="val 2128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C0A293-9EE1-4D67-BD2E-DAF52FBD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1076" y="5734050"/>
            <a:ext cx="1557433" cy="287122"/>
          </a:xfrm>
          <a:prstGeom xmlns:a="http://schemas.openxmlformats.org/drawingml/2006/main" prst="roundRect">
            <a:avLst>
              <a:gd name="adj" fmla="val 23222"/>
            </a:avLst>
          </a:prstGeom>
          <a:solidFill xmlns:a="http://schemas.openxmlformats.org/drawingml/2006/main">
            <a:srgbClr val="31362D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A0BB72-BA01-48DE-A0CE-B7A2DA8B4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579120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F0BE45"/>
                </a:solidFill>
              </a:defRPr>
            </a:pPr>
            <a:r>
              <a:rPr sz="1050" b="1" i="0">
                <a:solidFill>
                  <a:srgbClr val="F0BE45"/>
                </a:solidFill>
              </a:rPr>
              <a:t>적재칸 탑승 상태 검증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A951BB-848A-4ED2-ACF5-C38BAF8EA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1076" y="6097372"/>
            <a:ext cx="4306824" cy="3580028"/>
          </a:xfrm>
          <a:prstGeom xmlns:a="http://schemas.openxmlformats.org/drawingml/2006/main" prst="roundRect">
            <a:avLst>
              <a:gd name="adj" fmla="val 2128"/>
            </a:avLst>
          </a:prstGeom>
          <a:solidFill xmlns:a="http://schemas.openxmlformats.org/drawingml/2006/main">
            <a:srgbClr val="070808"/>
          </a:solidFill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9d18a28aa4b2f"/>
          <a:stretch xmlns:a="http://schemas.openxmlformats.org/drawingml/2006/main"/>
        </p:blipFill>
        <p:spPr>
          <a:xfrm xmlns:a="http://schemas.openxmlformats.org/drawingml/2006/main">
            <a:off x="13682375" y="6097372"/>
            <a:ext cx="3304226" cy="3580028"/>
          </a:xfrm>
          <a:prstGeom xmlns:a="http://schemas.openxmlformats.org/drawingml/2006/main" prst="roundRect">
            <a:avLst>
              <a:gd name="adj" fmla="val 2128"/>
            </a:avLst>
          </a:prstGeom>
        </p:spPr>
      </p:pic>
    </p:spTree>
    <p:extLst>
      <p:ext uri="{BB962C8B-B14F-4D97-AF65-F5344CB8AC3E}">
        <p14:creationId xmlns:p14="http://schemas.microsoft.com/office/powerpoint/2010/main" val="83128201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485900-F7EF-46D2-A790-0B0078B9F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13FFED-9981-48E5-AAA0-DD3E3F71B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485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C76540"/>
                </a:solidFill>
              </a:defRPr>
            </a:pPr>
            <a:r>
              <a:rPr sz="1275" b="1" i="0">
                <a:solidFill>
                  <a:srgbClr val="C76540"/>
                </a:solidFill>
              </a:rPr>
              <a:t>PROBLEM SOLVING 01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4589DD-3A6D-4B58-A146-7D44C02C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43000"/>
            <a:ext cx="166878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 i="0">
                <a:solidFill>
                  <a:srgbClr val="F5F2E8"/>
                </a:solidFill>
              </a:defRPr>
            </a:pPr>
            <a:r>
              <a:rPr sz="4200" b="1" i="0">
                <a:solidFill>
                  <a:srgbClr val="F5F2E8"/>
                </a:solidFill>
              </a:rPr>
              <a:t>적재칸을 자유 이동 공간으로 만들자, 캐릭터 캡슐이 트럭을 밀어내는 문제가 생겼습니다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7E7FAB-77A2-42D0-94B1-CFA691E7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134683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DAD6C8"/>
                </a:solidFill>
              </a:defRPr>
            </a:pPr>
            <a:r>
              <a:rPr sz="1875" b="0" i="0">
                <a:solidFill>
                  <a:srgbClr val="DAD6C8"/>
                </a:solidFill>
              </a:rPr>
              <a:t>캐릭터 캡슐이 차량 PhysicsAsset을 지속적으로 밀어 물리 연산이 불안정해지는 문제였습니다. Collision Profile을 분리해 이동 공간은 막되 차량 본체로 물리 힘이 전달되지 않도록 정리했습니다.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1A7D3-F2A1-40D7-A910-82B6B226B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31743"/>
            <a:ext cx="1722501" cy="287122"/>
          </a:xfrm>
          <a:prstGeom xmlns:a="http://schemas.openxmlformats.org/drawingml/2006/main" prst="roundRect">
            <a:avLst>
              <a:gd name="adj" fmla="val 23222"/>
            </a:avLst>
          </a:prstGeom>
          <a:solidFill xmlns:a="http://schemas.openxmlformats.org/drawingml/2006/main">
            <a:srgbClr val="31362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569CAE-11C9-4468-9A4B-17ADA9BC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86150"/>
            <a:ext cx="14478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F0BE45"/>
                </a:solidFill>
              </a:defRPr>
            </a:pPr>
            <a:r>
              <a:rPr sz="1050" b="1" i="0">
                <a:solidFill>
                  <a:srgbClr val="F0BE45"/>
                </a:solidFill>
              </a:rPr>
              <a:t>Collision Profile 분리 코드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A12967-2953-4945-8CC4-51A6EABE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5065"/>
            <a:ext cx="5596759" cy="5882335"/>
          </a:xfrm>
          <a:prstGeom xmlns:a="http://schemas.openxmlformats.org/drawingml/2006/main" prst="roundRect">
            <a:avLst>
              <a:gd name="adj" fmla="val 1362"/>
            </a:avLst>
          </a:prstGeom>
          <a:solidFill xmlns:a="http://schemas.openxmlformats.org/drawingml/2006/main">
            <a:srgbClr val="070808"/>
          </a:solidFill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343d1b4d3d4801"/>
          <a:stretch xmlns:a="http://schemas.openxmlformats.org/drawingml/2006/main"/>
        </p:blipFill>
        <p:spPr>
          <a:xfrm xmlns:a="http://schemas.openxmlformats.org/drawingml/2006/main">
            <a:off x="800100" y="4801154"/>
            <a:ext cx="5596759" cy="3870156"/>
          </a:xfrm>
          <a:prstGeom xmlns:a="http://schemas.openxmlformats.org/drawingml/2006/main" prst="roundRect">
            <a:avLst>
              <a:gd name="adj" fmla="val 136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6FC2A5-E521-4402-894A-86416F36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5459" y="3431743"/>
            <a:ext cx="1557433" cy="287122"/>
          </a:xfrm>
          <a:prstGeom xmlns:a="http://schemas.openxmlformats.org/drawingml/2006/main" prst="roundRect">
            <a:avLst>
              <a:gd name="adj" fmla="val 23222"/>
            </a:avLst>
          </a:prstGeom>
          <a:solidFill xmlns:a="http://schemas.openxmlformats.org/drawingml/2006/main">
            <a:srgbClr val="31362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86A5C2-216A-473E-8048-1E0BB3DC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86150"/>
            <a:ext cx="12954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F0BE45"/>
                </a:solidFill>
              </a:defRPr>
            </a:pPr>
            <a:r>
              <a:rPr sz="1050" b="1" i="0">
                <a:solidFill>
                  <a:srgbClr val="F0BE45"/>
                </a:solidFill>
              </a:rPr>
              <a:t>적재칸 이동 범위 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7BDD4-F00A-4959-AE88-CAF5CF3C3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5459" y="3795065"/>
            <a:ext cx="5596759" cy="5882335"/>
          </a:xfrm>
          <a:prstGeom xmlns:a="http://schemas.openxmlformats.org/drawingml/2006/main" prst="roundRect">
            <a:avLst>
              <a:gd name="adj" fmla="val 1362"/>
            </a:avLst>
          </a:prstGeom>
          <a:solidFill xmlns:a="http://schemas.openxmlformats.org/drawingml/2006/main">
            <a:srgbClr val="070808"/>
          </a:solidFill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6992b8ca241fc"/>
          <a:srcRect xmlns:a="http://schemas.openxmlformats.org/drawingml/2006/main" l="17735" t="0" r="177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5459" y="3795065"/>
            <a:ext cx="5596759" cy="5882335"/>
          </a:xfrm>
          <a:prstGeom xmlns:a="http://schemas.openxmlformats.org/drawingml/2006/main" prst="roundRect">
            <a:avLst>
              <a:gd name="adj" fmla="val 1362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FC806-BFF1-4452-ADC3-B956C7A4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0817" y="3431743"/>
            <a:ext cx="5037083" cy="1041044"/>
          </a:xfrm>
          <a:prstGeom xmlns:a="http://schemas.openxmlformats.org/drawingml/2006/main" prst="roundRect">
            <a:avLst>
              <a:gd name="adj" fmla="val 7320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321D2B-EB35-47BD-BEA7-F999D1BA8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3638550"/>
            <a:ext cx="4533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C76540"/>
                </a:solidFill>
              </a:defRPr>
            </a:pPr>
            <a:r>
              <a:rPr sz="1800" b="1" i="0">
                <a:solidFill>
                  <a:srgbClr val="C76540"/>
                </a:solidFill>
              </a:rPr>
              <a:t>원인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83BDF-4497-418F-8AD4-84E304BD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4038600"/>
            <a:ext cx="4533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캡슐이 차량 물리 바디를 계속 밀어 물리 연산이 불안정해짐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7FB6D-A910-4B8D-9C79-49B1D7119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0817" y="4644238"/>
            <a:ext cx="5037083" cy="1271473"/>
          </a:xfrm>
          <a:prstGeom xmlns:a="http://schemas.openxmlformats.org/drawingml/2006/main" prst="roundRect">
            <a:avLst>
              <a:gd name="adj" fmla="val 5993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AD7F30-2B49-4E37-AE28-3C272C4E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4857750"/>
            <a:ext cx="4533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F0BE45"/>
                </a:solidFill>
              </a:defRPr>
            </a:pPr>
            <a:r>
              <a:rPr sz="1800" b="1" i="0">
                <a:solidFill>
                  <a:srgbClr val="F0BE45"/>
                </a:solidFill>
              </a:rPr>
              <a:t>해결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504A47-B25E-4657-BD39-3EC5A1B13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5238750"/>
            <a:ext cx="45339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적재칸 바닥/벽을 별도 BoxComponent로 만들고 Pawn만 막도록 분리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8BCF2F-5E97-4FFA-91B9-A39E1628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50817" y="6087161"/>
            <a:ext cx="5037083" cy="1271473"/>
          </a:xfrm>
          <a:prstGeom xmlns:a="http://schemas.openxmlformats.org/drawingml/2006/main" prst="roundRect">
            <a:avLst>
              <a:gd name="adj" fmla="val 5993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90C616-5411-4765-90A7-8095091F7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6305550"/>
            <a:ext cx="45339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91A765"/>
                </a:solidFill>
              </a:defRPr>
            </a:pPr>
            <a:r>
              <a:rPr sz="1800" b="1" i="0">
                <a:solidFill>
                  <a:srgbClr val="91A765"/>
                </a:solidFill>
              </a:rPr>
              <a:t>현재 코드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756518-7A36-4AB3-91D7-ECF3F4FE4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6686550"/>
            <a:ext cx="45339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`QueryOnly` + `ECC_Pawn Block`으로 이동 제약은 유지하고, 트럭 본체에 불필요한 Physics Impulse가 전달되지 않게 정리</a:t>
            </a:r>
          </a:p>
        </p:txBody>
      </p:sp>
    </p:spTree>
    <p:extLst>
      <p:ext uri="{BB962C8B-B14F-4D97-AF65-F5344CB8AC3E}">
        <p14:creationId xmlns:p14="http://schemas.microsoft.com/office/powerpoint/2010/main" val="104833233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71FF1A-E01D-4F1D-B79A-E7DBEB53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8CE3DE-5444-4277-870C-A13BAFC5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723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0BE45"/>
                </a:solidFill>
              </a:defRPr>
            </a:pPr>
            <a:r>
              <a:rPr sz="1275" b="1" i="0">
                <a:solidFill>
                  <a:srgbClr val="F0BE45"/>
                </a:solidFill>
              </a:rPr>
              <a:t>SYSTEM 03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553F76-CC18-4E78-BFC0-921DF60F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38250"/>
            <a:ext cx="87820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 i="0">
                <a:solidFill>
                  <a:srgbClr val="F5F2E8"/>
                </a:solidFill>
              </a:defRPr>
            </a:pPr>
            <a:r>
              <a:rPr sz="4200" b="1" i="0">
                <a:solidFill>
                  <a:srgbClr val="F5F2E8"/>
                </a:solidFill>
              </a:rPr>
              <a:t>아이템 적재는 런타임 Spawn 대신 미리 배치한 슬롯을 갱신합니다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AE49C1-667E-4DDF-92B9-FB3A866B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76771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DAD6C8"/>
                </a:solidFill>
              </a:defRPr>
            </a:pPr>
            <a:r>
              <a:rPr sz="1875" b="0" i="0">
                <a:solidFill>
                  <a:srgbClr val="DAD6C8"/>
                </a:solidFill>
              </a:rPr>
              <a:t>적재 시점마다 Actor나 Mesh를 새로 생성하면 위치 보정, 수명 관리, 프레임 안정성이 모두 흔들릴 수 있습니다. 그래서 종류별 슬롯을 미리 배치하고 상태 변화 때 표시 여부만 갱신하는 방식으로 바꾸었습니다.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CA040C-3D4C-49CA-BB07-7D4962509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62400"/>
            <a:ext cx="2509266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0272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333834-D5C7-43EF-B6B5-5347E14C3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33850"/>
            <a:ext cx="2133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0BE45"/>
                </a:solidFill>
              </a:defRPr>
            </a:pPr>
            <a:r>
              <a:rPr sz="1200" b="1" i="0">
                <a:solidFill>
                  <a:srgbClr val="F0BE45"/>
                </a:solidFill>
              </a:rPr>
              <a:t>처음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E5DF00-F6C3-476B-B0E7-6E8450A6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0055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5F2E8"/>
                </a:solidFill>
              </a:defRPr>
            </a:pPr>
            <a:r>
              <a:rPr sz="1875" b="1" i="0">
                <a:solidFill>
                  <a:srgbClr val="F5F2E8"/>
                </a:solidFill>
              </a:rPr>
              <a:t>동적 Spawn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E466E-D2AE-49D2-A1F2-7C611BAEA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2133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적재 때마다 메시를 생성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BCF5A4-2ED3-4187-A0C9-D94D30B75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62450"/>
            <a:ext cx="323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F0BE45"/>
                </a:solidFill>
              </a:defRPr>
            </a:pPr>
            <a:r>
              <a:rPr sz="2550" b="1" i="0">
                <a:solidFill>
                  <a:srgbClr val="F0BE45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E0F6B2-5324-4468-A64F-A1F92F10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8016" y="3848100"/>
            <a:ext cx="2509266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0272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FB22F0-57CF-4B11-BD74-FE80111F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19550"/>
            <a:ext cx="2133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0BE45"/>
                </a:solidFill>
              </a:defRPr>
            </a:pPr>
            <a:r>
              <a:rPr sz="1200" b="1" i="0">
                <a:solidFill>
                  <a:srgbClr val="F0BE45"/>
                </a:solidFill>
              </a:rPr>
              <a:t>변경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DC572E-051E-4147-B8AB-D3AFE334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28625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5F2E8"/>
                </a:solidFill>
              </a:defRPr>
            </a:pPr>
            <a:r>
              <a:rPr sz="1875" b="1" i="0">
                <a:solidFill>
                  <a:srgbClr val="F5F2E8"/>
                </a:solidFill>
              </a:rPr>
              <a:t>Pre-placed Slot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45727-E5D9-4C31-8853-13A8B151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67250"/>
            <a:ext cx="2133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Ammo/Fuel/MedKit 슬롯을 미리 배치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0BDEC7-EA72-4878-BA2A-2DD7D572D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62450"/>
            <a:ext cx="323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F0BE45"/>
                </a:solidFill>
              </a:defRPr>
            </a:pPr>
            <a:r>
              <a:rPr sz="2550" b="1" i="0">
                <a:solidFill>
                  <a:srgbClr val="F0BE4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848768-064B-4BCA-858E-895CB7E8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5932" y="3848100"/>
            <a:ext cx="2509266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202720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FCB4F4-78D7-48BD-9A57-0B91FC365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19550"/>
            <a:ext cx="2133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0BE45"/>
                </a:solidFill>
              </a:defRPr>
            </a:pPr>
            <a:r>
              <a:rPr sz="1200" b="1" i="0">
                <a:solidFill>
                  <a:srgbClr val="F0BE45"/>
                </a:solidFill>
              </a:rPr>
              <a:t>결과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B17DD9-CCA5-4B17-A9EF-861FD844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286250"/>
            <a:ext cx="21336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5F2E8"/>
                </a:solidFill>
              </a:defRPr>
            </a:pPr>
            <a:r>
              <a:rPr sz="1875" b="1" i="0">
                <a:solidFill>
                  <a:srgbClr val="F5F2E8"/>
                </a:solidFill>
              </a:rPr>
              <a:t>Frame 안정화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B57522-121E-4B94-ADCD-6EC1FB25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667250"/>
            <a:ext cx="2133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상태 갱신만 수행해 시각 표현 동기화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8C1D6F-38EC-481A-8946-AF74E7D2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99811"/>
            <a:ext cx="8785098" cy="1271473"/>
          </a:xfrm>
          <a:prstGeom xmlns:a="http://schemas.openxmlformats.org/drawingml/2006/main" prst="roundRect">
            <a:avLst>
              <a:gd name="adj" fmla="val 5993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301801A-36F5-4CDE-87FE-8839D209E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828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F0BE45"/>
                </a:solidFill>
              </a:defRPr>
            </a:pPr>
            <a:r>
              <a:rPr sz="1800" b="1" i="0">
                <a:solidFill>
                  <a:srgbClr val="F0BE45"/>
                </a:solidFill>
              </a:rPr>
              <a:t>최적화 효과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565673-FE3A-44A3-B7FA-03675E93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96000"/>
            <a:ext cx="8286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런타임 Actor Spawn 비용을 제거해 순간 Frame Drop 위험을 낮추고, 반복 생성/파괴로 생기는 메모리 오버헤드와 GC 부담을 줄였습니다.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EF4699-A032-4A6C-AFA9-9FAF6C8E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980834"/>
            <a:ext cx="8785098" cy="1271473"/>
          </a:xfrm>
          <a:prstGeom xmlns:a="http://schemas.openxmlformats.org/drawingml/2006/main" prst="roundRect">
            <a:avLst>
              <a:gd name="adj" fmla="val 5993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A58013-4615-4200-BDE7-E4E10929B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181850"/>
            <a:ext cx="8286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91A765"/>
                </a:solidFill>
              </a:defRPr>
            </a:pPr>
            <a:r>
              <a:rPr sz="1800" b="1" i="0">
                <a:solidFill>
                  <a:srgbClr val="91A765"/>
                </a:solidFill>
              </a:rPr>
              <a:t>코드 근거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7243FF-64F0-46E3-BCB1-6F6208EC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7581900"/>
            <a:ext cx="82867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ATruck 생성자에서 AmmoSlot, FuelSlot, MedKitSlot, MountedAmmoSlot 컴포넌트를 만들고 BeginPlay에서 숨김 처리한 뒤 적재 상태에 따라 노출합니다.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42842E-C9C3-423C-BAF9-75A497F5A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298" y="609600"/>
            <a:ext cx="7483602" cy="8754428"/>
          </a:xfrm>
          <a:prstGeom xmlns:a="http://schemas.openxmlformats.org/drawingml/2006/main" prst="roundRect">
            <a:avLst>
              <a:gd name="adj" fmla="val 1018"/>
            </a:avLst>
          </a:prstGeom>
          <a:solidFill xmlns:a="http://schemas.openxmlformats.org/drawingml/2006/main">
            <a:srgbClr val="070808"/>
          </a:solidFill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66f68ebde42db"/>
          <a:srcRect xmlns:a="http://schemas.openxmlformats.org/drawingml/2006/main" l="25985" t="0" r="2598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4298" y="609600"/>
            <a:ext cx="7483602" cy="8754428"/>
          </a:xfrm>
          <a:prstGeom xmlns:a="http://schemas.openxmlformats.org/drawingml/2006/main" prst="roundRect">
            <a:avLst>
              <a:gd name="adj" fmla="val 1018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ED9E65-6782-4B2B-911B-A25E2743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9505950"/>
            <a:ext cx="74866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0" i="0">
                <a:solidFill>
                  <a:srgbClr val="A9B4A8"/>
                </a:solidFill>
              </a:defRPr>
            </a:pPr>
            <a:r>
              <a:rPr sz="1125" b="0" i="0">
                <a:solidFill>
                  <a:srgbClr val="A9B4A8"/>
                </a:solidFill>
              </a:rPr>
              <a:t>동적 생성 대신 에디터 배치 슬롯을 덮어쓰는 방식으로 적재 피드백을 안정화</a:t>
            </a:r>
          </a:p>
        </p:txBody>
      </p:sp>
    </p:spTree>
    <p:extLst>
      <p:ext uri="{BB962C8B-B14F-4D97-AF65-F5344CB8AC3E}">
        <p14:creationId xmlns:p14="http://schemas.microsoft.com/office/powerpoint/2010/main" val="11365513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74C1F8-CC06-49B1-AF86-09940302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ADC8E4-8F19-4E9F-8CF5-4BFAA39C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723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77A6C8"/>
                </a:solidFill>
              </a:defRPr>
            </a:pPr>
            <a:r>
              <a:rPr sz="1275" b="1" i="0">
                <a:solidFill>
                  <a:srgbClr val="77A6C8"/>
                </a:solidFill>
              </a:rPr>
              <a:t>SYSTEM 04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47B3E6-F100-414D-9781-532E50B5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38250"/>
            <a:ext cx="781050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 i="0">
                <a:solidFill>
                  <a:srgbClr val="F5F2E8"/>
                </a:solidFill>
              </a:defRPr>
            </a:pPr>
            <a:r>
              <a:rPr sz="4200" b="1" i="0">
                <a:solidFill>
                  <a:srgbClr val="F5F2E8"/>
                </a:solidFill>
              </a:rPr>
              <a:t>거치형 기관총은 카메라, 축, 총구를 분리해서 조준감을 만들었습니다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539AD4-97F8-490A-AA4C-716832BAE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95650"/>
            <a:ext cx="69723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DAD6C8"/>
                </a:solidFill>
              </a:defRPr>
            </a:pPr>
            <a:r>
              <a:rPr sz="1875" b="0" i="0">
                <a:solidFill>
                  <a:srgbClr val="DAD6C8"/>
                </a:solidFill>
              </a:rPr>
              <a:t>기관총을 단순히 트럭 위에 붙이는 데서 끝내지 않고, 사용자가 보는 방향과 총구 발사 방향이 자연스럽게 이어지도록 컴포넌트 구조를 나눴습니다.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B6E11-7BD8-48BD-89BD-170EF64A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61510"/>
            <a:ext cx="7818120" cy="3256788"/>
          </a:xfrm>
          <a:prstGeom xmlns:a="http://schemas.openxmlformats.org/drawingml/2006/main" prst="roundRect">
            <a:avLst>
              <a:gd name="adj" fmla="val 2340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4AC1CA-51D5-407C-88C4-2EFF0371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67250"/>
            <a:ext cx="7315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77A6C8"/>
                </a:solidFill>
              </a:defRPr>
            </a:pPr>
            <a:r>
              <a:rPr sz="1800" b="1" i="0">
                <a:solidFill>
                  <a:srgbClr val="77A6C8"/>
                </a:solidFill>
              </a:rPr>
              <a:t>구조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555DA7-4572-4FC8-A742-904100C9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67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E45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503F08-21AA-4B06-86CA-381FB9AA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67300"/>
            <a:ext cx="7086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5F2E8"/>
                </a:solidFill>
              </a:defRPr>
            </a:pPr>
            <a:r>
              <a:rPr sz="1650" b="1" i="0">
                <a:solidFill>
                  <a:srgbClr val="F5F2E8"/>
                </a:solidFill>
              </a:rPr>
              <a:t>YawPivot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EB52CC-AA75-4B0A-A558-B0655787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372100"/>
            <a:ext cx="708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좌우 회전만 담당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41ADD5-7C19-43A8-AB1F-FE7528B15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E45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1CBCE9-F9D1-443A-B47A-D80252E6E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695950"/>
            <a:ext cx="7086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5F2E8"/>
                </a:solidFill>
              </a:defRPr>
            </a:pPr>
            <a:r>
              <a:rPr sz="1650" b="1" i="0">
                <a:solidFill>
                  <a:srgbClr val="F5F2E8"/>
                </a:solidFill>
              </a:rPr>
              <a:t>PitchPivot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27498-5ECB-43F9-9480-8D8D21AEC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000750"/>
            <a:ext cx="708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상하 회전과 카메라 붐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67546A-B98F-4A8C-98DB-5EB0E08E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246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E45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141A90-BFB8-4BDC-A789-28E7573F8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324600"/>
            <a:ext cx="7086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5F2E8"/>
                </a:solidFill>
              </a:defRPr>
            </a:pPr>
            <a:r>
              <a:rPr sz="1650" b="1" i="0">
                <a:solidFill>
                  <a:srgbClr val="F5F2E8"/>
                </a:solidFill>
              </a:rPr>
              <a:t>MuzzlePoint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0092ED-C95B-4B34-B08C-FEBF20374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648450"/>
            <a:ext cx="708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블루프린트에서 총구 위치 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24B64-E95C-455E-98EE-B3023BD08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972300"/>
            <a:ext cx="9525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BE45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4F419-7D36-421D-B1B8-2E4658698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6972300"/>
            <a:ext cx="7086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 i="0">
                <a:solidFill>
                  <a:srgbClr val="F5F2E8"/>
                </a:solidFill>
              </a:defRPr>
            </a:pPr>
            <a:r>
              <a:rPr sz="1650" b="1" i="0">
                <a:solidFill>
                  <a:srgbClr val="F5F2E8"/>
                </a:solidFill>
              </a:rPr>
              <a:t>CameraPoint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98BA3-3456-4CBE-8E4E-2502AB5C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7277100"/>
            <a:ext cx="7086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기관총 조준 시점 제공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F127F56-8414-4130-85D2-74AC9E87D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8270" y="609600"/>
            <a:ext cx="1957483" cy="287122"/>
          </a:xfrm>
          <a:prstGeom xmlns:a="http://schemas.openxmlformats.org/drawingml/2006/main" prst="roundRect">
            <a:avLst>
              <a:gd name="adj" fmla="val 23222"/>
            </a:avLst>
          </a:prstGeom>
          <a:solidFill xmlns:a="http://schemas.openxmlformats.org/drawingml/2006/main">
            <a:srgbClr val="31362D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6A356C-BE07-4E9C-B7CF-70BADCCA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"/>
            <a:ext cx="1695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F0BE45"/>
                </a:solidFill>
              </a:defRPr>
            </a:pPr>
            <a:r>
              <a:rPr sz="1050" b="1" i="0">
                <a:solidFill>
                  <a:srgbClr val="F0BE45"/>
                </a:solidFill>
              </a:rPr>
              <a:t>거치형 기관총 컴포넌트 구조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7BBEA2-66B2-47AB-A5EC-660D61AA6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8270" y="1030072"/>
            <a:ext cx="846963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070808"/>
          </a:solidFill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892944a38433d"/>
          <a:stretch xmlns:a="http://schemas.openxmlformats.org/drawingml/2006/main"/>
        </p:blipFill>
        <p:spPr>
          <a:xfrm xmlns:a="http://schemas.openxmlformats.org/drawingml/2006/main">
            <a:off x="9018270" y="1635860"/>
            <a:ext cx="8469630" cy="2122173"/>
          </a:xfrm>
          <a:prstGeom xmlns:a="http://schemas.openxmlformats.org/drawingml/2006/main" prst="roundRect">
            <a:avLst>
              <a:gd name="adj" fmla="val 2286"/>
            </a:avLst>
          </a:prstGeom>
        </p:spPr>
      </p:pic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A0638D-C634-49D6-83CE-58A586D6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8270" y="4497172"/>
            <a:ext cx="8469630" cy="5180228"/>
          </a:xfrm>
          <a:prstGeom xmlns:a="http://schemas.openxmlformats.org/drawingml/2006/main" prst="roundRect">
            <a:avLst>
              <a:gd name="adj" fmla="val 1471"/>
            </a:avLst>
          </a:prstGeom>
          <a:solidFill xmlns:a="http://schemas.openxmlformats.org/drawingml/2006/main">
            <a:srgbClr val="070808"/>
          </a:solidFill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23e40632c4204"/>
          <a:srcRect xmlns:a="http://schemas.openxmlformats.org/drawingml/2006/main" l="0" t="6816" r="0" b="68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18270" y="4497172"/>
            <a:ext cx="8469630" cy="5180228"/>
          </a:xfrm>
          <a:prstGeom xmlns:a="http://schemas.openxmlformats.org/drawingml/2006/main" prst="roundRect">
            <a:avLst>
              <a:gd name="adj" fmla="val 1471"/>
            </a:avLst>
          </a:prstGeom>
        </p:spPr>
      </p:pic>
    </p:spTree>
    <p:extLst>
      <p:ext uri="{BB962C8B-B14F-4D97-AF65-F5344CB8AC3E}">
        <p14:creationId xmlns:p14="http://schemas.microsoft.com/office/powerpoint/2010/main" val="4712749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C22B62-7244-45BC-86E6-EB063F51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3C6A82-1BDC-4A15-86EA-75A1E58B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1485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77A6C8"/>
                </a:solidFill>
              </a:defRPr>
            </a:pPr>
            <a:r>
              <a:rPr sz="1275" b="1" i="0">
                <a:solidFill>
                  <a:srgbClr val="77A6C8"/>
                </a:solidFill>
              </a:rPr>
              <a:t>PROBLEM SOLVING 02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E17E3D8-5426-4A86-850F-D259EE0D6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19200"/>
            <a:ext cx="855345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 i="0">
                <a:solidFill>
                  <a:srgbClr val="F5F2E8"/>
                </a:solidFill>
              </a:defRPr>
            </a:pPr>
            <a:r>
              <a:rPr sz="4200" b="1" i="0">
                <a:solidFill>
                  <a:srgbClr val="F5F2E8"/>
                </a:solidFill>
              </a:rPr>
              <a:t>총알이 트럭을 맞거나 조준선과 어긋나는 문제를 단계적으로 고쳤습니다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4AE76-0AE4-428E-A1E7-79926718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75628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DAD6C8"/>
                </a:solidFill>
              </a:defRPr>
            </a:pPr>
            <a:r>
              <a:rPr sz="1875" b="0" i="0">
                <a:solidFill>
                  <a:srgbClr val="DAD6C8"/>
                </a:solidFill>
              </a:rPr>
              <a:t>카메라가 보는 방향, 총구의 실제 위치, 트럭과 사용자의 충돌 판정이 서로 어긋나면 총알이 트럭을 맞거나 조준선 밖으로 튀는 문제가 발생합니다. 화면 기준 조준과 월드 좌표 발사를 분리해 보정했습니다.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12C6C-4D17-438D-AC67-570766F1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04360"/>
            <a:ext cx="4189809" cy="1271473"/>
          </a:xfrm>
          <a:prstGeom xmlns:a="http://schemas.openxmlformats.org/drawingml/2006/main" prst="roundRect">
            <a:avLst>
              <a:gd name="adj" fmla="val 5993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CB754-AE6A-4695-A019-D8E673B4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0100"/>
            <a:ext cx="3695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F0BE45"/>
                </a:solidFill>
              </a:defRPr>
            </a:pPr>
            <a:r>
              <a:rPr sz="1800" b="1" i="0">
                <a:solidFill>
                  <a:srgbClr val="F0BE45"/>
                </a:solidFill>
              </a:rPr>
              <a:t>1. 카메라 기준 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F2563C-A0C8-4142-9010-FB3BD3329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10150"/>
            <a:ext cx="3695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카메라 위치에서 LineTrace로 목표 지점 계산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1A0AB-3765-45FB-9A01-B68A6E9D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359" y="4404360"/>
            <a:ext cx="4189809" cy="1271473"/>
          </a:xfrm>
          <a:prstGeom xmlns:a="http://schemas.openxmlformats.org/drawingml/2006/main" prst="roundRect">
            <a:avLst>
              <a:gd name="adj" fmla="val 5993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25897A-85CB-429A-B338-1C90C6EE0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10100"/>
            <a:ext cx="3695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91A765"/>
                </a:solidFill>
              </a:defRPr>
            </a:pPr>
            <a:r>
              <a:rPr sz="1800" b="1" i="0">
                <a:solidFill>
                  <a:srgbClr val="91A765"/>
                </a:solidFill>
              </a:rPr>
              <a:t>2. World Transform 보정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26AA99-2792-434F-B8B9-2B887015C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010150"/>
            <a:ext cx="3695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MuzzlePoint의 World Transform에서 목표 지점까지 다시 검사해 막힌 지점 보정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E569AE-A591-408D-9A3B-93A17BD38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7283"/>
            <a:ext cx="4189809" cy="1271473"/>
          </a:xfrm>
          <a:prstGeom xmlns:a="http://schemas.openxmlformats.org/drawingml/2006/main" prst="roundRect">
            <a:avLst>
              <a:gd name="adj" fmla="val 5993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A7FAD3-7679-4103-9792-88057EA2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57900"/>
            <a:ext cx="3695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C76540"/>
                </a:solidFill>
              </a:defRPr>
            </a:pPr>
            <a:r>
              <a:rPr sz="1800" b="1" i="0">
                <a:solidFill>
                  <a:srgbClr val="C76540"/>
                </a:solidFill>
              </a:rPr>
              <a:t>3. 충돌 제외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406C3C-C6F7-478F-AB95-B8846862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438900"/>
            <a:ext cx="3695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기관총, 사용자, 현재 트럭을 Trace/Projectile에서 무시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41CD30-231B-4607-988B-C4782C0A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359" y="5847283"/>
            <a:ext cx="4189809" cy="1271473"/>
          </a:xfrm>
          <a:prstGeom xmlns:a="http://schemas.openxmlformats.org/drawingml/2006/main" prst="roundRect">
            <a:avLst>
              <a:gd name="adj" fmla="val 5993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E46341-9620-4A4D-BCDE-CE5A7C72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057900"/>
            <a:ext cx="3695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77A6C8"/>
                </a:solidFill>
              </a:defRPr>
            </a:pPr>
            <a:r>
              <a:rPr sz="1800" b="1" i="0">
                <a:solidFill>
                  <a:srgbClr val="77A6C8"/>
                </a:solidFill>
              </a:rPr>
              <a:t>4. 발사체 재사용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8CB2D9-934C-4C47-82DA-1677490E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438900"/>
            <a:ext cx="3695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ObjectPool이 있으면 풀에서 꺼내고 없으면 SpawnActor 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D968C5-DACA-43B9-B5F1-4AE6EBC1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219" y="609600"/>
            <a:ext cx="2126266" cy="287122"/>
          </a:xfrm>
          <a:prstGeom xmlns:a="http://schemas.openxmlformats.org/drawingml/2006/main" prst="roundRect">
            <a:avLst>
              <a:gd name="adj" fmla="val 23222"/>
            </a:avLst>
          </a:prstGeom>
          <a:solidFill xmlns:a="http://schemas.openxmlformats.org/drawingml/2006/main">
            <a:srgbClr val="31362D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FF79458-D6B5-42CE-99B0-87998A28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66750"/>
            <a:ext cx="1866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F0BE45"/>
                </a:solidFill>
              </a:defRPr>
            </a:pPr>
            <a:r>
              <a:rPr sz="1050" b="1" i="0">
                <a:solidFill>
                  <a:srgbClr val="F0BE45"/>
                </a:solidFill>
              </a:rPr>
              <a:t>Camera Trace + Muzzle 보정 코드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4AB2C5-E561-4E78-A5FE-848EE10A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219" y="1030072"/>
            <a:ext cx="7736681" cy="8647328"/>
          </a:xfrm>
          <a:prstGeom xmlns:a="http://schemas.openxmlformats.org/drawingml/2006/main" prst="roundRect">
            <a:avLst>
              <a:gd name="adj" fmla="val 985"/>
            </a:avLst>
          </a:prstGeom>
          <a:solidFill xmlns:a="http://schemas.openxmlformats.org/drawingml/2006/main">
            <a:srgbClr val="070808"/>
          </a:solidFill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680480b5f34344"/>
          <a:stretch xmlns:a="http://schemas.openxmlformats.org/drawingml/2006/main"/>
        </p:blipFill>
        <p:spPr>
          <a:xfrm xmlns:a="http://schemas.openxmlformats.org/drawingml/2006/main">
            <a:off x="9751219" y="3734305"/>
            <a:ext cx="7736681" cy="3238861"/>
          </a:xfrm>
          <a:prstGeom xmlns:a="http://schemas.openxmlformats.org/drawingml/2006/main" prst="roundRect">
            <a:avLst>
              <a:gd name="adj" fmla="val 985"/>
            </a:avLst>
          </a:prstGeom>
        </p:spPr>
      </p:pic>
    </p:spTree>
    <p:extLst>
      <p:ext uri="{BB962C8B-B14F-4D97-AF65-F5344CB8AC3E}">
        <p14:creationId xmlns:p14="http://schemas.microsoft.com/office/powerpoint/2010/main" val="12575761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C17023-8471-4CDC-AC83-0987224A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67FB06-7E75-4C35-BAD2-A8AE52AF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9334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91A765"/>
                </a:solidFill>
              </a:defRPr>
            </a:pPr>
            <a:r>
              <a:rPr sz="1275" b="1" i="0">
                <a:solidFill>
                  <a:srgbClr val="91A765"/>
                </a:solidFill>
              </a:rPr>
              <a:t>INTEGRATION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A27F45-4820-479E-872C-DD1E7E30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09650"/>
            <a:ext cx="781050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 i="0">
                <a:solidFill>
                  <a:srgbClr val="F5F2E8"/>
                </a:solidFill>
              </a:defRPr>
            </a:pPr>
            <a:r>
              <a:rPr sz="4200" b="1" i="0">
                <a:solidFill>
                  <a:srgbClr val="F5F2E8"/>
                </a:solidFill>
              </a:rPr>
              <a:t>트럭에 타는 순간, 조작 대상과 캐릭터 표현이 동시에 바뀌어야 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43B41-2DC0-4C52-B918-FF6CC0C86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73342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DAD6C8"/>
                </a:solidFill>
              </a:defRPr>
            </a:pPr>
            <a:r>
              <a:rPr sz="1875" b="0" i="0">
                <a:solidFill>
                  <a:srgbClr val="DAD6C8"/>
                </a:solidFill>
              </a:rPr>
              <a:t>트럭 조작은 가능하지만 캐릭터 표현이 운전석으로 따라오지 않는 상태 전환 문제가 있었습니다. 원인은 탑승 순간 Possess 대상이 바뀌며 `IsLocallyControlled` 흐름이 달라진 것이었습니다.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CA9D10-3284-4258-A85C-4F9A4A8F0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4505"/>
            <a:ext cx="7808976" cy="1271473"/>
          </a:xfrm>
          <a:prstGeom xmlns:a="http://schemas.openxmlformats.org/drawingml/2006/main" prst="roundRect">
            <a:avLst>
              <a:gd name="adj" fmla="val 5993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47F41-271D-40F8-8888-C1CABEB92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7315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F0BE45"/>
                </a:solidFill>
              </a:defRPr>
            </a:pPr>
            <a:r>
              <a:rPr sz="1800" b="1" i="0">
                <a:solidFill>
                  <a:srgbClr val="F0BE45"/>
                </a:solidFill>
              </a:rPr>
              <a:t>해결 방식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C0C416-1F19-49BC-AC4F-6CD0A602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73152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운전석 탑승 호출 시 캐릭터를 DriverSeatPoint에 부착하고, 트럭에 부착된 캐릭터는 다른 플레이어 처리 코드가 잘못 개입하지 않도록 분기했습니다.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EE1CD3-1121-4E5F-966D-F96E01CE4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6478"/>
            <a:ext cx="7808976" cy="1271473"/>
          </a:xfrm>
          <a:prstGeom xmlns:a="http://schemas.openxmlformats.org/drawingml/2006/main" prst="roundRect">
            <a:avLst>
              <a:gd name="adj" fmla="val 5993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ED5462-B47D-4263-8E2F-96CD9F7A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67400"/>
            <a:ext cx="73152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77A6C8"/>
                </a:solidFill>
              </a:defRPr>
            </a:pPr>
            <a:r>
              <a:rPr sz="1800" b="1" i="0">
                <a:solidFill>
                  <a:srgbClr val="77A6C8"/>
                </a:solidFill>
              </a:rPr>
              <a:t>카메라 좌표 처리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4BA65-68E1-4429-AFD9-A2799B91D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48400"/>
            <a:ext cx="73152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우클릭 줌과 크로스헤어 발사 보정도 같은 맥락에서, 화면 중앙을 `DeprojectScreenPositionToWorld`로 변환해 UI 조준점과 실제 발사 방향을 맞췄습니다.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F9802-0E21-4142-BB70-71C63013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176" y="609600"/>
            <a:ext cx="8459724" cy="7662977"/>
          </a:xfrm>
          <a:prstGeom xmlns:a="http://schemas.openxmlformats.org/drawingml/2006/main" prst="roundRect">
            <a:avLst>
              <a:gd name="adj" fmla="val 994"/>
            </a:avLst>
          </a:prstGeom>
          <a:solidFill xmlns:a="http://schemas.openxmlformats.org/drawingml/2006/main">
            <a:srgbClr val="070808"/>
          </a:solidFill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40dc02c284b97"/>
          <a:srcRect xmlns:a="http://schemas.openxmlformats.org/drawingml/2006/main" l="18986" t="0" r="1898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28176" y="609600"/>
            <a:ext cx="8459724" cy="7662977"/>
          </a:xfrm>
          <a:prstGeom xmlns:a="http://schemas.openxmlformats.org/drawingml/2006/main" prst="roundRect">
            <a:avLst>
              <a:gd name="adj" fmla="val 99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051F6A-CB82-4C71-B4C2-970817A21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8176" y="8405927"/>
            <a:ext cx="4153662" cy="1041044"/>
          </a:xfrm>
          <a:prstGeom xmlns:a="http://schemas.openxmlformats.org/drawingml/2006/main" prst="roundRect">
            <a:avLst>
              <a:gd name="adj" fmla="val 7320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01976A-71EE-4223-8220-2ACB18C87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8610600"/>
            <a:ext cx="365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91A765"/>
                </a:solidFill>
              </a:defRPr>
            </a:pPr>
            <a:r>
              <a:rPr sz="1800" b="1" i="0">
                <a:solidFill>
                  <a:srgbClr val="91A765"/>
                </a:solidFill>
              </a:rPr>
              <a:t>상태 전환 분석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A6F94D-FDF4-42F9-AD12-E7BE7198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9010650"/>
            <a:ext cx="36576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문제 원인을 ‘컨트롤 대상 변경’까지 추적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C9B9E0-C6FF-4123-9AA2-1F948A76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238" y="8405927"/>
            <a:ext cx="4153662" cy="1271473"/>
          </a:xfrm>
          <a:prstGeom xmlns:a="http://schemas.openxmlformats.org/drawingml/2006/main" prst="roundRect">
            <a:avLst>
              <a:gd name="adj" fmla="val 5993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8CAC4-5C57-4425-A2B8-64268375C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8610600"/>
            <a:ext cx="3657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C76540"/>
                </a:solidFill>
              </a:defRPr>
            </a:pPr>
            <a:r>
              <a:rPr sz="1800" b="1" i="0">
                <a:solidFill>
                  <a:srgbClr val="C76540"/>
                </a:solidFill>
              </a:rPr>
              <a:t>면접 포인트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ABEC59-E266-4F95-8BD5-C21F61DD9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82650" y="9010650"/>
            <a:ext cx="36576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Possess, Attach, Animation, Local Control 흐름 설명 가능</a:t>
            </a:r>
          </a:p>
        </p:txBody>
      </p:sp>
    </p:spTree>
    <p:extLst>
      <p:ext uri="{BB962C8B-B14F-4D97-AF65-F5344CB8AC3E}">
        <p14:creationId xmlns:p14="http://schemas.microsoft.com/office/powerpoint/2010/main" val="122621482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90CEE3-D146-4527-B401-05DC3EC3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985456-1239-419D-8DA9-3B840809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7239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C76540"/>
                </a:solidFill>
              </a:defRPr>
            </a:pPr>
            <a:r>
              <a:rPr sz="1275" b="1" i="0">
                <a:solidFill>
                  <a:srgbClr val="C76540"/>
                </a:solidFill>
              </a:rPr>
              <a:t>SYSTEM 05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B908A9-796E-4158-AF3C-50A01BA8E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19200"/>
            <a:ext cx="855345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 i="0">
                <a:solidFill>
                  <a:srgbClr val="F5F2E8"/>
                </a:solidFill>
              </a:defRPr>
            </a:pPr>
            <a:r>
              <a:rPr sz="4200" b="1" i="0">
                <a:solidFill>
                  <a:srgbClr val="F5F2E8"/>
                </a:solidFill>
              </a:rPr>
              <a:t>Stage2는 손으로 그린 Entry / Exit / Trigger 구조에서 출발했습니다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4E1C97-F221-45FC-A5C3-3A2898E3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73723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DAD6C8"/>
                </a:solidFill>
              </a:defRPr>
            </a:pPr>
            <a:r>
              <a:rPr sz="1875" b="0" i="0">
                <a:solidFill>
                  <a:srgbClr val="DAD6C8"/>
                </a:solidFill>
              </a:rPr>
              <a:t>트럭이 다음 타일 트리거를 밟으면, 현재 타일의 Exit 위치에 다음 타일의 Entry가 맞물리도록 설계했습니다. 손으로 정리한 연결 규칙을 TileMarker와 TileManager 책임으로 분리했습니다.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5B914-6F4F-4435-90D9-BC18E30B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2431256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02720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F8668-9D81-4B2B-8E48-0F2A7CE2F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205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0BE45"/>
                </a:solidFill>
              </a:defRPr>
            </a:pPr>
            <a:r>
              <a:rPr sz="1200" b="1" i="0">
                <a:solidFill>
                  <a:srgbClr val="F0BE45"/>
                </a:solidFill>
              </a:rPr>
              <a:t>TileMarker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7B330F-85B7-47F9-86C6-1C3D9AEC5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2057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5F2E8"/>
                </a:solidFill>
              </a:defRPr>
            </a:pPr>
            <a:r>
              <a:rPr sz="1875" b="1" i="0">
                <a:solidFill>
                  <a:srgbClr val="F5F2E8"/>
                </a:solidFill>
              </a:rPr>
              <a:t>Entry Arrow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D3197D-2E3C-48E9-8E61-0FEBDE09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10100"/>
            <a:ext cx="2057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타일의 시작 기준점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F20124-6C5A-4617-9E21-9517514B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91000"/>
            <a:ext cx="323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F0BE45"/>
                </a:solidFill>
              </a:defRPr>
            </a:pPr>
            <a:r>
              <a:rPr sz="2550" b="1" i="0">
                <a:solidFill>
                  <a:srgbClr val="F0BE45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7BAD5-C3C3-447E-9584-6CCD5E1B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0006" y="3790950"/>
            <a:ext cx="2431256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02720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0B170C-97E5-4A54-9400-0CFF6E299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962400"/>
            <a:ext cx="205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0BE45"/>
                </a:solidFill>
              </a:defRPr>
            </a:pPr>
            <a:r>
              <a:rPr sz="1200" b="1" i="0">
                <a:solidFill>
                  <a:srgbClr val="F0BE45"/>
                </a:solidFill>
              </a:rPr>
              <a:t>Trigger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2DD194-94D5-4B5F-8742-8E04CDCA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229100"/>
            <a:ext cx="2057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5F2E8"/>
                </a:solidFill>
              </a:defRPr>
            </a:pPr>
            <a:r>
              <a:rPr sz="1875" b="1" i="0">
                <a:solidFill>
                  <a:srgbClr val="F5F2E8"/>
                </a:solidFill>
              </a:rPr>
              <a:t>Next Tile Trigger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DFBE5-062E-462B-862E-9FF8EA4A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610100"/>
            <a:ext cx="2057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트럭 진입 시 이벤트 발생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64EDAE-58DC-425C-8F24-34925FC84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191000"/>
            <a:ext cx="323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550" b="1" i="0">
                <a:solidFill>
                  <a:srgbClr val="F0BE45"/>
                </a:solidFill>
              </a:defRPr>
            </a:pPr>
            <a:r>
              <a:rPr sz="2550" b="1" i="0">
                <a:solidFill>
                  <a:srgbClr val="F0BE45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DD2A00-FC8E-450B-B023-E7375EBFD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913" y="3790950"/>
            <a:ext cx="2431256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202720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CE5DA2-2565-44EA-85E3-019B28969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962400"/>
            <a:ext cx="2057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 i="0">
                <a:solidFill>
                  <a:srgbClr val="F0BE45"/>
                </a:solidFill>
              </a:defRPr>
            </a:pPr>
            <a:r>
              <a:rPr sz="1200" b="1" i="0">
                <a:solidFill>
                  <a:srgbClr val="F0BE45"/>
                </a:solidFill>
              </a:rPr>
              <a:t>TileManager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108908-F6B8-4EFC-9F4A-9E4FB1C1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229100"/>
            <a:ext cx="2057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 i="0">
                <a:solidFill>
                  <a:srgbClr val="F5F2E8"/>
                </a:solidFill>
              </a:defRPr>
            </a:pPr>
            <a:r>
              <a:rPr sz="1875" b="1" i="0">
                <a:solidFill>
                  <a:srgbClr val="F5F2E8"/>
                </a:solidFill>
              </a:rPr>
              <a:t>Exit → Entry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8E4F45-5749-4FD9-ABDA-BC2F905E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610100"/>
            <a:ext cx="2057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다음 타일 위치 계산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78B0C8-4FB1-40F4-B1BD-9212F991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93182"/>
            <a:ext cx="8551069" cy="1271473"/>
          </a:xfrm>
          <a:prstGeom xmlns:a="http://schemas.openxmlformats.org/drawingml/2006/main" prst="roundRect">
            <a:avLst>
              <a:gd name="adj" fmla="val 5993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25CB4F-909E-40B2-8A0C-4421D57B4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10200"/>
            <a:ext cx="8058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F0BE45"/>
                </a:solidFill>
              </a:defRPr>
            </a:pPr>
            <a:r>
              <a:rPr sz="1800" b="1" i="0">
                <a:solidFill>
                  <a:srgbClr val="F0BE45"/>
                </a:solidFill>
              </a:rPr>
              <a:t>구현 책임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5FB430-8217-4144-9932-416E3E218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91200"/>
            <a:ext cx="80581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TileMarker는 타일 내부 기준점을 제공하고, TileManager는 어떤 타일을 언제 활성화할지 결정하도록 책임을 나눴습니다.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943FA4-40E8-4EC3-B73F-3DCC8A20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219" y="609600"/>
            <a:ext cx="1974056" cy="459943"/>
          </a:xfrm>
          <a:prstGeom xmlns:a="http://schemas.openxmlformats.org/drawingml/2006/main" prst="roundRect">
            <a:avLst>
              <a:gd name="adj" fmla="val 14496"/>
            </a:avLst>
          </a:prstGeom>
          <a:solidFill xmlns:a="http://schemas.openxmlformats.org/drawingml/2006/main">
            <a:srgbClr val="31362D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9C738F-5252-4AD3-8621-ED4E096A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66750"/>
            <a:ext cx="1714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F0BE45"/>
                </a:solidFill>
              </a:defRPr>
            </a:pPr>
            <a:r>
              <a:rPr sz="1050" b="1" i="0">
                <a:solidFill>
                  <a:srgbClr val="F0BE45"/>
                </a:solidFill>
              </a:rPr>
              <a:t>Entry / Exit / Trigger 연결 설계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D75C9-F87E-44ED-9C75-13A350D7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219" y="1183843"/>
            <a:ext cx="7736681" cy="8493557"/>
          </a:xfrm>
          <a:prstGeom xmlns:a="http://schemas.openxmlformats.org/drawingml/2006/main" prst="roundRect">
            <a:avLst>
              <a:gd name="adj" fmla="val 985"/>
            </a:avLst>
          </a:prstGeom>
          <a:solidFill xmlns:a="http://schemas.openxmlformats.org/drawingml/2006/main">
            <a:srgbClr val="F6F3EA"/>
          </a:solidFill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3d77dd93e434d"/>
          <a:stretch xmlns:a="http://schemas.openxmlformats.org/drawingml/2006/main"/>
        </p:blipFill>
        <p:spPr>
          <a:xfrm xmlns:a="http://schemas.openxmlformats.org/drawingml/2006/main">
            <a:off x="9751219" y="3582119"/>
            <a:ext cx="7736681" cy="3697004"/>
          </a:xfrm>
          <a:prstGeom xmlns:a="http://schemas.openxmlformats.org/drawingml/2006/main" prst="roundRect">
            <a:avLst>
              <a:gd name="adj" fmla="val 985"/>
            </a:avLst>
          </a:prstGeom>
        </p:spPr>
      </p:pic>
    </p:spTree>
    <p:extLst>
      <p:ext uri="{BB962C8B-B14F-4D97-AF65-F5344CB8AC3E}">
        <p14:creationId xmlns:p14="http://schemas.microsoft.com/office/powerpoint/2010/main" val="118168500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9997AA-77E9-4643-8768-5EC1DFDC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A1AD5-E212-4FD2-8CE7-18674E37F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2114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C76540"/>
                </a:solidFill>
              </a:defRPr>
            </a:pPr>
            <a:r>
              <a:rPr sz="1275" b="1" i="0">
                <a:solidFill>
                  <a:srgbClr val="C76540"/>
                </a:solidFill>
              </a:rPr>
              <a:t>SYSTEM 05 / IMPLEMENTATION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F91B93-D689-4C9E-B28E-74EBFA8C4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33450"/>
            <a:ext cx="16687800" cy="628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 i="0">
                <a:solidFill>
                  <a:srgbClr val="F5F2E8"/>
                </a:solidFill>
              </a:defRPr>
            </a:pPr>
            <a:r>
              <a:rPr sz="4200" b="1" i="0">
                <a:solidFill>
                  <a:srgbClr val="F5F2E8"/>
                </a:solidFill>
              </a:rPr>
              <a:t>비동기 로드의 빈틈을 ActiveTiles와 초기화 단계로 관리했습니다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405DC-B06A-4703-80B6-D14B63FB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57350"/>
            <a:ext cx="128968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DAD6C8"/>
                </a:solidFill>
              </a:defRPr>
            </a:pPr>
            <a:r>
              <a:rPr sz="1875" b="0" i="0">
                <a:solidFill>
                  <a:srgbClr val="DAD6C8"/>
                </a:solidFill>
              </a:rPr>
              <a:t>비동기 레벨 스트리밍에서는 로드 요청 직후 타일 내부 Actor나 Marker를 바로 참조할 수 없습니다. 그래서 로드 요청과 Marker 확보를 분리하고, 초기화 확정 단계를 별도로 두었습니다.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A58039-EEC0-459B-9B14-6D2C4EDA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7412"/>
            <a:ext cx="1167003" cy="287122"/>
          </a:xfrm>
          <a:prstGeom xmlns:a="http://schemas.openxmlformats.org/drawingml/2006/main" prst="roundRect">
            <a:avLst>
              <a:gd name="adj" fmla="val 23222"/>
            </a:avLst>
          </a:prstGeom>
          <a:solidFill xmlns:a="http://schemas.openxmlformats.org/drawingml/2006/main">
            <a:srgbClr val="31362D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BCF77-4D80-4CAE-8CE6-C9DEA17F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67000"/>
            <a:ext cx="8953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F0BE45"/>
                </a:solidFill>
              </a:defRPr>
            </a:pPr>
            <a:r>
              <a:rPr sz="1050" b="1" i="0">
                <a:solidFill>
                  <a:srgbClr val="F0BE45"/>
                </a:solidFill>
              </a:rPr>
              <a:t>TileMarker 구성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CC409-D8A4-422D-89E8-752957C34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70733"/>
            <a:ext cx="5843016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F1F1F"/>
          </a:solidFill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f0d468499a4918"/>
          <a:stretch xmlns:a="http://schemas.openxmlformats.org/drawingml/2006/main"/>
        </p:blipFill>
        <p:spPr>
          <a:xfrm xmlns:a="http://schemas.openxmlformats.org/drawingml/2006/main">
            <a:off x="800100" y="3397363"/>
            <a:ext cx="5843016" cy="2289990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173AA9-5558-48E7-BF60-A23AFFB8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716" y="2607412"/>
            <a:ext cx="1559147" cy="459943"/>
          </a:xfrm>
          <a:prstGeom xmlns:a="http://schemas.openxmlformats.org/drawingml/2006/main" prst="roundRect">
            <a:avLst>
              <a:gd name="adj" fmla="val 14496"/>
            </a:avLst>
          </a:prstGeom>
          <a:solidFill xmlns:a="http://schemas.openxmlformats.org/drawingml/2006/main">
            <a:srgbClr val="31362D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87FB61-A49F-402C-AE6F-D37AF128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67000"/>
            <a:ext cx="12954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 i="0">
                <a:solidFill>
                  <a:srgbClr val="F0BE45"/>
                </a:solidFill>
              </a:defRPr>
            </a:pPr>
            <a:r>
              <a:rPr sz="1050" b="1" i="0">
                <a:solidFill>
                  <a:srgbClr val="F0BE45"/>
                </a:solidFill>
              </a:rPr>
              <a:t>ActiveTiles 메타데이터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FC805C-971D-435E-9A7C-3A88A25A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1716" y="3143555"/>
            <a:ext cx="5843016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F1F1F"/>
          </a:solidFill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0110ad8f5c469f"/>
          <a:stretch xmlns:a="http://schemas.openxmlformats.org/drawingml/2006/main"/>
        </p:blipFill>
        <p:spPr>
          <a:xfrm xmlns:a="http://schemas.openxmlformats.org/drawingml/2006/main">
            <a:off x="6871716" y="3521214"/>
            <a:ext cx="5843016" cy="2387932"/>
          </a:xfrm>
          <a:prstGeom xmlns:a="http://schemas.openxmlformats.org/drawingml/2006/main" prst="roundRect">
            <a:avLst>
              <a:gd name="adj" fmla="val 2424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1BD682-E0B3-4980-A566-3F8E0173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3332" y="2607412"/>
            <a:ext cx="4544568" cy="1041044"/>
          </a:xfrm>
          <a:prstGeom xmlns:a="http://schemas.openxmlformats.org/drawingml/2006/main" prst="roundRect">
            <a:avLst>
              <a:gd name="adj" fmla="val 7320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5F0D39-C942-468D-B6FE-C3FC38EC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2819400"/>
            <a:ext cx="405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F0BE45"/>
                </a:solidFill>
              </a:defRPr>
            </a:pPr>
            <a:r>
              <a:rPr sz="1800" b="1" i="0">
                <a:solidFill>
                  <a:srgbClr val="F0BE45"/>
                </a:solidFill>
              </a:rPr>
              <a:t>1. 요청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BC14E7-9A9C-4C83-ADA1-F13473DD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3200400"/>
            <a:ext cx="405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ULevelStreamingDynamic으로 타일 레벨 로드 요청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FC2D0E-DD3A-4CE3-B2A8-A476B415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3332" y="3800856"/>
            <a:ext cx="4544568" cy="1271473"/>
          </a:xfrm>
          <a:prstGeom xmlns:a="http://schemas.openxmlformats.org/drawingml/2006/main" prst="roundRect">
            <a:avLst>
              <a:gd name="adj" fmla="val 5993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5CC977-D521-4CA4-A421-C22E004B2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4019550"/>
            <a:ext cx="405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91A765"/>
                </a:solidFill>
              </a:defRPr>
            </a:pPr>
            <a:r>
              <a:rPr sz="1800" b="1" i="0">
                <a:solidFill>
                  <a:srgbClr val="91A765"/>
                </a:solidFill>
              </a:rPr>
              <a:t>2. 보류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DCFE31-6A6E-40B0-B959-227576DB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4400550"/>
            <a:ext cx="40576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ActiveTiles에 SourceLevel, StreamingLevel, Transform 저장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205E03-BAF3-4ADB-A422-BBD64EE14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3332" y="5224729"/>
            <a:ext cx="4544568" cy="1041044"/>
          </a:xfrm>
          <a:prstGeom xmlns:a="http://schemas.openxmlformats.org/drawingml/2006/main" prst="roundRect">
            <a:avLst>
              <a:gd name="adj" fmla="val 7320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DC680A-1525-4A88-88AD-B7356FC6D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429250"/>
            <a:ext cx="405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77A6C8"/>
                </a:solidFill>
              </a:defRPr>
            </a:pPr>
            <a:r>
              <a:rPr sz="1800" b="1" i="0">
                <a:solidFill>
                  <a:srgbClr val="77A6C8"/>
                </a:solidFill>
              </a:rPr>
              <a:t>3. 확정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3C3EA8F-7306-4ECF-BB73-669775DA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5829300"/>
            <a:ext cx="405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Tick에서 TryFinalizeLoadedTiles로 Marker 확보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7EE1CB-ED81-4510-9889-59EDE8A4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3332" y="6418174"/>
            <a:ext cx="4544568" cy="1041044"/>
          </a:xfrm>
          <a:prstGeom xmlns:a="http://schemas.openxmlformats.org/drawingml/2006/main" prst="roundRect">
            <a:avLst>
              <a:gd name="adj" fmla="val 7320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9258C6-9628-49C0-8847-5D2ABF8F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6629400"/>
            <a:ext cx="40576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C76540"/>
                </a:solidFill>
              </a:defRPr>
            </a:pPr>
            <a:r>
              <a:rPr sz="1800" b="1" i="0">
                <a:solidFill>
                  <a:srgbClr val="C76540"/>
                </a:solidFill>
              </a:rPr>
              <a:t>4. 연결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1D3646-D907-4DE0-8C3D-DBDDF692F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82600" y="7010400"/>
            <a:ext cx="40576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Trigger 이벤트가 들어오면 다음 SpawnTransform 계산</a:t>
            </a:r>
          </a:p>
        </p:txBody>
      </p:sp>
    </p:spTree>
    <p:extLst>
      <p:ext uri="{BB962C8B-B14F-4D97-AF65-F5344CB8AC3E}">
        <p14:creationId xmlns:p14="http://schemas.microsoft.com/office/powerpoint/2010/main" val="118038158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5D71E7-0F77-4CCD-9AB2-EDC08E74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0F3EA-02FB-4344-8567-B3B6B829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7239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0BE45"/>
                </a:solidFill>
              </a:defRPr>
            </a:pPr>
            <a:r>
              <a:rPr sz="1275" b="1" i="0">
                <a:solidFill>
                  <a:srgbClr val="F0BE45"/>
                </a:solidFill>
              </a:rPr>
              <a:t>ITERATION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F15B72D-3490-413F-B28C-AF5D4DDB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09650"/>
            <a:ext cx="855345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 i="0">
                <a:solidFill>
                  <a:srgbClr val="F5F2E8"/>
                </a:solidFill>
              </a:defRPr>
            </a:pPr>
            <a:r>
              <a:rPr sz="4200" b="1" i="0">
                <a:solidFill>
                  <a:srgbClr val="F5F2E8"/>
                </a:solidFill>
              </a:rPr>
              <a:t>Frame Drop를 줄이기 위해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200" b="1" i="0">
                <a:solidFill>
                  <a:srgbClr val="F5F2E8"/>
                </a:solidFill>
              </a:defRPr>
            </a:pPr>
            <a:r>
              <a:rPr sz="4200" b="1" i="0">
                <a:solidFill>
                  <a:srgbClr val="F5F2E8"/>
                </a:solidFill>
              </a:rPr>
              <a:t>타일 로드와 재사용 시점을 분리했습니다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9C5C1E-CB12-484F-A248-69297A9C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773430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DAD6C8"/>
                </a:solidFill>
              </a:defRPr>
            </a:pPr>
            <a:r>
              <a:rPr sz="1875" b="0" i="0">
                <a:solidFill>
                  <a:srgbClr val="DAD6C8"/>
                </a:solidFill>
              </a:rPr>
              <a:t>트리거를 밟는 순간 다음 맵을 로드하면 스트리밍 비용이 플레이 중간에 발생합니다. Stage2 진입 시 타일 풀을 선로드하고, 지나간 타일은 삭제 대신 재배치해 런타임 비용을 분산했습니다.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EC0531-3CA1-4516-A55D-2950F9D0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94505"/>
            <a:ext cx="4189809" cy="1271473"/>
          </a:xfrm>
          <a:prstGeom xmlns:a="http://schemas.openxmlformats.org/drawingml/2006/main" prst="roundRect">
            <a:avLst>
              <a:gd name="adj" fmla="val 5993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E7E1DF-9858-4929-8D6E-603802C6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3695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C76540"/>
                </a:solidFill>
              </a:defRPr>
            </a:pPr>
            <a:r>
              <a:rPr sz="1800" b="1" i="0">
                <a:solidFill>
                  <a:srgbClr val="C76540"/>
                </a:solidFill>
              </a:rPr>
              <a:t>성능 저하 인식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6DAACA-BA50-4369-A26E-2C00257CB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00600"/>
            <a:ext cx="36957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Trigger-time Load → 순간 Frame Drop 가능성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0AFCE5-0CD5-4A75-8097-DD1F44D97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359" y="4194505"/>
            <a:ext cx="4189809" cy="1271473"/>
          </a:xfrm>
          <a:prstGeom xmlns:a="http://schemas.openxmlformats.org/drawingml/2006/main" prst="roundRect">
            <a:avLst>
              <a:gd name="adj" fmla="val 5993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3A699B-999C-4CAF-BD48-AD172750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400550"/>
            <a:ext cx="3695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F0BE45"/>
                </a:solidFill>
              </a:defRPr>
            </a:pPr>
            <a:r>
              <a:rPr sz="1800" b="1" i="0">
                <a:solidFill>
                  <a:srgbClr val="F0BE45"/>
                </a:solidFill>
              </a:rPr>
              <a:t>선로드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EA81C4-529C-4749-A2FA-DA425EA9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800600"/>
            <a:ext cx="3695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Stage2 진입 시 `PreloadedTilesPerType` 기준으로 TilePool 구성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76F01C-5122-417D-AB53-FDE9618C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37428"/>
            <a:ext cx="4189809" cy="1501902"/>
          </a:xfrm>
          <a:prstGeom xmlns:a="http://schemas.openxmlformats.org/drawingml/2006/main" prst="roundRect">
            <a:avLst>
              <a:gd name="adj" fmla="val 5074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84A70E-4372-44FF-BCE6-E7DA683DB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48350"/>
            <a:ext cx="3695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91A765"/>
                </a:solidFill>
              </a:defRPr>
            </a:pPr>
            <a:r>
              <a:rPr sz="1800" b="1" i="0">
                <a:solidFill>
                  <a:srgbClr val="91A765"/>
                </a:solidFill>
              </a:rPr>
              <a:t>재사용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CF0FFC-DC38-4C2D-9D47-6769EAC26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229350"/>
            <a:ext cx="36957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지나간 타일 삭제 대신 PoolParkingTransform으로 되돌려 재배치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A038A3-287E-4158-AB51-6850D2E6F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1359" y="5637428"/>
            <a:ext cx="4189809" cy="1501902"/>
          </a:xfrm>
          <a:prstGeom xmlns:a="http://schemas.openxmlformats.org/drawingml/2006/main" prst="roundRect">
            <a:avLst>
              <a:gd name="adj" fmla="val 5074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3A8744-3E86-4663-B060-1AEC8568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848350"/>
            <a:ext cx="3695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77A6C8"/>
                </a:solidFill>
              </a:defRPr>
            </a:pPr>
            <a:r>
              <a:rPr sz="1800" b="1" i="0">
                <a:solidFill>
                  <a:srgbClr val="77A6C8"/>
                </a:solidFill>
              </a:rPr>
              <a:t>Low-level 관점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A94705-12E2-4284-8E5A-123375BF8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6229350"/>
            <a:ext cx="3695700" cy="704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FStage2LoadedTile처럼 포인터, FTransform, bool 플래그가 섞인 구조는 sizeof, 필드 순서, bit packing을 기준으로 패딩/캐시 효율을 검토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70733D-8F35-45CE-BE66-CCDC29AF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219" y="609600"/>
            <a:ext cx="7736681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070808"/>
          </a:solidFill>
        </p:spPr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ebb41996e54006"/>
          <a:srcRect xmlns:a="http://schemas.openxmlformats.org/drawingml/2006/main" l="0" t="11823" r="0" b="1182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51219" y="609600"/>
            <a:ext cx="7736681" cy="34290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C4ADC1-DAAE-4126-8E8C-FC5FC0755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1219" y="4171950"/>
            <a:ext cx="7736681" cy="5505450"/>
          </a:xfrm>
          <a:prstGeom xmlns:a="http://schemas.openxmlformats.org/drawingml/2006/main" prst="roundRect">
            <a:avLst>
              <a:gd name="adj" fmla="val 1384"/>
            </a:avLst>
          </a:prstGeom>
          <a:solidFill xmlns:a="http://schemas.openxmlformats.org/drawingml/2006/main">
            <a:srgbClr val="070808"/>
          </a:solidFill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ea54387b1c4c78"/>
          <a:srcRect xmlns:a="http://schemas.openxmlformats.org/drawingml/2006/main" l="11472" t="0" r="1147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51219" y="4171950"/>
            <a:ext cx="7736681" cy="5505450"/>
          </a:xfrm>
          <a:prstGeom xmlns:a="http://schemas.openxmlformats.org/drawingml/2006/main" prst="roundRect">
            <a:avLst>
              <a:gd name="adj" fmla="val 1384"/>
            </a:avLst>
          </a:prstGeom>
        </p:spPr>
      </p:pic>
    </p:spTree>
    <p:extLst>
      <p:ext uri="{BB962C8B-B14F-4D97-AF65-F5344CB8AC3E}">
        <p14:creationId xmlns:p14="http://schemas.microsoft.com/office/powerpoint/2010/main" val="81302972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909768-9342-44D4-AB58-29734501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21826-1F04-44B3-B350-1565F8C2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"/>
            <a:ext cx="5905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 i="0">
                <a:solidFill>
                  <a:srgbClr val="F0BE45"/>
                </a:solidFill>
              </a:defRPr>
            </a:pPr>
            <a:r>
              <a:rPr sz="1275" b="1" i="0">
                <a:solidFill>
                  <a:srgbClr val="F0BE45"/>
                </a:solidFill>
              </a:rPr>
              <a:t>CLOSING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FA1D8E0-8776-4AD1-BA10-9A79FF5B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28700"/>
            <a:ext cx="809625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200" b="1" i="0">
                <a:solidFill>
                  <a:srgbClr val="F5F2E8"/>
                </a:solidFill>
              </a:defRPr>
            </a:pPr>
            <a:r>
              <a:rPr sz="4200" b="1" i="0">
                <a:solidFill>
                  <a:srgbClr val="F5F2E8"/>
                </a:solidFill>
              </a:rPr>
              <a:t>제가 보여주고 싶은 강점은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200" b="1" i="0">
                <a:solidFill>
                  <a:srgbClr val="F5F2E8"/>
                </a:solidFill>
              </a:defRPr>
            </a:pPr>
            <a:r>
              <a:rPr sz="4200" b="1" i="0">
                <a:solidFill>
                  <a:srgbClr val="F5F2E8"/>
                </a:solidFill>
              </a:rPr>
              <a:t>기능 구현보다 구조를 끝까지 연결하는 태도입니다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CDDE7E-174F-4332-87CF-7FBD74402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7639050" cy="971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 i="0">
                <a:solidFill>
                  <a:srgbClr val="DAD6C8"/>
                </a:solidFill>
              </a:defRPr>
            </a:pPr>
            <a:r>
              <a:rPr sz="1875" b="0" i="0">
                <a:solidFill>
                  <a:srgbClr val="DAD6C8"/>
                </a:solidFill>
              </a:rPr>
              <a:t>이 프로젝트에서 저는 파밍, 트럭, 적재, 거치총, 스테이지 전환이 하나의 플레이 경험으로 이어지도록 시스템의 책임을 나누고, 문제가 생길 때마다 구조를 다시 잡았습니다.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95D22-1AB9-41DC-90C9-AD7C232FA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51655"/>
            <a:ext cx="2581275" cy="1041044"/>
          </a:xfrm>
          <a:prstGeom xmlns:a="http://schemas.openxmlformats.org/drawingml/2006/main" prst="roundRect">
            <a:avLst>
              <a:gd name="adj" fmla="val 7320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464284-BF8D-4914-B605-3CE11A70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F0BE45"/>
                </a:solidFill>
              </a:defRPr>
            </a:pPr>
            <a:r>
              <a:rPr sz="1800" b="1" i="0">
                <a:solidFill>
                  <a:srgbClr val="F0BE45"/>
                </a:solidFill>
              </a:rPr>
              <a:t>역할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4A6CFE-2253-4C34-86F0-F19F6E436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Gameplay 구조 설계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AE06DF-35B2-4D35-BD79-197414B2F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251655"/>
            <a:ext cx="2581275" cy="1041044"/>
          </a:xfrm>
          <a:prstGeom xmlns:a="http://schemas.openxmlformats.org/drawingml/2006/main" prst="roundRect">
            <a:avLst>
              <a:gd name="adj" fmla="val 7320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9BD57E-A9E7-49E9-9C5D-0668C22F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4577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C76540"/>
                </a:solidFill>
              </a:defRPr>
            </a:pPr>
            <a:r>
              <a:rPr sz="1800" b="1" i="0">
                <a:solidFill>
                  <a:srgbClr val="C76540"/>
                </a:solidFill>
              </a:rPr>
              <a:t>강점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AC838-4BFC-4556-829C-4244BDA3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57750"/>
            <a:ext cx="2095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문제 원인 추적과 재설계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A2C8BC-EA1E-4424-A0D7-8155DF6E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51655"/>
            <a:ext cx="2581275" cy="1271473"/>
          </a:xfrm>
          <a:prstGeom xmlns:a="http://schemas.openxmlformats.org/drawingml/2006/main" prst="roundRect">
            <a:avLst>
              <a:gd name="adj" fmla="val 5993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BF686-CE5D-43BF-846E-F857ABFB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57700"/>
            <a:ext cx="2095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77A6C8"/>
                </a:solidFill>
              </a:defRPr>
            </a:pPr>
            <a:r>
              <a:rPr sz="1800" b="1" i="0">
                <a:solidFill>
                  <a:srgbClr val="77A6C8"/>
                </a:solidFill>
              </a:rPr>
              <a:t>태도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96FB15-E685-4CB3-A14F-5268D0DD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57750"/>
            <a:ext cx="2095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DAD6C8"/>
                </a:solidFill>
              </a:defRPr>
            </a:pPr>
            <a:r>
              <a:rPr sz="1350" b="0" i="0">
                <a:solidFill>
                  <a:srgbClr val="DAD6C8"/>
                </a:solidFill>
              </a:rPr>
              <a:t>문제 원인과 설계 선택을 코드로 설명 가능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C258C4-1C65-4DA4-BE76-D825B165D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609600"/>
            <a:ext cx="8086725" cy="1654302"/>
          </a:xfrm>
          <a:prstGeom xmlns:a="http://schemas.openxmlformats.org/drawingml/2006/main" prst="roundRect">
            <a:avLst>
              <a:gd name="adj" fmla="val 4606"/>
            </a:avLst>
          </a:prstGeom>
          <a:solidFill xmlns:a="http://schemas.openxmlformats.org/drawingml/2006/main">
            <a:srgbClr val="243026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3A0D1A-A6FE-4AD3-A723-BA5F90A1B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819150"/>
            <a:ext cx="76009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 i="0">
                <a:solidFill>
                  <a:srgbClr val="91A765"/>
                </a:solidFill>
              </a:defRPr>
            </a:pPr>
            <a:r>
              <a:rPr sz="1800" b="1" i="0">
                <a:solidFill>
                  <a:srgbClr val="91A765"/>
                </a:solidFill>
              </a:rPr>
              <a:t>면접에서 설명 가능한 코드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D1A501-A3D6-4415-9802-F6143B6DD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219200"/>
            <a:ext cx="7600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A9B4A8"/>
                </a:solidFill>
              </a:defRPr>
            </a:pPr>
            <a:r>
              <a:rPr sz="1350" b="0" i="0">
                <a:solidFill>
                  <a:srgbClr val="A9B4A8"/>
                </a:solidFill>
              </a:rPr>
              <a:t>ATruck: 상호작용 트리거, 적재 슬롯, 탑승/하차, 충돌 분리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B73B3E-83D5-4FE9-8A50-46696CF2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524000"/>
            <a:ext cx="7600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A9B4A8"/>
                </a:solidFill>
              </a:defRPr>
            </a:pPr>
            <a:r>
              <a:rPr sz="1350" b="0" i="0">
                <a:solidFill>
                  <a:srgbClr val="A9B4A8"/>
                </a:solidFill>
              </a:rPr>
              <a:t>AMountedMachineGun: 조준 보정, 발사체 풀링, 반동/탄피 피드백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277036-8740-4CE1-93F9-F07F737DB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1828800"/>
            <a:ext cx="7600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 i="0">
                <a:solidFill>
                  <a:srgbClr val="A9B4A8"/>
                </a:solidFill>
              </a:defRPr>
            </a:pPr>
            <a:r>
              <a:rPr sz="1350" b="0" i="0">
                <a:solidFill>
                  <a:srgbClr val="A9B4A8"/>
                </a:solidFill>
              </a:rPr>
              <a:t>AStage2TileManager: TileMarker 이벤트, ActiveTiles, TilePool, 비동기 로드 확정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1F0EF6-9C44-4B83-8E7E-B81C4AFFB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435352"/>
            <a:ext cx="8086725" cy="7242048"/>
          </a:xfrm>
          <a:prstGeom xmlns:a="http://schemas.openxmlformats.org/drawingml/2006/main" prst="roundRect">
            <a:avLst>
              <a:gd name="adj" fmla="val 1052"/>
            </a:avLst>
          </a:prstGeom>
          <a:solidFill xmlns:a="http://schemas.openxmlformats.org/drawingml/2006/main">
            <a:srgbClr val="070808"/>
          </a:solidFill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fc0d3da0b54df2"/>
          <a:srcRect xmlns:a="http://schemas.openxmlformats.org/drawingml/2006/main" l="16643" t="0" r="166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01175" y="2435352"/>
            <a:ext cx="8086725" cy="7242048"/>
          </a:xfrm>
          <a:prstGeom xmlns:a="http://schemas.openxmlformats.org/drawingml/2006/main" prst="roundRect">
            <a:avLst>
              <a:gd name="adj" fmla="val 1052"/>
            </a:avLst>
          </a:prstGeom>
        </p:spPr>
      </p:pic>
    </p:spTree>
    <p:extLst>
      <p:ext uri="{BB962C8B-B14F-4D97-AF65-F5344CB8AC3E}">
        <p14:creationId xmlns:p14="http://schemas.microsoft.com/office/powerpoint/2010/main" val="3343323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2026-05-20T15:42:18.2780000Z</dcterms:created>
  <dcterms:modified xsi:type="dcterms:W3CDTF">2026-05-20T15:42:18.2780000Z</dcterms:modified>
</coreProperties>
</file>